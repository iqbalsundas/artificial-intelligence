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11B48-60F9-4345-ABB7-A196B56D0B73}" v="11" dt="2026-06-04T16:36:16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97246-D900-4940-B690-FDBD84A8FC38}" type="datetimeFigureOut"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5897D-A0AD-4094-A651-63C7513446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3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5F737C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354455"/>
            <a:ext cx="5114925" cy="419100"/>
          </a:xfrm>
          <a:prstGeom prst="roundRect">
            <a:avLst>
              <a:gd name="adj" fmla="val 0"/>
            </a:avLst>
          </a:prstGeom>
          <a:solidFill>
            <a:srgbClr val="D4A373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354455"/>
            <a:ext cx="38100" cy="4191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430655"/>
            <a:ext cx="481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150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 Course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7835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 Detector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1642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F73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Multimedia Authenticity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40595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392620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050" y="4154805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of Layyah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38888" y="405955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3" name="Text 10"/>
          <p:cNvSpPr/>
          <p:nvPr/>
        </p:nvSpPr>
        <p:spPr>
          <a:xfrm>
            <a:off x="6724650" y="3926205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4650" y="415480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 IT 6th A (Morning)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3863" y="470725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3"/>
          <p:cNvSpPr/>
          <p:nvPr/>
        </p:nvSpPr>
        <p:spPr>
          <a:xfrm>
            <a:off x="781050" y="4573905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1050" y="480250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0F2F5"/>
                </a:solidFill>
                <a:latin typeface="Liter"/>
                <a:ea typeface="Liter" pitchFamily="34" charset="-122"/>
                <a:cs typeface="Liter" pitchFamily="34" charset="-120"/>
              </a:rPr>
              <a:t>June 2026</a:t>
            </a:r>
            <a:endParaRPr lang="en-US" sz="1600">
              <a:latin typeface="Liter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353175" y="47072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6"/>
          <p:cNvSpPr/>
          <p:nvPr/>
        </p:nvSpPr>
        <p:spPr>
          <a:xfrm>
            <a:off x="6724650" y="4573905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24650" y="480250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1000" y="6050280"/>
            <a:ext cx="11430000" cy="15240"/>
          </a:xfrm>
          <a:prstGeom prst="roundRect">
            <a:avLst>
              <a:gd name="adj" fmla="val 0"/>
            </a:avLst>
          </a:prstGeom>
          <a:solidFill>
            <a:srgbClr val="5F737C">
              <a:alpha val="4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81000" y="6210300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 IT 6th A (Morning) • University of Layyah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750504" y="621030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Year 2025-2026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AI Research &amp; Development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5549265" cy="3930015"/>
          </a:xfrm>
          <a:prstGeom prst="roundRect">
            <a:avLst>
              <a:gd name="adj" fmla="val 2908"/>
            </a:avLst>
          </a:pr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0320">
            <a:solidFill>
              <a:srgbClr val="5F737C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76500" y="1805940"/>
            <a:ext cx="1371600" cy="137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4A373"/>
              </a:gs>
              <a:gs pos="100000">
                <a:srgbClr val="5F737C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12269" y="2205990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276820"/>
                </a:moveTo>
                <a:cubicBezTo>
                  <a:pt x="323958" y="276820"/>
                  <a:pt x="383977" y="216801"/>
                  <a:pt x="383977" y="142875"/>
                </a:cubicBezTo>
                <a:cubicBezTo>
                  <a:pt x="383977" y="68949"/>
                  <a:pt x="323958" y="8930"/>
                  <a:pt x="250031" y="8930"/>
                </a:cubicBezTo>
                <a:cubicBezTo>
                  <a:pt x="176105" y="8930"/>
                  <a:pt x="116086" y="68949"/>
                  <a:pt x="116086" y="142875"/>
                </a:cubicBezTo>
                <a:cubicBezTo>
                  <a:pt x="116086" y="216801"/>
                  <a:pt x="176105" y="276820"/>
                  <a:pt x="250031" y="276820"/>
                </a:cubicBezTo>
                <a:close/>
                <a:moveTo>
                  <a:pt x="216880" y="339328"/>
                </a:moveTo>
                <a:cubicBezTo>
                  <a:pt x="106933" y="339328"/>
                  <a:pt x="17859" y="428402"/>
                  <a:pt x="17859" y="538349"/>
                </a:cubicBezTo>
                <a:cubicBezTo>
                  <a:pt x="17859" y="556654"/>
                  <a:pt x="32705" y="571500"/>
                  <a:pt x="51011" y="571500"/>
                </a:cubicBezTo>
                <a:lnTo>
                  <a:pt x="449052" y="571500"/>
                </a:lnTo>
                <a:cubicBezTo>
                  <a:pt x="467358" y="571500"/>
                  <a:pt x="482203" y="556654"/>
                  <a:pt x="482203" y="538349"/>
                </a:cubicBezTo>
                <a:cubicBezTo>
                  <a:pt x="482203" y="428402"/>
                  <a:pt x="393129" y="339328"/>
                  <a:pt x="283183" y="339328"/>
                </a:cubicBezTo>
                <a:lnTo>
                  <a:pt x="216880" y="33932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2108002" y="3482340"/>
            <a:ext cx="2105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Sundas Iqbal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27885" y="3981450"/>
            <a:ext cx="2065020" cy="464820"/>
          </a:xfrm>
          <a:prstGeom prst="roundRect">
            <a:avLst>
              <a:gd name="adj" fmla="val 16393"/>
            </a:avLst>
          </a:pr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3145" y="406146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BSITM-A-23-31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47386" y="4678561"/>
            <a:ext cx="24288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Co-developer &amp; Research Lead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6020" y="1417320"/>
            <a:ext cx="5549265" cy="3930015"/>
          </a:xfrm>
          <a:prstGeom prst="roundRect">
            <a:avLst>
              <a:gd name="adj" fmla="val 2908"/>
            </a:avLst>
          </a:pr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20320">
            <a:solidFill>
              <a:srgbClr val="5F737C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3900" y="1805940"/>
            <a:ext cx="1371600" cy="137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4A373"/>
              </a:gs>
              <a:gs pos="100000">
                <a:srgbClr val="5F737C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9669" y="2205990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276820"/>
                </a:moveTo>
                <a:cubicBezTo>
                  <a:pt x="323958" y="276820"/>
                  <a:pt x="383977" y="216801"/>
                  <a:pt x="383977" y="142875"/>
                </a:cubicBezTo>
                <a:cubicBezTo>
                  <a:pt x="383977" y="68949"/>
                  <a:pt x="323958" y="8930"/>
                  <a:pt x="250031" y="8930"/>
                </a:cubicBezTo>
                <a:cubicBezTo>
                  <a:pt x="176105" y="8930"/>
                  <a:pt x="116086" y="68949"/>
                  <a:pt x="116086" y="142875"/>
                </a:cubicBezTo>
                <a:cubicBezTo>
                  <a:pt x="116086" y="216801"/>
                  <a:pt x="176105" y="276820"/>
                  <a:pt x="250031" y="276820"/>
                </a:cubicBezTo>
                <a:close/>
                <a:moveTo>
                  <a:pt x="216880" y="339328"/>
                </a:moveTo>
                <a:cubicBezTo>
                  <a:pt x="106933" y="339328"/>
                  <a:pt x="17859" y="428402"/>
                  <a:pt x="17859" y="538349"/>
                </a:cubicBezTo>
                <a:cubicBezTo>
                  <a:pt x="17859" y="556654"/>
                  <a:pt x="32705" y="571500"/>
                  <a:pt x="51011" y="571500"/>
                </a:cubicBezTo>
                <a:lnTo>
                  <a:pt x="449052" y="571500"/>
                </a:lnTo>
                <a:cubicBezTo>
                  <a:pt x="467358" y="571500"/>
                  <a:pt x="482203" y="556654"/>
                  <a:pt x="482203" y="538349"/>
                </a:cubicBezTo>
                <a:cubicBezTo>
                  <a:pt x="482203" y="428402"/>
                  <a:pt x="393129" y="339328"/>
                  <a:pt x="283183" y="339328"/>
                </a:cubicBezTo>
                <a:lnTo>
                  <a:pt x="216880" y="33932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7969687" y="348234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Laiba Fayyaz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76235" y="3981450"/>
            <a:ext cx="2103120" cy="464820"/>
          </a:xfrm>
          <a:prstGeom prst="roundRect">
            <a:avLst>
              <a:gd name="adj" fmla="val 16393"/>
            </a:avLst>
          </a:pr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1495" y="4061460"/>
            <a:ext cx="175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BSITM-A-23-25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93305" y="4678561"/>
            <a:ext cx="32766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Co-developer &amp; Technical Implementation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5582007"/>
            <a:ext cx="11410950" cy="914400"/>
          </a:xfrm>
          <a:custGeom>
            <a:avLst/>
            <a:gdLst/>
            <a:ahLst/>
            <a:cxnLst/>
            <a:rect l="l" t="t" r="r" b="b"/>
            <a:pathLst>
              <a:path w="11410950" h="9144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838200"/>
                </a:lnTo>
                <a:cubicBezTo>
                  <a:pt x="11410950" y="880256"/>
                  <a:pt x="11376806" y="914400"/>
                  <a:pt x="11334750" y="914400"/>
                </a:cubicBez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5582007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54844" y="581822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885825" y="5772507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Focus:</a:t>
            </a:r>
            <a:r>
              <a:rPr lang="en-US" sz="135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Joint development of the DeepFake detection system, combining expertise in deep learning, computer vision, and natural language processing to create a multi-modal authenticity analysis platform.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74970" cy="44982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62275" y="374850"/>
            <a:ext cx="4057752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2275" y="899640"/>
            <a:ext cx="11348587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Threat of DeepFakes to Digital Trust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3593" y="1311975"/>
            <a:ext cx="6784787" cy="1518143"/>
          </a:xfrm>
          <a:custGeom>
            <a:avLst/>
            <a:gdLst/>
            <a:ahLst/>
            <a:cxnLst/>
            <a:rect l="l" t="t" r="r" b="b"/>
            <a:pathLst>
              <a:path w="6784787" h="1518143">
                <a:moveTo>
                  <a:pt x="37465" y="0"/>
                </a:moveTo>
                <a:lnTo>
                  <a:pt x="6709791" y="0"/>
                </a:lnTo>
                <a:cubicBezTo>
                  <a:pt x="6729686" y="-34"/>
                  <a:pt x="6748777" y="7846"/>
                  <a:pt x="6762857" y="21902"/>
                </a:cubicBezTo>
                <a:cubicBezTo>
                  <a:pt x="6776936" y="35957"/>
                  <a:pt x="6784848" y="55035"/>
                  <a:pt x="6784848" y="74930"/>
                </a:cubicBezTo>
                <a:lnTo>
                  <a:pt x="6784848" y="1443228"/>
                </a:lnTo>
                <a:cubicBezTo>
                  <a:pt x="6784848" y="1463123"/>
                  <a:pt x="6776936" y="1482201"/>
                  <a:pt x="6762857" y="1496256"/>
                </a:cubicBezTo>
                <a:cubicBezTo>
                  <a:pt x="6748777" y="1510312"/>
                  <a:pt x="6729686" y="1518192"/>
                  <a:pt x="6709791" y="1518158"/>
                </a:cubicBezTo>
                <a:lnTo>
                  <a:pt x="37465" y="1518158"/>
                </a:lnTo>
                <a:cubicBezTo>
                  <a:pt x="16774" y="1518158"/>
                  <a:pt x="0" y="1501384"/>
                  <a:pt x="0" y="1480693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3593" y="1311975"/>
            <a:ext cx="37485" cy="1518143"/>
          </a:xfrm>
          <a:custGeom>
            <a:avLst/>
            <a:gdLst/>
            <a:ahLst/>
            <a:cxnLst/>
            <a:rect l="l" t="t" r="r" b="b"/>
            <a:pathLst>
              <a:path w="37485" h="1518143">
                <a:moveTo>
                  <a:pt x="37465" y="0"/>
                </a:moveTo>
                <a:lnTo>
                  <a:pt x="37465" y="0"/>
                </a:lnTo>
                <a:lnTo>
                  <a:pt x="37465" y="1518158"/>
                </a:lnTo>
                <a:lnTo>
                  <a:pt x="37465" y="1518158"/>
                </a:lnTo>
                <a:cubicBezTo>
                  <a:pt x="16774" y="1518158"/>
                  <a:pt x="0" y="1501384"/>
                  <a:pt x="0" y="1480693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99760" y="1499400"/>
            <a:ext cx="524790" cy="524790"/>
          </a:xfrm>
          <a:prstGeom prst="roundRect">
            <a:avLst>
              <a:gd name="adj" fmla="val 50000"/>
            </a:avLst>
          </a:prstGeom>
          <a:solidFill>
            <a:srgbClr val="D4A373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700" y="1649341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0"/>
                </a:moveTo>
                <a:cubicBezTo>
                  <a:pt x="118912" y="0"/>
                  <a:pt x="124843" y="3558"/>
                  <a:pt x="127918" y="9225"/>
                </a:cubicBezTo>
                <a:lnTo>
                  <a:pt x="222802" y="184936"/>
                </a:lnTo>
                <a:cubicBezTo>
                  <a:pt x="225745" y="190383"/>
                  <a:pt x="225613" y="196972"/>
                  <a:pt x="222450" y="202287"/>
                </a:cubicBezTo>
                <a:cubicBezTo>
                  <a:pt x="219287" y="207603"/>
                  <a:pt x="213533" y="210853"/>
                  <a:pt x="207339" y="210853"/>
                </a:cubicBezTo>
                <a:lnTo>
                  <a:pt x="17571" y="210853"/>
                </a:lnTo>
                <a:cubicBezTo>
                  <a:pt x="11377" y="210853"/>
                  <a:pt x="5667" y="207603"/>
                  <a:pt x="2460" y="202287"/>
                </a:cubicBezTo>
                <a:cubicBezTo>
                  <a:pt x="-747" y="196972"/>
                  <a:pt x="-835" y="190383"/>
                  <a:pt x="2109" y="184936"/>
                </a:cubicBezTo>
                <a:lnTo>
                  <a:pt x="96992" y="9225"/>
                </a:lnTo>
                <a:cubicBezTo>
                  <a:pt x="100067" y="3558"/>
                  <a:pt x="105998" y="0"/>
                  <a:pt x="112455" y="0"/>
                </a:cubicBezTo>
                <a:close/>
                <a:moveTo>
                  <a:pt x="112455" y="73799"/>
                </a:moveTo>
                <a:cubicBezTo>
                  <a:pt x="106613" y="73799"/>
                  <a:pt x="101912" y="78499"/>
                  <a:pt x="101912" y="84341"/>
                </a:cubicBezTo>
                <a:lnTo>
                  <a:pt x="101912" y="133540"/>
                </a:lnTo>
                <a:cubicBezTo>
                  <a:pt x="101912" y="139383"/>
                  <a:pt x="106613" y="144083"/>
                  <a:pt x="112455" y="144083"/>
                </a:cubicBezTo>
                <a:cubicBezTo>
                  <a:pt x="118297" y="144083"/>
                  <a:pt x="122998" y="139383"/>
                  <a:pt x="122998" y="133540"/>
                </a:cubicBezTo>
                <a:lnTo>
                  <a:pt x="122998" y="84341"/>
                </a:lnTo>
                <a:cubicBezTo>
                  <a:pt x="122998" y="78499"/>
                  <a:pt x="118297" y="73799"/>
                  <a:pt x="112455" y="73799"/>
                </a:cubicBezTo>
                <a:close/>
                <a:moveTo>
                  <a:pt x="124184" y="168683"/>
                </a:moveTo>
                <a:cubicBezTo>
                  <a:pt x="124451" y="164329"/>
                  <a:pt x="122279" y="160187"/>
                  <a:pt x="118547" y="157929"/>
                </a:cubicBezTo>
                <a:cubicBezTo>
                  <a:pt x="114815" y="155672"/>
                  <a:pt x="110139" y="155672"/>
                  <a:pt x="106407" y="157929"/>
                </a:cubicBezTo>
                <a:cubicBezTo>
                  <a:pt x="102675" y="160187"/>
                  <a:pt x="100503" y="164329"/>
                  <a:pt x="100770" y="168683"/>
                </a:cubicBezTo>
                <a:cubicBezTo>
                  <a:pt x="100503" y="173036"/>
                  <a:pt x="102675" y="177178"/>
                  <a:pt x="106407" y="179436"/>
                </a:cubicBezTo>
                <a:cubicBezTo>
                  <a:pt x="110139" y="181693"/>
                  <a:pt x="114815" y="181693"/>
                  <a:pt x="118547" y="179436"/>
                </a:cubicBezTo>
                <a:cubicBezTo>
                  <a:pt x="122279" y="177178"/>
                  <a:pt x="124451" y="173036"/>
                  <a:pt x="124184" y="16868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1274490" y="1499400"/>
            <a:ext cx="582891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Digital Threat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4490" y="1911619"/>
            <a:ext cx="5791434" cy="73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DeepFakes represent a </a:t>
            </a:r>
            <a:r>
              <a:rPr lang="en-US" sz="1181" dirty="0">
                <a:solidFill>
                  <a:srgbClr val="D4A373"/>
                </a:solidFill>
                <a:highlight>
                  <a:srgbClr val="D4A373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critical threat to digital trust </a:t>
            </a: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leveraging advanced AI to create hyper-realistic synthetic media that is increasingly indistinguishable from authentic content.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593" y="2942457"/>
            <a:ext cx="6784787" cy="1724311"/>
          </a:xfrm>
          <a:custGeom>
            <a:avLst/>
            <a:gdLst/>
            <a:ahLst/>
            <a:cxnLst/>
            <a:rect l="l" t="t" r="r" b="b"/>
            <a:pathLst>
              <a:path w="6784787" h="1724311">
                <a:moveTo>
                  <a:pt x="37465" y="0"/>
                </a:moveTo>
                <a:lnTo>
                  <a:pt x="6709791" y="0"/>
                </a:lnTo>
                <a:cubicBezTo>
                  <a:pt x="6729686" y="-34"/>
                  <a:pt x="6748777" y="7846"/>
                  <a:pt x="6762857" y="21902"/>
                </a:cubicBezTo>
                <a:cubicBezTo>
                  <a:pt x="6776936" y="35957"/>
                  <a:pt x="6784848" y="55035"/>
                  <a:pt x="6784848" y="74930"/>
                </a:cubicBezTo>
                <a:lnTo>
                  <a:pt x="6784848" y="1649349"/>
                </a:lnTo>
                <a:cubicBezTo>
                  <a:pt x="6784848" y="1669244"/>
                  <a:pt x="6776936" y="1688322"/>
                  <a:pt x="6762857" y="1702377"/>
                </a:cubicBezTo>
                <a:cubicBezTo>
                  <a:pt x="6748777" y="1716433"/>
                  <a:pt x="6729686" y="1724313"/>
                  <a:pt x="6709791" y="1724279"/>
                </a:cubicBezTo>
                <a:lnTo>
                  <a:pt x="37465" y="1724279"/>
                </a:lnTo>
                <a:cubicBezTo>
                  <a:pt x="16774" y="1724279"/>
                  <a:pt x="0" y="1707505"/>
                  <a:pt x="0" y="1686814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393593" y="2942457"/>
            <a:ext cx="37485" cy="1724311"/>
          </a:xfrm>
          <a:custGeom>
            <a:avLst/>
            <a:gdLst/>
            <a:ahLst/>
            <a:cxnLst/>
            <a:rect l="l" t="t" r="r" b="b"/>
            <a:pathLst>
              <a:path w="37485" h="1724311">
                <a:moveTo>
                  <a:pt x="37465" y="0"/>
                </a:moveTo>
                <a:lnTo>
                  <a:pt x="37465" y="0"/>
                </a:lnTo>
                <a:lnTo>
                  <a:pt x="37465" y="1724279"/>
                </a:lnTo>
                <a:lnTo>
                  <a:pt x="37465" y="1724279"/>
                </a:lnTo>
                <a:cubicBezTo>
                  <a:pt x="16774" y="1724279"/>
                  <a:pt x="0" y="1707505"/>
                  <a:pt x="0" y="1686814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3" name="Shape 11"/>
          <p:cNvSpPr/>
          <p:nvPr/>
        </p:nvSpPr>
        <p:spPr>
          <a:xfrm>
            <a:off x="599760" y="3129882"/>
            <a:ext cx="524790" cy="524790"/>
          </a:xfrm>
          <a:prstGeom prst="roundRect">
            <a:avLst>
              <a:gd name="adj" fmla="val 50000"/>
            </a:avLst>
          </a:prstGeom>
          <a:solidFill>
            <a:srgbClr val="5F737C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700" y="3279822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0"/>
                </a:moveTo>
                <a:cubicBezTo>
                  <a:pt x="114476" y="0"/>
                  <a:pt x="116496" y="439"/>
                  <a:pt x="118341" y="1274"/>
                </a:cubicBezTo>
                <a:lnTo>
                  <a:pt x="201101" y="36372"/>
                </a:lnTo>
                <a:cubicBezTo>
                  <a:pt x="210765" y="40457"/>
                  <a:pt x="217969" y="49990"/>
                  <a:pt x="217926" y="61499"/>
                </a:cubicBezTo>
                <a:cubicBezTo>
                  <a:pt x="217706" y="105075"/>
                  <a:pt x="199783" y="184804"/>
                  <a:pt x="124096" y="221044"/>
                </a:cubicBezTo>
                <a:cubicBezTo>
                  <a:pt x="116760" y="224559"/>
                  <a:pt x="108238" y="224559"/>
                  <a:pt x="100902" y="221044"/>
                </a:cubicBezTo>
                <a:cubicBezTo>
                  <a:pt x="25171" y="184804"/>
                  <a:pt x="7292" y="105075"/>
                  <a:pt x="7072" y="61499"/>
                </a:cubicBezTo>
                <a:cubicBezTo>
                  <a:pt x="7028" y="49990"/>
                  <a:pt x="14233" y="40457"/>
                  <a:pt x="23897" y="36372"/>
                </a:cubicBezTo>
                <a:lnTo>
                  <a:pt x="106613" y="1274"/>
                </a:lnTo>
                <a:cubicBezTo>
                  <a:pt x="108458" y="439"/>
                  <a:pt x="110434" y="0"/>
                  <a:pt x="112455" y="0"/>
                </a:cubicBezTo>
                <a:close/>
                <a:moveTo>
                  <a:pt x="112455" y="29344"/>
                </a:moveTo>
                <a:lnTo>
                  <a:pt x="112455" y="195435"/>
                </a:lnTo>
                <a:cubicBezTo>
                  <a:pt x="173075" y="166091"/>
                  <a:pt x="189373" y="101078"/>
                  <a:pt x="189768" y="62158"/>
                </a:cubicBezTo>
                <a:lnTo>
                  <a:pt x="112455" y="29388"/>
                </a:lnTo>
                <a:lnTo>
                  <a:pt x="112455" y="29388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5" name="Text 13"/>
          <p:cNvSpPr/>
          <p:nvPr/>
        </p:nvSpPr>
        <p:spPr>
          <a:xfrm>
            <a:off x="1274490" y="3129882"/>
            <a:ext cx="402963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Malicious Applications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4490" y="3542099"/>
            <a:ext cx="1227634" cy="937125"/>
          </a:xfrm>
          <a:prstGeom prst="roundRect">
            <a:avLst>
              <a:gd name="adj" fmla="val 8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77024" y="3654554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0" y="182739"/>
                </a:moveTo>
                <a:lnTo>
                  <a:pt x="0" y="52713"/>
                </a:lnTo>
                <a:cubicBezTo>
                  <a:pt x="0" y="46871"/>
                  <a:pt x="4700" y="42171"/>
                  <a:pt x="10543" y="42171"/>
                </a:cubicBezTo>
                <a:cubicBezTo>
                  <a:pt x="16385" y="42171"/>
                  <a:pt x="21085" y="46871"/>
                  <a:pt x="21085" y="52713"/>
                </a:cubicBezTo>
                <a:lnTo>
                  <a:pt x="21085" y="179225"/>
                </a:lnTo>
                <a:cubicBezTo>
                  <a:pt x="21085" y="185068"/>
                  <a:pt x="25786" y="189768"/>
                  <a:pt x="31628" y="189768"/>
                </a:cubicBezTo>
                <a:cubicBezTo>
                  <a:pt x="37470" y="189768"/>
                  <a:pt x="42171" y="185068"/>
                  <a:pt x="42171" y="179225"/>
                </a:cubicBezTo>
                <a:lnTo>
                  <a:pt x="42171" y="42171"/>
                </a:lnTo>
                <a:cubicBezTo>
                  <a:pt x="42171" y="26664"/>
                  <a:pt x="54778" y="14057"/>
                  <a:pt x="70284" y="14057"/>
                </a:cubicBezTo>
                <a:lnTo>
                  <a:pt x="196796" y="14057"/>
                </a:lnTo>
                <a:cubicBezTo>
                  <a:pt x="212303" y="14057"/>
                  <a:pt x="224910" y="26664"/>
                  <a:pt x="224910" y="42171"/>
                </a:cubicBezTo>
                <a:lnTo>
                  <a:pt x="224910" y="182739"/>
                </a:lnTo>
                <a:cubicBezTo>
                  <a:pt x="224910" y="198246"/>
                  <a:pt x="212303" y="210853"/>
                  <a:pt x="196796" y="210853"/>
                </a:cubicBezTo>
                <a:lnTo>
                  <a:pt x="28114" y="210853"/>
                </a:lnTo>
                <a:cubicBezTo>
                  <a:pt x="12607" y="210853"/>
                  <a:pt x="0" y="198246"/>
                  <a:pt x="0" y="182739"/>
                </a:cubicBezTo>
                <a:close/>
                <a:moveTo>
                  <a:pt x="70284" y="56228"/>
                </a:moveTo>
                <a:lnTo>
                  <a:pt x="70284" y="84341"/>
                </a:lnTo>
                <a:cubicBezTo>
                  <a:pt x="70284" y="92116"/>
                  <a:pt x="76566" y="98398"/>
                  <a:pt x="84341" y="98398"/>
                </a:cubicBezTo>
                <a:lnTo>
                  <a:pt x="112455" y="98398"/>
                </a:lnTo>
                <a:cubicBezTo>
                  <a:pt x="120230" y="98398"/>
                  <a:pt x="126512" y="92116"/>
                  <a:pt x="126512" y="84341"/>
                </a:cubicBezTo>
                <a:lnTo>
                  <a:pt x="126512" y="56228"/>
                </a:lnTo>
                <a:cubicBezTo>
                  <a:pt x="126512" y="48452"/>
                  <a:pt x="120230" y="42171"/>
                  <a:pt x="112455" y="42171"/>
                </a:cubicBezTo>
                <a:lnTo>
                  <a:pt x="84341" y="42171"/>
                </a:lnTo>
                <a:cubicBezTo>
                  <a:pt x="76566" y="42171"/>
                  <a:pt x="70284" y="48452"/>
                  <a:pt x="70284" y="56228"/>
                </a:cubicBezTo>
                <a:close/>
                <a:moveTo>
                  <a:pt x="80827" y="161654"/>
                </a:moveTo>
                <a:cubicBezTo>
                  <a:pt x="74985" y="161654"/>
                  <a:pt x="70284" y="166354"/>
                  <a:pt x="70284" y="172197"/>
                </a:cubicBezTo>
                <a:cubicBezTo>
                  <a:pt x="70284" y="178039"/>
                  <a:pt x="74985" y="182739"/>
                  <a:pt x="80827" y="182739"/>
                </a:cubicBezTo>
                <a:lnTo>
                  <a:pt x="186254" y="182739"/>
                </a:lnTo>
                <a:cubicBezTo>
                  <a:pt x="192096" y="182739"/>
                  <a:pt x="196796" y="178039"/>
                  <a:pt x="196796" y="172197"/>
                </a:cubicBezTo>
                <a:cubicBezTo>
                  <a:pt x="196796" y="166354"/>
                  <a:pt x="192096" y="161654"/>
                  <a:pt x="186254" y="161654"/>
                </a:cubicBezTo>
                <a:lnTo>
                  <a:pt x="80827" y="161654"/>
                </a:lnTo>
                <a:close/>
                <a:moveTo>
                  <a:pt x="70284" y="130026"/>
                </a:moveTo>
                <a:cubicBezTo>
                  <a:pt x="70284" y="135869"/>
                  <a:pt x="74985" y="140569"/>
                  <a:pt x="80827" y="140569"/>
                </a:cubicBezTo>
                <a:lnTo>
                  <a:pt x="186254" y="140569"/>
                </a:lnTo>
                <a:cubicBezTo>
                  <a:pt x="192096" y="140569"/>
                  <a:pt x="196796" y="135869"/>
                  <a:pt x="196796" y="130026"/>
                </a:cubicBezTo>
                <a:cubicBezTo>
                  <a:pt x="196796" y="124184"/>
                  <a:pt x="192096" y="119483"/>
                  <a:pt x="186254" y="119483"/>
                </a:cubicBezTo>
                <a:lnTo>
                  <a:pt x="80827" y="119483"/>
                </a:lnTo>
                <a:cubicBezTo>
                  <a:pt x="74985" y="119483"/>
                  <a:pt x="70284" y="124184"/>
                  <a:pt x="70284" y="130026"/>
                </a:cubicBezTo>
                <a:close/>
                <a:moveTo>
                  <a:pt x="158140" y="77313"/>
                </a:moveTo>
                <a:cubicBezTo>
                  <a:pt x="152298" y="77313"/>
                  <a:pt x="147597" y="82013"/>
                  <a:pt x="147597" y="87855"/>
                </a:cubicBezTo>
                <a:cubicBezTo>
                  <a:pt x="147597" y="93698"/>
                  <a:pt x="152298" y="98398"/>
                  <a:pt x="158140" y="98398"/>
                </a:cubicBezTo>
                <a:lnTo>
                  <a:pt x="186254" y="98398"/>
                </a:lnTo>
                <a:cubicBezTo>
                  <a:pt x="192096" y="98398"/>
                  <a:pt x="196796" y="93698"/>
                  <a:pt x="196796" y="87855"/>
                </a:cubicBezTo>
                <a:cubicBezTo>
                  <a:pt x="196796" y="82013"/>
                  <a:pt x="192096" y="77313"/>
                  <a:pt x="186254" y="77313"/>
                </a:cubicBezTo>
                <a:lnTo>
                  <a:pt x="158140" y="7731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1349460" y="3954434"/>
            <a:ext cx="107769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4146" y="4179344"/>
            <a:ext cx="106832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 news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16922" y="3542099"/>
            <a:ext cx="1227634" cy="937125"/>
          </a:xfrm>
          <a:prstGeom prst="roundRect">
            <a:avLst>
              <a:gd name="adj" fmla="val 8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61626" y="3654554"/>
            <a:ext cx="140569" cy="224910"/>
          </a:xfrm>
          <a:custGeom>
            <a:avLst/>
            <a:gdLst/>
            <a:ahLst/>
            <a:cxnLst/>
            <a:rect l="l" t="t" r="r" b="b"/>
            <a:pathLst>
              <a:path w="140569" h="224910">
                <a:moveTo>
                  <a:pt x="59742" y="10543"/>
                </a:moveTo>
                <a:cubicBezTo>
                  <a:pt x="59742" y="4700"/>
                  <a:pt x="64442" y="0"/>
                  <a:pt x="70284" y="0"/>
                </a:cubicBezTo>
                <a:cubicBezTo>
                  <a:pt x="76127" y="0"/>
                  <a:pt x="80827" y="4700"/>
                  <a:pt x="80827" y="10543"/>
                </a:cubicBezTo>
                <a:lnTo>
                  <a:pt x="80827" y="28114"/>
                </a:lnTo>
                <a:lnTo>
                  <a:pt x="105427" y="28114"/>
                </a:lnTo>
                <a:cubicBezTo>
                  <a:pt x="113202" y="28114"/>
                  <a:pt x="119483" y="34395"/>
                  <a:pt x="119483" y="42171"/>
                </a:cubicBezTo>
                <a:cubicBezTo>
                  <a:pt x="119483" y="49946"/>
                  <a:pt x="113202" y="56228"/>
                  <a:pt x="105427" y="56228"/>
                </a:cubicBezTo>
                <a:lnTo>
                  <a:pt x="54954" y="56228"/>
                </a:lnTo>
                <a:cubicBezTo>
                  <a:pt x="44016" y="56228"/>
                  <a:pt x="35142" y="65101"/>
                  <a:pt x="35142" y="76039"/>
                </a:cubicBezTo>
                <a:cubicBezTo>
                  <a:pt x="35142" y="85923"/>
                  <a:pt x="42390" y="94269"/>
                  <a:pt x="52142" y="95675"/>
                </a:cubicBezTo>
                <a:lnTo>
                  <a:pt x="92380" y="101429"/>
                </a:lnTo>
                <a:cubicBezTo>
                  <a:pt x="116013" y="104812"/>
                  <a:pt x="133540" y="125018"/>
                  <a:pt x="133540" y="148871"/>
                </a:cubicBezTo>
                <a:cubicBezTo>
                  <a:pt x="133540" y="175360"/>
                  <a:pt x="112060" y="196796"/>
                  <a:pt x="85615" y="196796"/>
                </a:cubicBezTo>
                <a:lnTo>
                  <a:pt x="80827" y="196796"/>
                </a:lnTo>
                <a:lnTo>
                  <a:pt x="80827" y="214367"/>
                </a:lnTo>
                <a:cubicBezTo>
                  <a:pt x="80827" y="220210"/>
                  <a:pt x="76127" y="224910"/>
                  <a:pt x="70284" y="224910"/>
                </a:cubicBezTo>
                <a:cubicBezTo>
                  <a:pt x="64442" y="224910"/>
                  <a:pt x="59742" y="220210"/>
                  <a:pt x="59742" y="214367"/>
                </a:cubicBezTo>
                <a:lnTo>
                  <a:pt x="59742" y="196796"/>
                </a:lnTo>
                <a:lnTo>
                  <a:pt x="28114" y="196796"/>
                </a:lnTo>
                <a:cubicBezTo>
                  <a:pt x="20339" y="196796"/>
                  <a:pt x="14057" y="190515"/>
                  <a:pt x="14057" y="182739"/>
                </a:cubicBezTo>
                <a:cubicBezTo>
                  <a:pt x="14057" y="174964"/>
                  <a:pt x="20339" y="168683"/>
                  <a:pt x="28114" y="168683"/>
                </a:cubicBezTo>
                <a:lnTo>
                  <a:pt x="85615" y="168683"/>
                </a:lnTo>
                <a:cubicBezTo>
                  <a:pt x="96553" y="168683"/>
                  <a:pt x="105427" y="159809"/>
                  <a:pt x="105427" y="148871"/>
                </a:cubicBezTo>
                <a:cubicBezTo>
                  <a:pt x="105427" y="138987"/>
                  <a:pt x="98179" y="130641"/>
                  <a:pt x="88427" y="129235"/>
                </a:cubicBezTo>
                <a:lnTo>
                  <a:pt x="48189" y="123481"/>
                </a:lnTo>
                <a:cubicBezTo>
                  <a:pt x="24556" y="120142"/>
                  <a:pt x="7028" y="99892"/>
                  <a:pt x="7028" y="76039"/>
                </a:cubicBezTo>
                <a:cubicBezTo>
                  <a:pt x="7028" y="49594"/>
                  <a:pt x="28509" y="28114"/>
                  <a:pt x="54954" y="28114"/>
                </a:cubicBezTo>
                <a:lnTo>
                  <a:pt x="59742" y="28114"/>
                </a:lnTo>
                <a:lnTo>
                  <a:pt x="59742" y="1054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2691892" y="3954434"/>
            <a:ext cx="107769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Fraud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96578" y="4179344"/>
            <a:ext cx="106832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59354" y="3542099"/>
            <a:ext cx="1227634" cy="937125"/>
          </a:xfrm>
          <a:prstGeom prst="roundRect">
            <a:avLst>
              <a:gd name="adj" fmla="val 8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5945" y="3654554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75116" y="-7028"/>
                </a:moveTo>
                <a:cubicBezTo>
                  <a:pt x="59127" y="-7028"/>
                  <a:pt x="49726" y="18581"/>
                  <a:pt x="45114" y="42171"/>
                </a:cubicBezTo>
                <a:lnTo>
                  <a:pt x="31628" y="42171"/>
                </a:lnTo>
                <a:cubicBezTo>
                  <a:pt x="25786" y="42171"/>
                  <a:pt x="21085" y="46871"/>
                  <a:pt x="21085" y="52713"/>
                </a:cubicBezTo>
                <a:cubicBezTo>
                  <a:pt x="21085" y="58556"/>
                  <a:pt x="25786" y="63256"/>
                  <a:pt x="31628" y="63256"/>
                </a:cubicBezTo>
                <a:lnTo>
                  <a:pt x="42171" y="63256"/>
                </a:lnTo>
                <a:lnTo>
                  <a:pt x="42171" y="77313"/>
                </a:lnTo>
                <a:cubicBezTo>
                  <a:pt x="42171" y="84781"/>
                  <a:pt x="43620" y="91897"/>
                  <a:pt x="46256" y="98398"/>
                </a:cubicBezTo>
                <a:lnTo>
                  <a:pt x="42171" y="98398"/>
                </a:lnTo>
                <a:lnTo>
                  <a:pt x="42171" y="98398"/>
                </a:lnTo>
                <a:lnTo>
                  <a:pt x="33165" y="98398"/>
                </a:lnTo>
                <a:cubicBezTo>
                  <a:pt x="26488" y="98398"/>
                  <a:pt x="21085" y="103801"/>
                  <a:pt x="21085" y="110478"/>
                </a:cubicBezTo>
                <a:cubicBezTo>
                  <a:pt x="21085" y="111796"/>
                  <a:pt x="21305" y="113070"/>
                  <a:pt x="21700" y="114300"/>
                </a:cubicBezTo>
                <a:lnTo>
                  <a:pt x="34395" y="152341"/>
                </a:lnTo>
                <a:cubicBezTo>
                  <a:pt x="17659" y="166750"/>
                  <a:pt x="7028" y="188055"/>
                  <a:pt x="7028" y="211864"/>
                </a:cubicBezTo>
                <a:cubicBezTo>
                  <a:pt x="7028" y="219068"/>
                  <a:pt x="12871" y="224910"/>
                  <a:pt x="20075" y="224910"/>
                </a:cubicBezTo>
                <a:lnTo>
                  <a:pt x="176721" y="224910"/>
                </a:lnTo>
                <a:cubicBezTo>
                  <a:pt x="183925" y="224910"/>
                  <a:pt x="189768" y="219068"/>
                  <a:pt x="189768" y="211864"/>
                </a:cubicBezTo>
                <a:cubicBezTo>
                  <a:pt x="189768" y="188055"/>
                  <a:pt x="179137" y="166750"/>
                  <a:pt x="162401" y="152385"/>
                </a:cubicBezTo>
                <a:lnTo>
                  <a:pt x="175096" y="114344"/>
                </a:lnTo>
                <a:cubicBezTo>
                  <a:pt x="175491" y="113114"/>
                  <a:pt x="175711" y="111840"/>
                  <a:pt x="175711" y="110522"/>
                </a:cubicBezTo>
                <a:cubicBezTo>
                  <a:pt x="175711" y="103845"/>
                  <a:pt x="170308" y="98442"/>
                  <a:pt x="163631" y="98442"/>
                </a:cubicBezTo>
                <a:lnTo>
                  <a:pt x="154626" y="98442"/>
                </a:lnTo>
                <a:lnTo>
                  <a:pt x="154626" y="98442"/>
                </a:lnTo>
                <a:lnTo>
                  <a:pt x="150540" y="98442"/>
                </a:lnTo>
                <a:cubicBezTo>
                  <a:pt x="153176" y="91941"/>
                  <a:pt x="154626" y="84824"/>
                  <a:pt x="154626" y="77357"/>
                </a:cubicBezTo>
                <a:lnTo>
                  <a:pt x="154626" y="63300"/>
                </a:lnTo>
                <a:lnTo>
                  <a:pt x="165168" y="63300"/>
                </a:lnTo>
                <a:cubicBezTo>
                  <a:pt x="171011" y="63300"/>
                  <a:pt x="175711" y="58600"/>
                  <a:pt x="175711" y="52757"/>
                </a:cubicBezTo>
                <a:cubicBezTo>
                  <a:pt x="175711" y="46915"/>
                  <a:pt x="171011" y="42215"/>
                  <a:pt x="165168" y="42215"/>
                </a:cubicBezTo>
                <a:lnTo>
                  <a:pt x="151683" y="42215"/>
                </a:lnTo>
                <a:cubicBezTo>
                  <a:pt x="147114" y="18625"/>
                  <a:pt x="137670" y="-6985"/>
                  <a:pt x="121680" y="-6985"/>
                </a:cubicBezTo>
                <a:cubicBezTo>
                  <a:pt x="117463" y="-6985"/>
                  <a:pt x="113334" y="-5271"/>
                  <a:pt x="109600" y="-3382"/>
                </a:cubicBezTo>
                <a:cubicBezTo>
                  <a:pt x="105998" y="-1581"/>
                  <a:pt x="101517" y="44"/>
                  <a:pt x="98398" y="44"/>
                </a:cubicBezTo>
                <a:cubicBezTo>
                  <a:pt x="95279" y="44"/>
                  <a:pt x="90799" y="-1581"/>
                  <a:pt x="87197" y="-3382"/>
                </a:cubicBezTo>
                <a:cubicBezTo>
                  <a:pt x="83463" y="-5315"/>
                  <a:pt x="79334" y="-7028"/>
                  <a:pt x="75116" y="-7028"/>
                </a:cubicBezTo>
                <a:close/>
                <a:moveTo>
                  <a:pt x="116277" y="205758"/>
                </a:moveTo>
                <a:lnTo>
                  <a:pt x="105383" y="174613"/>
                </a:lnTo>
                <a:lnTo>
                  <a:pt x="117639" y="160336"/>
                </a:lnTo>
                <a:cubicBezTo>
                  <a:pt x="118825" y="158931"/>
                  <a:pt x="119483" y="157173"/>
                  <a:pt x="119483" y="155329"/>
                </a:cubicBezTo>
                <a:cubicBezTo>
                  <a:pt x="119483" y="151068"/>
                  <a:pt x="116057" y="147641"/>
                  <a:pt x="111796" y="147641"/>
                </a:cubicBezTo>
                <a:lnTo>
                  <a:pt x="85000" y="147641"/>
                </a:lnTo>
                <a:cubicBezTo>
                  <a:pt x="80739" y="147641"/>
                  <a:pt x="77313" y="151068"/>
                  <a:pt x="77313" y="155329"/>
                </a:cubicBezTo>
                <a:cubicBezTo>
                  <a:pt x="77313" y="157173"/>
                  <a:pt x="77972" y="158931"/>
                  <a:pt x="79158" y="160336"/>
                </a:cubicBezTo>
                <a:lnTo>
                  <a:pt x="91414" y="174613"/>
                </a:lnTo>
                <a:lnTo>
                  <a:pt x="80520" y="205758"/>
                </a:lnTo>
                <a:lnTo>
                  <a:pt x="55481" y="126512"/>
                </a:lnTo>
                <a:lnTo>
                  <a:pt x="71163" y="126512"/>
                </a:lnTo>
                <a:cubicBezTo>
                  <a:pt x="79246" y="130993"/>
                  <a:pt x="88514" y="133540"/>
                  <a:pt x="98398" y="133540"/>
                </a:cubicBezTo>
                <a:cubicBezTo>
                  <a:pt x="108282" y="133540"/>
                  <a:pt x="117551" y="130993"/>
                  <a:pt x="125633" y="126512"/>
                </a:cubicBezTo>
                <a:lnTo>
                  <a:pt x="141316" y="126512"/>
                </a:lnTo>
                <a:lnTo>
                  <a:pt x="116277" y="205758"/>
                </a:lnTo>
                <a:close/>
                <a:moveTo>
                  <a:pt x="98398" y="112455"/>
                </a:moveTo>
                <a:cubicBezTo>
                  <a:pt x="83155" y="112455"/>
                  <a:pt x="70197" y="102747"/>
                  <a:pt x="65321" y="89173"/>
                </a:cubicBezTo>
                <a:cubicBezTo>
                  <a:pt x="67824" y="90579"/>
                  <a:pt x="70724" y="91370"/>
                  <a:pt x="73799" y="91370"/>
                </a:cubicBezTo>
                <a:lnTo>
                  <a:pt x="79246" y="91370"/>
                </a:lnTo>
                <a:cubicBezTo>
                  <a:pt x="86494" y="91370"/>
                  <a:pt x="92907" y="86713"/>
                  <a:pt x="95191" y="79861"/>
                </a:cubicBezTo>
                <a:cubicBezTo>
                  <a:pt x="96202" y="76786"/>
                  <a:pt x="100551" y="76786"/>
                  <a:pt x="101561" y="79861"/>
                </a:cubicBezTo>
                <a:cubicBezTo>
                  <a:pt x="103845" y="86713"/>
                  <a:pt x="110303" y="91370"/>
                  <a:pt x="117507" y="91370"/>
                </a:cubicBezTo>
                <a:lnTo>
                  <a:pt x="122954" y="91370"/>
                </a:lnTo>
                <a:cubicBezTo>
                  <a:pt x="126029" y="91370"/>
                  <a:pt x="128928" y="90579"/>
                  <a:pt x="131432" y="89173"/>
                </a:cubicBezTo>
                <a:cubicBezTo>
                  <a:pt x="126556" y="102747"/>
                  <a:pt x="113597" y="112455"/>
                  <a:pt x="98354" y="1124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4034324" y="3954434"/>
            <a:ext cx="107769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Theft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39010" y="4179344"/>
            <a:ext cx="106832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Impersonation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3593" y="4779106"/>
            <a:ext cx="6784787" cy="1274490"/>
          </a:xfrm>
          <a:custGeom>
            <a:avLst/>
            <a:gdLst/>
            <a:ahLst/>
            <a:cxnLst/>
            <a:rect l="l" t="t" r="r" b="b"/>
            <a:pathLst>
              <a:path w="6784787" h="1274490">
                <a:moveTo>
                  <a:pt x="37465" y="0"/>
                </a:moveTo>
                <a:lnTo>
                  <a:pt x="6709791" y="0"/>
                </a:lnTo>
                <a:cubicBezTo>
                  <a:pt x="6729686" y="-34"/>
                  <a:pt x="6748777" y="7846"/>
                  <a:pt x="6762857" y="21902"/>
                </a:cubicBezTo>
                <a:cubicBezTo>
                  <a:pt x="6776936" y="35957"/>
                  <a:pt x="6784848" y="55035"/>
                  <a:pt x="6784848" y="74930"/>
                </a:cubicBezTo>
                <a:lnTo>
                  <a:pt x="6784848" y="1199515"/>
                </a:lnTo>
                <a:cubicBezTo>
                  <a:pt x="6784848" y="1219410"/>
                  <a:pt x="6776936" y="1238488"/>
                  <a:pt x="6762857" y="1252543"/>
                </a:cubicBezTo>
                <a:cubicBezTo>
                  <a:pt x="6748777" y="1266599"/>
                  <a:pt x="6729686" y="1274479"/>
                  <a:pt x="6709791" y="1274445"/>
                </a:cubicBezTo>
                <a:lnTo>
                  <a:pt x="37465" y="1274445"/>
                </a:lnTo>
                <a:cubicBezTo>
                  <a:pt x="16774" y="1274445"/>
                  <a:pt x="0" y="1257671"/>
                  <a:pt x="0" y="1236980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393593" y="4779106"/>
            <a:ext cx="37485" cy="1274490"/>
          </a:xfrm>
          <a:custGeom>
            <a:avLst/>
            <a:gdLst/>
            <a:ahLst/>
            <a:cxnLst/>
            <a:rect l="l" t="t" r="r" b="b"/>
            <a:pathLst>
              <a:path w="37485" h="1274490">
                <a:moveTo>
                  <a:pt x="37465" y="0"/>
                </a:moveTo>
                <a:lnTo>
                  <a:pt x="37465" y="0"/>
                </a:lnTo>
                <a:lnTo>
                  <a:pt x="37465" y="1274445"/>
                </a:lnTo>
                <a:lnTo>
                  <a:pt x="37465" y="1274445"/>
                </a:lnTo>
                <a:cubicBezTo>
                  <a:pt x="16774" y="1274445"/>
                  <a:pt x="0" y="1257671"/>
                  <a:pt x="0" y="1236980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9760" y="4966531"/>
            <a:ext cx="524790" cy="524790"/>
          </a:xfrm>
          <a:prstGeom prst="roundRect">
            <a:avLst>
              <a:gd name="adj" fmla="val 50000"/>
            </a:avLst>
          </a:prstGeom>
          <a:solidFill>
            <a:srgbClr val="D4A373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9700" y="5116471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12455" y="224910"/>
                </a:moveTo>
                <a:cubicBezTo>
                  <a:pt x="174521" y="224910"/>
                  <a:pt x="224910" y="174521"/>
                  <a:pt x="224910" y="112455"/>
                </a:cubicBezTo>
                <a:cubicBezTo>
                  <a:pt x="224910" y="50389"/>
                  <a:pt x="174521" y="0"/>
                  <a:pt x="112455" y="0"/>
                </a:cubicBezTo>
                <a:cubicBezTo>
                  <a:pt x="50389" y="0"/>
                  <a:pt x="0" y="50389"/>
                  <a:pt x="0" y="112455"/>
                </a:cubicBezTo>
                <a:cubicBezTo>
                  <a:pt x="0" y="174521"/>
                  <a:pt x="50389" y="224910"/>
                  <a:pt x="112455" y="224910"/>
                </a:cubicBezTo>
                <a:close/>
                <a:moveTo>
                  <a:pt x="73359" y="73359"/>
                </a:moveTo>
                <a:cubicBezTo>
                  <a:pt x="77489" y="69230"/>
                  <a:pt x="84166" y="69230"/>
                  <a:pt x="88251" y="73359"/>
                </a:cubicBezTo>
                <a:lnTo>
                  <a:pt x="112411" y="97520"/>
                </a:lnTo>
                <a:lnTo>
                  <a:pt x="136571" y="73359"/>
                </a:lnTo>
                <a:cubicBezTo>
                  <a:pt x="140701" y="69230"/>
                  <a:pt x="147378" y="69230"/>
                  <a:pt x="151463" y="73359"/>
                </a:cubicBezTo>
                <a:cubicBezTo>
                  <a:pt x="155548" y="77489"/>
                  <a:pt x="155592" y="84166"/>
                  <a:pt x="151463" y="88251"/>
                </a:cubicBezTo>
                <a:lnTo>
                  <a:pt x="127303" y="112411"/>
                </a:lnTo>
                <a:lnTo>
                  <a:pt x="151463" y="136571"/>
                </a:lnTo>
                <a:cubicBezTo>
                  <a:pt x="155592" y="140701"/>
                  <a:pt x="155592" y="147378"/>
                  <a:pt x="151463" y="151463"/>
                </a:cubicBezTo>
                <a:cubicBezTo>
                  <a:pt x="147334" y="155548"/>
                  <a:pt x="140657" y="155592"/>
                  <a:pt x="136571" y="151463"/>
                </a:cubicBezTo>
                <a:lnTo>
                  <a:pt x="112411" y="127303"/>
                </a:lnTo>
                <a:lnTo>
                  <a:pt x="88251" y="151463"/>
                </a:lnTo>
                <a:cubicBezTo>
                  <a:pt x="84122" y="155592"/>
                  <a:pt x="77445" y="155592"/>
                  <a:pt x="73359" y="151463"/>
                </a:cubicBezTo>
                <a:cubicBezTo>
                  <a:pt x="69274" y="147334"/>
                  <a:pt x="69230" y="140657"/>
                  <a:pt x="73359" y="136571"/>
                </a:cubicBezTo>
                <a:lnTo>
                  <a:pt x="97520" y="112411"/>
                </a:lnTo>
                <a:lnTo>
                  <a:pt x="73359" y="88251"/>
                </a:lnTo>
                <a:cubicBezTo>
                  <a:pt x="69230" y="84122"/>
                  <a:pt x="69230" y="77445"/>
                  <a:pt x="73359" y="7335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1274490" y="4966531"/>
            <a:ext cx="582891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Current Detectors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74490" y="5378749"/>
            <a:ext cx="5791434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solutions focus </a:t>
            </a: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on visual artifacts</a:t>
            </a: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but modern AI generates highly realistic fakes that bypass standard pixel-level checks. This creates a </a:t>
            </a:r>
            <a:r>
              <a:rPr lang="en-US" sz="1181" dirty="0">
                <a:solidFill>
                  <a:srgbClr val="D4A373"/>
                </a:solidFill>
                <a:highlight>
                  <a:srgbClr val="D4A373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critical detection gap </a:t>
            </a: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pic>
        <p:nvPicPr>
          <p:cNvPr id="34" name="Image 0" descr="https://kimi-img.moonshot.cn/pub/slides/26-06-05-00:01:18-d8gq2jgc86s5pgro4uhg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448" y="374850"/>
            <a:ext cx="4475710" cy="2708292"/>
          </a:xfrm>
          <a:prstGeom prst="roundRect">
            <a:avLst>
              <a:gd name="adj" fmla="val 4233"/>
            </a:avLst>
          </a:prstGeom>
        </p:spPr>
      </p:pic>
      <p:sp>
        <p:nvSpPr>
          <p:cNvPr id="35" name="Shape 32"/>
          <p:cNvSpPr/>
          <p:nvPr/>
        </p:nvSpPr>
        <p:spPr>
          <a:xfrm>
            <a:off x="7339448" y="3231208"/>
            <a:ext cx="4475710" cy="2816999"/>
          </a:xfrm>
          <a:prstGeom prst="roundRect">
            <a:avLst>
              <a:gd name="adj" fmla="val 2661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07333" y="3721442"/>
            <a:ext cx="337365" cy="449820"/>
          </a:xfrm>
          <a:custGeom>
            <a:avLst/>
            <a:gdLst/>
            <a:ahLst/>
            <a:cxnLst/>
            <a:rect l="l" t="t" r="r" b="b"/>
            <a:pathLst>
              <a:path w="337365" h="449820">
                <a:moveTo>
                  <a:pt x="257329" y="337365"/>
                </a:moveTo>
                <a:cubicBezTo>
                  <a:pt x="263742" y="317773"/>
                  <a:pt x="276569" y="300027"/>
                  <a:pt x="291065" y="284740"/>
                </a:cubicBezTo>
                <a:cubicBezTo>
                  <a:pt x="319794" y="254517"/>
                  <a:pt x="337365" y="213665"/>
                  <a:pt x="337365" y="168683"/>
                </a:cubicBezTo>
                <a:cubicBezTo>
                  <a:pt x="337365" y="75556"/>
                  <a:pt x="261809" y="0"/>
                  <a:pt x="168683" y="0"/>
                </a:cubicBezTo>
                <a:cubicBezTo>
                  <a:pt x="75556" y="0"/>
                  <a:pt x="0" y="75556"/>
                  <a:pt x="0" y="168683"/>
                </a:cubicBezTo>
                <a:cubicBezTo>
                  <a:pt x="0" y="213665"/>
                  <a:pt x="17571" y="254517"/>
                  <a:pt x="46300" y="284740"/>
                </a:cubicBezTo>
                <a:cubicBezTo>
                  <a:pt x="60796" y="300027"/>
                  <a:pt x="73711" y="317773"/>
                  <a:pt x="80036" y="337365"/>
                </a:cubicBezTo>
                <a:lnTo>
                  <a:pt x="257241" y="337365"/>
                </a:lnTo>
                <a:close/>
                <a:moveTo>
                  <a:pt x="253024" y="379536"/>
                </a:moveTo>
                <a:lnTo>
                  <a:pt x="84341" y="379536"/>
                </a:lnTo>
                <a:lnTo>
                  <a:pt x="84341" y="393593"/>
                </a:lnTo>
                <a:cubicBezTo>
                  <a:pt x="84341" y="432425"/>
                  <a:pt x="115794" y="463877"/>
                  <a:pt x="154626" y="463877"/>
                </a:cubicBezTo>
                <a:lnTo>
                  <a:pt x="182739" y="463877"/>
                </a:lnTo>
                <a:cubicBezTo>
                  <a:pt x="221572" y="463877"/>
                  <a:pt x="253024" y="432425"/>
                  <a:pt x="253024" y="393593"/>
                </a:cubicBezTo>
                <a:lnTo>
                  <a:pt x="253024" y="379536"/>
                </a:lnTo>
                <a:close/>
                <a:moveTo>
                  <a:pt x="161654" y="98398"/>
                </a:moveTo>
                <a:cubicBezTo>
                  <a:pt x="126688" y="98398"/>
                  <a:pt x="98398" y="126688"/>
                  <a:pt x="98398" y="161654"/>
                </a:cubicBezTo>
                <a:cubicBezTo>
                  <a:pt x="98398" y="173339"/>
                  <a:pt x="88998" y="182739"/>
                  <a:pt x="77313" y="182739"/>
                </a:cubicBezTo>
                <a:cubicBezTo>
                  <a:pt x="65628" y="182739"/>
                  <a:pt x="56228" y="173339"/>
                  <a:pt x="56228" y="161654"/>
                </a:cubicBezTo>
                <a:cubicBezTo>
                  <a:pt x="56228" y="103406"/>
                  <a:pt x="103406" y="56228"/>
                  <a:pt x="161654" y="56228"/>
                </a:cubicBezTo>
                <a:cubicBezTo>
                  <a:pt x="173339" y="56228"/>
                  <a:pt x="182739" y="65628"/>
                  <a:pt x="182739" y="77313"/>
                </a:cubicBezTo>
                <a:cubicBezTo>
                  <a:pt x="182739" y="88998"/>
                  <a:pt x="173339" y="98398"/>
                  <a:pt x="161654" y="9839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Text 34"/>
          <p:cNvSpPr/>
          <p:nvPr/>
        </p:nvSpPr>
        <p:spPr>
          <a:xfrm>
            <a:off x="7478143" y="4283717"/>
            <a:ext cx="4198321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492199" y="4733421"/>
            <a:ext cx="4170208" cy="82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28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328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multi-modal, behavior-aware approach</a:t>
            </a:r>
            <a:r>
              <a:rPr lang="en-US" sz="1328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essential—combining visual analysis with emotional consistency checks to detect sophisticated deepfakes.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93593" y="6165934"/>
            <a:ext cx="11423557" cy="449820"/>
          </a:xfrm>
          <a:custGeom>
            <a:avLst/>
            <a:gdLst/>
            <a:ahLst/>
            <a:cxnLst/>
            <a:rect l="l" t="t" r="r" b="b"/>
            <a:pathLst>
              <a:path w="11423557" h="449820">
                <a:moveTo>
                  <a:pt x="37465" y="0"/>
                </a:moveTo>
                <a:lnTo>
                  <a:pt x="11348593" y="0"/>
                </a:lnTo>
                <a:cubicBezTo>
                  <a:pt x="11389976" y="0"/>
                  <a:pt x="11423523" y="33547"/>
                  <a:pt x="11423523" y="74930"/>
                </a:cubicBezTo>
                <a:lnTo>
                  <a:pt x="11423523" y="374904"/>
                </a:lnTo>
                <a:cubicBezTo>
                  <a:pt x="11423523" y="416287"/>
                  <a:pt x="11389976" y="449834"/>
                  <a:pt x="11348593" y="449834"/>
                </a:cubicBezTo>
                <a:lnTo>
                  <a:pt x="37465" y="449834"/>
                </a:lnTo>
                <a:cubicBezTo>
                  <a:pt x="16774" y="449834"/>
                  <a:pt x="0" y="433060"/>
                  <a:pt x="0" y="412369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93593" y="6165934"/>
            <a:ext cx="37485" cy="449820"/>
          </a:xfrm>
          <a:custGeom>
            <a:avLst/>
            <a:gdLst/>
            <a:ahLst/>
            <a:cxnLst/>
            <a:rect l="l" t="t" r="r" b="b"/>
            <a:pathLst>
              <a:path w="37485" h="449820">
                <a:moveTo>
                  <a:pt x="37465" y="0"/>
                </a:moveTo>
                <a:lnTo>
                  <a:pt x="37465" y="0"/>
                </a:lnTo>
                <a:lnTo>
                  <a:pt x="37465" y="449834"/>
                </a:lnTo>
                <a:lnTo>
                  <a:pt x="37465" y="449834"/>
                </a:lnTo>
                <a:cubicBezTo>
                  <a:pt x="16774" y="449834"/>
                  <a:pt x="0" y="433060"/>
                  <a:pt x="0" y="412369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Shape 38"/>
          <p:cNvSpPr/>
          <p:nvPr/>
        </p:nvSpPr>
        <p:spPr>
          <a:xfrm>
            <a:off x="543533" y="630837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39"/>
          <p:cNvSpPr/>
          <p:nvPr/>
        </p:nvSpPr>
        <p:spPr>
          <a:xfrm>
            <a:off x="767535" y="6278389"/>
            <a:ext cx="1101213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Gap:</a:t>
            </a:r>
            <a:r>
              <a:rPr lang="en-US" sz="118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Current detectors lack cross-modal analysis, creating vulnerability to next-generation deepfakes.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904" y="353904"/>
            <a:ext cx="70781" cy="424685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30856" y="353904"/>
            <a:ext cx="3609823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0856" y="849370"/>
            <a:ext cx="1139571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Strategic Goals for Comprehensive DeepFake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599" y="1274055"/>
            <a:ext cx="3715994" cy="2282682"/>
          </a:xfrm>
          <a:custGeom>
            <a:avLst/>
            <a:gdLst/>
            <a:ahLst/>
            <a:cxnLst/>
            <a:rect l="l" t="t" r="r" b="b"/>
            <a:pathLst>
              <a:path w="3715994" h="2282682">
                <a:moveTo>
                  <a:pt x="35433" y="0"/>
                </a:moveTo>
                <a:lnTo>
                  <a:pt x="3645154" y="0"/>
                </a:lnTo>
                <a:cubicBezTo>
                  <a:pt x="3663937" y="-34"/>
                  <a:pt x="3681963" y="7404"/>
                  <a:pt x="3695256" y="20674"/>
                </a:cubicBezTo>
                <a:cubicBezTo>
                  <a:pt x="3708550" y="33944"/>
                  <a:pt x="3716020" y="51956"/>
                  <a:pt x="3716020" y="70739"/>
                </a:cubicBezTo>
                <a:lnTo>
                  <a:pt x="3716020" y="2211959"/>
                </a:lnTo>
                <a:cubicBezTo>
                  <a:pt x="3716020" y="2230742"/>
                  <a:pt x="3708550" y="2248754"/>
                  <a:pt x="3695256" y="2262024"/>
                </a:cubicBezTo>
                <a:cubicBezTo>
                  <a:pt x="3681963" y="2275294"/>
                  <a:pt x="3663937" y="2282732"/>
                  <a:pt x="3645154" y="2282698"/>
                </a:cubicBez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71599" y="1274055"/>
            <a:ext cx="35390" cy="2282682"/>
          </a:xfrm>
          <a:custGeom>
            <a:avLst/>
            <a:gdLst/>
            <a:ahLst/>
            <a:cxnLst/>
            <a:rect l="l" t="t" r="r" b="b"/>
            <a:pathLst>
              <a:path w="35390" h="2282682">
                <a:moveTo>
                  <a:pt x="35433" y="0"/>
                </a:moveTo>
                <a:lnTo>
                  <a:pt x="35433" y="0"/>
                </a:lnTo>
                <a:lnTo>
                  <a:pt x="35433" y="2282698"/>
                </a:ln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66247" y="1451007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703716" y="1557179"/>
            <a:ext cx="327361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7884" y="1574874"/>
            <a:ext cx="1681045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 Detection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247" y="2052644"/>
            <a:ext cx="3415176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deepfake </a:t>
            </a: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 and videos</a:t>
            </a: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advanced AI algorithms with high accuracy and reliability.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3942" y="2645434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91861" y="2618891"/>
            <a:ext cx="153948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Multi-modal media support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6187" y="1274055"/>
            <a:ext cx="3715994" cy="2282682"/>
          </a:xfrm>
          <a:custGeom>
            <a:avLst/>
            <a:gdLst/>
            <a:ahLst/>
            <a:cxnLst/>
            <a:rect l="l" t="t" r="r" b="b"/>
            <a:pathLst>
              <a:path w="3715994" h="2282682">
                <a:moveTo>
                  <a:pt x="35433" y="0"/>
                </a:moveTo>
                <a:lnTo>
                  <a:pt x="3645154" y="0"/>
                </a:lnTo>
                <a:cubicBezTo>
                  <a:pt x="3663937" y="-34"/>
                  <a:pt x="3681963" y="7404"/>
                  <a:pt x="3695256" y="20674"/>
                </a:cubicBezTo>
                <a:cubicBezTo>
                  <a:pt x="3708550" y="33944"/>
                  <a:pt x="3716020" y="51956"/>
                  <a:pt x="3716020" y="70739"/>
                </a:cubicBezTo>
                <a:lnTo>
                  <a:pt x="3716020" y="2211959"/>
                </a:lnTo>
                <a:cubicBezTo>
                  <a:pt x="3716020" y="2230742"/>
                  <a:pt x="3708550" y="2248754"/>
                  <a:pt x="3695256" y="2262024"/>
                </a:cubicBezTo>
                <a:cubicBezTo>
                  <a:pt x="3681963" y="2275294"/>
                  <a:pt x="3663937" y="2282732"/>
                  <a:pt x="3645154" y="2282698"/>
                </a:cubicBez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246187" y="1274055"/>
            <a:ext cx="35390" cy="2282682"/>
          </a:xfrm>
          <a:custGeom>
            <a:avLst/>
            <a:gdLst/>
            <a:ahLst/>
            <a:cxnLst/>
            <a:rect l="l" t="t" r="r" b="b"/>
            <a:pathLst>
              <a:path w="35390" h="2282682">
                <a:moveTo>
                  <a:pt x="35433" y="0"/>
                </a:moveTo>
                <a:lnTo>
                  <a:pt x="35433" y="0"/>
                </a:lnTo>
                <a:lnTo>
                  <a:pt x="35433" y="2282698"/>
                </a:lnTo>
                <a:lnTo>
                  <a:pt x="35433" y="2282698"/>
                </a:lnTo>
                <a:cubicBezTo>
                  <a:pt x="15864" y="2282698"/>
                  <a:pt x="0" y="2266834"/>
                  <a:pt x="0" y="22472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0834" y="1451007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6" name="Text 14"/>
          <p:cNvSpPr/>
          <p:nvPr/>
        </p:nvSpPr>
        <p:spPr>
          <a:xfrm>
            <a:off x="4559061" y="1557179"/>
            <a:ext cx="362752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2471" y="1574874"/>
            <a:ext cx="174297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CNN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0834" y="2052644"/>
            <a:ext cx="3415176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</a:t>
            </a: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CNN</a:t>
            </a: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visual artifact detection, optimized for facial analysis.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58530" y="2645434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6448" y="2618891"/>
            <a:ext cx="1619112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State-of-the-art architecture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0982" y="3704161"/>
            <a:ext cx="3721303" cy="2296838"/>
          </a:xfrm>
          <a:prstGeom prst="roundRect">
            <a:avLst>
              <a:gd name="adj" fmla="val 3082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5013" y="3888192"/>
            <a:ext cx="495466" cy="49546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4A373"/>
              </a:gs>
              <a:gs pos="100000">
                <a:srgbClr val="5F737C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73303" y="4029754"/>
            <a:ext cx="238885" cy="212343"/>
          </a:xfrm>
          <a:custGeom>
            <a:avLst/>
            <a:gdLst/>
            <a:ahLst/>
            <a:cxnLst/>
            <a:rect l="l" t="t" r="r" b="b"/>
            <a:pathLst>
              <a:path w="238885" h="212343">
                <a:moveTo>
                  <a:pt x="128359" y="-7838"/>
                </a:moveTo>
                <a:cubicBezTo>
                  <a:pt x="126659" y="-11156"/>
                  <a:pt x="123217" y="-13271"/>
                  <a:pt x="119484" y="-13271"/>
                </a:cubicBezTo>
                <a:cubicBezTo>
                  <a:pt x="115752" y="-13271"/>
                  <a:pt x="112309" y="-11156"/>
                  <a:pt x="110609" y="-7838"/>
                </a:cubicBezTo>
                <a:lnTo>
                  <a:pt x="80085" y="51966"/>
                </a:lnTo>
                <a:lnTo>
                  <a:pt x="13769" y="62500"/>
                </a:lnTo>
                <a:cubicBezTo>
                  <a:pt x="10078" y="63081"/>
                  <a:pt x="7009" y="65693"/>
                  <a:pt x="5848" y="69260"/>
                </a:cubicBezTo>
                <a:cubicBezTo>
                  <a:pt x="4686" y="72827"/>
                  <a:pt x="5640" y="76725"/>
                  <a:pt x="8253" y="79380"/>
                </a:cubicBezTo>
                <a:lnTo>
                  <a:pt x="55698" y="126866"/>
                </a:lnTo>
                <a:lnTo>
                  <a:pt x="45247" y="193182"/>
                </a:lnTo>
                <a:cubicBezTo>
                  <a:pt x="44667" y="196873"/>
                  <a:pt x="46201" y="200606"/>
                  <a:pt x="49229" y="202804"/>
                </a:cubicBezTo>
                <a:cubicBezTo>
                  <a:pt x="52256" y="205002"/>
                  <a:pt x="56238" y="205334"/>
                  <a:pt x="59597" y="203633"/>
                </a:cubicBezTo>
                <a:lnTo>
                  <a:pt x="119484" y="173192"/>
                </a:lnTo>
                <a:lnTo>
                  <a:pt x="179330" y="203633"/>
                </a:lnTo>
                <a:cubicBezTo>
                  <a:pt x="182648" y="205334"/>
                  <a:pt x="186671" y="205002"/>
                  <a:pt x="189698" y="202804"/>
                </a:cubicBezTo>
                <a:cubicBezTo>
                  <a:pt x="192726" y="200606"/>
                  <a:pt x="194260" y="196915"/>
                  <a:pt x="193680" y="193182"/>
                </a:cubicBezTo>
                <a:lnTo>
                  <a:pt x="183187" y="126866"/>
                </a:lnTo>
                <a:lnTo>
                  <a:pt x="230632" y="79380"/>
                </a:lnTo>
                <a:cubicBezTo>
                  <a:pt x="233286" y="76725"/>
                  <a:pt x="234199" y="72827"/>
                  <a:pt x="233038" y="69260"/>
                </a:cubicBezTo>
                <a:cubicBezTo>
                  <a:pt x="231876" y="65693"/>
                  <a:pt x="228849" y="63081"/>
                  <a:pt x="225116" y="62500"/>
                </a:cubicBezTo>
                <a:lnTo>
                  <a:pt x="158842" y="51966"/>
                </a:lnTo>
                <a:lnTo>
                  <a:pt x="128359" y="-783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1146650" y="4012058"/>
            <a:ext cx="1229817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ECF Module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5013" y="4489829"/>
            <a:ext cx="3424023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 </a:t>
            </a: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Emotion-Consistency Forensics</a:t>
            </a: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cross-check facial emotion with voice tone.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2708" y="5082619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770626" y="5056076"/>
            <a:ext cx="1433312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Novel behavioral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6187" y="3697083"/>
            <a:ext cx="3715994" cy="2309225"/>
          </a:xfrm>
          <a:custGeom>
            <a:avLst/>
            <a:gdLst/>
            <a:ahLst/>
            <a:cxnLst/>
            <a:rect l="l" t="t" r="r" b="b"/>
            <a:pathLst>
              <a:path w="3715994" h="2309225">
                <a:moveTo>
                  <a:pt x="35433" y="0"/>
                </a:moveTo>
                <a:lnTo>
                  <a:pt x="3645154" y="0"/>
                </a:lnTo>
                <a:cubicBezTo>
                  <a:pt x="3663937" y="-34"/>
                  <a:pt x="3681963" y="7404"/>
                  <a:pt x="3695256" y="20674"/>
                </a:cubicBezTo>
                <a:cubicBezTo>
                  <a:pt x="3708550" y="33944"/>
                  <a:pt x="3716020" y="51956"/>
                  <a:pt x="3716020" y="70739"/>
                </a:cubicBezTo>
                <a:lnTo>
                  <a:pt x="3716020" y="2238502"/>
                </a:lnTo>
                <a:cubicBezTo>
                  <a:pt x="3716020" y="2257285"/>
                  <a:pt x="3708550" y="2275297"/>
                  <a:pt x="3695256" y="2288567"/>
                </a:cubicBezTo>
                <a:cubicBezTo>
                  <a:pt x="3681963" y="2301837"/>
                  <a:pt x="3663937" y="2309275"/>
                  <a:pt x="3645154" y="2309241"/>
                </a:cubicBezTo>
                <a:lnTo>
                  <a:pt x="35433" y="2309241"/>
                </a:lnTo>
                <a:cubicBezTo>
                  <a:pt x="15864" y="2309241"/>
                  <a:pt x="0" y="2293377"/>
                  <a:pt x="0" y="2273808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4246187" y="3697083"/>
            <a:ext cx="35390" cy="2309225"/>
          </a:xfrm>
          <a:custGeom>
            <a:avLst/>
            <a:gdLst/>
            <a:ahLst/>
            <a:cxnLst/>
            <a:rect l="l" t="t" r="r" b="b"/>
            <a:pathLst>
              <a:path w="35390" h="2309225">
                <a:moveTo>
                  <a:pt x="35433" y="0"/>
                </a:moveTo>
                <a:lnTo>
                  <a:pt x="35433" y="0"/>
                </a:lnTo>
                <a:lnTo>
                  <a:pt x="35433" y="2309241"/>
                </a:lnTo>
                <a:lnTo>
                  <a:pt x="35433" y="2309241"/>
                </a:lnTo>
                <a:cubicBezTo>
                  <a:pt x="15864" y="2309241"/>
                  <a:pt x="0" y="2293377"/>
                  <a:pt x="0" y="2273808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0" name="Shape 28"/>
          <p:cNvSpPr/>
          <p:nvPr/>
        </p:nvSpPr>
        <p:spPr>
          <a:xfrm>
            <a:off x="4440834" y="3874035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31" name="Text 29"/>
          <p:cNvSpPr/>
          <p:nvPr/>
        </p:nvSpPr>
        <p:spPr>
          <a:xfrm>
            <a:off x="4558286" y="3980206"/>
            <a:ext cx="362752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2471" y="3997901"/>
            <a:ext cx="200840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Explainability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40834" y="4475672"/>
            <a:ext cx="3415176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</a:t>
            </a: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explainability</a:t>
            </a: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Grad-CAM heatmaps to visualize detection evidence.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58530" y="5068462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6448" y="5041919"/>
            <a:ext cx="1406769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AI decisions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0775" y="1274055"/>
            <a:ext cx="3715994" cy="2406549"/>
          </a:xfrm>
          <a:custGeom>
            <a:avLst/>
            <a:gdLst/>
            <a:ahLst/>
            <a:cxnLst/>
            <a:rect l="l" t="t" r="r" b="b"/>
            <a:pathLst>
              <a:path w="3715994" h="2406549">
                <a:moveTo>
                  <a:pt x="35433" y="0"/>
                </a:moveTo>
                <a:lnTo>
                  <a:pt x="3645281" y="0"/>
                </a:lnTo>
                <a:cubicBezTo>
                  <a:pt x="3684349" y="0"/>
                  <a:pt x="3716020" y="31671"/>
                  <a:pt x="3716020" y="70739"/>
                </a:cubicBezTo>
                <a:lnTo>
                  <a:pt x="3716020" y="2335784"/>
                </a:lnTo>
                <a:cubicBezTo>
                  <a:pt x="3716020" y="2374852"/>
                  <a:pt x="3684349" y="2406523"/>
                  <a:pt x="3645281" y="2406523"/>
                </a:cubicBezTo>
                <a:lnTo>
                  <a:pt x="35433" y="2406523"/>
                </a:lnTo>
                <a:cubicBezTo>
                  <a:pt x="15913" y="2406523"/>
                  <a:pt x="70" y="2390736"/>
                  <a:pt x="0" y="2371217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8120775" y="1274055"/>
            <a:ext cx="35390" cy="2406549"/>
          </a:xfrm>
          <a:custGeom>
            <a:avLst/>
            <a:gdLst/>
            <a:ahLst/>
            <a:cxnLst/>
            <a:rect l="l" t="t" r="r" b="b"/>
            <a:pathLst>
              <a:path w="35390" h="2406549">
                <a:moveTo>
                  <a:pt x="35433" y="0"/>
                </a:moveTo>
                <a:lnTo>
                  <a:pt x="35433" y="0"/>
                </a:lnTo>
                <a:lnTo>
                  <a:pt x="35433" y="2406523"/>
                </a:lnTo>
                <a:lnTo>
                  <a:pt x="35433" y="2406523"/>
                </a:lnTo>
                <a:cubicBezTo>
                  <a:pt x="15913" y="2406523"/>
                  <a:pt x="70" y="2390736"/>
                  <a:pt x="0" y="2371217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Shape 36"/>
          <p:cNvSpPr/>
          <p:nvPr/>
        </p:nvSpPr>
        <p:spPr>
          <a:xfrm>
            <a:off x="8350813" y="1486398"/>
            <a:ext cx="495466" cy="495466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8469592" y="1592569"/>
            <a:ext cx="362752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52450" y="1610264"/>
            <a:ext cx="193762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Web Interface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50813" y="2123425"/>
            <a:ext cx="3344395" cy="46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an </a:t>
            </a: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web interface</a:t>
            </a: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Streamlit for real-time deepfake detection.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8508" y="2751605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8576426" y="2725062"/>
            <a:ext cx="1176731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 design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68508" y="3034729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8576426" y="3008186"/>
            <a:ext cx="122097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68508" y="3317852"/>
            <a:ext cx="123866" cy="123866"/>
          </a:xfrm>
          <a:custGeom>
            <a:avLst/>
            <a:gdLst/>
            <a:ahLst/>
            <a:cxnLst/>
            <a:rect l="l" t="t" r="r" b="b"/>
            <a:pathLst>
              <a:path w="123866" h="123866">
                <a:moveTo>
                  <a:pt x="61933" y="123866"/>
                </a:moveTo>
                <a:cubicBezTo>
                  <a:pt x="96115" y="123866"/>
                  <a:pt x="123866" y="96115"/>
                  <a:pt x="123866" y="61933"/>
                </a:cubicBezTo>
                <a:cubicBezTo>
                  <a:pt x="123866" y="27751"/>
                  <a:pt x="96115" y="0"/>
                  <a:pt x="61933" y="0"/>
                </a:cubicBezTo>
                <a:cubicBezTo>
                  <a:pt x="27751" y="0"/>
                  <a:pt x="0" y="27751"/>
                  <a:pt x="0" y="61933"/>
                </a:cubicBezTo>
                <a:cubicBezTo>
                  <a:pt x="0" y="96115"/>
                  <a:pt x="27751" y="123866"/>
                  <a:pt x="61933" y="123866"/>
                </a:cubicBezTo>
                <a:close/>
                <a:moveTo>
                  <a:pt x="82352" y="51458"/>
                </a:moveTo>
                <a:lnTo>
                  <a:pt x="62998" y="82424"/>
                </a:lnTo>
                <a:cubicBezTo>
                  <a:pt x="61982" y="84045"/>
                  <a:pt x="60240" y="85061"/>
                  <a:pt x="58329" y="85158"/>
                </a:cubicBezTo>
                <a:cubicBezTo>
                  <a:pt x="56417" y="85255"/>
                  <a:pt x="54579" y="84384"/>
                  <a:pt x="53442" y="82836"/>
                </a:cubicBezTo>
                <a:lnTo>
                  <a:pt x="41829" y="67352"/>
                </a:lnTo>
                <a:cubicBezTo>
                  <a:pt x="39894" y="64788"/>
                  <a:pt x="40426" y="61159"/>
                  <a:pt x="42990" y="59224"/>
                </a:cubicBezTo>
                <a:cubicBezTo>
                  <a:pt x="45555" y="57288"/>
                  <a:pt x="49184" y="57820"/>
                  <a:pt x="51119" y="60385"/>
                </a:cubicBezTo>
                <a:lnTo>
                  <a:pt x="57651" y="69094"/>
                </a:lnTo>
                <a:lnTo>
                  <a:pt x="72505" y="45313"/>
                </a:lnTo>
                <a:cubicBezTo>
                  <a:pt x="74199" y="42603"/>
                  <a:pt x="77779" y="41757"/>
                  <a:pt x="80513" y="43474"/>
                </a:cubicBezTo>
                <a:cubicBezTo>
                  <a:pt x="83247" y="45192"/>
                  <a:pt x="84070" y="48748"/>
                  <a:pt x="82352" y="514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5"/>
          <p:cNvSpPr/>
          <p:nvPr/>
        </p:nvSpPr>
        <p:spPr>
          <a:xfrm>
            <a:off x="8576426" y="3291309"/>
            <a:ext cx="1451007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reporting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10158" y="3829244"/>
            <a:ext cx="3721303" cy="2172972"/>
          </a:xfrm>
          <a:prstGeom prst="roundRect">
            <a:avLst>
              <a:gd name="adj" fmla="val 3257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57250" y="4048665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>
                <a:moveTo>
                  <a:pt x="371599" y="212343"/>
                </a:moveTo>
                <a:cubicBezTo>
                  <a:pt x="371599" y="124446"/>
                  <a:pt x="300239" y="53086"/>
                  <a:pt x="212343" y="53086"/>
                </a:cubicBezTo>
                <a:cubicBezTo>
                  <a:pt x="124446" y="53086"/>
                  <a:pt x="53086" y="124446"/>
                  <a:pt x="53086" y="212343"/>
                </a:cubicBezTo>
                <a:cubicBezTo>
                  <a:pt x="53086" y="300239"/>
                  <a:pt x="124446" y="371599"/>
                  <a:pt x="212343" y="371599"/>
                </a:cubicBezTo>
                <a:cubicBezTo>
                  <a:pt x="300239" y="371599"/>
                  <a:pt x="371599" y="300239"/>
                  <a:pt x="371599" y="212343"/>
                </a:cubicBezTo>
                <a:close/>
                <a:moveTo>
                  <a:pt x="0" y="212343"/>
                </a:moveTo>
                <a:cubicBezTo>
                  <a:pt x="0" y="95147"/>
                  <a:pt x="95147" y="0"/>
                  <a:pt x="212343" y="0"/>
                </a:cubicBezTo>
                <a:cubicBezTo>
                  <a:pt x="329538" y="0"/>
                  <a:pt x="424685" y="95147"/>
                  <a:pt x="424685" y="212343"/>
                </a:cubicBezTo>
                <a:cubicBezTo>
                  <a:pt x="424685" y="329538"/>
                  <a:pt x="329538" y="424685"/>
                  <a:pt x="212343" y="424685"/>
                </a:cubicBezTo>
                <a:cubicBezTo>
                  <a:pt x="95147" y="424685"/>
                  <a:pt x="0" y="329538"/>
                  <a:pt x="0" y="212343"/>
                </a:cubicBezTo>
                <a:close/>
                <a:moveTo>
                  <a:pt x="212343" y="278700"/>
                </a:moveTo>
                <a:cubicBezTo>
                  <a:pt x="248966" y="278700"/>
                  <a:pt x="278700" y="248966"/>
                  <a:pt x="278700" y="212343"/>
                </a:cubicBezTo>
                <a:cubicBezTo>
                  <a:pt x="278700" y="175719"/>
                  <a:pt x="248966" y="145985"/>
                  <a:pt x="212343" y="145985"/>
                </a:cubicBezTo>
                <a:cubicBezTo>
                  <a:pt x="175719" y="145985"/>
                  <a:pt x="145985" y="175719"/>
                  <a:pt x="145985" y="212343"/>
                </a:cubicBezTo>
                <a:cubicBezTo>
                  <a:pt x="145985" y="248966"/>
                  <a:pt x="175719" y="278700"/>
                  <a:pt x="212343" y="278700"/>
                </a:cubicBezTo>
                <a:close/>
                <a:moveTo>
                  <a:pt x="212343" y="92900"/>
                </a:moveTo>
                <a:cubicBezTo>
                  <a:pt x="278265" y="92900"/>
                  <a:pt x="331785" y="146420"/>
                  <a:pt x="331785" y="212343"/>
                </a:cubicBezTo>
                <a:cubicBezTo>
                  <a:pt x="331785" y="278265"/>
                  <a:pt x="278265" y="331785"/>
                  <a:pt x="212343" y="331785"/>
                </a:cubicBezTo>
                <a:cubicBezTo>
                  <a:pt x="146420" y="331785"/>
                  <a:pt x="92900" y="278265"/>
                  <a:pt x="92900" y="212343"/>
                </a:cubicBezTo>
                <a:cubicBezTo>
                  <a:pt x="92900" y="146420"/>
                  <a:pt x="146420" y="92900"/>
                  <a:pt x="212343" y="92900"/>
                </a:cubicBezTo>
                <a:close/>
                <a:moveTo>
                  <a:pt x="185800" y="212343"/>
                </a:moveTo>
                <a:cubicBezTo>
                  <a:pt x="185800" y="197693"/>
                  <a:pt x="197693" y="185800"/>
                  <a:pt x="212343" y="185800"/>
                </a:cubicBezTo>
                <a:cubicBezTo>
                  <a:pt x="226992" y="185800"/>
                  <a:pt x="238885" y="197693"/>
                  <a:pt x="238885" y="212343"/>
                </a:cubicBezTo>
                <a:cubicBezTo>
                  <a:pt x="238885" y="226992"/>
                  <a:pt x="226992" y="238885"/>
                  <a:pt x="212343" y="238885"/>
                </a:cubicBezTo>
                <a:cubicBezTo>
                  <a:pt x="197693" y="238885"/>
                  <a:pt x="185800" y="226992"/>
                  <a:pt x="185800" y="21234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8"/>
          <p:cNvSpPr/>
          <p:nvPr/>
        </p:nvSpPr>
        <p:spPr>
          <a:xfrm>
            <a:off x="9343514" y="4614912"/>
            <a:ext cx="1256360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Goal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89764" y="5004096"/>
            <a:ext cx="3362090" cy="77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4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</a:t>
            </a:r>
            <a:r>
              <a:rPr lang="en-US" sz="125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comprehensive, multi-modal</a:t>
            </a:r>
            <a:r>
              <a:rPr lang="en-US" sz="1254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detection system that addresses current limitations.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1599" y="6148533"/>
            <a:ext cx="11466496" cy="707808"/>
          </a:xfrm>
          <a:custGeom>
            <a:avLst/>
            <a:gdLst/>
            <a:ahLst/>
            <a:cxnLst/>
            <a:rect l="l" t="t" r="r" b="b"/>
            <a:pathLst>
              <a:path w="11466496" h="707808">
                <a:moveTo>
                  <a:pt x="35433" y="0"/>
                </a:moveTo>
                <a:lnTo>
                  <a:pt x="11395710" y="0"/>
                </a:lnTo>
                <a:cubicBezTo>
                  <a:pt x="11434778" y="0"/>
                  <a:pt x="11466449" y="31671"/>
                  <a:pt x="11466449" y="70739"/>
                </a:cubicBezTo>
                <a:lnTo>
                  <a:pt x="11466449" y="637032"/>
                </a:lnTo>
                <a:cubicBezTo>
                  <a:pt x="11466449" y="676100"/>
                  <a:pt x="11434778" y="707771"/>
                  <a:pt x="11395710" y="707771"/>
                </a:cubicBezTo>
                <a:lnTo>
                  <a:pt x="35433" y="707771"/>
                </a:lnTo>
                <a:cubicBezTo>
                  <a:pt x="15913" y="707771"/>
                  <a:pt x="70" y="691984"/>
                  <a:pt x="0" y="6724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71599" y="6148533"/>
            <a:ext cx="35390" cy="707808"/>
          </a:xfrm>
          <a:custGeom>
            <a:avLst/>
            <a:gdLst/>
            <a:ahLst/>
            <a:cxnLst/>
            <a:rect l="l" t="t" r="r" b="b"/>
            <a:pathLst>
              <a:path w="35390" h="707808">
                <a:moveTo>
                  <a:pt x="35433" y="0"/>
                </a:moveTo>
                <a:lnTo>
                  <a:pt x="35433" y="0"/>
                </a:lnTo>
                <a:lnTo>
                  <a:pt x="35433" y="707771"/>
                </a:lnTo>
                <a:lnTo>
                  <a:pt x="35433" y="707771"/>
                </a:lnTo>
                <a:cubicBezTo>
                  <a:pt x="15913" y="707771"/>
                  <a:pt x="70" y="691984"/>
                  <a:pt x="0" y="672465"/>
                </a:cubicBezTo>
                <a:lnTo>
                  <a:pt x="0" y="35433"/>
                </a:lnTo>
                <a:cubicBezTo>
                  <a:pt x="0" y="15877"/>
                  <a:pt x="15877" y="0"/>
                  <a:pt x="3543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552" y="6318406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61933" y="44238"/>
                </a:moveTo>
                <a:cubicBezTo>
                  <a:pt x="61933" y="39355"/>
                  <a:pt x="65898" y="35390"/>
                  <a:pt x="70781" y="35390"/>
                </a:cubicBezTo>
                <a:cubicBezTo>
                  <a:pt x="75664" y="35390"/>
                  <a:pt x="79628" y="39355"/>
                  <a:pt x="79628" y="44238"/>
                </a:cubicBezTo>
                <a:cubicBezTo>
                  <a:pt x="79628" y="49121"/>
                  <a:pt x="75664" y="53086"/>
                  <a:pt x="70781" y="53086"/>
                </a:cubicBezTo>
                <a:cubicBezTo>
                  <a:pt x="65898" y="53086"/>
                  <a:pt x="61933" y="49121"/>
                  <a:pt x="61933" y="44238"/>
                </a:cubicBezTo>
                <a:close/>
                <a:moveTo>
                  <a:pt x="59721" y="61933"/>
                </a:moveTo>
                <a:lnTo>
                  <a:pt x="72993" y="61933"/>
                </a:lnTo>
                <a:cubicBezTo>
                  <a:pt x="76670" y="61933"/>
                  <a:pt x="79628" y="64892"/>
                  <a:pt x="79628" y="68569"/>
                </a:cubicBezTo>
                <a:lnTo>
                  <a:pt x="79628" y="92900"/>
                </a:lnTo>
                <a:lnTo>
                  <a:pt x="81840" y="92900"/>
                </a:lnTo>
                <a:cubicBezTo>
                  <a:pt x="85518" y="92900"/>
                  <a:pt x="88476" y="95858"/>
                  <a:pt x="88476" y="99536"/>
                </a:cubicBezTo>
                <a:cubicBezTo>
                  <a:pt x="88476" y="103213"/>
                  <a:pt x="85518" y="106171"/>
                  <a:pt x="81840" y="106171"/>
                </a:cubicBezTo>
                <a:lnTo>
                  <a:pt x="59721" y="106171"/>
                </a:lnTo>
                <a:cubicBezTo>
                  <a:pt x="56044" y="106171"/>
                  <a:pt x="53086" y="103213"/>
                  <a:pt x="53086" y="99536"/>
                </a:cubicBezTo>
                <a:cubicBezTo>
                  <a:pt x="53086" y="95858"/>
                  <a:pt x="56044" y="92900"/>
                  <a:pt x="59721" y="92900"/>
                </a:cubicBezTo>
                <a:lnTo>
                  <a:pt x="66357" y="92900"/>
                </a:lnTo>
                <a:lnTo>
                  <a:pt x="66357" y="75205"/>
                </a:lnTo>
                <a:lnTo>
                  <a:pt x="59721" y="75205"/>
                </a:lnTo>
                <a:cubicBezTo>
                  <a:pt x="56044" y="75205"/>
                  <a:pt x="53086" y="72246"/>
                  <a:pt x="53086" y="68569"/>
                </a:cubicBezTo>
                <a:cubicBezTo>
                  <a:pt x="53086" y="64892"/>
                  <a:pt x="56044" y="61933"/>
                  <a:pt x="59721" y="6193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19" y="6290094"/>
            <a:ext cx="11010196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Strategy:</a:t>
            </a:r>
            <a:r>
              <a:rPr lang="en-US" sz="111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five objectives work synergistically—visual CNN detects artifacts, ECF catches emotional inconsistencies, Grad-CAM provides transparency, and Streamlit delivers accessibility.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363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Multi-Modal DeepFake Detection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117600"/>
            <a:ext cx="11545888" cy="742950"/>
          </a:xfrm>
          <a:prstGeom prst="roundRect">
            <a:avLst>
              <a:gd name="adj" fmla="val 8547"/>
            </a:avLst>
          </a:pr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4148" y="1369914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19062" y="50834"/>
                </a:moveTo>
                <a:lnTo>
                  <a:pt x="119062" y="148828"/>
                </a:lnTo>
                <a:cubicBezTo>
                  <a:pt x="119062" y="157060"/>
                  <a:pt x="112412" y="163711"/>
                  <a:pt x="104180" y="163711"/>
                </a:cubicBezTo>
                <a:cubicBezTo>
                  <a:pt x="95948" y="163711"/>
                  <a:pt x="89297" y="157060"/>
                  <a:pt x="89297" y="148828"/>
                </a:cubicBezTo>
                <a:lnTo>
                  <a:pt x="89297" y="50834"/>
                </a:lnTo>
                <a:lnTo>
                  <a:pt x="70042" y="70089"/>
                </a:lnTo>
                <a:cubicBezTo>
                  <a:pt x="64229" y="75902"/>
                  <a:pt x="54787" y="75902"/>
                  <a:pt x="48974" y="70089"/>
                </a:cubicBezTo>
                <a:cubicBezTo>
                  <a:pt x="43160" y="64275"/>
                  <a:pt x="43160" y="54834"/>
                  <a:pt x="48974" y="49020"/>
                </a:cubicBezTo>
                <a:lnTo>
                  <a:pt x="93622" y="4372"/>
                </a:lnTo>
                <a:cubicBezTo>
                  <a:pt x="99436" y="-1442"/>
                  <a:pt x="108877" y="-1442"/>
                  <a:pt x="114691" y="4372"/>
                </a:cubicBezTo>
                <a:lnTo>
                  <a:pt x="159339" y="49020"/>
                </a:lnTo>
                <a:cubicBezTo>
                  <a:pt x="165153" y="54834"/>
                  <a:pt x="165153" y="64275"/>
                  <a:pt x="159339" y="70089"/>
                </a:cubicBezTo>
                <a:cubicBezTo>
                  <a:pt x="153526" y="75902"/>
                  <a:pt x="144084" y="75902"/>
                  <a:pt x="138271" y="70089"/>
                </a:cubicBezTo>
                <a:lnTo>
                  <a:pt x="119062" y="50834"/>
                </a:lnTo>
                <a:close/>
                <a:moveTo>
                  <a:pt x="104180" y="186035"/>
                </a:moveTo>
                <a:cubicBezTo>
                  <a:pt x="124737" y="186035"/>
                  <a:pt x="141387" y="169385"/>
                  <a:pt x="141387" y="148828"/>
                </a:cubicBezTo>
                <a:lnTo>
                  <a:pt x="178594" y="148828"/>
                </a:lnTo>
                <a:cubicBezTo>
                  <a:pt x="195011" y="148828"/>
                  <a:pt x="208359" y="162176"/>
                  <a:pt x="208359" y="178594"/>
                </a:cubicBezTo>
                <a:lnTo>
                  <a:pt x="208359" y="193477"/>
                </a:lnTo>
                <a:cubicBezTo>
                  <a:pt x="208359" y="209894"/>
                  <a:pt x="195011" y="223242"/>
                  <a:pt x="178594" y="223242"/>
                </a:cubicBezTo>
                <a:lnTo>
                  <a:pt x="29766" y="223242"/>
                </a:lnTo>
                <a:cubicBezTo>
                  <a:pt x="13348" y="223242"/>
                  <a:pt x="0" y="209894"/>
                  <a:pt x="0" y="193477"/>
                </a:cubicBezTo>
                <a:lnTo>
                  <a:pt x="0" y="178594"/>
                </a:lnTo>
                <a:cubicBezTo>
                  <a:pt x="0" y="162176"/>
                  <a:pt x="13348" y="148828"/>
                  <a:pt x="29766" y="148828"/>
                </a:cubicBezTo>
                <a:lnTo>
                  <a:pt x="66973" y="148828"/>
                </a:lnTo>
                <a:cubicBezTo>
                  <a:pt x="66973" y="169385"/>
                  <a:pt x="83623" y="186035"/>
                  <a:pt x="104180" y="186035"/>
                </a:cubicBezTo>
                <a:close/>
                <a:moveTo>
                  <a:pt x="171152" y="197197"/>
                </a:moveTo>
                <a:cubicBezTo>
                  <a:pt x="177313" y="197197"/>
                  <a:pt x="182314" y="192196"/>
                  <a:pt x="182314" y="186035"/>
                </a:cubicBezTo>
                <a:cubicBezTo>
                  <a:pt x="182314" y="179875"/>
                  <a:pt x="177313" y="174873"/>
                  <a:pt x="171152" y="174873"/>
                </a:cubicBezTo>
                <a:cubicBezTo>
                  <a:pt x="164992" y="174873"/>
                  <a:pt x="159990" y="179875"/>
                  <a:pt x="159990" y="186035"/>
                </a:cubicBezTo>
                <a:cubicBezTo>
                  <a:pt x="159990" y="192196"/>
                  <a:pt x="164992" y="197197"/>
                  <a:pt x="171152" y="19719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5264547" y="1250951"/>
            <a:ext cx="208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76453" y="1504852"/>
            <a:ext cx="206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Image/Video Upload via Web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8688" y="196205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" name="Shape 8"/>
          <p:cNvSpPr/>
          <p:nvPr/>
        </p:nvSpPr>
        <p:spPr>
          <a:xfrm>
            <a:off x="333375" y="2295426"/>
            <a:ext cx="11541125" cy="730250"/>
          </a:xfrm>
          <a:custGeom>
            <a:avLst/>
            <a:gdLst/>
            <a:ahLst/>
            <a:cxnLst/>
            <a:rect l="l" t="t" r="r" b="b"/>
            <a:pathLst>
              <a:path w="11541125" h="730250">
                <a:moveTo>
                  <a:pt x="31750" y="0"/>
                </a:moveTo>
                <a:lnTo>
                  <a:pt x="11477625" y="0"/>
                </a:lnTo>
                <a:cubicBezTo>
                  <a:pt x="11512672" y="0"/>
                  <a:pt x="11541125" y="28453"/>
                  <a:pt x="11541125" y="63500"/>
                </a:cubicBezTo>
                <a:lnTo>
                  <a:pt x="11541125" y="666750"/>
                </a:lnTo>
                <a:cubicBezTo>
                  <a:pt x="11541125" y="701797"/>
                  <a:pt x="11512672" y="730250"/>
                  <a:pt x="11477625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333375" y="2295426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2" name="Shape 10"/>
          <p:cNvSpPr/>
          <p:nvPr/>
        </p:nvSpPr>
        <p:spPr>
          <a:xfrm>
            <a:off x="3964384" y="2541389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93430" y="97901"/>
                </a:moveTo>
                <a:cubicBezTo>
                  <a:pt x="199104" y="96366"/>
                  <a:pt x="205057" y="99064"/>
                  <a:pt x="207615" y="104319"/>
                </a:cubicBezTo>
                <a:lnTo>
                  <a:pt x="216266" y="121807"/>
                </a:lnTo>
                <a:cubicBezTo>
                  <a:pt x="221056" y="122458"/>
                  <a:pt x="225754" y="123760"/>
                  <a:pt x="230172" y="125574"/>
                </a:cubicBezTo>
                <a:lnTo>
                  <a:pt x="246450" y="114737"/>
                </a:lnTo>
                <a:cubicBezTo>
                  <a:pt x="251333" y="111482"/>
                  <a:pt x="257798" y="112133"/>
                  <a:pt x="261937" y="116272"/>
                </a:cubicBezTo>
                <a:lnTo>
                  <a:pt x="270867" y="125202"/>
                </a:lnTo>
                <a:cubicBezTo>
                  <a:pt x="275006" y="129341"/>
                  <a:pt x="275658" y="135852"/>
                  <a:pt x="272402" y="140689"/>
                </a:cubicBezTo>
                <a:lnTo>
                  <a:pt x="261565" y="156921"/>
                </a:lnTo>
                <a:cubicBezTo>
                  <a:pt x="262449" y="159107"/>
                  <a:pt x="263240" y="161385"/>
                  <a:pt x="263891" y="163757"/>
                </a:cubicBezTo>
                <a:cubicBezTo>
                  <a:pt x="264542" y="166129"/>
                  <a:pt x="264961" y="168455"/>
                  <a:pt x="265286" y="170827"/>
                </a:cubicBezTo>
                <a:lnTo>
                  <a:pt x="282820" y="179477"/>
                </a:lnTo>
                <a:cubicBezTo>
                  <a:pt x="288075" y="182082"/>
                  <a:pt x="290773" y="188035"/>
                  <a:pt x="289238" y="193663"/>
                </a:cubicBezTo>
                <a:lnTo>
                  <a:pt x="285983" y="205848"/>
                </a:lnTo>
                <a:cubicBezTo>
                  <a:pt x="284448" y="211475"/>
                  <a:pt x="279192" y="215289"/>
                  <a:pt x="273332" y="214917"/>
                </a:cubicBezTo>
                <a:lnTo>
                  <a:pt x="253798" y="213661"/>
                </a:lnTo>
                <a:cubicBezTo>
                  <a:pt x="250868" y="217429"/>
                  <a:pt x="247473" y="220917"/>
                  <a:pt x="243613" y="223893"/>
                </a:cubicBezTo>
                <a:lnTo>
                  <a:pt x="244869" y="243380"/>
                </a:lnTo>
                <a:cubicBezTo>
                  <a:pt x="245241" y="249241"/>
                  <a:pt x="241427" y="254543"/>
                  <a:pt x="235800" y="256031"/>
                </a:cubicBezTo>
                <a:lnTo>
                  <a:pt x="223614" y="259286"/>
                </a:lnTo>
                <a:cubicBezTo>
                  <a:pt x="217940" y="260821"/>
                  <a:pt x="212034" y="258124"/>
                  <a:pt x="209429" y="252868"/>
                </a:cubicBezTo>
                <a:lnTo>
                  <a:pt x="200778" y="235381"/>
                </a:lnTo>
                <a:cubicBezTo>
                  <a:pt x="195988" y="234730"/>
                  <a:pt x="191291" y="233428"/>
                  <a:pt x="186872" y="231614"/>
                </a:cubicBezTo>
                <a:lnTo>
                  <a:pt x="170594" y="242450"/>
                </a:lnTo>
                <a:cubicBezTo>
                  <a:pt x="165711" y="245706"/>
                  <a:pt x="159246" y="245055"/>
                  <a:pt x="155107" y="240916"/>
                </a:cubicBezTo>
                <a:lnTo>
                  <a:pt x="146177" y="231986"/>
                </a:lnTo>
                <a:cubicBezTo>
                  <a:pt x="142038" y="227847"/>
                  <a:pt x="141387" y="221382"/>
                  <a:pt x="144642" y="216498"/>
                </a:cubicBezTo>
                <a:lnTo>
                  <a:pt x="155479" y="200220"/>
                </a:lnTo>
                <a:cubicBezTo>
                  <a:pt x="154595" y="198034"/>
                  <a:pt x="153805" y="195755"/>
                  <a:pt x="153153" y="193384"/>
                </a:cubicBezTo>
                <a:cubicBezTo>
                  <a:pt x="152502" y="191012"/>
                  <a:pt x="152084" y="188640"/>
                  <a:pt x="151758" y="186314"/>
                </a:cubicBezTo>
                <a:lnTo>
                  <a:pt x="134224" y="177664"/>
                </a:lnTo>
                <a:cubicBezTo>
                  <a:pt x="128969" y="175059"/>
                  <a:pt x="126318" y="169106"/>
                  <a:pt x="127806" y="163478"/>
                </a:cubicBezTo>
                <a:lnTo>
                  <a:pt x="131062" y="151293"/>
                </a:lnTo>
                <a:cubicBezTo>
                  <a:pt x="132597" y="145666"/>
                  <a:pt x="137852" y="141852"/>
                  <a:pt x="143712" y="142224"/>
                </a:cubicBezTo>
                <a:lnTo>
                  <a:pt x="163199" y="143480"/>
                </a:lnTo>
                <a:cubicBezTo>
                  <a:pt x="166129" y="139712"/>
                  <a:pt x="169525" y="136224"/>
                  <a:pt x="173385" y="133248"/>
                </a:cubicBezTo>
                <a:lnTo>
                  <a:pt x="172129" y="113807"/>
                </a:lnTo>
                <a:cubicBezTo>
                  <a:pt x="171757" y="107947"/>
                  <a:pt x="175571" y="102645"/>
                  <a:pt x="181198" y="101157"/>
                </a:cubicBezTo>
                <a:lnTo>
                  <a:pt x="193384" y="97901"/>
                </a:lnTo>
                <a:close/>
                <a:moveTo>
                  <a:pt x="208545" y="158130"/>
                </a:moveTo>
                <a:cubicBezTo>
                  <a:pt x="197251" y="158143"/>
                  <a:pt x="188092" y="167323"/>
                  <a:pt x="188105" y="178617"/>
                </a:cubicBezTo>
                <a:cubicBezTo>
                  <a:pt x="188118" y="189911"/>
                  <a:pt x="197298" y="199070"/>
                  <a:pt x="208592" y="199058"/>
                </a:cubicBezTo>
                <a:cubicBezTo>
                  <a:pt x="219886" y="199045"/>
                  <a:pt x="229045" y="189865"/>
                  <a:pt x="229033" y="178570"/>
                </a:cubicBezTo>
                <a:cubicBezTo>
                  <a:pt x="229020" y="167276"/>
                  <a:pt x="219840" y="158117"/>
                  <a:pt x="208545" y="158130"/>
                </a:cubicBezTo>
                <a:close/>
                <a:moveTo>
                  <a:pt x="104598" y="-21161"/>
                </a:moveTo>
                <a:lnTo>
                  <a:pt x="116784" y="-17906"/>
                </a:lnTo>
                <a:cubicBezTo>
                  <a:pt x="122411" y="-16371"/>
                  <a:pt x="126225" y="-11069"/>
                  <a:pt x="125853" y="-5255"/>
                </a:cubicBezTo>
                <a:lnTo>
                  <a:pt x="124597" y="14185"/>
                </a:lnTo>
                <a:cubicBezTo>
                  <a:pt x="128457" y="17162"/>
                  <a:pt x="131852" y="20603"/>
                  <a:pt x="134782" y="24417"/>
                </a:cubicBezTo>
                <a:lnTo>
                  <a:pt x="154316" y="23161"/>
                </a:lnTo>
                <a:cubicBezTo>
                  <a:pt x="160130" y="22789"/>
                  <a:pt x="165432" y="26603"/>
                  <a:pt x="166967" y="32231"/>
                </a:cubicBezTo>
                <a:lnTo>
                  <a:pt x="170222" y="44416"/>
                </a:lnTo>
                <a:cubicBezTo>
                  <a:pt x="171710" y="50043"/>
                  <a:pt x="169059" y="55997"/>
                  <a:pt x="163804" y="58601"/>
                </a:cubicBezTo>
                <a:lnTo>
                  <a:pt x="146270" y="67252"/>
                </a:lnTo>
                <a:cubicBezTo>
                  <a:pt x="145945" y="69624"/>
                  <a:pt x="145479" y="71996"/>
                  <a:pt x="144875" y="74321"/>
                </a:cubicBezTo>
                <a:cubicBezTo>
                  <a:pt x="144270" y="76646"/>
                  <a:pt x="143433" y="78972"/>
                  <a:pt x="142549" y="81158"/>
                </a:cubicBezTo>
                <a:lnTo>
                  <a:pt x="153386" y="97436"/>
                </a:lnTo>
                <a:cubicBezTo>
                  <a:pt x="156642" y="102319"/>
                  <a:pt x="155990" y="108784"/>
                  <a:pt x="151851" y="112923"/>
                </a:cubicBezTo>
                <a:lnTo>
                  <a:pt x="142922" y="121853"/>
                </a:lnTo>
                <a:cubicBezTo>
                  <a:pt x="138782" y="125992"/>
                  <a:pt x="132318" y="126643"/>
                  <a:pt x="127434" y="123388"/>
                </a:cubicBezTo>
                <a:lnTo>
                  <a:pt x="111156" y="112551"/>
                </a:lnTo>
                <a:cubicBezTo>
                  <a:pt x="106738" y="114365"/>
                  <a:pt x="102040" y="115667"/>
                  <a:pt x="97250" y="116318"/>
                </a:cubicBezTo>
                <a:lnTo>
                  <a:pt x="88599" y="133806"/>
                </a:lnTo>
                <a:cubicBezTo>
                  <a:pt x="85995" y="139061"/>
                  <a:pt x="80042" y="141712"/>
                  <a:pt x="74414" y="140224"/>
                </a:cubicBezTo>
                <a:lnTo>
                  <a:pt x="62229" y="136968"/>
                </a:lnTo>
                <a:cubicBezTo>
                  <a:pt x="56555" y="135434"/>
                  <a:pt x="52787" y="130132"/>
                  <a:pt x="53160" y="124318"/>
                </a:cubicBezTo>
                <a:lnTo>
                  <a:pt x="54415" y="104831"/>
                </a:lnTo>
                <a:cubicBezTo>
                  <a:pt x="50555" y="101854"/>
                  <a:pt x="47160" y="98413"/>
                  <a:pt x="44230" y="94599"/>
                </a:cubicBezTo>
                <a:lnTo>
                  <a:pt x="24696" y="95855"/>
                </a:lnTo>
                <a:cubicBezTo>
                  <a:pt x="18883" y="96227"/>
                  <a:pt x="13581" y="92413"/>
                  <a:pt x="12046" y="86785"/>
                </a:cubicBezTo>
                <a:lnTo>
                  <a:pt x="8790" y="74600"/>
                </a:lnTo>
                <a:cubicBezTo>
                  <a:pt x="7302" y="68973"/>
                  <a:pt x="9953" y="63019"/>
                  <a:pt x="15208" y="60415"/>
                </a:cubicBezTo>
                <a:lnTo>
                  <a:pt x="32742" y="51764"/>
                </a:lnTo>
                <a:cubicBezTo>
                  <a:pt x="33068" y="49392"/>
                  <a:pt x="33533" y="47067"/>
                  <a:pt x="34137" y="44695"/>
                </a:cubicBezTo>
                <a:cubicBezTo>
                  <a:pt x="34789" y="42323"/>
                  <a:pt x="35533" y="40044"/>
                  <a:pt x="36463" y="37858"/>
                </a:cubicBezTo>
                <a:lnTo>
                  <a:pt x="25626" y="21627"/>
                </a:lnTo>
                <a:cubicBezTo>
                  <a:pt x="22371" y="16743"/>
                  <a:pt x="23022" y="10278"/>
                  <a:pt x="27161" y="6139"/>
                </a:cubicBezTo>
                <a:lnTo>
                  <a:pt x="36091" y="-2791"/>
                </a:lnTo>
                <a:cubicBezTo>
                  <a:pt x="40230" y="-6930"/>
                  <a:pt x="46695" y="-7581"/>
                  <a:pt x="51578" y="-4325"/>
                </a:cubicBezTo>
                <a:lnTo>
                  <a:pt x="67856" y="6511"/>
                </a:lnTo>
                <a:cubicBezTo>
                  <a:pt x="72275" y="4697"/>
                  <a:pt x="76972" y="3395"/>
                  <a:pt x="81762" y="2744"/>
                </a:cubicBezTo>
                <a:lnTo>
                  <a:pt x="90413" y="-14743"/>
                </a:lnTo>
                <a:cubicBezTo>
                  <a:pt x="93018" y="-19999"/>
                  <a:pt x="98924" y="-22650"/>
                  <a:pt x="104598" y="-21161"/>
                </a:cubicBezTo>
                <a:close/>
                <a:moveTo>
                  <a:pt x="89483" y="39067"/>
                </a:moveTo>
                <a:cubicBezTo>
                  <a:pt x="78189" y="39067"/>
                  <a:pt x="69019" y="48237"/>
                  <a:pt x="69019" y="59531"/>
                </a:cubicBezTo>
                <a:cubicBezTo>
                  <a:pt x="69019" y="70826"/>
                  <a:pt x="78189" y="79995"/>
                  <a:pt x="89483" y="79995"/>
                </a:cubicBezTo>
                <a:cubicBezTo>
                  <a:pt x="100777" y="79995"/>
                  <a:pt x="109947" y="70826"/>
                  <a:pt x="109947" y="59531"/>
                </a:cubicBezTo>
                <a:cubicBezTo>
                  <a:pt x="109947" y="48237"/>
                  <a:pt x="100777" y="39067"/>
                  <a:pt x="89483" y="39067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3" name="Text 11"/>
          <p:cNvSpPr/>
          <p:nvPr/>
        </p:nvSpPr>
        <p:spPr>
          <a:xfrm>
            <a:off x="4339431" y="2422426"/>
            <a:ext cx="396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1338" y="2676327"/>
            <a:ext cx="39449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MTCNN Face Detection • Frame Extraction • Audio Separation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43078" y="316686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36394" y="3124002"/>
            <a:ext cx="1316038" cy="323850"/>
          </a:xfrm>
          <a:prstGeom prst="roundRect">
            <a:avLst>
              <a:gd name="adj" fmla="val 19608"/>
            </a:avLst>
          </a:pr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6569" y="3190677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74198" y="316686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9" name="Shape 17"/>
          <p:cNvSpPr/>
          <p:nvPr/>
        </p:nvSpPr>
        <p:spPr>
          <a:xfrm>
            <a:off x="333375" y="3546278"/>
            <a:ext cx="4881563" cy="1674813"/>
          </a:xfrm>
          <a:custGeom>
            <a:avLst/>
            <a:gdLst/>
            <a:ahLst/>
            <a:cxnLst/>
            <a:rect l="l" t="t" r="r" b="b"/>
            <a:pathLst>
              <a:path w="4881563" h="1674813">
                <a:moveTo>
                  <a:pt x="31750" y="0"/>
                </a:moveTo>
                <a:lnTo>
                  <a:pt x="4818126" y="0"/>
                </a:lnTo>
                <a:cubicBezTo>
                  <a:pt x="4853173" y="0"/>
                  <a:pt x="4881626" y="28453"/>
                  <a:pt x="4881626" y="63500"/>
                </a:cubicBezTo>
                <a:lnTo>
                  <a:pt x="4881626" y="1611376"/>
                </a:lnTo>
                <a:cubicBezTo>
                  <a:pt x="4881626" y="1646423"/>
                  <a:pt x="4853173" y="1674876"/>
                  <a:pt x="4818126" y="1674876"/>
                </a:cubicBezTo>
                <a:lnTo>
                  <a:pt x="31750" y="1674876"/>
                </a:lnTo>
                <a:cubicBezTo>
                  <a:pt x="14227" y="1674876"/>
                  <a:pt x="0" y="1660649"/>
                  <a:pt x="0" y="16431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333375" y="3546278"/>
            <a:ext cx="31750" cy="1674813"/>
          </a:xfrm>
          <a:custGeom>
            <a:avLst/>
            <a:gdLst/>
            <a:ahLst/>
            <a:cxnLst/>
            <a:rect l="l" t="t" r="r" b="b"/>
            <a:pathLst>
              <a:path w="31750" h="1674813">
                <a:moveTo>
                  <a:pt x="31750" y="0"/>
                </a:moveTo>
                <a:lnTo>
                  <a:pt x="31750" y="0"/>
                </a:lnTo>
                <a:lnTo>
                  <a:pt x="31750" y="1674876"/>
                </a:lnTo>
                <a:lnTo>
                  <a:pt x="31750" y="1674876"/>
                </a:lnTo>
                <a:cubicBezTo>
                  <a:pt x="14227" y="1674876"/>
                  <a:pt x="0" y="1660649"/>
                  <a:pt x="0" y="16431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1" name="Shape 19"/>
          <p:cNvSpPr/>
          <p:nvPr/>
        </p:nvSpPr>
        <p:spPr>
          <a:xfrm>
            <a:off x="488156" y="36891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2" name="Text 20"/>
          <p:cNvSpPr/>
          <p:nvPr/>
        </p:nvSpPr>
        <p:spPr>
          <a:xfrm>
            <a:off x="809625" y="3673278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250" y="3990778"/>
            <a:ext cx="125075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CNN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6250" y="4244778"/>
            <a:ext cx="466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Detects blending boundaries, texture inconsistencies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250" y="4498778"/>
            <a:ext cx="4611688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3719" y="4594028"/>
            <a:ext cx="447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1813" y="4752778"/>
            <a:ext cx="450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Fake Score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93705" y="4265414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19062" y="29766"/>
                </a:moveTo>
                <a:cubicBezTo>
                  <a:pt x="119062" y="21534"/>
                  <a:pt x="112412" y="14883"/>
                  <a:pt x="104180" y="14883"/>
                </a:cubicBezTo>
                <a:cubicBezTo>
                  <a:pt x="95948" y="14883"/>
                  <a:pt x="89297" y="21534"/>
                  <a:pt x="89297" y="29766"/>
                </a:cubicBezTo>
                <a:lnTo>
                  <a:pt x="89297" y="104180"/>
                </a:lnTo>
                <a:lnTo>
                  <a:pt x="14883" y="104180"/>
                </a:lnTo>
                <a:cubicBezTo>
                  <a:pt x="6651" y="104180"/>
                  <a:pt x="0" y="110830"/>
                  <a:pt x="0" y="119062"/>
                </a:cubicBezTo>
                <a:cubicBezTo>
                  <a:pt x="0" y="127295"/>
                  <a:pt x="6651" y="133945"/>
                  <a:pt x="14883" y="133945"/>
                </a:cubicBezTo>
                <a:lnTo>
                  <a:pt x="89297" y="133945"/>
                </a:lnTo>
                <a:lnTo>
                  <a:pt x="89297" y="208359"/>
                </a:lnTo>
                <a:cubicBezTo>
                  <a:pt x="89297" y="216591"/>
                  <a:pt x="95948" y="223242"/>
                  <a:pt x="104180" y="223242"/>
                </a:cubicBezTo>
                <a:cubicBezTo>
                  <a:pt x="112412" y="223242"/>
                  <a:pt x="119062" y="216591"/>
                  <a:pt x="119062" y="208359"/>
                </a:cubicBezTo>
                <a:lnTo>
                  <a:pt x="119062" y="133945"/>
                </a:lnTo>
                <a:lnTo>
                  <a:pt x="193477" y="133945"/>
                </a:lnTo>
                <a:cubicBezTo>
                  <a:pt x="201709" y="133945"/>
                  <a:pt x="208359" y="127295"/>
                  <a:pt x="208359" y="119062"/>
                </a:cubicBezTo>
                <a:cubicBezTo>
                  <a:pt x="208359" y="110830"/>
                  <a:pt x="201709" y="104180"/>
                  <a:pt x="193477" y="104180"/>
                </a:cubicBezTo>
                <a:lnTo>
                  <a:pt x="119062" y="104180"/>
                </a:lnTo>
                <a:lnTo>
                  <a:pt x="119062" y="2976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Shape 27"/>
          <p:cNvSpPr/>
          <p:nvPr/>
        </p:nvSpPr>
        <p:spPr>
          <a:xfrm>
            <a:off x="6982222" y="3552628"/>
            <a:ext cx="4886325" cy="1663700"/>
          </a:xfrm>
          <a:prstGeom prst="roundRect">
            <a:avLst>
              <a:gd name="adj" fmla="val 3817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27478" y="37018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7448947" y="3685977"/>
            <a:ext cx="1103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ECF Module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15572" y="4003477"/>
            <a:ext cx="141485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 + Whisper + VADER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15572" y="4257477"/>
            <a:ext cx="467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Cross-checks facial emotion with voice sentiment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5572" y="4511477"/>
            <a:ext cx="4619625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183041" y="4606727"/>
            <a:ext cx="448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71134" y="4765477"/>
            <a:ext cx="4508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Inconsistency Score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08688" y="5317927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Shape 36"/>
          <p:cNvSpPr/>
          <p:nvPr/>
        </p:nvSpPr>
        <p:spPr>
          <a:xfrm>
            <a:off x="333375" y="5651302"/>
            <a:ext cx="11541125" cy="730250"/>
          </a:xfrm>
          <a:custGeom>
            <a:avLst/>
            <a:gdLst/>
            <a:ahLst/>
            <a:cxnLst/>
            <a:rect l="l" t="t" r="r" b="b"/>
            <a:pathLst>
              <a:path w="11541125" h="730250">
                <a:moveTo>
                  <a:pt x="31750" y="0"/>
                </a:moveTo>
                <a:lnTo>
                  <a:pt x="11477625" y="0"/>
                </a:lnTo>
                <a:cubicBezTo>
                  <a:pt x="11512672" y="0"/>
                  <a:pt x="11541125" y="28453"/>
                  <a:pt x="11541125" y="63500"/>
                </a:cubicBezTo>
                <a:lnTo>
                  <a:pt x="11541125" y="666750"/>
                </a:lnTo>
                <a:cubicBezTo>
                  <a:pt x="11541125" y="701797"/>
                  <a:pt x="11512672" y="730250"/>
                  <a:pt x="11477625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333375" y="5651302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Shape 38"/>
          <p:cNvSpPr/>
          <p:nvPr/>
        </p:nvSpPr>
        <p:spPr>
          <a:xfrm>
            <a:off x="4595416" y="5897266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78594" y="14883"/>
                </a:moveTo>
                <a:lnTo>
                  <a:pt x="238125" y="14883"/>
                </a:lnTo>
                <a:cubicBezTo>
                  <a:pt x="246357" y="14883"/>
                  <a:pt x="253008" y="21534"/>
                  <a:pt x="253008" y="29766"/>
                </a:cubicBezTo>
                <a:cubicBezTo>
                  <a:pt x="253008" y="37998"/>
                  <a:pt x="246357" y="44648"/>
                  <a:pt x="238125" y="44648"/>
                </a:cubicBezTo>
                <a:lnTo>
                  <a:pt x="185291" y="44648"/>
                </a:lnTo>
                <a:cubicBezTo>
                  <a:pt x="182873" y="56648"/>
                  <a:pt x="174641" y="66554"/>
                  <a:pt x="163711" y="71298"/>
                </a:cubicBezTo>
                <a:lnTo>
                  <a:pt x="163711" y="208359"/>
                </a:lnTo>
                <a:lnTo>
                  <a:pt x="238125" y="208359"/>
                </a:lnTo>
                <a:cubicBezTo>
                  <a:pt x="246357" y="208359"/>
                  <a:pt x="253008" y="215010"/>
                  <a:pt x="253008" y="223242"/>
                </a:cubicBezTo>
                <a:cubicBezTo>
                  <a:pt x="253008" y="231474"/>
                  <a:pt x="246357" y="238125"/>
                  <a:pt x="238125" y="238125"/>
                </a:cubicBezTo>
                <a:lnTo>
                  <a:pt x="59531" y="238125"/>
                </a:lnTo>
                <a:cubicBezTo>
                  <a:pt x="51299" y="238125"/>
                  <a:pt x="44648" y="231474"/>
                  <a:pt x="44648" y="223242"/>
                </a:cubicBezTo>
                <a:cubicBezTo>
                  <a:pt x="44648" y="215010"/>
                  <a:pt x="51299" y="208359"/>
                  <a:pt x="59531" y="208359"/>
                </a:cubicBezTo>
                <a:lnTo>
                  <a:pt x="133945" y="208359"/>
                </a:lnTo>
                <a:lnTo>
                  <a:pt x="133945" y="71298"/>
                </a:lnTo>
                <a:cubicBezTo>
                  <a:pt x="123016" y="66508"/>
                  <a:pt x="114784" y="56601"/>
                  <a:pt x="112365" y="44648"/>
                </a:cubicBezTo>
                <a:lnTo>
                  <a:pt x="59531" y="44648"/>
                </a:lnTo>
                <a:cubicBezTo>
                  <a:pt x="51299" y="44648"/>
                  <a:pt x="44648" y="37998"/>
                  <a:pt x="44648" y="29766"/>
                </a:cubicBezTo>
                <a:cubicBezTo>
                  <a:pt x="44648" y="21534"/>
                  <a:pt x="51299" y="14883"/>
                  <a:pt x="59531" y="14883"/>
                </a:cubicBezTo>
                <a:lnTo>
                  <a:pt x="119062" y="14883"/>
                </a:lnTo>
                <a:cubicBezTo>
                  <a:pt x="125853" y="5860"/>
                  <a:pt x="136643" y="0"/>
                  <a:pt x="148828" y="0"/>
                </a:cubicBezTo>
                <a:cubicBezTo>
                  <a:pt x="161013" y="0"/>
                  <a:pt x="171803" y="5860"/>
                  <a:pt x="178594" y="14883"/>
                </a:cubicBezTo>
                <a:close/>
                <a:moveTo>
                  <a:pt x="204453" y="148828"/>
                </a:moveTo>
                <a:lnTo>
                  <a:pt x="271797" y="148828"/>
                </a:lnTo>
                <a:lnTo>
                  <a:pt x="238125" y="91064"/>
                </a:lnTo>
                <a:lnTo>
                  <a:pt x="204453" y="148828"/>
                </a:lnTo>
                <a:close/>
                <a:moveTo>
                  <a:pt x="238125" y="193477"/>
                </a:moveTo>
                <a:cubicBezTo>
                  <a:pt x="208871" y="193477"/>
                  <a:pt x="184547" y="177664"/>
                  <a:pt x="179524" y="156781"/>
                </a:cubicBezTo>
                <a:cubicBezTo>
                  <a:pt x="178315" y="151665"/>
                  <a:pt x="179989" y="146410"/>
                  <a:pt x="182640" y="141852"/>
                </a:cubicBezTo>
                <a:lnTo>
                  <a:pt x="226916" y="65949"/>
                </a:lnTo>
                <a:cubicBezTo>
                  <a:pt x="229242" y="61950"/>
                  <a:pt x="233521" y="59531"/>
                  <a:pt x="238125" y="59531"/>
                </a:cubicBezTo>
                <a:cubicBezTo>
                  <a:pt x="242729" y="59531"/>
                  <a:pt x="247008" y="61996"/>
                  <a:pt x="249334" y="65949"/>
                </a:cubicBezTo>
                <a:lnTo>
                  <a:pt x="293610" y="141852"/>
                </a:lnTo>
                <a:cubicBezTo>
                  <a:pt x="296261" y="146410"/>
                  <a:pt x="297935" y="151665"/>
                  <a:pt x="296726" y="156781"/>
                </a:cubicBezTo>
                <a:cubicBezTo>
                  <a:pt x="291703" y="177617"/>
                  <a:pt x="267379" y="193477"/>
                  <a:pt x="238125" y="193477"/>
                </a:cubicBezTo>
                <a:close/>
                <a:moveTo>
                  <a:pt x="58973" y="91064"/>
                </a:moveTo>
                <a:lnTo>
                  <a:pt x="25301" y="148828"/>
                </a:lnTo>
                <a:lnTo>
                  <a:pt x="92692" y="148828"/>
                </a:lnTo>
                <a:lnTo>
                  <a:pt x="58973" y="91064"/>
                </a:lnTo>
                <a:close/>
                <a:moveTo>
                  <a:pt x="419" y="156781"/>
                </a:moveTo>
                <a:cubicBezTo>
                  <a:pt x="-791" y="151665"/>
                  <a:pt x="884" y="146410"/>
                  <a:pt x="3535" y="141852"/>
                </a:cubicBezTo>
                <a:lnTo>
                  <a:pt x="47811" y="65949"/>
                </a:lnTo>
                <a:cubicBezTo>
                  <a:pt x="50136" y="61950"/>
                  <a:pt x="54415" y="59531"/>
                  <a:pt x="59020" y="59531"/>
                </a:cubicBezTo>
                <a:cubicBezTo>
                  <a:pt x="63624" y="59531"/>
                  <a:pt x="67903" y="61996"/>
                  <a:pt x="70228" y="65949"/>
                </a:cubicBezTo>
                <a:lnTo>
                  <a:pt x="114505" y="141852"/>
                </a:lnTo>
                <a:cubicBezTo>
                  <a:pt x="117156" y="146410"/>
                  <a:pt x="118830" y="151665"/>
                  <a:pt x="117621" y="156781"/>
                </a:cubicBezTo>
                <a:cubicBezTo>
                  <a:pt x="112598" y="177617"/>
                  <a:pt x="88274" y="193477"/>
                  <a:pt x="59020" y="193477"/>
                </a:cubicBezTo>
                <a:cubicBezTo>
                  <a:pt x="29766" y="193477"/>
                  <a:pt x="5442" y="177664"/>
                  <a:pt x="419" y="1567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4970463" y="5778302"/>
            <a:ext cx="2706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82369" y="6032204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Average of Visual + ECF Scores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008688" y="6476704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Shape 42"/>
          <p:cNvSpPr/>
          <p:nvPr/>
        </p:nvSpPr>
        <p:spPr>
          <a:xfrm>
            <a:off x="323850" y="6816429"/>
            <a:ext cx="11545888" cy="742950"/>
          </a:xfrm>
          <a:prstGeom prst="roundRect">
            <a:avLst>
              <a:gd name="adj" fmla="val 8547"/>
            </a:avLst>
          </a:pr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3761" y="706874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4"/>
          <p:cNvSpPr/>
          <p:nvPr/>
        </p:nvSpPr>
        <p:spPr>
          <a:xfrm>
            <a:off x="4782542" y="6949777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94449" y="7203679"/>
            <a:ext cx="3087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Verdict • Grad-CAM Heatmap • ECF Report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686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Algorithm 1 - Visual CNN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 for Visual Artifact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5619750" cy="1485900"/>
          </a:xfrm>
          <a:custGeom>
            <a:avLst/>
            <a:gdLst/>
            <a:ahLst/>
            <a:cxnLst/>
            <a:rect l="l" t="t" r="r" b="b"/>
            <a:pathLst>
              <a:path w="5619750" h="14859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409700"/>
                </a:lnTo>
                <a:cubicBezTo>
                  <a:pt x="5619750" y="1451756"/>
                  <a:pt x="5585606" y="1485900"/>
                  <a:pt x="5543550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2573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8100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004887" y="1371600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179058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0" name="Shape 8"/>
          <p:cNvSpPr/>
          <p:nvPr/>
        </p:nvSpPr>
        <p:spPr>
          <a:xfrm>
            <a:off x="613172" y="187630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1752484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" y="1981084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on ImageNet, fine-tuned for deepfake detection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224778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841" y="233350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F0F2F5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2209684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Datasets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2438284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FaceForensics++ and DFDC (DeepFake Detection Challenge)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819284"/>
            <a:ext cx="5619750" cy="2400300"/>
          </a:xfrm>
          <a:custGeom>
            <a:avLst/>
            <a:gdLst/>
            <a:ahLst/>
            <a:cxnLst/>
            <a:rect l="l" t="t" r="r" b="b"/>
            <a:pathLst>
              <a:path w="5619750" h="24003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24100"/>
                </a:lnTo>
                <a:cubicBezTo>
                  <a:pt x="5619750" y="2366156"/>
                  <a:pt x="5585606" y="2400300"/>
                  <a:pt x="5543550" y="2400300"/>
                </a:cubicBez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400050" y="2819284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3810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29429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887" y="2933584"/>
            <a:ext cx="233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Capabilities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3314463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3413" y="35049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962025" y="3390663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Blending Boundaries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2025" y="3619263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Detects seams between original and synthetic regions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" y="3924063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3413" y="4114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962025" y="4000263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Texture Inconsistencies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2025" y="4228863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Identifies unnatural skin texture and lighting artifacts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4533663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3413" y="47241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962025" y="4609863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Anomalies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2025" y="4838463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Spots irregularities in eyes, teeth, and hair regions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8620" y="5303283"/>
            <a:ext cx="562546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52997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982027" y="5425204"/>
            <a:ext cx="421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2027" y="5691904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Achieves </a:t>
            </a:r>
            <a:r>
              <a:rPr lang="en-US" sz="1200" dirty="0">
                <a:solidFill>
                  <a:srgbClr val="D4A373"/>
                </a:solidFill>
                <a:highlight>
                  <a:srgbClr val="D4A373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high accuracy 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distinguishing real vs. fake faces.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010" y="1261110"/>
            <a:ext cx="5627370" cy="3379470"/>
          </a:xfrm>
          <a:prstGeom prst="roundRect">
            <a:avLst>
              <a:gd name="adj" fmla="val 2255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6495" y="1379223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Diagram</a:t>
            </a:r>
            <a:endParaRPr lang="en-US" sz="1600" dirty="0"/>
          </a:p>
        </p:txBody>
      </p:sp>
      <p:pic>
        <p:nvPicPr>
          <p:cNvPr id="39" name="Image 0" descr="https://kimi-img.moonshot.cn/pub/slides/26-06-04-23:56:50-d8gq0ggc86s5pgro274g.png"/>
          <p:cNvPicPr>
            <a:picLocks noChangeAspect="1"/>
          </p:cNvPicPr>
          <p:nvPr/>
        </p:nvPicPr>
        <p:blipFill>
          <a:blip r:embed="rId3"/>
          <a:srcRect l="33" r="33"/>
          <a:stretch/>
        </p:blipFill>
        <p:spPr>
          <a:xfrm>
            <a:off x="6294120" y="1722123"/>
            <a:ext cx="5391150" cy="2800350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6191250" y="4720591"/>
            <a:ext cx="5619750" cy="1333500"/>
          </a:xfrm>
          <a:custGeom>
            <a:avLst/>
            <a:gdLst/>
            <a:ahLst/>
            <a:cxnLst/>
            <a:rect l="l" t="t" r="r" b="b"/>
            <a:pathLst>
              <a:path w="5619750" h="1333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257300"/>
                </a:lnTo>
                <a:cubicBezTo>
                  <a:pt x="5619750" y="1299356"/>
                  <a:pt x="5585606" y="1333500"/>
                  <a:pt x="5543550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1" name="Shape 38"/>
          <p:cNvSpPr/>
          <p:nvPr/>
        </p:nvSpPr>
        <p:spPr>
          <a:xfrm>
            <a:off x="6191250" y="4720591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Shape 39"/>
          <p:cNvSpPr/>
          <p:nvPr/>
        </p:nvSpPr>
        <p:spPr>
          <a:xfrm>
            <a:off x="6369844" y="488060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0"/>
          <p:cNvSpPr/>
          <p:nvPr/>
        </p:nvSpPr>
        <p:spPr>
          <a:xfrm>
            <a:off x="6600825" y="4834891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EfficientNet-B0?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53175" y="52158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2"/>
          <p:cNvSpPr/>
          <p:nvPr/>
        </p:nvSpPr>
        <p:spPr>
          <a:xfrm>
            <a:off x="6591300" y="5177791"/>
            <a:ext cx="389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 scaling optimizes depth, width, and resolution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53175" y="54825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4"/>
          <p:cNvSpPr/>
          <p:nvPr/>
        </p:nvSpPr>
        <p:spPr>
          <a:xfrm>
            <a:off x="6591300" y="5444491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Superior accuracy with fewer parameters than ResNet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53175" y="57492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6"/>
          <p:cNvSpPr/>
          <p:nvPr/>
        </p:nvSpPr>
        <p:spPr>
          <a:xfrm>
            <a:off x="6591300" y="5711191"/>
            <a:ext cx="3819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for real-time deployment on standard hardware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400050" y="6130291"/>
            <a:ext cx="11410950" cy="381000"/>
          </a:xfrm>
          <a:custGeom>
            <a:avLst/>
            <a:gdLst/>
            <a:ahLst/>
            <a:cxnLst/>
            <a:rect l="l" t="t" r="r" b="b"/>
            <a:pathLst>
              <a:path w="11410950" h="3810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304800"/>
                </a:lnTo>
                <a:cubicBezTo>
                  <a:pt x="11410950" y="346856"/>
                  <a:pt x="11376806" y="381000"/>
                  <a:pt x="11334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400050" y="6130291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Shape 49"/>
          <p:cNvSpPr/>
          <p:nvPr/>
        </p:nvSpPr>
        <p:spPr>
          <a:xfrm>
            <a:off x="514350" y="623697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3" name="Text 50"/>
          <p:cNvSpPr/>
          <p:nvPr/>
        </p:nvSpPr>
        <p:spPr>
          <a:xfrm>
            <a:off x="742950" y="6206491"/>
            <a:ext cx="1106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Note: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EfficientNet-B0 uses depthwise separable convolutions and squeeze-and-excitation optimization for superior feature extraction.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99" y="333799"/>
            <a:ext cx="66760" cy="400559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00698" y="333799"/>
            <a:ext cx="4948567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Algorithm 2 - Grad-CAM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0698" y="801117"/>
            <a:ext cx="11440953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Gradient-weighted Class Activation Mapping for Explainability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489" y="1168296"/>
            <a:ext cx="5666234" cy="2470111"/>
          </a:xfrm>
          <a:custGeom>
            <a:avLst/>
            <a:gdLst/>
            <a:ahLst/>
            <a:cxnLst/>
            <a:rect l="l" t="t" r="r" b="b"/>
            <a:pathLst>
              <a:path w="5666234" h="2470111">
                <a:moveTo>
                  <a:pt x="33401" y="0"/>
                </a:moveTo>
                <a:lnTo>
                  <a:pt x="5599430" y="0"/>
                </a:lnTo>
                <a:cubicBezTo>
                  <a:pt x="5636324" y="0"/>
                  <a:pt x="5666232" y="29908"/>
                  <a:pt x="5666232" y="66802"/>
                </a:cubicBezTo>
                <a:lnTo>
                  <a:pt x="5666232" y="2403348"/>
                </a:lnTo>
                <a:cubicBezTo>
                  <a:pt x="5666232" y="2440242"/>
                  <a:pt x="5636324" y="2470150"/>
                  <a:pt x="5599430" y="2470150"/>
                </a:cubicBezTo>
                <a:lnTo>
                  <a:pt x="33401" y="2470150"/>
                </a:lnTo>
                <a:cubicBezTo>
                  <a:pt x="14954" y="2470150"/>
                  <a:pt x="0" y="2455196"/>
                  <a:pt x="0" y="2436749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50489" y="1168296"/>
            <a:ext cx="33380" cy="2470111"/>
          </a:xfrm>
          <a:custGeom>
            <a:avLst/>
            <a:gdLst/>
            <a:ahLst/>
            <a:cxnLst/>
            <a:rect l="l" t="t" r="r" b="b"/>
            <a:pathLst>
              <a:path w="33380" h="2470111">
                <a:moveTo>
                  <a:pt x="33401" y="0"/>
                </a:moveTo>
                <a:lnTo>
                  <a:pt x="33401" y="0"/>
                </a:lnTo>
                <a:lnTo>
                  <a:pt x="33401" y="2470150"/>
                </a:lnTo>
                <a:lnTo>
                  <a:pt x="33401" y="2470150"/>
                </a:lnTo>
                <a:cubicBezTo>
                  <a:pt x="14954" y="2470150"/>
                  <a:pt x="0" y="2455196"/>
                  <a:pt x="0" y="2436749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67458" y="1343438"/>
            <a:ext cx="250349" cy="250349"/>
          </a:xfrm>
          <a:custGeom>
            <a:avLst/>
            <a:gdLst/>
            <a:ahLst/>
            <a:cxnLst/>
            <a:rect l="l" t="t" r="r" b="b"/>
            <a:pathLst>
              <a:path w="250349" h="250349">
                <a:moveTo>
                  <a:pt x="0" y="39117"/>
                </a:moveTo>
                <a:cubicBezTo>
                  <a:pt x="0" y="26160"/>
                  <a:pt x="10513" y="15647"/>
                  <a:pt x="23470" y="15647"/>
                </a:cubicBezTo>
                <a:lnTo>
                  <a:pt x="70411" y="15647"/>
                </a:lnTo>
                <a:cubicBezTo>
                  <a:pt x="83368" y="15647"/>
                  <a:pt x="93881" y="26160"/>
                  <a:pt x="93881" y="39117"/>
                </a:cubicBezTo>
                <a:lnTo>
                  <a:pt x="93881" y="46940"/>
                </a:lnTo>
                <a:lnTo>
                  <a:pt x="156468" y="46940"/>
                </a:lnTo>
                <a:lnTo>
                  <a:pt x="156468" y="39117"/>
                </a:lnTo>
                <a:cubicBezTo>
                  <a:pt x="156468" y="26160"/>
                  <a:pt x="166981" y="15647"/>
                  <a:pt x="179938" y="15647"/>
                </a:cubicBezTo>
                <a:lnTo>
                  <a:pt x="226879" y="15647"/>
                </a:lnTo>
                <a:cubicBezTo>
                  <a:pt x="239836" y="15647"/>
                  <a:pt x="250349" y="26160"/>
                  <a:pt x="250349" y="39117"/>
                </a:cubicBezTo>
                <a:lnTo>
                  <a:pt x="250349" y="86057"/>
                </a:lnTo>
                <a:cubicBezTo>
                  <a:pt x="250349" y="99015"/>
                  <a:pt x="239836" y="109528"/>
                  <a:pt x="226879" y="109528"/>
                </a:cubicBezTo>
                <a:lnTo>
                  <a:pt x="179938" y="109528"/>
                </a:lnTo>
                <a:cubicBezTo>
                  <a:pt x="166981" y="109528"/>
                  <a:pt x="156468" y="99015"/>
                  <a:pt x="156468" y="86057"/>
                </a:cubicBezTo>
                <a:lnTo>
                  <a:pt x="156468" y="78234"/>
                </a:lnTo>
                <a:lnTo>
                  <a:pt x="93881" y="78234"/>
                </a:lnTo>
                <a:lnTo>
                  <a:pt x="93881" y="86057"/>
                </a:lnTo>
                <a:cubicBezTo>
                  <a:pt x="93881" y="89627"/>
                  <a:pt x="93050" y="93050"/>
                  <a:pt x="91632" y="96081"/>
                </a:cubicBezTo>
                <a:lnTo>
                  <a:pt x="125175" y="140821"/>
                </a:lnTo>
                <a:lnTo>
                  <a:pt x="164292" y="140821"/>
                </a:lnTo>
                <a:cubicBezTo>
                  <a:pt x="177249" y="140821"/>
                  <a:pt x="187762" y="151334"/>
                  <a:pt x="187762" y="164292"/>
                </a:cubicBezTo>
                <a:lnTo>
                  <a:pt x="187762" y="211232"/>
                </a:lnTo>
                <a:cubicBezTo>
                  <a:pt x="187762" y="224190"/>
                  <a:pt x="177249" y="234702"/>
                  <a:pt x="164292" y="234702"/>
                </a:cubicBezTo>
                <a:lnTo>
                  <a:pt x="117351" y="234702"/>
                </a:lnTo>
                <a:cubicBezTo>
                  <a:pt x="104394" y="234702"/>
                  <a:pt x="93881" y="224190"/>
                  <a:pt x="93881" y="211232"/>
                </a:cubicBezTo>
                <a:lnTo>
                  <a:pt x="93881" y="164292"/>
                </a:lnTo>
                <a:cubicBezTo>
                  <a:pt x="93881" y="160722"/>
                  <a:pt x="94712" y="157299"/>
                  <a:pt x="96130" y="154268"/>
                </a:cubicBezTo>
                <a:lnTo>
                  <a:pt x="62587" y="109528"/>
                </a:lnTo>
                <a:lnTo>
                  <a:pt x="23470" y="109528"/>
                </a:lnTo>
                <a:cubicBezTo>
                  <a:pt x="10513" y="109528"/>
                  <a:pt x="0" y="99015"/>
                  <a:pt x="0" y="86057"/>
                </a:cubicBezTo>
                <a:lnTo>
                  <a:pt x="0" y="3911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947154" y="1335195"/>
            <a:ext cx="2127967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Grad-CAM Works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078" y="1702272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0" name="Text 8"/>
          <p:cNvSpPr/>
          <p:nvPr/>
        </p:nvSpPr>
        <p:spPr>
          <a:xfrm>
            <a:off x="670936" y="1752342"/>
            <a:ext cx="133520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8016" y="1702272"/>
            <a:ext cx="2687080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8016" y="1902551"/>
            <a:ext cx="2678735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passes through CNN to generate predictions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4078" y="2169590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4" name="Text 12"/>
          <p:cNvSpPr/>
          <p:nvPr/>
        </p:nvSpPr>
        <p:spPr>
          <a:xfrm>
            <a:off x="657271" y="2219660"/>
            <a:ext cx="158554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8016" y="2169590"/>
            <a:ext cx="2778875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Computation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8016" y="2369869"/>
            <a:ext cx="277053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gradients of target class w.r.t. feature maps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4078" y="2636908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18" name="Text 16"/>
          <p:cNvSpPr/>
          <p:nvPr/>
        </p:nvSpPr>
        <p:spPr>
          <a:xfrm>
            <a:off x="656645" y="2686978"/>
            <a:ext cx="166899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8016" y="2636908"/>
            <a:ext cx="2687080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Combination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8016" y="2837188"/>
            <a:ext cx="2678735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average pooling creates importance weights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4078" y="3104227"/>
            <a:ext cx="333799" cy="333799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656645" y="3154296"/>
            <a:ext cx="166899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8016" y="3104227"/>
            <a:ext cx="2662045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 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8016" y="3304506"/>
            <a:ext cx="265370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Overlay heatmap on original image for visualization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0475" y="3778500"/>
            <a:ext cx="5662896" cy="1916005"/>
          </a:xfrm>
          <a:prstGeom prst="roundRect">
            <a:avLst>
              <a:gd name="adj" fmla="val 3484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430" y="3960315"/>
            <a:ext cx="250349" cy="250349"/>
          </a:xfrm>
          <a:custGeom>
            <a:avLst/>
            <a:gdLst/>
            <a:ahLst/>
            <a:cxnLst/>
            <a:rect l="l" t="t" r="r" b="b"/>
            <a:pathLst>
              <a:path w="250349" h="250349">
                <a:moveTo>
                  <a:pt x="250349" y="125175"/>
                </a:moveTo>
                <a:cubicBezTo>
                  <a:pt x="250349" y="125615"/>
                  <a:pt x="250349" y="126055"/>
                  <a:pt x="250349" y="126495"/>
                </a:cubicBezTo>
                <a:cubicBezTo>
                  <a:pt x="250153" y="144342"/>
                  <a:pt x="233920" y="156468"/>
                  <a:pt x="216073" y="156468"/>
                </a:cubicBezTo>
                <a:lnTo>
                  <a:pt x="168203" y="156468"/>
                </a:lnTo>
                <a:cubicBezTo>
                  <a:pt x="155246" y="156468"/>
                  <a:pt x="144733" y="166981"/>
                  <a:pt x="144733" y="179938"/>
                </a:cubicBezTo>
                <a:cubicBezTo>
                  <a:pt x="144733" y="181601"/>
                  <a:pt x="144929" y="183214"/>
                  <a:pt x="145222" y="184779"/>
                </a:cubicBezTo>
                <a:cubicBezTo>
                  <a:pt x="146249" y="189767"/>
                  <a:pt x="148400" y="194558"/>
                  <a:pt x="150503" y="199399"/>
                </a:cubicBezTo>
                <a:cubicBezTo>
                  <a:pt x="153485" y="206147"/>
                  <a:pt x="156419" y="212846"/>
                  <a:pt x="156419" y="219936"/>
                </a:cubicBezTo>
                <a:cubicBezTo>
                  <a:pt x="156419" y="235485"/>
                  <a:pt x="145858" y="249616"/>
                  <a:pt x="130309" y="250251"/>
                </a:cubicBezTo>
                <a:cubicBezTo>
                  <a:pt x="128597" y="250300"/>
                  <a:pt x="126886" y="250349"/>
                  <a:pt x="125126" y="250349"/>
                </a:cubicBezTo>
                <a:cubicBezTo>
                  <a:pt x="55986" y="250349"/>
                  <a:pt x="-49" y="194314"/>
                  <a:pt x="-49" y="125175"/>
                </a:cubicBezTo>
                <a:cubicBezTo>
                  <a:pt x="-49" y="56035"/>
                  <a:pt x="56035" y="0"/>
                  <a:pt x="125175" y="0"/>
                </a:cubicBezTo>
                <a:cubicBezTo>
                  <a:pt x="194314" y="0"/>
                  <a:pt x="250349" y="56035"/>
                  <a:pt x="250349" y="125175"/>
                </a:cubicBezTo>
                <a:close/>
                <a:moveTo>
                  <a:pt x="62587" y="140821"/>
                </a:moveTo>
                <a:cubicBezTo>
                  <a:pt x="62587" y="132186"/>
                  <a:pt x="55576" y="125175"/>
                  <a:pt x="46940" y="125175"/>
                </a:cubicBezTo>
                <a:cubicBezTo>
                  <a:pt x="38305" y="125175"/>
                  <a:pt x="31294" y="132186"/>
                  <a:pt x="31294" y="140821"/>
                </a:cubicBezTo>
                <a:cubicBezTo>
                  <a:pt x="31294" y="149457"/>
                  <a:pt x="38305" y="156468"/>
                  <a:pt x="46940" y="156468"/>
                </a:cubicBezTo>
                <a:cubicBezTo>
                  <a:pt x="55576" y="156468"/>
                  <a:pt x="62587" y="149457"/>
                  <a:pt x="62587" y="140821"/>
                </a:cubicBezTo>
                <a:close/>
                <a:moveTo>
                  <a:pt x="62587" y="93881"/>
                </a:moveTo>
                <a:cubicBezTo>
                  <a:pt x="71223" y="93881"/>
                  <a:pt x="78234" y="86870"/>
                  <a:pt x="78234" y="78234"/>
                </a:cubicBezTo>
                <a:cubicBezTo>
                  <a:pt x="78234" y="69598"/>
                  <a:pt x="71223" y="62587"/>
                  <a:pt x="62587" y="62587"/>
                </a:cubicBezTo>
                <a:cubicBezTo>
                  <a:pt x="53952" y="62587"/>
                  <a:pt x="46940" y="69598"/>
                  <a:pt x="46940" y="78234"/>
                </a:cubicBezTo>
                <a:cubicBezTo>
                  <a:pt x="46940" y="86870"/>
                  <a:pt x="53952" y="93881"/>
                  <a:pt x="62587" y="93881"/>
                </a:cubicBezTo>
                <a:close/>
                <a:moveTo>
                  <a:pt x="140821" y="46940"/>
                </a:moveTo>
                <a:cubicBezTo>
                  <a:pt x="140821" y="38305"/>
                  <a:pt x="133810" y="31294"/>
                  <a:pt x="125175" y="31294"/>
                </a:cubicBezTo>
                <a:cubicBezTo>
                  <a:pt x="116539" y="31294"/>
                  <a:pt x="109528" y="38305"/>
                  <a:pt x="109528" y="46940"/>
                </a:cubicBezTo>
                <a:cubicBezTo>
                  <a:pt x="109528" y="55576"/>
                  <a:pt x="116539" y="62587"/>
                  <a:pt x="125175" y="62587"/>
                </a:cubicBezTo>
                <a:cubicBezTo>
                  <a:pt x="133810" y="62587"/>
                  <a:pt x="140821" y="55576"/>
                  <a:pt x="140821" y="46940"/>
                </a:cubicBezTo>
                <a:close/>
                <a:moveTo>
                  <a:pt x="187762" y="93881"/>
                </a:moveTo>
                <a:cubicBezTo>
                  <a:pt x="196398" y="93881"/>
                  <a:pt x="203409" y="86870"/>
                  <a:pt x="203409" y="78234"/>
                </a:cubicBezTo>
                <a:cubicBezTo>
                  <a:pt x="203409" y="69598"/>
                  <a:pt x="196398" y="62587"/>
                  <a:pt x="187762" y="62587"/>
                </a:cubicBezTo>
                <a:cubicBezTo>
                  <a:pt x="179126" y="62587"/>
                  <a:pt x="172115" y="69598"/>
                  <a:pt x="172115" y="78234"/>
                </a:cubicBezTo>
                <a:cubicBezTo>
                  <a:pt x="172115" y="86870"/>
                  <a:pt x="179126" y="93881"/>
                  <a:pt x="187762" y="938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927126" y="3952072"/>
            <a:ext cx="2153002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 Interpretation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050" y="4319149"/>
            <a:ext cx="1702374" cy="1201676"/>
          </a:xfrm>
          <a:prstGeom prst="roundRect">
            <a:avLst>
              <a:gd name="adj" fmla="val 555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66940" y="4419289"/>
            <a:ext cx="400559" cy="400559"/>
          </a:xfrm>
          <a:prstGeom prst="roundRect">
            <a:avLst>
              <a:gd name="adj" fmla="val 8333"/>
            </a:avLst>
          </a:prstGeom>
          <a:gradFill flip="none" rotWithShape="1">
            <a:gsLst>
              <a:gs pos="0">
                <a:srgbClr val="FB2C36"/>
              </a:gs>
              <a:gs pos="100000">
                <a:srgbClr val="C10007"/>
              </a:gs>
            </a:gsLst>
            <a:lin ang="2700000" scaled="1"/>
          </a:gradFill>
          <a:ln/>
        </p:spPr>
      </p:sp>
      <p:sp>
        <p:nvSpPr>
          <p:cNvPr id="30" name="Text 28"/>
          <p:cNvSpPr/>
          <p:nvPr/>
        </p:nvSpPr>
        <p:spPr>
          <a:xfrm>
            <a:off x="580810" y="4886607"/>
            <a:ext cx="156885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Regions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4982" y="5086886"/>
            <a:ext cx="1560509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evidence of manipulation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320632" y="4319149"/>
            <a:ext cx="1702374" cy="1201676"/>
          </a:xfrm>
          <a:prstGeom prst="roundRect">
            <a:avLst>
              <a:gd name="adj" fmla="val 555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73521" y="4419289"/>
            <a:ext cx="400559" cy="400559"/>
          </a:xfrm>
          <a:prstGeom prst="roundRect">
            <a:avLst>
              <a:gd name="adj" fmla="val 8333"/>
            </a:avLst>
          </a:prstGeom>
          <a:gradFill flip="none" rotWithShape="1">
            <a:gsLst>
              <a:gs pos="0">
                <a:srgbClr val="FDC700"/>
              </a:gs>
              <a:gs pos="100000">
                <a:srgbClr val="FF6900"/>
              </a:gs>
            </a:gsLst>
            <a:lin ang="2700000" scaled="1"/>
          </a:gradFill>
          <a:ln/>
        </p:spPr>
      </p:sp>
      <p:sp>
        <p:nvSpPr>
          <p:cNvPr id="34" name="Text 32"/>
          <p:cNvSpPr/>
          <p:nvPr/>
        </p:nvSpPr>
        <p:spPr>
          <a:xfrm>
            <a:off x="2387391" y="4886607"/>
            <a:ext cx="156885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Yellow Regions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391564" y="5086886"/>
            <a:ext cx="1560509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suspicion areas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27213" y="4319149"/>
            <a:ext cx="1702374" cy="1201676"/>
          </a:xfrm>
          <a:prstGeom prst="roundRect">
            <a:avLst>
              <a:gd name="adj" fmla="val 555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80103" y="4419289"/>
            <a:ext cx="400559" cy="400559"/>
          </a:xfrm>
          <a:prstGeom prst="roundRect">
            <a:avLst>
              <a:gd name="adj" fmla="val 8333"/>
            </a:avLst>
          </a:prstGeom>
          <a:gradFill flip="none" rotWithShape="1">
            <a:gsLst>
              <a:gs pos="0">
                <a:srgbClr val="51A2FF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4193973" y="4886607"/>
            <a:ext cx="156885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 Regions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98145" y="5086886"/>
            <a:ext cx="1560509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manipulation evidence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84144" y="1171634"/>
            <a:ext cx="5672910" cy="3177764"/>
          </a:xfrm>
          <a:prstGeom prst="roundRect">
            <a:avLst>
              <a:gd name="adj" fmla="val 2101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2656" y="1341873"/>
            <a:ext cx="5415885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Visualization Process</a:t>
            </a:r>
            <a:endParaRPr lang="en-US" sz="1600" dirty="0"/>
          </a:p>
        </p:txBody>
      </p:sp>
      <p:pic>
        <p:nvPicPr>
          <p:cNvPr id="42" name="Image 0" descr="https://kimi-img.moonshot.cn/pub/slides/26-06-04-23:56:50-d8gq0gkbr5jofitom2c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4381" y="1675672"/>
            <a:ext cx="4573043" cy="2503491"/>
          </a:xfrm>
          <a:prstGeom prst="roundRect">
            <a:avLst>
              <a:gd name="adj" fmla="val 0"/>
            </a:avLst>
          </a:prstGeom>
        </p:spPr>
      </p:pic>
      <p:sp>
        <p:nvSpPr>
          <p:cNvPr id="43" name="Shape 40"/>
          <p:cNvSpPr/>
          <p:nvPr/>
        </p:nvSpPr>
        <p:spPr>
          <a:xfrm>
            <a:off x="6197496" y="4486256"/>
            <a:ext cx="5666234" cy="1668994"/>
          </a:xfrm>
          <a:custGeom>
            <a:avLst/>
            <a:gdLst/>
            <a:ahLst/>
            <a:cxnLst/>
            <a:rect l="l" t="t" r="r" b="b"/>
            <a:pathLst>
              <a:path w="5666234" h="1668994">
                <a:moveTo>
                  <a:pt x="33401" y="0"/>
                </a:moveTo>
                <a:lnTo>
                  <a:pt x="5599430" y="0"/>
                </a:lnTo>
                <a:cubicBezTo>
                  <a:pt x="5636324" y="0"/>
                  <a:pt x="5666232" y="29908"/>
                  <a:pt x="5666232" y="66802"/>
                </a:cubicBezTo>
                <a:lnTo>
                  <a:pt x="5666232" y="1602232"/>
                </a:lnTo>
                <a:cubicBezTo>
                  <a:pt x="5666232" y="1639126"/>
                  <a:pt x="5636324" y="1669034"/>
                  <a:pt x="5599430" y="1669034"/>
                </a:cubicBezTo>
                <a:lnTo>
                  <a:pt x="33401" y="1669034"/>
                </a:lnTo>
                <a:cubicBezTo>
                  <a:pt x="14954" y="1669034"/>
                  <a:pt x="0" y="1654080"/>
                  <a:pt x="0" y="1635633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4" name="Shape 41"/>
          <p:cNvSpPr/>
          <p:nvPr/>
        </p:nvSpPr>
        <p:spPr>
          <a:xfrm>
            <a:off x="6197496" y="4486256"/>
            <a:ext cx="33380" cy="1668994"/>
          </a:xfrm>
          <a:custGeom>
            <a:avLst/>
            <a:gdLst/>
            <a:ahLst/>
            <a:cxnLst/>
            <a:rect l="l" t="t" r="r" b="b"/>
            <a:pathLst>
              <a:path w="33380" h="1668994">
                <a:moveTo>
                  <a:pt x="33401" y="0"/>
                </a:moveTo>
                <a:lnTo>
                  <a:pt x="33401" y="0"/>
                </a:lnTo>
                <a:lnTo>
                  <a:pt x="33401" y="1669034"/>
                </a:lnTo>
                <a:lnTo>
                  <a:pt x="33401" y="1669034"/>
                </a:lnTo>
                <a:cubicBezTo>
                  <a:pt x="14954" y="1669034"/>
                  <a:pt x="0" y="1654080"/>
                  <a:pt x="0" y="1635633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Shape 42"/>
          <p:cNvSpPr/>
          <p:nvPr/>
        </p:nvSpPr>
        <p:spPr>
          <a:xfrm>
            <a:off x="6391517" y="4679861"/>
            <a:ext cx="187762" cy="166899"/>
          </a:xfrm>
          <a:custGeom>
            <a:avLst/>
            <a:gdLst/>
            <a:ahLst/>
            <a:cxnLst/>
            <a:rect l="l" t="t" r="r" b="b"/>
            <a:pathLst>
              <a:path w="187762" h="166899">
                <a:moveTo>
                  <a:pt x="100889" y="-6161"/>
                </a:moveTo>
                <a:cubicBezTo>
                  <a:pt x="99553" y="-8769"/>
                  <a:pt x="96847" y="-10431"/>
                  <a:pt x="93914" y="-10431"/>
                </a:cubicBezTo>
                <a:cubicBezTo>
                  <a:pt x="90980" y="-10431"/>
                  <a:pt x="88274" y="-8769"/>
                  <a:pt x="86938" y="-6161"/>
                </a:cubicBezTo>
                <a:lnTo>
                  <a:pt x="62946" y="40845"/>
                </a:lnTo>
                <a:lnTo>
                  <a:pt x="10822" y="49124"/>
                </a:lnTo>
                <a:cubicBezTo>
                  <a:pt x="7921" y="49581"/>
                  <a:pt x="5509" y="51634"/>
                  <a:pt x="4596" y="54438"/>
                </a:cubicBezTo>
                <a:cubicBezTo>
                  <a:pt x="3684" y="57241"/>
                  <a:pt x="4433" y="60305"/>
                  <a:pt x="6487" y="62392"/>
                </a:cubicBezTo>
                <a:lnTo>
                  <a:pt x="43778" y="99716"/>
                </a:lnTo>
                <a:lnTo>
                  <a:pt x="35564" y="151839"/>
                </a:lnTo>
                <a:cubicBezTo>
                  <a:pt x="35108" y="154741"/>
                  <a:pt x="36314" y="157674"/>
                  <a:pt x="38693" y="159402"/>
                </a:cubicBezTo>
                <a:cubicBezTo>
                  <a:pt x="41073" y="161130"/>
                  <a:pt x="44202" y="161390"/>
                  <a:pt x="46843" y="160054"/>
                </a:cubicBezTo>
                <a:lnTo>
                  <a:pt x="93914" y="136127"/>
                </a:lnTo>
                <a:lnTo>
                  <a:pt x="140952" y="160054"/>
                </a:lnTo>
                <a:cubicBezTo>
                  <a:pt x="143560" y="161390"/>
                  <a:pt x="146722" y="161130"/>
                  <a:pt x="149101" y="159402"/>
                </a:cubicBezTo>
                <a:cubicBezTo>
                  <a:pt x="151481" y="157674"/>
                  <a:pt x="152687" y="154773"/>
                  <a:pt x="152230" y="151839"/>
                </a:cubicBezTo>
                <a:lnTo>
                  <a:pt x="143983" y="99716"/>
                </a:lnTo>
                <a:lnTo>
                  <a:pt x="181275" y="62392"/>
                </a:lnTo>
                <a:cubicBezTo>
                  <a:pt x="183361" y="60305"/>
                  <a:pt x="184078" y="57241"/>
                  <a:pt x="183166" y="54438"/>
                </a:cubicBezTo>
                <a:cubicBezTo>
                  <a:pt x="182253" y="51634"/>
                  <a:pt x="179873" y="49581"/>
                  <a:pt x="176939" y="49124"/>
                </a:cubicBezTo>
                <a:lnTo>
                  <a:pt x="124849" y="40845"/>
                </a:lnTo>
                <a:lnTo>
                  <a:pt x="100889" y="-616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3"/>
          <p:cNvSpPr/>
          <p:nvPr/>
        </p:nvSpPr>
        <p:spPr>
          <a:xfrm>
            <a:off x="6633576" y="4653156"/>
            <a:ext cx="5146704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97775" y="5020334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5"/>
          <p:cNvSpPr/>
          <p:nvPr/>
        </p:nvSpPr>
        <p:spPr>
          <a:xfrm>
            <a:off x="6614744" y="4986954"/>
            <a:ext cx="284563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Transparency:</a:t>
            </a: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 AI decisions interpretable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97775" y="5287373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7"/>
          <p:cNvSpPr/>
          <p:nvPr/>
        </p:nvSpPr>
        <p:spPr>
          <a:xfrm>
            <a:off x="6614744" y="5253993"/>
            <a:ext cx="2495146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Trust:</a:t>
            </a: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Users can verify detection rationale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97775" y="5554412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Text 49"/>
          <p:cNvSpPr/>
          <p:nvPr/>
        </p:nvSpPr>
        <p:spPr>
          <a:xfrm>
            <a:off x="6614744" y="5521032"/>
            <a:ext cx="2737150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Debugging:</a:t>
            </a: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Helps identify model weaknesses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97775" y="5821451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Text 51"/>
          <p:cNvSpPr/>
          <p:nvPr/>
        </p:nvSpPr>
        <p:spPr>
          <a:xfrm>
            <a:off x="6614744" y="5788071"/>
            <a:ext cx="2853979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Compliance:</a:t>
            </a: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Meets explainable AI requirements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350489" y="6255390"/>
            <a:ext cx="11507713" cy="400559"/>
          </a:xfrm>
          <a:custGeom>
            <a:avLst/>
            <a:gdLst/>
            <a:ahLst/>
            <a:cxnLst/>
            <a:rect l="l" t="t" r="r" b="b"/>
            <a:pathLst>
              <a:path w="11507713" h="400559">
                <a:moveTo>
                  <a:pt x="33401" y="0"/>
                </a:moveTo>
                <a:lnTo>
                  <a:pt x="11440922" y="0"/>
                </a:lnTo>
                <a:cubicBezTo>
                  <a:pt x="11477816" y="0"/>
                  <a:pt x="11507724" y="29908"/>
                  <a:pt x="11507724" y="66802"/>
                </a:cubicBezTo>
                <a:lnTo>
                  <a:pt x="11507724" y="333756"/>
                </a:lnTo>
                <a:cubicBezTo>
                  <a:pt x="11507724" y="370650"/>
                  <a:pt x="11477816" y="400558"/>
                  <a:pt x="11440922" y="400558"/>
                </a:cubicBezTo>
                <a:lnTo>
                  <a:pt x="33401" y="400558"/>
                </a:lnTo>
                <a:cubicBezTo>
                  <a:pt x="14966" y="400558"/>
                  <a:pt x="0" y="385592"/>
                  <a:pt x="0" y="367157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350489" y="6255390"/>
            <a:ext cx="33380" cy="400559"/>
          </a:xfrm>
          <a:custGeom>
            <a:avLst/>
            <a:gdLst/>
            <a:ahLst/>
            <a:cxnLst/>
            <a:rect l="l" t="t" r="r" b="b"/>
            <a:pathLst>
              <a:path w="33380" h="400559">
                <a:moveTo>
                  <a:pt x="33401" y="0"/>
                </a:moveTo>
                <a:lnTo>
                  <a:pt x="33401" y="0"/>
                </a:lnTo>
                <a:lnTo>
                  <a:pt x="33401" y="400558"/>
                </a:lnTo>
                <a:lnTo>
                  <a:pt x="33401" y="400558"/>
                </a:lnTo>
                <a:cubicBezTo>
                  <a:pt x="14966" y="400558"/>
                  <a:pt x="0" y="385592"/>
                  <a:pt x="0" y="367157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Shape 54"/>
          <p:cNvSpPr/>
          <p:nvPr/>
        </p:nvSpPr>
        <p:spPr>
          <a:xfrm>
            <a:off x="484008" y="6382235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58415" y="41725"/>
                </a:moveTo>
                <a:cubicBezTo>
                  <a:pt x="58415" y="37119"/>
                  <a:pt x="62154" y="33380"/>
                  <a:pt x="66760" y="33380"/>
                </a:cubicBezTo>
                <a:cubicBezTo>
                  <a:pt x="71365" y="33380"/>
                  <a:pt x="75105" y="37119"/>
                  <a:pt x="75105" y="41725"/>
                </a:cubicBezTo>
                <a:cubicBezTo>
                  <a:pt x="75105" y="46331"/>
                  <a:pt x="71365" y="50070"/>
                  <a:pt x="66760" y="50070"/>
                </a:cubicBezTo>
                <a:cubicBezTo>
                  <a:pt x="62154" y="50070"/>
                  <a:pt x="58415" y="46331"/>
                  <a:pt x="58415" y="41725"/>
                </a:cubicBezTo>
                <a:close/>
                <a:moveTo>
                  <a:pt x="56329" y="58415"/>
                </a:moveTo>
                <a:lnTo>
                  <a:pt x="68846" y="58415"/>
                </a:lnTo>
                <a:cubicBezTo>
                  <a:pt x="72314" y="58415"/>
                  <a:pt x="75105" y="61205"/>
                  <a:pt x="75105" y="64674"/>
                </a:cubicBezTo>
                <a:lnTo>
                  <a:pt x="75105" y="87622"/>
                </a:lnTo>
                <a:lnTo>
                  <a:pt x="77191" y="87622"/>
                </a:lnTo>
                <a:cubicBezTo>
                  <a:pt x="80659" y="87622"/>
                  <a:pt x="83450" y="90413"/>
                  <a:pt x="83450" y="93881"/>
                </a:cubicBezTo>
                <a:cubicBezTo>
                  <a:pt x="83450" y="97349"/>
                  <a:pt x="80659" y="100140"/>
                  <a:pt x="77191" y="100140"/>
                </a:cubicBezTo>
                <a:lnTo>
                  <a:pt x="56329" y="100140"/>
                </a:lnTo>
                <a:cubicBezTo>
                  <a:pt x="52860" y="100140"/>
                  <a:pt x="50070" y="97349"/>
                  <a:pt x="50070" y="93881"/>
                </a:cubicBezTo>
                <a:cubicBezTo>
                  <a:pt x="50070" y="90413"/>
                  <a:pt x="52860" y="87622"/>
                  <a:pt x="56329" y="87622"/>
                </a:cubicBezTo>
                <a:lnTo>
                  <a:pt x="62587" y="87622"/>
                </a:lnTo>
                <a:lnTo>
                  <a:pt x="62587" y="70932"/>
                </a:lnTo>
                <a:lnTo>
                  <a:pt x="56329" y="70932"/>
                </a:lnTo>
                <a:cubicBezTo>
                  <a:pt x="52860" y="70932"/>
                  <a:pt x="50070" y="68142"/>
                  <a:pt x="50070" y="64674"/>
                </a:cubicBezTo>
                <a:cubicBezTo>
                  <a:pt x="50070" y="61205"/>
                  <a:pt x="52860" y="58415"/>
                  <a:pt x="56329" y="5841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8" name="Text 55"/>
          <p:cNvSpPr/>
          <p:nvPr/>
        </p:nvSpPr>
        <p:spPr>
          <a:xfrm>
            <a:off x="678084" y="6355529"/>
            <a:ext cx="1114673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Implementation:</a:t>
            </a:r>
            <a:r>
              <a:rPr lang="en-US" sz="105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Grad-CAM uses the gradients of any target concept flowing into the final convolutional layer to produce a coarse localization map highlighting important regions.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027" y="334027"/>
            <a:ext cx="66805" cy="400833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01041" y="334027"/>
            <a:ext cx="5795375" cy="40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6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Unique Feature - ECF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1041" y="801666"/>
            <a:ext cx="1144043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Emotion-Consistency Forensics for Cross-Modal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708" y="1175776"/>
            <a:ext cx="5666775" cy="2652178"/>
          </a:xfrm>
          <a:prstGeom prst="roundRect">
            <a:avLst>
              <a:gd name="adj" fmla="val 2519"/>
            </a:avLst>
          </a:pr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402" y="1376195"/>
            <a:ext cx="250521" cy="200416"/>
          </a:xfrm>
          <a:custGeom>
            <a:avLst/>
            <a:gdLst/>
            <a:ahLst/>
            <a:cxnLst/>
            <a:rect l="l" t="t" r="r" b="b"/>
            <a:pathLst>
              <a:path w="250521" h="200416">
                <a:moveTo>
                  <a:pt x="162799" y="82398"/>
                </a:moveTo>
                <a:cubicBezTo>
                  <a:pt x="167575" y="81106"/>
                  <a:pt x="172585" y="83376"/>
                  <a:pt x="174738" y="87800"/>
                </a:cubicBezTo>
                <a:lnTo>
                  <a:pt x="182019" y="102518"/>
                </a:lnTo>
                <a:cubicBezTo>
                  <a:pt x="186051" y="103066"/>
                  <a:pt x="190004" y="104162"/>
                  <a:pt x="193723" y="105688"/>
                </a:cubicBezTo>
                <a:lnTo>
                  <a:pt x="207423" y="96568"/>
                </a:lnTo>
                <a:cubicBezTo>
                  <a:pt x="211533" y="93828"/>
                  <a:pt x="216974" y="94376"/>
                  <a:pt x="220458" y="97860"/>
                </a:cubicBezTo>
                <a:lnTo>
                  <a:pt x="227974" y="105375"/>
                </a:lnTo>
                <a:cubicBezTo>
                  <a:pt x="231458" y="108859"/>
                  <a:pt x="232006" y="114339"/>
                  <a:pt x="229265" y="118410"/>
                </a:cubicBezTo>
                <a:lnTo>
                  <a:pt x="220145" y="132071"/>
                </a:lnTo>
                <a:cubicBezTo>
                  <a:pt x="220889" y="133911"/>
                  <a:pt x="221554" y="135829"/>
                  <a:pt x="222102" y="137825"/>
                </a:cubicBezTo>
                <a:cubicBezTo>
                  <a:pt x="222650" y="139822"/>
                  <a:pt x="223002" y="141779"/>
                  <a:pt x="223276" y="143775"/>
                </a:cubicBezTo>
                <a:lnTo>
                  <a:pt x="238034" y="151056"/>
                </a:lnTo>
                <a:cubicBezTo>
                  <a:pt x="242457" y="153248"/>
                  <a:pt x="244727" y="158259"/>
                  <a:pt x="243436" y="162995"/>
                </a:cubicBezTo>
                <a:lnTo>
                  <a:pt x="240695" y="173251"/>
                </a:lnTo>
                <a:cubicBezTo>
                  <a:pt x="239404" y="177987"/>
                  <a:pt x="234980" y="181197"/>
                  <a:pt x="230048" y="180884"/>
                </a:cubicBezTo>
                <a:lnTo>
                  <a:pt x="213608" y="179827"/>
                </a:lnTo>
                <a:cubicBezTo>
                  <a:pt x="211142" y="182997"/>
                  <a:pt x="208284" y="185933"/>
                  <a:pt x="205035" y="188438"/>
                </a:cubicBezTo>
                <a:lnTo>
                  <a:pt x="206092" y="204840"/>
                </a:lnTo>
                <a:cubicBezTo>
                  <a:pt x="206405" y="209772"/>
                  <a:pt x="203196" y="214234"/>
                  <a:pt x="198459" y="215487"/>
                </a:cubicBezTo>
                <a:lnTo>
                  <a:pt x="188204" y="218227"/>
                </a:lnTo>
                <a:cubicBezTo>
                  <a:pt x="183428" y="219519"/>
                  <a:pt x="178457" y="217248"/>
                  <a:pt x="176265" y="212825"/>
                </a:cubicBezTo>
                <a:lnTo>
                  <a:pt x="168984" y="198107"/>
                </a:lnTo>
                <a:cubicBezTo>
                  <a:pt x="164952" y="197559"/>
                  <a:pt x="160999" y="196463"/>
                  <a:pt x="157280" y="194936"/>
                </a:cubicBezTo>
                <a:lnTo>
                  <a:pt x="143580" y="204057"/>
                </a:lnTo>
                <a:cubicBezTo>
                  <a:pt x="139469" y="206797"/>
                  <a:pt x="134028" y="206249"/>
                  <a:pt x="130545" y="202765"/>
                </a:cubicBezTo>
                <a:lnTo>
                  <a:pt x="123029" y="195249"/>
                </a:lnTo>
                <a:cubicBezTo>
                  <a:pt x="119545" y="191766"/>
                  <a:pt x="118997" y="186325"/>
                  <a:pt x="121737" y="182215"/>
                </a:cubicBezTo>
                <a:lnTo>
                  <a:pt x="130858" y="168514"/>
                </a:lnTo>
                <a:cubicBezTo>
                  <a:pt x="130114" y="166674"/>
                  <a:pt x="129449" y="164756"/>
                  <a:pt x="128901" y="162760"/>
                </a:cubicBezTo>
                <a:cubicBezTo>
                  <a:pt x="128353" y="160764"/>
                  <a:pt x="128000" y="158767"/>
                  <a:pt x="127726" y="156810"/>
                </a:cubicBezTo>
                <a:lnTo>
                  <a:pt x="112969" y="149529"/>
                </a:lnTo>
                <a:cubicBezTo>
                  <a:pt x="108546" y="147337"/>
                  <a:pt x="106315" y="142327"/>
                  <a:pt x="107567" y="137591"/>
                </a:cubicBezTo>
                <a:lnTo>
                  <a:pt x="110307" y="127335"/>
                </a:lnTo>
                <a:cubicBezTo>
                  <a:pt x="111599" y="122598"/>
                  <a:pt x="116022" y="119389"/>
                  <a:pt x="120954" y="119702"/>
                </a:cubicBezTo>
                <a:lnTo>
                  <a:pt x="137356" y="120759"/>
                </a:lnTo>
                <a:cubicBezTo>
                  <a:pt x="139822" y="117588"/>
                  <a:pt x="142679" y="114652"/>
                  <a:pt x="145928" y="112147"/>
                </a:cubicBezTo>
                <a:lnTo>
                  <a:pt x="144871" y="95785"/>
                </a:lnTo>
                <a:cubicBezTo>
                  <a:pt x="144558" y="90853"/>
                  <a:pt x="147768" y="86390"/>
                  <a:pt x="152504" y="85138"/>
                </a:cubicBezTo>
                <a:lnTo>
                  <a:pt x="162760" y="82398"/>
                </a:lnTo>
                <a:close/>
                <a:moveTo>
                  <a:pt x="175521" y="133089"/>
                </a:moveTo>
                <a:cubicBezTo>
                  <a:pt x="166015" y="133100"/>
                  <a:pt x="158306" y="140826"/>
                  <a:pt x="158317" y="150332"/>
                </a:cubicBezTo>
                <a:cubicBezTo>
                  <a:pt x="158328" y="159838"/>
                  <a:pt x="166054" y="167546"/>
                  <a:pt x="175560" y="167536"/>
                </a:cubicBezTo>
                <a:cubicBezTo>
                  <a:pt x="185066" y="167525"/>
                  <a:pt x="192775" y="159799"/>
                  <a:pt x="192764" y="150293"/>
                </a:cubicBezTo>
                <a:cubicBezTo>
                  <a:pt x="192753" y="140787"/>
                  <a:pt x="185027" y="133078"/>
                  <a:pt x="175521" y="133089"/>
                </a:cubicBezTo>
                <a:close/>
                <a:moveTo>
                  <a:pt x="88034" y="-17810"/>
                </a:moveTo>
                <a:lnTo>
                  <a:pt x="98290" y="-15070"/>
                </a:lnTo>
                <a:cubicBezTo>
                  <a:pt x="103027" y="-13779"/>
                  <a:pt x="106236" y="-9316"/>
                  <a:pt x="105923" y="-4423"/>
                </a:cubicBezTo>
                <a:lnTo>
                  <a:pt x="104866" y="11939"/>
                </a:lnTo>
                <a:cubicBezTo>
                  <a:pt x="108115" y="14444"/>
                  <a:pt x="110973" y="17341"/>
                  <a:pt x="113439" y="20551"/>
                </a:cubicBezTo>
                <a:lnTo>
                  <a:pt x="129879" y="19494"/>
                </a:lnTo>
                <a:cubicBezTo>
                  <a:pt x="134772" y="19180"/>
                  <a:pt x="139235" y="22390"/>
                  <a:pt x="140526" y="27127"/>
                </a:cubicBezTo>
                <a:lnTo>
                  <a:pt x="143266" y="37382"/>
                </a:lnTo>
                <a:cubicBezTo>
                  <a:pt x="144519" y="42119"/>
                  <a:pt x="142288" y="47129"/>
                  <a:pt x="137865" y="49321"/>
                </a:cubicBezTo>
                <a:lnTo>
                  <a:pt x="123107" y="56602"/>
                </a:lnTo>
                <a:cubicBezTo>
                  <a:pt x="122833" y="58598"/>
                  <a:pt x="122442" y="60595"/>
                  <a:pt x="121933" y="62552"/>
                </a:cubicBezTo>
                <a:cubicBezTo>
                  <a:pt x="121424" y="64509"/>
                  <a:pt x="120720" y="66466"/>
                  <a:pt x="119976" y="68306"/>
                </a:cubicBezTo>
                <a:lnTo>
                  <a:pt x="129096" y="82006"/>
                </a:lnTo>
                <a:cubicBezTo>
                  <a:pt x="131836" y="86116"/>
                  <a:pt x="131288" y="91557"/>
                  <a:pt x="127805" y="95041"/>
                </a:cubicBezTo>
                <a:lnTo>
                  <a:pt x="120289" y="102557"/>
                </a:lnTo>
                <a:cubicBezTo>
                  <a:pt x="116805" y="106041"/>
                  <a:pt x="111364" y="106589"/>
                  <a:pt x="107254" y="103849"/>
                </a:cubicBezTo>
                <a:lnTo>
                  <a:pt x="93554" y="94728"/>
                </a:lnTo>
                <a:cubicBezTo>
                  <a:pt x="89835" y="96255"/>
                  <a:pt x="85882" y="97351"/>
                  <a:pt x="81850" y="97899"/>
                </a:cubicBezTo>
                <a:lnTo>
                  <a:pt x="74569" y="112617"/>
                </a:lnTo>
                <a:cubicBezTo>
                  <a:pt x="72377" y="117040"/>
                  <a:pt x="67367" y="119271"/>
                  <a:pt x="62630" y="118019"/>
                </a:cubicBezTo>
                <a:lnTo>
                  <a:pt x="52374" y="115279"/>
                </a:lnTo>
                <a:cubicBezTo>
                  <a:pt x="47599" y="113987"/>
                  <a:pt x="44428" y="109524"/>
                  <a:pt x="44741" y="104631"/>
                </a:cubicBezTo>
                <a:lnTo>
                  <a:pt x="45798" y="88230"/>
                </a:lnTo>
                <a:cubicBezTo>
                  <a:pt x="42549" y="85725"/>
                  <a:pt x="39692" y="82828"/>
                  <a:pt x="37226" y="79619"/>
                </a:cubicBezTo>
                <a:lnTo>
                  <a:pt x="20785" y="80675"/>
                </a:lnTo>
                <a:cubicBezTo>
                  <a:pt x="15892" y="80989"/>
                  <a:pt x="11430" y="77779"/>
                  <a:pt x="10138" y="73042"/>
                </a:cubicBezTo>
                <a:lnTo>
                  <a:pt x="7398" y="62787"/>
                </a:lnTo>
                <a:cubicBezTo>
                  <a:pt x="6146" y="58050"/>
                  <a:pt x="8377" y="53040"/>
                  <a:pt x="12800" y="50848"/>
                </a:cubicBezTo>
                <a:lnTo>
                  <a:pt x="27557" y="43567"/>
                </a:lnTo>
                <a:cubicBezTo>
                  <a:pt x="27831" y="41571"/>
                  <a:pt x="28223" y="39614"/>
                  <a:pt x="28732" y="37617"/>
                </a:cubicBezTo>
                <a:cubicBezTo>
                  <a:pt x="29280" y="35621"/>
                  <a:pt x="29906" y="33703"/>
                  <a:pt x="30689" y="31863"/>
                </a:cubicBezTo>
                <a:lnTo>
                  <a:pt x="21568" y="18202"/>
                </a:lnTo>
                <a:cubicBezTo>
                  <a:pt x="18828" y="14092"/>
                  <a:pt x="19376" y="8651"/>
                  <a:pt x="22860" y="5167"/>
                </a:cubicBezTo>
                <a:lnTo>
                  <a:pt x="30376" y="-2349"/>
                </a:lnTo>
                <a:cubicBezTo>
                  <a:pt x="33859" y="-5832"/>
                  <a:pt x="39300" y="-6380"/>
                  <a:pt x="43411" y="-3640"/>
                </a:cubicBezTo>
                <a:lnTo>
                  <a:pt x="57111" y="5480"/>
                </a:lnTo>
                <a:cubicBezTo>
                  <a:pt x="60830" y="3954"/>
                  <a:pt x="64783" y="2857"/>
                  <a:pt x="68815" y="2309"/>
                </a:cubicBezTo>
                <a:lnTo>
                  <a:pt x="76096" y="-12409"/>
                </a:lnTo>
                <a:cubicBezTo>
                  <a:pt x="78288" y="-16832"/>
                  <a:pt x="83259" y="-19063"/>
                  <a:pt x="88034" y="-17810"/>
                </a:cubicBezTo>
                <a:close/>
                <a:moveTo>
                  <a:pt x="75313" y="32881"/>
                </a:moveTo>
                <a:cubicBezTo>
                  <a:pt x="65807" y="32881"/>
                  <a:pt x="58089" y="40598"/>
                  <a:pt x="58089" y="50104"/>
                </a:cubicBezTo>
                <a:cubicBezTo>
                  <a:pt x="58089" y="59610"/>
                  <a:pt x="65807" y="67327"/>
                  <a:pt x="75313" y="67327"/>
                </a:cubicBezTo>
                <a:cubicBezTo>
                  <a:pt x="84819" y="67327"/>
                  <a:pt x="92536" y="59610"/>
                  <a:pt x="92536" y="50104"/>
                </a:cubicBezTo>
                <a:cubicBezTo>
                  <a:pt x="92536" y="40598"/>
                  <a:pt x="84819" y="32881"/>
                  <a:pt x="75313" y="328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808850" y="1349472"/>
            <a:ext cx="5125147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8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Processing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4402" y="1750198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</p:sp>
      <p:sp>
        <p:nvSpPr>
          <p:cNvPr id="9" name="Text 7"/>
          <p:cNvSpPr/>
          <p:nvPr/>
        </p:nvSpPr>
        <p:spPr>
          <a:xfrm>
            <a:off x="681416" y="1833705"/>
            <a:ext cx="150312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5443" y="1750198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 - Facial Emotion Recognition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443" y="1984018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Extracts facial emotion from video frames (happy, sad, angry, etc.)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4402" y="2251239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5F737C"/>
          </a:solidFill>
          <a:ln/>
        </p:spPr>
      </p:sp>
      <p:sp>
        <p:nvSpPr>
          <p:cNvPr id="13" name="Text 11"/>
          <p:cNvSpPr/>
          <p:nvPr/>
        </p:nvSpPr>
        <p:spPr>
          <a:xfrm>
            <a:off x="666280" y="2334746"/>
            <a:ext cx="183715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5443" y="2251239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Whisper - Speech Transcription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443" y="2485059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Transcribes speech to text with high accuracy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402" y="2752281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5F737C"/>
          </a:solidFill>
          <a:ln/>
        </p:spPr>
      </p:sp>
      <p:sp>
        <p:nvSpPr>
          <p:cNvPr id="17" name="Text 15"/>
          <p:cNvSpPr/>
          <p:nvPr/>
        </p:nvSpPr>
        <p:spPr>
          <a:xfrm>
            <a:off x="665550" y="2835787"/>
            <a:ext cx="183715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5443" y="2752281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VADER - Sentiment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443" y="2986100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Analyzes emotional sentiment of transcribed text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4402" y="3253322"/>
            <a:ext cx="400833" cy="400833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665550" y="3336828"/>
            <a:ext cx="183715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5443" y="3253322"/>
            <a:ext cx="48935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Cross-Modal Consistency Check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5443" y="3487141"/>
            <a:ext cx="487680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Compares facial emotion vs. voice sentiment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0729" y="3968141"/>
            <a:ext cx="5661764" cy="2388296"/>
          </a:xfrm>
          <a:custGeom>
            <a:avLst/>
            <a:gdLst/>
            <a:ahLst/>
            <a:cxnLst/>
            <a:rect l="l" t="t" r="r" b="b"/>
            <a:pathLst>
              <a:path w="5661764" h="2388296">
                <a:moveTo>
                  <a:pt x="33401" y="0"/>
                </a:moveTo>
                <a:lnTo>
                  <a:pt x="5594985" y="0"/>
                </a:lnTo>
                <a:cubicBezTo>
                  <a:pt x="5631879" y="0"/>
                  <a:pt x="5661787" y="29908"/>
                  <a:pt x="5661787" y="66802"/>
                </a:cubicBezTo>
                <a:lnTo>
                  <a:pt x="5661787" y="2321433"/>
                </a:lnTo>
                <a:cubicBezTo>
                  <a:pt x="5661787" y="2358327"/>
                  <a:pt x="5631879" y="2388235"/>
                  <a:pt x="5594985" y="2388235"/>
                </a:cubicBezTo>
                <a:lnTo>
                  <a:pt x="33401" y="2388235"/>
                </a:lnTo>
                <a:cubicBezTo>
                  <a:pt x="14954" y="2388235"/>
                  <a:pt x="0" y="2373281"/>
                  <a:pt x="0" y="2354834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350729" y="3968141"/>
            <a:ext cx="33403" cy="2388296"/>
          </a:xfrm>
          <a:custGeom>
            <a:avLst/>
            <a:gdLst/>
            <a:ahLst/>
            <a:cxnLst/>
            <a:rect l="l" t="t" r="r" b="b"/>
            <a:pathLst>
              <a:path w="33403" h="2388296">
                <a:moveTo>
                  <a:pt x="33401" y="0"/>
                </a:moveTo>
                <a:lnTo>
                  <a:pt x="33401" y="0"/>
                </a:lnTo>
                <a:lnTo>
                  <a:pt x="33401" y="2388235"/>
                </a:lnTo>
                <a:lnTo>
                  <a:pt x="33401" y="2388235"/>
                </a:lnTo>
                <a:cubicBezTo>
                  <a:pt x="14954" y="2388235"/>
                  <a:pt x="0" y="2373281"/>
                  <a:pt x="0" y="2354834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197" y="4161879"/>
            <a:ext cx="125260" cy="167014"/>
          </a:xfrm>
          <a:custGeom>
            <a:avLst/>
            <a:gdLst/>
            <a:ahLst/>
            <a:cxnLst/>
            <a:rect l="l" t="t" r="r" b="b"/>
            <a:pathLst>
              <a:path w="125260" h="167014">
                <a:moveTo>
                  <a:pt x="95544" y="125260"/>
                </a:moveTo>
                <a:cubicBezTo>
                  <a:pt x="97925" y="117986"/>
                  <a:pt x="102687" y="111397"/>
                  <a:pt x="108070" y="105721"/>
                </a:cubicBezTo>
                <a:cubicBezTo>
                  <a:pt x="118736" y="94500"/>
                  <a:pt x="125260" y="79332"/>
                  <a:pt x="125260" y="62630"/>
                </a:cubicBezTo>
                <a:cubicBezTo>
                  <a:pt x="125260" y="28053"/>
                  <a:pt x="97207" y="0"/>
                  <a:pt x="62630" y="0"/>
                </a:cubicBezTo>
                <a:cubicBezTo>
                  <a:pt x="28053" y="0"/>
                  <a:pt x="0" y="28053"/>
                  <a:pt x="0" y="62630"/>
                </a:cubicBezTo>
                <a:cubicBezTo>
                  <a:pt x="0" y="79332"/>
                  <a:pt x="6524" y="94500"/>
                  <a:pt x="17191" y="105721"/>
                </a:cubicBezTo>
                <a:cubicBezTo>
                  <a:pt x="22573" y="111397"/>
                  <a:pt x="27368" y="117986"/>
                  <a:pt x="29717" y="125260"/>
                </a:cubicBezTo>
                <a:lnTo>
                  <a:pt x="95511" y="125260"/>
                </a:lnTo>
                <a:close/>
                <a:moveTo>
                  <a:pt x="93945" y="140918"/>
                </a:moveTo>
                <a:lnTo>
                  <a:pt x="31315" y="140918"/>
                </a:lnTo>
                <a:lnTo>
                  <a:pt x="31315" y="146137"/>
                </a:lnTo>
                <a:cubicBezTo>
                  <a:pt x="31315" y="160555"/>
                  <a:pt x="42993" y="172233"/>
                  <a:pt x="57411" y="172233"/>
                </a:cubicBezTo>
                <a:lnTo>
                  <a:pt x="67849" y="172233"/>
                </a:lnTo>
                <a:cubicBezTo>
                  <a:pt x="82267" y="172233"/>
                  <a:pt x="93945" y="160555"/>
                  <a:pt x="93945" y="146137"/>
                </a:cubicBezTo>
                <a:lnTo>
                  <a:pt x="93945" y="140918"/>
                </a:lnTo>
                <a:close/>
                <a:moveTo>
                  <a:pt x="60021" y="36534"/>
                </a:moveTo>
                <a:cubicBezTo>
                  <a:pt x="47038" y="36534"/>
                  <a:pt x="36534" y="47038"/>
                  <a:pt x="36534" y="60021"/>
                </a:cubicBezTo>
                <a:cubicBezTo>
                  <a:pt x="36534" y="64359"/>
                  <a:pt x="33044" y="67849"/>
                  <a:pt x="28705" y="67849"/>
                </a:cubicBezTo>
                <a:cubicBezTo>
                  <a:pt x="24367" y="67849"/>
                  <a:pt x="20877" y="64359"/>
                  <a:pt x="20877" y="60021"/>
                </a:cubicBezTo>
                <a:cubicBezTo>
                  <a:pt x="20877" y="38394"/>
                  <a:pt x="38394" y="20877"/>
                  <a:pt x="60021" y="20877"/>
                </a:cubicBezTo>
                <a:cubicBezTo>
                  <a:pt x="64359" y="20877"/>
                  <a:pt x="67849" y="24367"/>
                  <a:pt x="67849" y="28705"/>
                </a:cubicBezTo>
                <a:cubicBezTo>
                  <a:pt x="67849" y="33044"/>
                  <a:pt x="64359" y="36534"/>
                  <a:pt x="60021" y="3653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787138" y="4135155"/>
            <a:ext cx="5141848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Detection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4444" y="4469182"/>
            <a:ext cx="5311036" cy="1720241"/>
          </a:xfrm>
          <a:prstGeom prst="roundRect">
            <a:avLst>
              <a:gd name="adj" fmla="val 388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94776" y="4602793"/>
            <a:ext cx="300625" cy="300625"/>
          </a:xfrm>
          <a:custGeom>
            <a:avLst/>
            <a:gdLst/>
            <a:ahLst/>
            <a:cxnLst/>
            <a:rect l="l" t="t" r="r" b="b"/>
            <a:pathLst>
              <a:path w="300625" h="300625">
                <a:moveTo>
                  <a:pt x="150312" y="300625"/>
                </a:moveTo>
                <a:cubicBezTo>
                  <a:pt x="233272" y="300625"/>
                  <a:pt x="300625" y="233272"/>
                  <a:pt x="300625" y="150312"/>
                </a:cubicBezTo>
                <a:cubicBezTo>
                  <a:pt x="300625" y="67353"/>
                  <a:pt x="233272" y="0"/>
                  <a:pt x="150312" y="0"/>
                </a:cubicBezTo>
                <a:cubicBezTo>
                  <a:pt x="67353" y="0"/>
                  <a:pt x="0" y="67353"/>
                  <a:pt x="0" y="150312"/>
                </a:cubicBezTo>
                <a:cubicBezTo>
                  <a:pt x="0" y="233272"/>
                  <a:pt x="67353" y="300625"/>
                  <a:pt x="150312" y="300625"/>
                </a:cubicBezTo>
                <a:close/>
                <a:moveTo>
                  <a:pt x="97116" y="189006"/>
                </a:moveTo>
                <a:cubicBezTo>
                  <a:pt x="109094" y="205446"/>
                  <a:pt x="128470" y="216074"/>
                  <a:pt x="150312" y="216074"/>
                </a:cubicBezTo>
                <a:cubicBezTo>
                  <a:pt x="172155" y="216074"/>
                  <a:pt x="191531" y="205446"/>
                  <a:pt x="203509" y="189006"/>
                </a:cubicBezTo>
                <a:cubicBezTo>
                  <a:pt x="208089" y="182723"/>
                  <a:pt x="216896" y="181314"/>
                  <a:pt x="223179" y="185894"/>
                </a:cubicBezTo>
                <a:cubicBezTo>
                  <a:pt x="229461" y="190474"/>
                  <a:pt x="230870" y="199281"/>
                  <a:pt x="226291" y="205564"/>
                </a:cubicBezTo>
                <a:cubicBezTo>
                  <a:pt x="209204" y="228991"/>
                  <a:pt x="181549" y="244258"/>
                  <a:pt x="150312" y="244258"/>
                </a:cubicBezTo>
                <a:cubicBezTo>
                  <a:pt x="119076" y="244258"/>
                  <a:pt x="91420" y="228991"/>
                  <a:pt x="74334" y="205564"/>
                </a:cubicBezTo>
                <a:cubicBezTo>
                  <a:pt x="69754" y="199281"/>
                  <a:pt x="71163" y="190474"/>
                  <a:pt x="77446" y="185894"/>
                </a:cubicBezTo>
                <a:cubicBezTo>
                  <a:pt x="83729" y="181314"/>
                  <a:pt x="92536" y="182723"/>
                  <a:pt x="97116" y="189006"/>
                </a:cubicBezTo>
                <a:close/>
                <a:moveTo>
                  <a:pt x="84551" y="122129"/>
                </a:moveTo>
                <a:cubicBezTo>
                  <a:pt x="84551" y="111759"/>
                  <a:pt x="92970" y="103340"/>
                  <a:pt x="103340" y="103340"/>
                </a:cubicBezTo>
                <a:cubicBezTo>
                  <a:pt x="113710" y="103340"/>
                  <a:pt x="122129" y="111759"/>
                  <a:pt x="122129" y="122129"/>
                </a:cubicBezTo>
                <a:cubicBezTo>
                  <a:pt x="122129" y="132499"/>
                  <a:pt x="113710" y="140918"/>
                  <a:pt x="103340" y="140918"/>
                </a:cubicBezTo>
                <a:cubicBezTo>
                  <a:pt x="92970" y="140918"/>
                  <a:pt x="84551" y="132499"/>
                  <a:pt x="84551" y="122129"/>
                </a:cubicBezTo>
                <a:close/>
                <a:moveTo>
                  <a:pt x="197285" y="103340"/>
                </a:moveTo>
                <a:cubicBezTo>
                  <a:pt x="207655" y="103340"/>
                  <a:pt x="216074" y="111759"/>
                  <a:pt x="216074" y="122129"/>
                </a:cubicBezTo>
                <a:cubicBezTo>
                  <a:pt x="216074" y="132499"/>
                  <a:pt x="207655" y="140918"/>
                  <a:pt x="197285" y="140918"/>
                </a:cubicBezTo>
                <a:cubicBezTo>
                  <a:pt x="186915" y="140918"/>
                  <a:pt x="178496" y="132499"/>
                  <a:pt x="178496" y="122129"/>
                </a:cubicBezTo>
                <a:cubicBezTo>
                  <a:pt x="178496" y="111759"/>
                  <a:pt x="186915" y="103340"/>
                  <a:pt x="197285" y="10334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634652" y="4970223"/>
            <a:ext cx="818367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Smiling Face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827" y="5170640"/>
            <a:ext cx="810016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FER: Happy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011674" y="4844963"/>
            <a:ext cx="219205" cy="250521"/>
          </a:xfrm>
          <a:custGeom>
            <a:avLst/>
            <a:gdLst/>
            <a:ahLst/>
            <a:cxnLst/>
            <a:rect l="l" t="t" r="r" b="b"/>
            <a:pathLst>
              <a:path w="219205" h="250521">
                <a:moveTo>
                  <a:pt x="185248" y="40025"/>
                </a:moveTo>
                <a:cubicBezTo>
                  <a:pt x="190043" y="32832"/>
                  <a:pt x="188086" y="23095"/>
                  <a:pt x="180893" y="18300"/>
                </a:cubicBezTo>
                <a:cubicBezTo>
                  <a:pt x="173701" y="13505"/>
                  <a:pt x="163964" y="15462"/>
                  <a:pt x="159169" y="22654"/>
                </a:cubicBezTo>
                <a:lnTo>
                  <a:pt x="132551" y="62630"/>
                </a:lnTo>
                <a:lnTo>
                  <a:pt x="15658" y="62630"/>
                </a:lnTo>
                <a:cubicBezTo>
                  <a:pt x="6997" y="62630"/>
                  <a:pt x="0" y="69627"/>
                  <a:pt x="0" y="78288"/>
                </a:cubicBezTo>
                <a:cubicBezTo>
                  <a:pt x="0" y="86948"/>
                  <a:pt x="6997" y="93945"/>
                  <a:pt x="15658" y="93945"/>
                </a:cubicBezTo>
                <a:lnTo>
                  <a:pt x="111658" y="93945"/>
                </a:lnTo>
                <a:lnTo>
                  <a:pt x="69921" y="156575"/>
                </a:lnTo>
                <a:lnTo>
                  <a:pt x="15658" y="156575"/>
                </a:lnTo>
                <a:cubicBezTo>
                  <a:pt x="6997" y="156575"/>
                  <a:pt x="0" y="163572"/>
                  <a:pt x="0" y="172233"/>
                </a:cubicBezTo>
                <a:cubicBezTo>
                  <a:pt x="0" y="180893"/>
                  <a:pt x="6997" y="187890"/>
                  <a:pt x="15658" y="187890"/>
                </a:cubicBezTo>
                <a:lnTo>
                  <a:pt x="49028" y="187890"/>
                </a:lnTo>
                <a:lnTo>
                  <a:pt x="33957" y="210496"/>
                </a:lnTo>
                <a:cubicBezTo>
                  <a:pt x="29162" y="217689"/>
                  <a:pt x="31119" y="227426"/>
                  <a:pt x="38312" y="232221"/>
                </a:cubicBezTo>
                <a:cubicBezTo>
                  <a:pt x="45505" y="237016"/>
                  <a:pt x="55242" y="235059"/>
                  <a:pt x="60037" y="227866"/>
                </a:cubicBezTo>
                <a:lnTo>
                  <a:pt x="86655" y="187890"/>
                </a:lnTo>
                <a:lnTo>
                  <a:pt x="203548" y="187890"/>
                </a:lnTo>
                <a:cubicBezTo>
                  <a:pt x="212209" y="187890"/>
                  <a:pt x="219205" y="180893"/>
                  <a:pt x="219205" y="172233"/>
                </a:cubicBezTo>
                <a:cubicBezTo>
                  <a:pt x="219205" y="163572"/>
                  <a:pt x="212209" y="156575"/>
                  <a:pt x="203548" y="156575"/>
                </a:cubicBezTo>
                <a:lnTo>
                  <a:pt x="107548" y="156575"/>
                </a:lnTo>
                <a:lnTo>
                  <a:pt x="149285" y="93945"/>
                </a:lnTo>
                <a:lnTo>
                  <a:pt x="203548" y="93945"/>
                </a:lnTo>
                <a:cubicBezTo>
                  <a:pt x="212209" y="93945"/>
                  <a:pt x="219205" y="86948"/>
                  <a:pt x="219205" y="78288"/>
                </a:cubicBezTo>
                <a:cubicBezTo>
                  <a:pt x="219205" y="69627"/>
                  <a:pt x="212209" y="62630"/>
                  <a:pt x="203548" y="62630"/>
                </a:cubicBezTo>
                <a:lnTo>
                  <a:pt x="170178" y="62630"/>
                </a:lnTo>
                <a:lnTo>
                  <a:pt x="185248" y="4002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Shape 31"/>
          <p:cNvSpPr/>
          <p:nvPr/>
        </p:nvSpPr>
        <p:spPr>
          <a:xfrm>
            <a:off x="5112707" y="4602793"/>
            <a:ext cx="300625" cy="300625"/>
          </a:xfrm>
          <a:custGeom>
            <a:avLst/>
            <a:gdLst/>
            <a:ahLst/>
            <a:cxnLst/>
            <a:rect l="l" t="t" r="r" b="b"/>
            <a:pathLst>
              <a:path w="300625" h="300625">
                <a:moveTo>
                  <a:pt x="0" y="150312"/>
                </a:moveTo>
                <a:cubicBezTo>
                  <a:pt x="0" y="67353"/>
                  <a:pt x="67353" y="0"/>
                  <a:pt x="150312" y="0"/>
                </a:cubicBezTo>
                <a:cubicBezTo>
                  <a:pt x="233272" y="0"/>
                  <a:pt x="300625" y="67353"/>
                  <a:pt x="300625" y="150312"/>
                </a:cubicBezTo>
                <a:cubicBezTo>
                  <a:pt x="300625" y="233272"/>
                  <a:pt x="233272" y="300625"/>
                  <a:pt x="150312" y="300625"/>
                </a:cubicBezTo>
                <a:cubicBezTo>
                  <a:pt x="67353" y="300625"/>
                  <a:pt x="0" y="233272"/>
                  <a:pt x="0" y="150312"/>
                </a:cubicBezTo>
                <a:close/>
                <a:moveTo>
                  <a:pt x="150312" y="216074"/>
                </a:moveTo>
                <a:cubicBezTo>
                  <a:pt x="164463" y="216074"/>
                  <a:pt x="176969" y="223002"/>
                  <a:pt x="184661" y="233689"/>
                </a:cubicBezTo>
                <a:cubicBezTo>
                  <a:pt x="189182" y="240030"/>
                  <a:pt x="197990" y="241439"/>
                  <a:pt x="204331" y="236918"/>
                </a:cubicBezTo>
                <a:cubicBezTo>
                  <a:pt x="210672" y="232397"/>
                  <a:pt x="212081" y="223590"/>
                  <a:pt x="207560" y="217248"/>
                </a:cubicBezTo>
                <a:cubicBezTo>
                  <a:pt x="194819" y="199516"/>
                  <a:pt x="173916" y="187890"/>
                  <a:pt x="150312" y="187890"/>
                </a:cubicBezTo>
                <a:cubicBezTo>
                  <a:pt x="126709" y="187890"/>
                  <a:pt x="105865" y="199516"/>
                  <a:pt x="93064" y="217248"/>
                </a:cubicBezTo>
                <a:cubicBezTo>
                  <a:pt x="88543" y="223590"/>
                  <a:pt x="89953" y="232397"/>
                  <a:pt x="96294" y="236918"/>
                </a:cubicBezTo>
                <a:cubicBezTo>
                  <a:pt x="102635" y="241439"/>
                  <a:pt x="111443" y="240030"/>
                  <a:pt x="115964" y="233689"/>
                </a:cubicBezTo>
                <a:cubicBezTo>
                  <a:pt x="123655" y="223002"/>
                  <a:pt x="136162" y="216074"/>
                  <a:pt x="150312" y="216074"/>
                </a:cubicBezTo>
                <a:close/>
                <a:moveTo>
                  <a:pt x="103340" y="159707"/>
                </a:moveTo>
                <a:cubicBezTo>
                  <a:pt x="113732" y="159707"/>
                  <a:pt x="122129" y="151310"/>
                  <a:pt x="122129" y="140918"/>
                </a:cubicBezTo>
                <a:lnTo>
                  <a:pt x="122129" y="140742"/>
                </a:lnTo>
                <a:lnTo>
                  <a:pt x="127824" y="142621"/>
                </a:lnTo>
                <a:cubicBezTo>
                  <a:pt x="133989" y="144676"/>
                  <a:pt x="140624" y="141329"/>
                  <a:pt x="142679" y="135222"/>
                </a:cubicBezTo>
                <a:cubicBezTo>
                  <a:pt x="144734" y="129116"/>
                  <a:pt x="141388" y="122422"/>
                  <a:pt x="135281" y="120367"/>
                </a:cubicBezTo>
                <a:lnTo>
                  <a:pt x="78914" y="101578"/>
                </a:lnTo>
                <a:cubicBezTo>
                  <a:pt x="72749" y="99523"/>
                  <a:pt x="66114" y="102870"/>
                  <a:pt x="64059" y="108976"/>
                </a:cubicBezTo>
                <a:cubicBezTo>
                  <a:pt x="62004" y="115083"/>
                  <a:pt x="65351" y="121776"/>
                  <a:pt x="71457" y="123832"/>
                </a:cubicBezTo>
                <a:lnTo>
                  <a:pt x="88426" y="129468"/>
                </a:lnTo>
                <a:cubicBezTo>
                  <a:pt x="86019" y="132639"/>
                  <a:pt x="84551" y="136573"/>
                  <a:pt x="84551" y="140859"/>
                </a:cubicBezTo>
                <a:cubicBezTo>
                  <a:pt x="84551" y="151252"/>
                  <a:pt x="92947" y="159648"/>
                  <a:pt x="103340" y="159648"/>
                </a:cubicBezTo>
                <a:close/>
                <a:moveTo>
                  <a:pt x="216074" y="140918"/>
                </a:moveTo>
                <a:cubicBezTo>
                  <a:pt x="216074" y="136632"/>
                  <a:pt x="214665" y="132698"/>
                  <a:pt x="212199" y="129527"/>
                </a:cubicBezTo>
                <a:lnTo>
                  <a:pt x="229168" y="123890"/>
                </a:lnTo>
                <a:cubicBezTo>
                  <a:pt x="235333" y="121835"/>
                  <a:pt x="238621" y="115200"/>
                  <a:pt x="236566" y="109035"/>
                </a:cubicBezTo>
                <a:cubicBezTo>
                  <a:pt x="234511" y="102870"/>
                  <a:pt x="227876" y="99582"/>
                  <a:pt x="221711" y="101637"/>
                </a:cubicBezTo>
                <a:lnTo>
                  <a:pt x="165344" y="120426"/>
                </a:lnTo>
                <a:cubicBezTo>
                  <a:pt x="159178" y="122481"/>
                  <a:pt x="155890" y="129116"/>
                  <a:pt x="157945" y="135281"/>
                </a:cubicBezTo>
                <a:cubicBezTo>
                  <a:pt x="160000" y="141446"/>
                  <a:pt x="166635" y="144734"/>
                  <a:pt x="172800" y="142679"/>
                </a:cubicBezTo>
                <a:lnTo>
                  <a:pt x="178496" y="140800"/>
                </a:lnTo>
                <a:lnTo>
                  <a:pt x="178496" y="140977"/>
                </a:lnTo>
                <a:cubicBezTo>
                  <a:pt x="178496" y="151369"/>
                  <a:pt x="186892" y="159766"/>
                  <a:pt x="197285" y="159766"/>
                </a:cubicBezTo>
                <a:cubicBezTo>
                  <a:pt x="207678" y="159766"/>
                  <a:pt x="216074" y="151369"/>
                  <a:pt x="216074" y="140977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750" y="4970223"/>
            <a:ext cx="960329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Angry Words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86926" y="5170640"/>
            <a:ext cx="951978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VADER: Negative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1395" y="5441202"/>
            <a:ext cx="5033793" cy="607930"/>
          </a:xfrm>
          <a:prstGeom prst="roundRect">
            <a:avLst>
              <a:gd name="adj" fmla="val 10989"/>
            </a:avLst>
          </a:prstGeom>
          <a:solidFill>
            <a:srgbClr val="FB2C36">
              <a:alpha val="20000"/>
            </a:srgbClr>
          </a:solidFill>
          <a:ln w="1016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366" y="5544753"/>
            <a:ext cx="4901852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4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⚠ High Inconsistency Score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5716" y="5778572"/>
            <a:ext cx="4885151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Potential DeepFake Detected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0968" y="1172436"/>
            <a:ext cx="5668445" cy="3179941"/>
          </a:xfrm>
          <a:prstGeom prst="roundRect">
            <a:avLst>
              <a:gd name="adj" fmla="val 2101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569" y="1342793"/>
            <a:ext cx="5411244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Module Architecture</a:t>
            </a:r>
            <a:endParaRPr lang="en-US" sz="1600" dirty="0"/>
          </a:p>
        </p:txBody>
      </p:sp>
      <p:pic>
        <p:nvPicPr>
          <p:cNvPr id="41" name="Image 0" descr="https://kimi-img.moonshot.cn/pub/slides/26-06-04-23:56:50-d8gq0gmuvalhfjg3r69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1322" y="1676820"/>
            <a:ext cx="4576175" cy="2338192"/>
          </a:xfrm>
          <a:prstGeom prst="roundRect">
            <a:avLst>
              <a:gd name="adj" fmla="val 0"/>
            </a:avLst>
          </a:prstGeom>
        </p:spPr>
      </p:pic>
      <p:sp>
        <p:nvSpPr>
          <p:cNvPr id="42" name="Shape 39"/>
          <p:cNvSpPr/>
          <p:nvPr/>
        </p:nvSpPr>
        <p:spPr>
          <a:xfrm>
            <a:off x="6184309" y="4495904"/>
            <a:ext cx="5666775" cy="1850512"/>
          </a:xfrm>
          <a:prstGeom prst="roundRect">
            <a:avLst>
              <a:gd name="adj" fmla="val 3610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68441" y="4696322"/>
            <a:ext cx="187890" cy="167014"/>
          </a:xfrm>
          <a:custGeom>
            <a:avLst/>
            <a:gdLst/>
            <a:ahLst/>
            <a:cxnLst/>
            <a:rect l="l" t="t" r="r" b="b"/>
            <a:pathLst>
              <a:path w="187890" h="167014">
                <a:moveTo>
                  <a:pt x="100958" y="-6165"/>
                </a:moveTo>
                <a:cubicBezTo>
                  <a:pt x="99621" y="-8775"/>
                  <a:pt x="96914" y="-10438"/>
                  <a:pt x="93978" y="-10438"/>
                </a:cubicBezTo>
                <a:cubicBezTo>
                  <a:pt x="91042" y="-10438"/>
                  <a:pt x="88335" y="-8775"/>
                  <a:pt x="86997" y="-6165"/>
                </a:cubicBezTo>
                <a:lnTo>
                  <a:pt x="62989" y="40873"/>
                </a:lnTo>
                <a:lnTo>
                  <a:pt x="10830" y="49158"/>
                </a:lnTo>
                <a:cubicBezTo>
                  <a:pt x="7927" y="49615"/>
                  <a:pt x="5513" y="51670"/>
                  <a:pt x="4599" y="54475"/>
                </a:cubicBezTo>
                <a:cubicBezTo>
                  <a:pt x="3686" y="57280"/>
                  <a:pt x="4436" y="60347"/>
                  <a:pt x="6491" y="62434"/>
                </a:cubicBezTo>
                <a:lnTo>
                  <a:pt x="43808" y="99784"/>
                </a:lnTo>
                <a:lnTo>
                  <a:pt x="35588" y="151943"/>
                </a:lnTo>
                <a:cubicBezTo>
                  <a:pt x="35132" y="154846"/>
                  <a:pt x="36339" y="157782"/>
                  <a:pt x="38720" y="159511"/>
                </a:cubicBezTo>
                <a:cubicBezTo>
                  <a:pt x="41101" y="161240"/>
                  <a:pt x="44233" y="161501"/>
                  <a:pt x="46875" y="160164"/>
                </a:cubicBezTo>
                <a:lnTo>
                  <a:pt x="93978" y="136221"/>
                </a:lnTo>
                <a:lnTo>
                  <a:pt x="141048" y="160164"/>
                </a:lnTo>
                <a:cubicBezTo>
                  <a:pt x="143658" y="161501"/>
                  <a:pt x="146822" y="161240"/>
                  <a:pt x="149203" y="159511"/>
                </a:cubicBezTo>
                <a:cubicBezTo>
                  <a:pt x="151585" y="157782"/>
                  <a:pt x="152791" y="154879"/>
                  <a:pt x="152335" y="151943"/>
                </a:cubicBezTo>
                <a:lnTo>
                  <a:pt x="144082" y="99784"/>
                </a:lnTo>
                <a:lnTo>
                  <a:pt x="181399" y="62434"/>
                </a:lnTo>
                <a:cubicBezTo>
                  <a:pt x="183487" y="60347"/>
                  <a:pt x="184204" y="57280"/>
                  <a:pt x="183291" y="54475"/>
                </a:cubicBezTo>
                <a:cubicBezTo>
                  <a:pt x="182378" y="51670"/>
                  <a:pt x="179996" y="49615"/>
                  <a:pt x="177061" y="49158"/>
                </a:cubicBezTo>
                <a:lnTo>
                  <a:pt x="124934" y="40873"/>
                </a:lnTo>
                <a:lnTo>
                  <a:pt x="100958" y="-616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1"/>
          <p:cNvSpPr/>
          <p:nvPr/>
        </p:nvSpPr>
        <p:spPr>
          <a:xfrm>
            <a:off x="6610697" y="4669599"/>
            <a:ext cx="5150199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It's Unique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358003" y="5003626"/>
            <a:ext cx="5386192" cy="43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DeepFakes synthesize </a:t>
            </a: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and audio separately</a:t>
            </a:r>
            <a:r>
              <a:rPr lang="en-US" sz="105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causing emotional mismatches that standard detectors miss.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74704" y="5563122"/>
            <a:ext cx="116910" cy="116910"/>
          </a:xfrm>
          <a:custGeom>
            <a:avLst/>
            <a:gdLst/>
            <a:ahLst/>
            <a:cxnLst/>
            <a:rect l="l" t="t" r="r" b="b"/>
            <a:pathLst>
              <a:path w="116910" h="116910">
                <a:moveTo>
                  <a:pt x="58455" y="116910"/>
                </a:moveTo>
                <a:cubicBezTo>
                  <a:pt x="90717" y="116910"/>
                  <a:pt x="116910" y="90717"/>
                  <a:pt x="116910" y="58455"/>
                </a:cubicBezTo>
                <a:cubicBezTo>
                  <a:pt x="116910" y="26193"/>
                  <a:pt x="90717" y="0"/>
                  <a:pt x="58455" y="0"/>
                </a:cubicBezTo>
                <a:cubicBezTo>
                  <a:pt x="26193" y="0"/>
                  <a:pt x="0" y="26193"/>
                  <a:pt x="0" y="58455"/>
                </a:cubicBezTo>
                <a:cubicBezTo>
                  <a:pt x="0" y="90717"/>
                  <a:pt x="26193" y="116910"/>
                  <a:pt x="58455" y="116910"/>
                </a:cubicBezTo>
                <a:close/>
                <a:moveTo>
                  <a:pt x="77727" y="48568"/>
                </a:moveTo>
                <a:lnTo>
                  <a:pt x="59459" y="77795"/>
                </a:lnTo>
                <a:cubicBezTo>
                  <a:pt x="58500" y="79325"/>
                  <a:pt x="56856" y="80284"/>
                  <a:pt x="55053" y="80375"/>
                </a:cubicBezTo>
                <a:cubicBezTo>
                  <a:pt x="53249" y="80467"/>
                  <a:pt x="51513" y="79645"/>
                  <a:pt x="50440" y="78183"/>
                </a:cubicBezTo>
                <a:lnTo>
                  <a:pt x="39480" y="63570"/>
                </a:lnTo>
                <a:cubicBezTo>
                  <a:pt x="37653" y="61149"/>
                  <a:pt x="38155" y="57724"/>
                  <a:pt x="40576" y="55897"/>
                </a:cubicBezTo>
                <a:cubicBezTo>
                  <a:pt x="42996" y="54071"/>
                  <a:pt x="46421" y="54573"/>
                  <a:pt x="48248" y="56993"/>
                </a:cubicBezTo>
                <a:lnTo>
                  <a:pt x="54413" y="65214"/>
                </a:lnTo>
                <a:lnTo>
                  <a:pt x="68433" y="42768"/>
                </a:lnTo>
                <a:cubicBezTo>
                  <a:pt x="70032" y="40211"/>
                  <a:pt x="73411" y="39411"/>
                  <a:pt x="75991" y="41033"/>
                </a:cubicBezTo>
                <a:cubicBezTo>
                  <a:pt x="78571" y="42654"/>
                  <a:pt x="79348" y="46010"/>
                  <a:pt x="77727" y="485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4"/>
          <p:cNvSpPr/>
          <p:nvPr/>
        </p:nvSpPr>
        <p:spPr>
          <a:xfrm>
            <a:off x="6570945" y="5538070"/>
            <a:ext cx="1853852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behavioral forensics approach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74704" y="5796941"/>
            <a:ext cx="116910" cy="116910"/>
          </a:xfrm>
          <a:custGeom>
            <a:avLst/>
            <a:gdLst/>
            <a:ahLst/>
            <a:cxnLst/>
            <a:rect l="l" t="t" r="r" b="b"/>
            <a:pathLst>
              <a:path w="116910" h="116910">
                <a:moveTo>
                  <a:pt x="58455" y="116910"/>
                </a:moveTo>
                <a:cubicBezTo>
                  <a:pt x="90717" y="116910"/>
                  <a:pt x="116910" y="90717"/>
                  <a:pt x="116910" y="58455"/>
                </a:cubicBezTo>
                <a:cubicBezTo>
                  <a:pt x="116910" y="26193"/>
                  <a:pt x="90717" y="0"/>
                  <a:pt x="58455" y="0"/>
                </a:cubicBezTo>
                <a:cubicBezTo>
                  <a:pt x="26193" y="0"/>
                  <a:pt x="0" y="26193"/>
                  <a:pt x="0" y="58455"/>
                </a:cubicBezTo>
                <a:cubicBezTo>
                  <a:pt x="0" y="90717"/>
                  <a:pt x="26193" y="116910"/>
                  <a:pt x="58455" y="116910"/>
                </a:cubicBezTo>
                <a:close/>
                <a:moveTo>
                  <a:pt x="77727" y="48568"/>
                </a:moveTo>
                <a:lnTo>
                  <a:pt x="59459" y="77795"/>
                </a:lnTo>
                <a:cubicBezTo>
                  <a:pt x="58500" y="79325"/>
                  <a:pt x="56856" y="80284"/>
                  <a:pt x="55053" y="80375"/>
                </a:cubicBezTo>
                <a:cubicBezTo>
                  <a:pt x="53249" y="80467"/>
                  <a:pt x="51513" y="79645"/>
                  <a:pt x="50440" y="78183"/>
                </a:cubicBezTo>
                <a:lnTo>
                  <a:pt x="39480" y="63570"/>
                </a:lnTo>
                <a:cubicBezTo>
                  <a:pt x="37653" y="61149"/>
                  <a:pt x="38155" y="57724"/>
                  <a:pt x="40576" y="55897"/>
                </a:cubicBezTo>
                <a:cubicBezTo>
                  <a:pt x="42996" y="54071"/>
                  <a:pt x="46421" y="54573"/>
                  <a:pt x="48248" y="56993"/>
                </a:cubicBezTo>
                <a:lnTo>
                  <a:pt x="54413" y="65214"/>
                </a:lnTo>
                <a:lnTo>
                  <a:pt x="68433" y="42768"/>
                </a:lnTo>
                <a:cubicBezTo>
                  <a:pt x="70032" y="40211"/>
                  <a:pt x="73411" y="39411"/>
                  <a:pt x="75991" y="41033"/>
                </a:cubicBezTo>
                <a:cubicBezTo>
                  <a:pt x="78571" y="42654"/>
                  <a:pt x="79348" y="46010"/>
                  <a:pt x="77727" y="485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6"/>
          <p:cNvSpPr/>
          <p:nvPr/>
        </p:nvSpPr>
        <p:spPr>
          <a:xfrm>
            <a:off x="6570945" y="5771889"/>
            <a:ext cx="2196230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Detects sophisticated AI-generated fakes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74704" y="6030760"/>
            <a:ext cx="116910" cy="116910"/>
          </a:xfrm>
          <a:custGeom>
            <a:avLst/>
            <a:gdLst/>
            <a:ahLst/>
            <a:cxnLst/>
            <a:rect l="l" t="t" r="r" b="b"/>
            <a:pathLst>
              <a:path w="116910" h="116910">
                <a:moveTo>
                  <a:pt x="58455" y="116910"/>
                </a:moveTo>
                <a:cubicBezTo>
                  <a:pt x="90717" y="116910"/>
                  <a:pt x="116910" y="90717"/>
                  <a:pt x="116910" y="58455"/>
                </a:cubicBezTo>
                <a:cubicBezTo>
                  <a:pt x="116910" y="26193"/>
                  <a:pt x="90717" y="0"/>
                  <a:pt x="58455" y="0"/>
                </a:cubicBezTo>
                <a:cubicBezTo>
                  <a:pt x="26193" y="0"/>
                  <a:pt x="0" y="26193"/>
                  <a:pt x="0" y="58455"/>
                </a:cubicBezTo>
                <a:cubicBezTo>
                  <a:pt x="0" y="90717"/>
                  <a:pt x="26193" y="116910"/>
                  <a:pt x="58455" y="116910"/>
                </a:cubicBezTo>
                <a:close/>
                <a:moveTo>
                  <a:pt x="77727" y="48568"/>
                </a:moveTo>
                <a:lnTo>
                  <a:pt x="59459" y="77795"/>
                </a:lnTo>
                <a:cubicBezTo>
                  <a:pt x="58500" y="79325"/>
                  <a:pt x="56856" y="80284"/>
                  <a:pt x="55053" y="80375"/>
                </a:cubicBezTo>
                <a:cubicBezTo>
                  <a:pt x="53249" y="80467"/>
                  <a:pt x="51513" y="79645"/>
                  <a:pt x="50440" y="78183"/>
                </a:cubicBezTo>
                <a:lnTo>
                  <a:pt x="39480" y="63570"/>
                </a:lnTo>
                <a:cubicBezTo>
                  <a:pt x="37653" y="61149"/>
                  <a:pt x="38155" y="57724"/>
                  <a:pt x="40576" y="55897"/>
                </a:cubicBezTo>
                <a:cubicBezTo>
                  <a:pt x="42996" y="54071"/>
                  <a:pt x="46421" y="54573"/>
                  <a:pt x="48248" y="56993"/>
                </a:cubicBezTo>
                <a:lnTo>
                  <a:pt x="54413" y="65214"/>
                </a:lnTo>
                <a:lnTo>
                  <a:pt x="68433" y="42768"/>
                </a:lnTo>
                <a:cubicBezTo>
                  <a:pt x="70032" y="40211"/>
                  <a:pt x="73411" y="39411"/>
                  <a:pt x="75991" y="41033"/>
                </a:cubicBezTo>
                <a:cubicBezTo>
                  <a:pt x="78571" y="42654"/>
                  <a:pt x="79348" y="46010"/>
                  <a:pt x="77727" y="4859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8"/>
          <p:cNvSpPr/>
          <p:nvPr/>
        </p:nvSpPr>
        <p:spPr>
          <a:xfrm>
            <a:off x="6570945" y="6005708"/>
            <a:ext cx="2096022" cy="16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1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Complements visual detection methods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50729" y="6453306"/>
            <a:ext cx="11507244" cy="400833"/>
          </a:xfrm>
          <a:custGeom>
            <a:avLst/>
            <a:gdLst/>
            <a:ahLst/>
            <a:cxnLst/>
            <a:rect l="l" t="t" r="r" b="b"/>
            <a:pathLst>
              <a:path w="11507244" h="400833">
                <a:moveTo>
                  <a:pt x="33401" y="0"/>
                </a:moveTo>
                <a:lnTo>
                  <a:pt x="11440414" y="0"/>
                </a:lnTo>
                <a:cubicBezTo>
                  <a:pt x="11477308" y="0"/>
                  <a:pt x="11507216" y="29908"/>
                  <a:pt x="11507216" y="66802"/>
                </a:cubicBezTo>
                <a:lnTo>
                  <a:pt x="11507216" y="334010"/>
                </a:lnTo>
                <a:cubicBezTo>
                  <a:pt x="11507216" y="370904"/>
                  <a:pt x="11477308" y="400812"/>
                  <a:pt x="11440414" y="400812"/>
                </a:cubicBezTo>
                <a:lnTo>
                  <a:pt x="33401" y="400812"/>
                </a:lnTo>
                <a:cubicBezTo>
                  <a:pt x="14966" y="400812"/>
                  <a:pt x="0" y="385846"/>
                  <a:pt x="0" y="367411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50729" y="6453306"/>
            <a:ext cx="33403" cy="400833"/>
          </a:xfrm>
          <a:custGeom>
            <a:avLst/>
            <a:gdLst/>
            <a:ahLst/>
            <a:cxnLst/>
            <a:rect l="l" t="t" r="r" b="b"/>
            <a:pathLst>
              <a:path w="33403" h="400833">
                <a:moveTo>
                  <a:pt x="33401" y="0"/>
                </a:moveTo>
                <a:lnTo>
                  <a:pt x="33401" y="0"/>
                </a:lnTo>
                <a:lnTo>
                  <a:pt x="33401" y="400812"/>
                </a:lnTo>
                <a:lnTo>
                  <a:pt x="33401" y="400812"/>
                </a:lnTo>
                <a:cubicBezTo>
                  <a:pt x="14966" y="400812"/>
                  <a:pt x="0" y="385846"/>
                  <a:pt x="0" y="367411"/>
                </a:cubicBezTo>
                <a:lnTo>
                  <a:pt x="0" y="33401"/>
                </a:lnTo>
                <a:cubicBezTo>
                  <a:pt x="0" y="14954"/>
                  <a:pt x="14954" y="0"/>
                  <a:pt x="3340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Shape 51"/>
          <p:cNvSpPr/>
          <p:nvPr/>
        </p:nvSpPr>
        <p:spPr>
          <a:xfrm>
            <a:off x="484340" y="6580238"/>
            <a:ext cx="133611" cy="133611"/>
          </a:xfrm>
          <a:custGeom>
            <a:avLst/>
            <a:gdLst/>
            <a:ahLst/>
            <a:cxnLst/>
            <a:rect l="l" t="t" r="r" b="b"/>
            <a:pathLst>
              <a:path w="133611" h="133611">
                <a:moveTo>
                  <a:pt x="66805" y="133611"/>
                </a:moveTo>
                <a:cubicBezTo>
                  <a:pt x="103676" y="133611"/>
                  <a:pt x="133611" y="103676"/>
                  <a:pt x="133611" y="66805"/>
                </a:cubicBezTo>
                <a:cubicBezTo>
                  <a:pt x="133611" y="29935"/>
                  <a:pt x="103676" y="0"/>
                  <a:pt x="66805" y="0"/>
                </a:cubicBezTo>
                <a:cubicBezTo>
                  <a:pt x="29935" y="0"/>
                  <a:pt x="0" y="29935"/>
                  <a:pt x="0" y="66805"/>
                </a:cubicBezTo>
                <a:cubicBezTo>
                  <a:pt x="0" y="103676"/>
                  <a:pt x="29935" y="133611"/>
                  <a:pt x="66805" y="133611"/>
                </a:cubicBezTo>
                <a:close/>
                <a:moveTo>
                  <a:pt x="58455" y="41753"/>
                </a:moveTo>
                <a:cubicBezTo>
                  <a:pt x="58455" y="37145"/>
                  <a:pt x="62197" y="33403"/>
                  <a:pt x="66805" y="33403"/>
                </a:cubicBezTo>
                <a:cubicBezTo>
                  <a:pt x="71414" y="33403"/>
                  <a:pt x="75156" y="37145"/>
                  <a:pt x="75156" y="41753"/>
                </a:cubicBezTo>
                <a:cubicBezTo>
                  <a:pt x="75156" y="46362"/>
                  <a:pt x="71414" y="50104"/>
                  <a:pt x="66805" y="50104"/>
                </a:cubicBezTo>
                <a:cubicBezTo>
                  <a:pt x="62197" y="50104"/>
                  <a:pt x="58455" y="46362"/>
                  <a:pt x="58455" y="41753"/>
                </a:cubicBezTo>
                <a:close/>
                <a:moveTo>
                  <a:pt x="56367" y="58455"/>
                </a:moveTo>
                <a:lnTo>
                  <a:pt x="68893" y="58455"/>
                </a:lnTo>
                <a:cubicBezTo>
                  <a:pt x="72364" y="58455"/>
                  <a:pt x="75156" y="61247"/>
                  <a:pt x="75156" y="64718"/>
                </a:cubicBezTo>
                <a:lnTo>
                  <a:pt x="75156" y="87682"/>
                </a:lnTo>
                <a:lnTo>
                  <a:pt x="77244" y="87682"/>
                </a:lnTo>
                <a:cubicBezTo>
                  <a:pt x="80715" y="87682"/>
                  <a:pt x="83507" y="90474"/>
                  <a:pt x="83507" y="93945"/>
                </a:cubicBezTo>
                <a:cubicBezTo>
                  <a:pt x="83507" y="97416"/>
                  <a:pt x="80715" y="100208"/>
                  <a:pt x="77244" y="100208"/>
                </a:cubicBezTo>
                <a:lnTo>
                  <a:pt x="56367" y="100208"/>
                </a:lnTo>
                <a:cubicBezTo>
                  <a:pt x="52896" y="100208"/>
                  <a:pt x="50104" y="97416"/>
                  <a:pt x="50104" y="93945"/>
                </a:cubicBezTo>
                <a:cubicBezTo>
                  <a:pt x="50104" y="90474"/>
                  <a:pt x="52896" y="87682"/>
                  <a:pt x="56367" y="87682"/>
                </a:cubicBezTo>
                <a:lnTo>
                  <a:pt x="62630" y="87682"/>
                </a:lnTo>
                <a:lnTo>
                  <a:pt x="62630" y="70981"/>
                </a:lnTo>
                <a:lnTo>
                  <a:pt x="56367" y="70981"/>
                </a:lnTo>
                <a:cubicBezTo>
                  <a:pt x="52896" y="70981"/>
                  <a:pt x="50104" y="68189"/>
                  <a:pt x="50104" y="64718"/>
                </a:cubicBezTo>
                <a:cubicBezTo>
                  <a:pt x="50104" y="61247"/>
                  <a:pt x="52896" y="58455"/>
                  <a:pt x="56367" y="584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5" name="Text 52"/>
          <p:cNvSpPr/>
          <p:nvPr/>
        </p:nvSpPr>
        <p:spPr>
          <a:xfrm>
            <a:off x="678579" y="6553514"/>
            <a:ext cx="11145991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Innovation:</a:t>
            </a:r>
            <a:r>
              <a:rPr lang="en-US" sz="105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ECF represents a paradigm shift from pixel-level analysis to behavioral forensics, addressing the fundamental vulnerability in current detection systems.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320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Technology Ecosystem for DeepFake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111250"/>
            <a:ext cx="3754438" cy="2087563"/>
          </a:xfrm>
          <a:custGeom>
            <a:avLst/>
            <a:gdLst/>
            <a:ahLst/>
            <a:cxnLst/>
            <a:rect l="l" t="t" r="r" b="b"/>
            <a:pathLst>
              <a:path w="3754438" h="2087563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2023999"/>
                </a:lnTo>
                <a:cubicBezTo>
                  <a:pt x="3754535" y="2040884"/>
                  <a:pt x="3747842" y="2057088"/>
                  <a:pt x="3735902" y="2069027"/>
                </a:cubicBezTo>
                <a:cubicBezTo>
                  <a:pt x="3723963" y="2080967"/>
                  <a:pt x="3707759" y="2087660"/>
                  <a:pt x="3690874" y="2087626"/>
                </a:cubicBez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3375" y="1111250"/>
            <a:ext cx="31750" cy="2087563"/>
          </a:xfrm>
          <a:custGeom>
            <a:avLst/>
            <a:gdLst/>
            <a:ahLst/>
            <a:cxnLst/>
            <a:rect l="l" t="t" r="r" b="b"/>
            <a:pathLst>
              <a:path w="31750" h="2087563">
                <a:moveTo>
                  <a:pt x="31750" y="0"/>
                </a:moveTo>
                <a:lnTo>
                  <a:pt x="31750" y="0"/>
                </a:lnTo>
                <a:lnTo>
                  <a:pt x="31750" y="2087626"/>
                </a:ln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524867" y="1277841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67804" y="558"/>
                </a:moveTo>
                <a:cubicBezTo>
                  <a:pt x="159897" y="-1721"/>
                  <a:pt x="151665" y="2884"/>
                  <a:pt x="149386" y="10790"/>
                </a:cubicBezTo>
                <a:lnTo>
                  <a:pt x="89855" y="219149"/>
                </a:lnTo>
                <a:cubicBezTo>
                  <a:pt x="87576" y="227056"/>
                  <a:pt x="92180" y="235288"/>
                  <a:pt x="100087" y="237567"/>
                </a:cubicBezTo>
                <a:cubicBezTo>
                  <a:pt x="107993" y="239846"/>
                  <a:pt x="116225" y="235241"/>
                  <a:pt x="118504" y="227335"/>
                </a:cubicBezTo>
                <a:lnTo>
                  <a:pt x="178036" y="18976"/>
                </a:lnTo>
                <a:cubicBezTo>
                  <a:pt x="180315" y="11069"/>
                  <a:pt x="175710" y="2837"/>
                  <a:pt x="167804" y="558"/>
                </a:cubicBezTo>
                <a:close/>
                <a:moveTo>
                  <a:pt x="197848" y="63857"/>
                </a:moveTo>
                <a:cubicBezTo>
                  <a:pt x="192035" y="69670"/>
                  <a:pt x="192035" y="79111"/>
                  <a:pt x="197848" y="84925"/>
                </a:cubicBezTo>
                <a:lnTo>
                  <a:pt x="231986" y="119062"/>
                </a:lnTo>
                <a:lnTo>
                  <a:pt x="197848" y="153200"/>
                </a:lnTo>
                <a:cubicBezTo>
                  <a:pt x="192035" y="159014"/>
                  <a:pt x="192035" y="168455"/>
                  <a:pt x="197848" y="174268"/>
                </a:cubicBezTo>
                <a:cubicBezTo>
                  <a:pt x="203662" y="180082"/>
                  <a:pt x="213103" y="180082"/>
                  <a:pt x="218917" y="174268"/>
                </a:cubicBezTo>
                <a:lnTo>
                  <a:pt x="263565" y="129620"/>
                </a:lnTo>
                <a:cubicBezTo>
                  <a:pt x="269379" y="123806"/>
                  <a:pt x="269379" y="114365"/>
                  <a:pt x="263565" y="108552"/>
                </a:cubicBezTo>
                <a:lnTo>
                  <a:pt x="218917" y="63903"/>
                </a:lnTo>
                <a:cubicBezTo>
                  <a:pt x="213103" y="58089"/>
                  <a:pt x="203662" y="58089"/>
                  <a:pt x="197848" y="63903"/>
                </a:cubicBezTo>
                <a:close/>
                <a:moveTo>
                  <a:pt x="70089" y="63857"/>
                </a:moveTo>
                <a:cubicBezTo>
                  <a:pt x="64275" y="58043"/>
                  <a:pt x="54834" y="58043"/>
                  <a:pt x="49020" y="63857"/>
                </a:cubicBezTo>
                <a:lnTo>
                  <a:pt x="4372" y="108505"/>
                </a:lnTo>
                <a:cubicBezTo>
                  <a:pt x="-1442" y="114319"/>
                  <a:pt x="-1442" y="123760"/>
                  <a:pt x="4372" y="129573"/>
                </a:cubicBezTo>
                <a:lnTo>
                  <a:pt x="49020" y="174222"/>
                </a:lnTo>
                <a:cubicBezTo>
                  <a:pt x="54834" y="180036"/>
                  <a:pt x="64275" y="180036"/>
                  <a:pt x="70089" y="174222"/>
                </a:cubicBezTo>
                <a:cubicBezTo>
                  <a:pt x="75902" y="168408"/>
                  <a:pt x="75902" y="158967"/>
                  <a:pt x="70089" y="153153"/>
                </a:cubicBezTo>
                <a:lnTo>
                  <a:pt x="35951" y="119062"/>
                </a:lnTo>
                <a:lnTo>
                  <a:pt x="70042" y="84925"/>
                </a:lnTo>
                <a:cubicBezTo>
                  <a:pt x="75856" y="79111"/>
                  <a:pt x="75856" y="69670"/>
                  <a:pt x="70042" y="6385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900906" y="1270000"/>
            <a:ext cx="137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650903"/>
            <a:ext cx="3421063" cy="635000"/>
          </a:xfrm>
          <a:prstGeom prst="roundRect">
            <a:avLst>
              <a:gd name="adj" fmla="val 10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8578" y="18255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Text 9"/>
          <p:cNvSpPr/>
          <p:nvPr/>
        </p:nvSpPr>
        <p:spPr>
          <a:xfrm>
            <a:off x="1087438" y="1777903"/>
            <a:ext cx="159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7438" y="2000153"/>
            <a:ext cx="157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development language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820" y="24367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06" y="2412903"/>
            <a:ext cx="115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AI/ML ecosystem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820" y="265896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4"/>
          <p:cNvSpPr/>
          <p:nvPr/>
        </p:nvSpPr>
        <p:spPr>
          <a:xfrm>
            <a:off x="710406" y="2635153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Extensive libraries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820" y="28812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710406" y="2857403"/>
            <a:ext cx="1365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community support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28009" y="1111250"/>
            <a:ext cx="3754438" cy="2087563"/>
          </a:xfrm>
          <a:custGeom>
            <a:avLst/>
            <a:gdLst/>
            <a:ahLst/>
            <a:cxnLst/>
            <a:rect l="l" t="t" r="r" b="b"/>
            <a:pathLst>
              <a:path w="3754438" h="2087563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2023999"/>
                </a:lnTo>
                <a:cubicBezTo>
                  <a:pt x="3754535" y="2040884"/>
                  <a:pt x="3747842" y="2057088"/>
                  <a:pt x="3735902" y="2069027"/>
                </a:cubicBezTo>
                <a:cubicBezTo>
                  <a:pt x="3723963" y="2080967"/>
                  <a:pt x="3707759" y="2087660"/>
                  <a:pt x="3690874" y="2087626"/>
                </a:cubicBez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4228009" y="1111250"/>
            <a:ext cx="31750" cy="2087563"/>
          </a:xfrm>
          <a:custGeom>
            <a:avLst/>
            <a:gdLst/>
            <a:ahLst/>
            <a:cxnLst/>
            <a:rect l="l" t="t" r="r" b="b"/>
            <a:pathLst>
              <a:path w="31750" h="2087563">
                <a:moveTo>
                  <a:pt x="31750" y="0"/>
                </a:moveTo>
                <a:lnTo>
                  <a:pt x="31750" y="0"/>
                </a:lnTo>
                <a:lnTo>
                  <a:pt x="31750" y="2087626"/>
                </a:lnTo>
                <a:lnTo>
                  <a:pt x="31750" y="2087626"/>
                </a:lnTo>
                <a:cubicBezTo>
                  <a:pt x="14227" y="2087626"/>
                  <a:pt x="0" y="2073399"/>
                  <a:pt x="0" y="20558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384" y="127784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2" name="Text 20"/>
          <p:cNvSpPr/>
          <p:nvPr/>
        </p:nvSpPr>
        <p:spPr>
          <a:xfrm>
            <a:off x="4795540" y="1270000"/>
            <a:ext cx="125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Framework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2634" y="1650903"/>
            <a:ext cx="3421063" cy="635000"/>
          </a:xfrm>
          <a:prstGeom prst="roundRect">
            <a:avLst>
              <a:gd name="adj" fmla="val 10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83212" y="18255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89576" y="-14734"/>
                </a:moveTo>
                <a:cubicBezTo>
                  <a:pt x="94766" y="-19087"/>
                  <a:pt x="102412" y="-18920"/>
                  <a:pt x="107379" y="-14232"/>
                </a:cubicBezTo>
                <a:cubicBezTo>
                  <a:pt x="114244" y="-7758"/>
                  <a:pt x="120383" y="-614"/>
                  <a:pt x="126299" y="6641"/>
                </a:cubicBezTo>
                <a:cubicBezTo>
                  <a:pt x="133834" y="15850"/>
                  <a:pt x="142875" y="28017"/>
                  <a:pt x="151581" y="42472"/>
                </a:cubicBezTo>
                <a:cubicBezTo>
                  <a:pt x="154484" y="38677"/>
                  <a:pt x="157163" y="35328"/>
                  <a:pt x="159507" y="32482"/>
                </a:cubicBezTo>
                <a:cubicBezTo>
                  <a:pt x="160120" y="31756"/>
                  <a:pt x="160734" y="30975"/>
                  <a:pt x="161348" y="30194"/>
                </a:cubicBezTo>
                <a:cubicBezTo>
                  <a:pt x="165757" y="24724"/>
                  <a:pt x="171227" y="17859"/>
                  <a:pt x="178538" y="17859"/>
                </a:cubicBezTo>
                <a:cubicBezTo>
                  <a:pt x="186017" y="17859"/>
                  <a:pt x="191263" y="24501"/>
                  <a:pt x="195728" y="30194"/>
                </a:cubicBezTo>
                <a:cubicBezTo>
                  <a:pt x="196453" y="31142"/>
                  <a:pt x="197179" y="32035"/>
                  <a:pt x="197904" y="32872"/>
                </a:cubicBezTo>
                <a:cubicBezTo>
                  <a:pt x="203653" y="39793"/>
                  <a:pt x="211299" y="49783"/>
                  <a:pt x="218945" y="62117"/>
                </a:cubicBezTo>
                <a:cubicBezTo>
                  <a:pt x="234125" y="86618"/>
                  <a:pt x="249975" y="121500"/>
                  <a:pt x="249975" y="160679"/>
                </a:cubicBezTo>
                <a:cubicBezTo>
                  <a:pt x="249975" y="229716"/>
                  <a:pt x="193997" y="285694"/>
                  <a:pt x="124960" y="285694"/>
                </a:cubicBezTo>
                <a:cubicBezTo>
                  <a:pt x="55922" y="285694"/>
                  <a:pt x="0" y="229772"/>
                  <a:pt x="0" y="160734"/>
                </a:cubicBezTo>
                <a:cubicBezTo>
                  <a:pt x="0" y="109891"/>
                  <a:pt x="22938" y="65856"/>
                  <a:pt x="44927" y="35161"/>
                </a:cubicBezTo>
                <a:cubicBezTo>
                  <a:pt x="56034" y="19701"/>
                  <a:pt x="67084" y="7311"/>
                  <a:pt x="75400" y="-1172"/>
                </a:cubicBezTo>
                <a:cubicBezTo>
                  <a:pt x="79977" y="-5860"/>
                  <a:pt x="84609" y="-10492"/>
                  <a:pt x="89632" y="-14678"/>
                </a:cubicBezTo>
                <a:close/>
                <a:moveTo>
                  <a:pt x="125964" y="232172"/>
                </a:moveTo>
                <a:cubicBezTo>
                  <a:pt x="140084" y="232172"/>
                  <a:pt x="152586" y="228265"/>
                  <a:pt x="164362" y="220452"/>
                </a:cubicBezTo>
                <a:cubicBezTo>
                  <a:pt x="187858" y="204043"/>
                  <a:pt x="194165" y="171227"/>
                  <a:pt x="180045" y="145442"/>
                </a:cubicBezTo>
                <a:cubicBezTo>
                  <a:pt x="177533" y="140419"/>
                  <a:pt x="171115" y="140084"/>
                  <a:pt x="167487" y="144326"/>
                </a:cubicBezTo>
                <a:lnTo>
                  <a:pt x="153423" y="160679"/>
                </a:lnTo>
                <a:cubicBezTo>
                  <a:pt x="149740" y="164920"/>
                  <a:pt x="143098" y="164809"/>
                  <a:pt x="139638" y="160400"/>
                </a:cubicBezTo>
                <a:cubicBezTo>
                  <a:pt x="129983" y="148065"/>
                  <a:pt x="112235" y="125574"/>
                  <a:pt x="103194" y="114077"/>
                </a:cubicBezTo>
                <a:cubicBezTo>
                  <a:pt x="100180" y="110226"/>
                  <a:pt x="94710" y="109612"/>
                  <a:pt x="91194" y="113016"/>
                </a:cubicBezTo>
                <a:cubicBezTo>
                  <a:pt x="80981" y="122951"/>
                  <a:pt x="62452" y="144717"/>
                  <a:pt x="62452" y="171227"/>
                </a:cubicBezTo>
                <a:cubicBezTo>
                  <a:pt x="62452" y="209513"/>
                  <a:pt x="90692" y="232172"/>
                  <a:pt x="125909" y="232172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5" name="Text 23"/>
          <p:cNvSpPr/>
          <p:nvPr/>
        </p:nvSpPr>
        <p:spPr>
          <a:xfrm>
            <a:off x="4982071" y="1777903"/>
            <a:ext cx="130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2071" y="2000153"/>
            <a:ext cx="128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framework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25454" y="24367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28" name="Text 26"/>
          <p:cNvSpPr/>
          <p:nvPr/>
        </p:nvSpPr>
        <p:spPr>
          <a:xfrm>
            <a:off x="4605040" y="2412903"/>
            <a:ext cx="149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computation graphs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5454" y="265896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0" name="Text 28"/>
          <p:cNvSpPr/>
          <p:nvPr/>
        </p:nvSpPr>
        <p:spPr>
          <a:xfrm>
            <a:off x="4605040" y="2635153"/>
            <a:ext cx="131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debugging tools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5454" y="288121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32" name="Text 30"/>
          <p:cNvSpPr/>
          <p:nvPr/>
        </p:nvSpPr>
        <p:spPr>
          <a:xfrm>
            <a:off x="4605040" y="2857403"/>
            <a:ext cx="141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research community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3117" y="1117600"/>
            <a:ext cx="3751263" cy="2076450"/>
          </a:xfrm>
          <a:prstGeom prst="roundRect">
            <a:avLst>
              <a:gd name="adj" fmla="val 3058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9968" y="12905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08133" y="2418"/>
                </a:moveTo>
                <a:cubicBezTo>
                  <a:pt x="115063" y="-791"/>
                  <a:pt x="123062" y="-791"/>
                  <a:pt x="129992" y="2418"/>
                </a:cubicBezTo>
                <a:lnTo>
                  <a:pt x="231660" y="49392"/>
                </a:lnTo>
                <a:cubicBezTo>
                  <a:pt x="235614" y="51206"/>
                  <a:pt x="238125" y="55159"/>
                  <a:pt x="238125" y="59531"/>
                </a:cubicBezTo>
                <a:cubicBezTo>
                  <a:pt x="238125" y="63903"/>
                  <a:pt x="235614" y="67856"/>
                  <a:pt x="231660" y="69670"/>
                </a:cubicBezTo>
                <a:lnTo>
                  <a:pt x="129992" y="116644"/>
                </a:lnTo>
                <a:cubicBezTo>
                  <a:pt x="123062" y="119853"/>
                  <a:pt x="115063" y="119853"/>
                  <a:pt x="108133" y="116644"/>
                </a:cubicBezTo>
                <a:lnTo>
                  <a:pt x="6465" y="69670"/>
                </a:lnTo>
                <a:cubicBezTo>
                  <a:pt x="2511" y="67810"/>
                  <a:pt x="0" y="63857"/>
                  <a:pt x="0" y="59531"/>
                </a:cubicBezTo>
                <a:cubicBezTo>
                  <a:pt x="0" y="55206"/>
                  <a:pt x="2511" y="51206"/>
                  <a:pt x="6465" y="49392"/>
                </a:cubicBezTo>
                <a:lnTo>
                  <a:pt x="108133" y="2418"/>
                </a:lnTo>
                <a:close/>
                <a:moveTo>
                  <a:pt x="22371" y="101575"/>
                </a:moveTo>
                <a:lnTo>
                  <a:pt x="98785" y="136875"/>
                </a:lnTo>
                <a:cubicBezTo>
                  <a:pt x="111668" y="142828"/>
                  <a:pt x="126504" y="142828"/>
                  <a:pt x="139387" y="136875"/>
                </a:cubicBezTo>
                <a:lnTo>
                  <a:pt x="215801" y="101575"/>
                </a:lnTo>
                <a:lnTo>
                  <a:pt x="231660" y="108924"/>
                </a:lnTo>
                <a:cubicBezTo>
                  <a:pt x="235614" y="110737"/>
                  <a:pt x="238125" y="114691"/>
                  <a:pt x="238125" y="119062"/>
                </a:cubicBezTo>
                <a:cubicBezTo>
                  <a:pt x="238125" y="123434"/>
                  <a:pt x="235614" y="127388"/>
                  <a:pt x="231660" y="129201"/>
                </a:cubicBezTo>
                <a:lnTo>
                  <a:pt x="129992" y="176175"/>
                </a:lnTo>
                <a:cubicBezTo>
                  <a:pt x="123062" y="179384"/>
                  <a:pt x="115063" y="179384"/>
                  <a:pt x="108133" y="176175"/>
                </a:cubicBezTo>
                <a:lnTo>
                  <a:pt x="6465" y="129201"/>
                </a:lnTo>
                <a:cubicBezTo>
                  <a:pt x="2511" y="127341"/>
                  <a:pt x="0" y="123388"/>
                  <a:pt x="0" y="119062"/>
                </a:cubicBezTo>
                <a:cubicBezTo>
                  <a:pt x="0" y="114737"/>
                  <a:pt x="2511" y="110737"/>
                  <a:pt x="6465" y="108924"/>
                </a:cubicBezTo>
                <a:lnTo>
                  <a:pt x="22324" y="101575"/>
                </a:lnTo>
                <a:close/>
                <a:moveTo>
                  <a:pt x="6465" y="168455"/>
                </a:moveTo>
                <a:lnTo>
                  <a:pt x="22324" y="161106"/>
                </a:lnTo>
                <a:lnTo>
                  <a:pt x="98738" y="196407"/>
                </a:lnTo>
                <a:cubicBezTo>
                  <a:pt x="111621" y="202360"/>
                  <a:pt x="126457" y="202360"/>
                  <a:pt x="139340" y="196407"/>
                </a:cubicBezTo>
                <a:lnTo>
                  <a:pt x="215754" y="161106"/>
                </a:lnTo>
                <a:lnTo>
                  <a:pt x="231614" y="168455"/>
                </a:lnTo>
                <a:cubicBezTo>
                  <a:pt x="235567" y="170269"/>
                  <a:pt x="238078" y="174222"/>
                  <a:pt x="238078" y="178594"/>
                </a:cubicBezTo>
                <a:cubicBezTo>
                  <a:pt x="238078" y="182966"/>
                  <a:pt x="235567" y="186919"/>
                  <a:pt x="231614" y="188733"/>
                </a:cubicBezTo>
                <a:lnTo>
                  <a:pt x="129946" y="235707"/>
                </a:lnTo>
                <a:cubicBezTo>
                  <a:pt x="123016" y="238916"/>
                  <a:pt x="115016" y="238916"/>
                  <a:pt x="108086" y="235707"/>
                </a:cubicBezTo>
                <a:lnTo>
                  <a:pt x="6465" y="188733"/>
                </a:lnTo>
                <a:cubicBezTo>
                  <a:pt x="2511" y="186872"/>
                  <a:pt x="0" y="182919"/>
                  <a:pt x="0" y="178594"/>
                </a:cubicBezTo>
                <a:cubicBezTo>
                  <a:pt x="0" y="174268"/>
                  <a:pt x="2511" y="170269"/>
                  <a:pt x="6465" y="1684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8671124" y="1282701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Model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78218" y="1663600"/>
            <a:ext cx="3421063" cy="635000"/>
          </a:xfrm>
          <a:prstGeom prst="roundRect">
            <a:avLst>
              <a:gd name="adj" fmla="val 10000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423077" y="18382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8857655" y="179060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EfficientNet-B0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57655" y="2012850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timm library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01038" y="24494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8480624" y="2425600"/>
            <a:ext cx="160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 scaling optimization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01038" y="26716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8480624" y="2647850"/>
            <a:ext cx="125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on ImageNet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01038" y="28939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5" name="Text 43"/>
          <p:cNvSpPr/>
          <p:nvPr/>
        </p:nvSpPr>
        <p:spPr>
          <a:xfrm>
            <a:off x="8480624" y="2870100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State-of-the-art accuracy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375" y="3327301"/>
            <a:ext cx="3754438" cy="1698625"/>
          </a:xfrm>
          <a:custGeom>
            <a:avLst/>
            <a:gdLst/>
            <a:ahLst/>
            <a:cxnLst/>
            <a:rect l="l" t="t" r="r" b="b"/>
            <a:pathLst>
              <a:path w="3754438" h="1698625">
                <a:moveTo>
                  <a:pt x="31750" y="0"/>
                </a:moveTo>
                <a:lnTo>
                  <a:pt x="3691001" y="0"/>
                </a:lnTo>
                <a:cubicBezTo>
                  <a:pt x="3726048" y="0"/>
                  <a:pt x="3754501" y="28453"/>
                  <a:pt x="3754501" y="63500"/>
                </a:cubicBezTo>
                <a:lnTo>
                  <a:pt x="3754501" y="1635125"/>
                </a:lnTo>
                <a:cubicBezTo>
                  <a:pt x="3754501" y="1670172"/>
                  <a:pt x="3726048" y="1698625"/>
                  <a:pt x="3691001" y="1698625"/>
                </a:cubicBez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333375" y="3327301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48" name="Shape 46"/>
          <p:cNvSpPr/>
          <p:nvPr/>
        </p:nvSpPr>
        <p:spPr>
          <a:xfrm>
            <a:off x="539750" y="348605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76926" y="149712"/>
                </a:moveTo>
                <a:cubicBezTo>
                  <a:pt x="86413" y="162734"/>
                  <a:pt x="101761" y="171152"/>
                  <a:pt x="119062" y="171152"/>
                </a:cubicBezTo>
                <a:cubicBezTo>
                  <a:pt x="136364" y="171152"/>
                  <a:pt x="151712" y="162734"/>
                  <a:pt x="161199" y="149712"/>
                </a:cubicBezTo>
                <a:cubicBezTo>
                  <a:pt x="164827" y="144735"/>
                  <a:pt x="171803" y="143619"/>
                  <a:pt x="176780" y="147247"/>
                </a:cubicBezTo>
                <a:cubicBezTo>
                  <a:pt x="181756" y="150875"/>
                  <a:pt x="182873" y="157851"/>
                  <a:pt x="179245" y="162827"/>
                </a:cubicBezTo>
                <a:cubicBezTo>
                  <a:pt x="165711" y="181384"/>
                  <a:pt x="143805" y="193477"/>
                  <a:pt x="119062" y="193477"/>
                </a:cubicBezTo>
                <a:cubicBezTo>
                  <a:pt x="94320" y="193477"/>
                  <a:pt x="72414" y="181384"/>
                  <a:pt x="58880" y="162827"/>
                </a:cubicBezTo>
                <a:cubicBezTo>
                  <a:pt x="55252" y="157851"/>
                  <a:pt x="56369" y="150875"/>
                  <a:pt x="61345" y="147247"/>
                </a:cubicBezTo>
                <a:cubicBezTo>
                  <a:pt x="66322" y="143619"/>
                  <a:pt x="73298" y="144735"/>
                  <a:pt x="76926" y="149712"/>
                </a:cubicBezTo>
                <a:close/>
                <a:moveTo>
                  <a:pt x="66973" y="96738"/>
                </a:moveTo>
                <a:cubicBezTo>
                  <a:pt x="66973" y="88524"/>
                  <a:pt x="73641" y="81855"/>
                  <a:pt x="81855" y="81855"/>
                </a:cubicBezTo>
                <a:cubicBezTo>
                  <a:pt x="90070" y="81855"/>
                  <a:pt x="96738" y="88524"/>
                  <a:pt x="96738" y="96738"/>
                </a:cubicBezTo>
                <a:cubicBezTo>
                  <a:pt x="96738" y="104952"/>
                  <a:pt x="90070" y="111621"/>
                  <a:pt x="81855" y="111621"/>
                </a:cubicBezTo>
                <a:cubicBezTo>
                  <a:pt x="73641" y="111621"/>
                  <a:pt x="66973" y="104952"/>
                  <a:pt x="66973" y="96738"/>
                </a:cubicBezTo>
                <a:close/>
                <a:moveTo>
                  <a:pt x="156270" y="81855"/>
                </a:moveTo>
                <a:cubicBezTo>
                  <a:pt x="164484" y="81855"/>
                  <a:pt x="171152" y="88524"/>
                  <a:pt x="171152" y="96738"/>
                </a:cubicBezTo>
                <a:cubicBezTo>
                  <a:pt x="171152" y="104952"/>
                  <a:pt x="164484" y="111621"/>
                  <a:pt x="156270" y="111621"/>
                </a:cubicBezTo>
                <a:cubicBezTo>
                  <a:pt x="148055" y="111621"/>
                  <a:pt x="141387" y="104952"/>
                  <a:pt x="141387" y="96738"/>
                </a:cubicBezTo>
                <a:cubicBezTo>
                  <a:pt x="141387" y="88524"/>
                  <a:pt x="148055" y="81855"/>
                  <a:pt x="156270" y="8185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49" name="Text 47"/>
          <p:cNvSpPr/>
          <p:nvPr/>
        </p:nvSpPr>
        <p:spPr>
          <a:xfrm>
            <a:off x="900906" y="3493988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8000" y="3851176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03250" y="3946426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MTCNN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03250" y="416867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Multi-task Cascaded CNN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30820" y="45417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4" name="Text 52"/>
          <p:cNvSpPr/>
          <p:nvPr/>
        </p:nvSpPr>
        <p:spPr>
          <a:xfrm>
            <a:off x="710406" y="4517926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0820" y="47322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6" name="Text 54"/>
          <p:cNvSpPr/>
          <p:nvPr/>
        </p:nvSpPr>
        <p:spPr>
          <a:xfrm>
            <a:off x="710406" y="4708426"/>
            <a:ext cx="754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28009" y="3327301"/>
            <a:ext cx="3754438" cy="1698625"/>
          </a:xfrm>
          <a:custGeom>
            <a:avLst/>
            <a:gdLst/>
            <a:ahLst/>
            <a:cxnLst/>
            <a:rect l="l" t="t" r="r" b="b"/>
            <a:pathLst>
              <a:path w="3754438" h="1698625">
                <a:moveTo>
                  <a:pt x="31750" y="0"/>
                </a:moveTo>
                <a:lnTo>
                  <a:pt x="3691001" y="0"/>
                </a:lnTo>
                <a:cubicBezTo>
                  <a:pt x="3726048" y="0"/>
                  <a:pt x="3754501" y="28453"/>
                  <a:pt x="3754501" y="63500"/>
                </a:cubicBezTo>
                <a:lnTo>
                  <a:pt x="3754501" y="1635125"/>
                </a:lnTo>
                <a:cubicBezTo>
                  <a:pt x="3754501" y="1670172"/>
                  <a:pt x="3726048" y="1698625"/>
                  <a:pt x="3691001" y="1698625"/>
                </a:cubicBez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4228009" y="3327301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59" name="Shape 57"/>
          <p:cNvSpPr/>
          <p:nvPr/>
        </p:nvSpPr>
        <p:spPr>
          <a:xfrm>
            <a:off x="4434384" y="348605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50183"/>
                </a:moveTo>
                <a:lnTo>
                  <a:pt x="112086" y="40509"/>
                </a:lnTo>
                <a:cubicBezTo>
                  <a:pt x="100459" y="24417"/>
                  <a:pt x="81809" y="14883"/>
                  <a:pt x="61903" y="14883"/>
                </a:cubicBezTo>
                <a:cubicBezTo>
                  <a:pt x="27719" y="14883"/>
                  <a:pt x="0" y="42602"/>
                  <a:pt x="0" y="76786"/>
                </a:cubicBezTo>
                <a:lnTo>
                  <a:pt x="0" y="77995"/>
                </a:lnTo>
                <a:cubicBezTo>
                  <a:pt x="0" y="88971"/>
                  <a:pt x="2884" y="100319"/>
                  <a:pt x="7720" y="111621"/>
                </a:cubicBezTo>
                <a:lnTo>
                  <a:pt x="57020" y="111621"/>
                </a:lnTo>
                <a:cubicBezTo>
                  <a:pt x="58508" y="111621"/>
                  <a:pt x="59857" y="110737"/>
                  <a:pt x="60461" y="109342"/>
                </a:cubicBezTo>
                <a:lnTo>
                  <a:pt x="75251" y="73856"/>
                </a:lnTo>
                <a:cubicBezTo>
                  <a:pt x="76972" y="69763"/>
                  <a:pt x="80972" y="67066"/>
                  <a:pt x="85390" y="66973"/>
                </a:cubicBezTo>
                <a:cubicBezTo>
                  <a:pt x="89808" y="66880"/>
                  <a:pt x="93901" y="69484"/>
                  <a:pt x="95715" y="73530"/>
                </a:cubicBezTo>
                <a:lnTo>
                  <a:pt x="119574" y="126504"/>
                </a:lnTo>
                <a:lnTo>
                  <a:pt x="138829" y="87995"/>
                </a:lnTo>
                <a:cubicBezTo>
                  <a:pt x="140736" y="84227"/>
                  <a:pt x="144596" y="81809"/>
                  <a:pt x="148828" y="81809"/>
                </a:cubicBezTo>
                <a:cubicBezTo>
                  <a:pt x="153060" y="81809"/>
                  <a:pt x="156921" y="84181"/>
                  <a:pt x="158828" y="87995"/>
                </a:cubicBezTo>
                <a:lnTo>
                  <a:pt x="169618" y="109528"/>
                </a:lnTo>
                <a:cubicBezTo>
                  <a:pt x="170269" y="110784"/>
                  <a:pt x="171524" y="111575"/>
                  <a:pt x="172966" y="111575"/>
                </a:cubicBezTo>
                <a:lnTo>
                  <a:pt x="230451" y="111575"/>
                </a:lnTo>
                <a:cubicBezTo>
                  <a:pt x="235334" y="100273"/>
                  <a:pt x="238172" y="88925"/>
                  <a:pt x="238172" y="77949"/>
                </a:cubicBezTo>
                <a:lnTo>
                  <a:pt x="238172" y="76740"/>
                </a:lnTo>
                <a:cubicBezTo>
                  <a:pt x="238125" y="42602"/>
                  <a:pt x="210406" y="14883"/>
                  <a:pt x="176222" y="14883"/>
                </a:cubicBezTo>
                <a:cubicBezTo>
                  <a:pt x="156363" y="14883"/>
                  <a:pt x="137666" y="24417"/>
                  <a:pt x="126039" y="40509"/>
                </a:cubicBezTo>
                <a:lnTo>
                  <a:pt x="119062" y="50136"/>
                </a:lnTo>
                <a:close/>
                <a:moveTo>
                  <a:pt x="218405" y="133945"/>
                </a:moveTo>
                <a:lnTo>
                  <a:pt x="172920" y="133945"/>
                </a:lnTo>
                <a:cubicBezTo>
                  <a:pt x="163060" y="133945"/>
                  <a:pt x="154037" y="128364"/>
                  <a:pt x="149619" y="119528"/>
                </a:cubicBezTo>
                <a:lnTo>
                  <a:pt x="148828" y="117946"/>
                </a:lnTo>
                <a:lnTo>
                  <a:pt x="129062" y="157525"/>
                </a:lnTo>
                <a:cubicBezTo>
                  <a:pt x="127155" y="161385"/>
                  <a:pt x="123155" y="163804"/>
                  <a:pt x="118830" y="163711"/>
                </a:cubicBezTo>
                <a:cubicBezTo>
                  <a:pt x="114505" y="163618"/>
                  <a:pt x="110644" y="161060"/>
                  <a:pt x="108877" y="157153"/>
                </a:cubicBezTo>
                <a:lnTo>
                  <a:pt x="85948" y="106226"/>
                </a:lnTo>
                <a:lnTo>
                  <a:pt x="81065" y="117946"/>
                </a:lnTo>
                <a:cubicBezTo>
                  <a:pt x="77019" y="127667"/>
                  <a:pt x="67531" y="133992"/>
                  <a:pt x="57020" y="133992"/>
                </a:cubicBezTo>
                <a:lnTo>
                  <a:pt x="19720" y="133992"/>
                </a:lnTo>
                <a:cubicBezTo>
                  <a:pt x="41672" y="168315"/>
                  <a:pt x="76926" y="199895"/>
                  <a:pt x="98971" y="216731"/>
                </a:cubicBezTo>
                <a:cubicBezTo>
                  <a:pt x="104738" y="221103"/>
                  <a:pt x="111807" y="223289"/>
                  <a:pt x="119016" y="223289"/>
                </a:cubicBezTo>
                <a:cubicBezTo>
                  <a:pt x="126225" y="223289"/>
                  <a:pt x="133341" y="221149"/>
                  <a:pt x="139061" y="216731"/>
                </a:cubicBezTo>
                <a:cubicBezTo>
                  <a:pt x="161199" y="199848"/>
                  <a:pt x="196453" y="168269"/>
                  <a:pt x="218405" y="13394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60" name="Text 58"/>
          <p:cNvSpPr/>
          <p:nvPr/>
        </p:nvSpPr>
        <p:spPr>
          <a:xfrm>
            <a:off x="4795540" y="3493988"/>
            <a:ext cx="66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02634" y="3851176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497884" y="3946426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97884" y="416867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TensorFlow/Keras backend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25454" y="45417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65" name="Text 63"/>
          <p:cNvSpPr/>
          <p:nvPr/>
        </p:nvSpPr>
        <p:spPr>
          <a:xfrm>
            <a:off x="4605040" y="4517926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emotion classes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25454" y="47322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67" name="Text 65"/>
          <p:cNvSpPr/>
          <p:nvPr/>
        </p:nvSpPr>
        <p:spPr>
          <a:xfrm>
            <a:off x="4605040" y="4708426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analysis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122642" y="3327301"/>
            <a:ext cx="3754438" cy="1698625"/>
          </a:xfrm>
          <a:custGeom>
            <a:avLst/>
            <a:gdLst/>
            <a:ahLst/>
            <a:cxnLst/>
            <a:rect l="l" t="t" r="r" b="b"/>
            <a:pathLst>
              <a:path w="3754438" h="1698625">
                <a:moveTo>
                  <a:pt x="31750" y="0"/>
                </a:moveTo>
                <a:lnTo>
                  <a:pt x="3691001" y="0"/>
                </a:lnTo>
                <a:cubicBezTo>
                  <a:pt x="3726048" y="0"/>
                  <a:pt x="3754501" y="28453"/>
                  <a:pt x="3754501" y="63500"/>
                </a:cubicBezTo>
                <a:lnTo>
                  <a:pt x="3754501" y="1635125"/>
                </a:lnTo>
                <a:cubicBezTo>
                  <a:pt x="3754501" y="1670172"/>
                  <a:pt x="3726048" y="1698625"/>
                  <a:pt x="3691001" y="1698625"/>
                </a:cubicBez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9" name="Shape 67"/>
          <p:cNvSpPr/>
          <p:nvPr/>
        </p:nvSpPr>
        <p:spPr>
          <a:xfrm>
            <a:off x="8122642" y="3327301"/>
            <a:ext cx="31750" cy="1698625"/>
          </a:xfrm>
          <a:custGeom>
            <a:avLst/>
            <a:gdLst/>
            <a:ahLst/>
            <a:cxnLst/>
            <a:rect l="l" t="t" r="r" b="b"/>
            <a:pathLst>
              <a:path w="31750" h="1698625">
                <a:moveTo>
                  <a:pt x="31750" y="0"/>
                </a:moveTo>
                <a:lnTo>
                  <a:pt x="31750" y="0"/>
                </a:lnTo>
                <a:lnTo>
                  <a:pt x="31750" y="1698625"/>
                </a:lnTo>
                <a:lnTo>
                  <a:pt x="31750" y="1698625"/>
                </a:lnTo>
                <a:cubicBezTo>
                  <a:pt x="14227" y="1698625"/>
                  <a:pt x="0" y="1684398"/>
                  <a:pt x="0" y="1666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0" name="Shape 68"/>
          <p:cNvSpPr/>
          <p:nvPr/>
        </p:nvSpPr>
        <p:spPr>
          <a:xfrm>
            <a:off x="8358783" y="348605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89297" y="0"/>
                </a:moveTo>
                <a:cubicBezTo>
                  <a:pt x="64647" y="0"/>
                  <a:pt x="44648" y="19999"/>
                  <a:pt x="44648" y="44648"/>
                </a:cubicBezTo>
                <a:lnTo>
                  <a:pt x="44648" y="104180"/>
                </a:lnTo>
                <a:cubicBezTo>
                  <a:pt x="44648" y="128829"/>
                  <a:pt x="64647" y="148828"/>
                  <a:pt x="89297" y="148828"/>
                </a:cubicBezTo>
                <a:cubicBezTo>
                  <a:pt x="113947" y="148828"/>
                  <a:pt x="133945" y="128829"/>
                  <a:pt x="133945" y="104180"/>
                </a:cubicBezTo>
                <a:lnTo>
                  <a:pt x="133945" y="44648"/>
                </a:lnTo>
                <a:cubicBezTo>
                  <a:pt x="133945" y="19999"/>
                  <a:pt x="113947" y="0"/>
                  <a:pt x="89297" y="0"/>
                </a:cubicBezTo>
                <a:close/>
                <a:moveTo>
                  <a:pt x="22324" y="85576"/>
                </a:moveTo>
                <a:cubicBezTo>
                  <a:pt x="22324" y="79391"/>
                  <a:pt x="17348" y="74414"/>
                  <a:pt x="11162" y="74414"/>
                </a:cubicBezTo>
                <a:cubicBezTo>
                  <a:pt x="4976" y="74414"/>
                  <a:pt x="0" y="79391"/>
                  <a:pt x="0" y="85576"/>
                </a:cubicBezTo>
                <a:lnTo>
                  <a:pt x="0" y="104180"/>
                </a:lnTo>
                <a:cubicBezTo>
                  <a:pt x="0" y="149712"/>
                  <a:pt x="34091" y="187291"/>
                  <a:pt x="78135" y="192779"/>
                </a:cubicBezTo>
                <a:lnTo>
                  <a:pt x="78135" y="215801"/>
                </a:lnTo>
                <a:lnTo>
                  <a:pt x="55811" y="215801"/>
                </a:lnTo>
                <a:cubicBezTo>
                  <a:pt x="49625" y="215801"/>
                  <a:pt x="44648" y="220777"/>
                  <a:pt x="44648" y="226963"/>
                </a:cubicBezTo>
                <a:cubicBezTo>
                  <a:pt x="44648" y="233149"/>
                  <a:pt x="49625" y="238125"/>
                  <a:pt x="55811" y="238125"/>
                </a:cubicBezTo>
                <a:lnTo>
                  <a:pt x="122783" y="238125"/>
                </a:lnTo>
                <a:cubicBezTo>
                  <a:pt x="128969" y="238125"/>
                  <a:pt x="133945" y="233149"/>
                  <a:pt x="133945" y="226963"/>
                </a:cubicBezTo>
                <a:cubicBezTo>
                  <a:pt x="133945" y="220777"/>
                  <a:pt x="128969" y="215801"/>
                  <a:pt x="122783" y="215801"/>
                </a:cubicBezTo>
                <a:lnTo>
                  <a:pt x="100459" y="215801"/>
                </a:lnTo>
                <a:lnTo>
                  <a:pt x="100459" y="192779"/>
                </a:lnTo>
                <a:cubicBezTo>
                  <a:pt x="144503" y="187291"/>
                  <a:pt x="178594" y="149712"/>
                  <a:pt x="178594" y="104180"/>
                </a:cubicBezTo>
                <a:lnTo>
                  <a:pt x="178594" y="85576"/>
                </a:lnTo>
                <a:cubicBezTo>
                  <a:pt x="178594" y="79391"/>
                  <a:pt x="173617" y="74414"/>
                  <a:pt x="167432" y="74414"/>
                </a:cubicBezTo>
                <a:cubicBezTo>
                  <a:pt x="161246" y="74414"/>
                  <a:pt x="156270" y="79391"/>
                  <a:pt x="156270" y="85576"/>
                </a:cubicBezTo>
                <a:lnTo>
                  <a:pt x="156270" y="104180"/>
                </a:lnTo>
                <a:cubicBezTo>
                  <a:pt x="156270" y="141154"/>
                  <a:pt x="126271" y="171152"/>
                  <a:pt x="89297" y="171152"/>
                </a:cubicBezTo>
                <a:cubicBezTo>
                  <a:pt x="52322" y="171152"/>
                  <a:pt x="22324" y="141154"/>
                  <a:pt x="22324" y="104180"/>
                </a:cubicBezTo>
                <a:lnTo>
                  <a:pt x="22324" y="85576"/>
                </a:ln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1" name="Text 69"/>
          <p:cNvSpPr/>
          <p:nvPr/>
        </p:nvSpPr>
        <p:spPr>
          <a:xfrm>
            <a:off x="8690174" y="3493988"/>
            <a:ext cx="611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97268" y="3851176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392518" y="3946426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Whisper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92518" y="4168676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speech recognition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20088" y="45417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6" name="Text 74"/>
          <p:cNvSpPr/>
          <p:nvPr/>
        </p:nvSpPr>
        <p:spPr>
          <a:xfrm>
            <a:off x="8499674" y="4517926"/>
            <a:ext cx="1206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20088" y="47322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78" name="Text 76"/>
          <p:cNvSpPr/>
          <p:nvPr/>
        </p:nvSpPr>
        <p:spPr>
          <a:xfrm>
            <a:off x="8499674" y="4708426"/>
            <a:ext cx="80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to noise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33375" y="5152926"/>
            <a:ext cx="3754438" cy="1722438"/>
          </a:xfrm>
          <a:custGeom>
            <a:avLst/>
            <a:gdLst/>
            <a:ahLst/>
            <a:cxnLst/>
            <a:rect l="l" t="t" r="r" b="b"/>
            <a:pathLst>
              <a:path w="3754438" h="1722438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1658874"/>
                </a:lnTo>
                <a:cubicBezTo>
                  <a:pt x="3754535" y="1675759"/>
                  <a:pt x="3747842" y="1691963"/>
                  <a:pt x="3735902" y="1703902"/>
                </a:cubicBezTo>
                <a:cubicBezTo>
                  <a:pt x="3723963" y="1715842"/>
                  <a:pt x="3707759" y="1722535"/>
                  <a:pt x="3690874" y="1722501"/>
                </a:cubicBez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80" name="Shape 78"/>
          <p:cNvSpPr/>
          <p:nvPr/>
        </p:nvSpPr>
        <p:spPr>
          <a:xfrm>
            <a:off x="333375" y="5152926"/>
            <a:ext cx="31750" cy="1722438"/>
          </a:xfrm>
          <a:custGeom>
            <a:avLst/>
            <a:gdLst/>
            <a:ahLst/>
            <a:cxnLst/>
            <a:rect l="l" t="t" r="r" b="b"/>
            <a:pathLst>
              <a:path w="31750" h="1722438">
                <a:moveTo>
                  <a:pt x="31750" y="0"/>
                </a:moveTo>
                <a:lnTo>
                  <a:pt x="31750" y="0"/>
                </a:lnTo>
                <a:lnTo>
                  <a:pt x="31750" y="1722501"/>
                </a:ln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1" name="Shape 79"/>
          <p:cNvSpPr/>
          <p:nvPr/>
        </p:nvSpPr>
        <p:spPr>
          <a:xfrm>
            <a:off x="539750" y="531167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4883" y="14883"/>
                </a:moveTo>
                <a:cubicBezTo>
                  <a:pt x="23115" y="14883"/>
                  <a:pt x="29766" y="21534"/>
                  <a:pt x="29766" y="29766"/>
                </a:cubicBez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223242" y="193477"/>
                </a:lnTo>
                <a:cubicBezTo>
                  <a:pt x="231474" y="193477"/>
                  <a:pt x="238125" y="200127"/>
                  <a:pt x="238125" y="208359"/>
                </a:cubicBezTo>
                <a:cubicBezTo>
                  <a:pt x="238125" y="216591"/>
                  <a:pt x="231474" y="223242"/>
                  <a:pt x="223242" y="223242"/>
                </a:cubicBezTo>
                <a:lnTo>
                  <a:pt x="37207" y="223242"/>
                </a:lnTo>
                <a:cubicBezTo>
                  <a:pt x="16650" y="223242"/>
                  <a:pt x="0" y="206592"/>
                  <a:pt x="0" y="186035"/>
                </a:cubicBezTo>
                <a:lnTo>
                  <a:pt x="0" y="29766"/>
                </a:lnTo>
                <a:cubicBezTo>
                  <a:pt x="0" y="21534"/>
                  <a:pt x="6651" y="14883"/>
                  <a:pt x="14883" y="14883"/>
                </a:cubicBezTo>
                <a:close/>
                <a:moveTo>
                  <a:pt x="59531" y="44648"/>
                </a:moveTo>
                <a:cubicBezTo>
                  <a:pt x="59531" y="36416"/>
                  <a:pt x="66182" y="29766"/>
                  <a:pt x="74414" y="29766"/>
                </a:cubicBezTo>
                <a:lnTo>
                  <a:pt x="163711" y="29766"/>
                </a:lnTo>
                <a:cubicBezTo>
                  <a:pt x="171943" y="29766"/>
                  <a:pt x="178594" y="36416"/>
                  <a:pt x="178594" y="44648"/>
                </a:cubicBezTo>
                <a:cubicBezTo>
                  <a:pt x="178594" y="52880"/>
                  <a:pt x="171943" y="59531"/>
                  <a:pt x="163711" y="59531"/>
                </a:cubicBezTo>
                <a:lnTo>
                  <a:pt x="74414" y="59531"/>
                </a:lnTo>
                <a:cubicBezTo>
                  <a:pt x="66182" y="59531"/>
                  <a:pt x="59531" y="52880"/>
                  <a:pt x="59531" y="44648"/>
                </a:cubicBezTo>
                <a:close/>
                <a:moveTo>
                  <a:pt x="74414" y="81855"/>
                </a:moveTo>
                <a:lnTo>
                  <a:pt x="133945" y="81855"/>
                </a:lnTo>
                <a:cubicBezTo>
                  <a:pt x="142177" y="81855"/>
                  <a:pt x="148828" y="88506"/>
                  <a:pt x="148828" y="96738"/>
                </a:cubicBezTo>
                <a:cubicBezTo>
                  <a:pt x="148828" y="104970"/>
                  <a:pt x="142177" y="111621"/>
                  <a:pt x="133945" y="111621"/>
                </a:cubicBezTo>
                <a:lnTo>
                  <a:pt x="74414" y="111621"/>
                </a:lnTo>
                <a:cubicBezTo>
                  <a:pt x="66182" y="111621"/>
                  <a:pt x="59531" y="104970"/>
                  <a:pt x="59531" y="96738"/>
                </a:cubicBezTo>
                <a:cubicBezTo>
                  <a:pt x="59531" y="88506"/>
                  <a:pt x="66182" y="81855"/>
                  <a:pt x="74414" y="81855"/>
                </a:cubicBezTo>
                <a:close/>
                <a:moveTo>
                  <a:pt x="74414" y="133945"/>
                </a:moveTo>
                <a:lnTo>
                  <a:pt x="193477" y="133945"/>
                </a:lnTo>
                <a:cubicBezTo>
                  <a:pt x="201709" y="133945"/>
                  <a:pt x="208359" y="140596"/>
                  <a:pt x="208359" y="148828"/>
                </a:cubicBezTo>
                <a:cubicBezTo>
                  <a:pt x="208359" y="157060"/>
                  <a:pt x="201709" y="163711"/>
                  <a:pt x="193477" y="163711"/>
                </a:cubicBezTo>
                <a:lnTo>
                  <a:pt x="74414" y="163711"/>
                </a:lnTo>
                <a:cubicBezTo>
                  <a:pt x="66182" y="163711"/>
                  <a:pt x="59531" y="157060"/>
                  <a:pt x="59531" y="148828"/>
                </a:cubicBezTo>
                <a:cubicBezTo>
                  <a:pt x="59531" y="140596"/>
                  <a:pt x="66182" y="133945"/>
                  <a:pt x="74414" y="133945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2" name="Text 80"/>
          <p:cNvSpPr/>
          <p:nvPr/>
        </p:nvSpPr>
        <p:spPr>
          <a:xfrm>
            <a:off x="900906" y="5319613"/>
            <a:ext cx="80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508000" y="5676801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03250" y="5772051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VADER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03250" y="5994301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Valence Aware Dictionary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530820" y="63673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7" name="Text 85"/>
          <p:cNvSpPr/>
          <p:nvPr/>
        </p:nvSpPr>
        <p:spPr>
          <a:xfrm>
            <a:off x="710406" y="6343551"/>
            <a:ext cx="1182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 optimized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530820" y="65578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89" name="Text 87"/>
          <p:cNvSpPr/>
          <p:nvPr/>
        </p:nvSpPr>
        <p:spPr>
          <a:xfrm>
            <a:off x="710406" y="6534051"/>
            <a:ext cx="91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scoring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4228009" y="5152926"/>
            <a:ext cx="3754438" cy="1722438"/>
          </a:xfrm>
          <a:custGeom>
            <a:avLst/>
            <a:gdLst/>
            <a:ahLst/>
            <a:cxnLst/>
            <a:rect l="l" t="t" r="r" b="b"/>
            <a:pathLst>
              <a:path w="3754438" h="1722438">
                <a:moveTo>
                  <a:pt x="31750" y="0"/>
                </a:moveTo>
                <a:lnTo>
                  <a:pt x="3690874" y="0"/>
                </a:lnTo>
                <a:cubicBezTo>
                  <a:pt x="3707737" y="-34"/>
                  <a:pt x="3723921" y="6642"/>
                  <a:pt x="3735857" y="18554"/>
                </a:cubicBezTo>
                <a:cubicBezTo>
                  <a:pt x="3747793" y="30466"/>
                  <a:pt x="3754501" y="46637"/>
                  <a:pt x="3754501" y="63500"/>
                </a:cubicBezTo>
                <a:lnTo>
                  <a:pt x="3754501" y="1658874"/>
                </a:lnTo>
                <a:cubicBezTo>
                  <a:pt x="3754535" y="1675759"/>
                  <a:pt x="3747842" y="1691963"/>
                  <a:pt x="3735902" y="1703902"/>
                </a:cubicBezTo>
                <a:cubicBezTo>
                  <a:pt x="3723963" y="1715842"/>
                  <a:pt x="3707759" y="1722535"/>
                  <a:pt x="3690874" y="1722501"/>
                </a:cubicBez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91" name="Shape 89"/>
          <p:cNvSpPr/>
          <p:nvPr/>
        </p:nvSpPr>
        <p:spPr>
          <a:xfrm>
            <a:off x="4228009" y="5152926"/>
            <a:ext cx="31750" cy="1722438"/>
          </a:xfrm>
          <a:custGeom>
            <a:avLst/>
            <a:gdLst/>
            <a:ahLst/>
            <a:cxnLst/>
            <a:rect l="l" t="t" r="r" b="b"/>
            <a:pathLst>
              <a:path w="31750" h="1722438">
                <a:moveTo>
                  <a:pt x="31750" y="0"/>
                </a:moveTo>
                <a:lnTo>
                  <a:pt x="31750" y="0"/>
                </a:lnTo>
                <a:lnTo>
                  <a:pt x="31750" y="1722501"/>
                </a:lnTo>
                <a:lnTo>
                  <a:pt x="31750" y="1722501"/>
                </a:lnTo>
                <a:cubicBezTo>
                  <a:pt x="14227" y="1722501"/>
                  <a:pt x="0" y="1708274"/>
                  <a:pt x="0" y="169075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92" name="Shape 90"/>
          <p:cNvSpPr/>
          <p:nvPr/>
        </p:nvSpPr>
        <p:spPr>
          <a:xfrm>
            <a:off x="4419501" y="5311676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33945" y="14883"/>
                </a:moveTo>
                <a:cubicBezTo>
                  <a:pt x="96366" y="14883"/>
                  <a:pt x="66275" y="31998"/>
                  <a:pt x="44369" y="52369"/>
                </a:cubicBezTo>
                <a:cubicBezTo>
                  <a:pt x="22603" y="72600"/>
                  <a:pt x="8046" y="96738"/>
                  <a:pt x="1116" y="113342"/>
                </a:cubicBezTo>
                <a:cubicBezTo>
                  <a:pt x="-419" y="117016"/>
                  <a:pt x="-419" y="121109"/>
                  <a:pt x="1116" y="124783"/>
                </a:cubicBezTo>
                <a:cubicBezTo>
                  <a:pt x="8046" y="141387"/>
                  <a:pt x="22603" y="165571"/>
                  <a:pt x="44369" y="185756"/>
                </a:cubicBezTo>
                <a:cubicBezTo>
                  <a:pt x="66275" y="206080"/>
                  <a:pt x="96366" y="223242"/>
                  <a:pt x="133945" y="223242"/>
                </a:cubicBezTo>
                <a:cubicBezTo>
                  <a:pt x="171524" y="223242"/>
                  <a:pt x="201616" y="206127"/>
                  <a:pt x="223521" y="185756"/>
                </a:cubicBezTo>
                <a:cubicBezTo>
                  <a:pt x="245287" y="165525"/>
                  <a:pt x="259845" y="141387"/>
                  <a:pt x="266774" y="124783"/>
                </a:cubicBezTo>
                <a:cubicBezTo>
                  <a:pt x="268309" y="121109"/>
                  <a:pt x="268309" y="117016"/>
                  <a:pt x="266774" y="113342"/>
                </a:cubicBezTo>
                <a:cubicBezTo>
                  <a:pt x="259845" y="96738"/>
                  <a:pt x="245287" y="72554"/>
                  <a:pt x="223521" y="52369"/>
                </a:cubicBezTo>
                <a:cubicBezTo>
                  <a:pt x="201616" y="32045"/>
                  <a:pt x="171524" y="14883"/>
                  <a:pt x="133945" y="14883"/>
                </a:cubicBezTo>
                <a:close/>
                <a:moveTo>
                  <a:pt x="66973" y="119062"/>
                </a:moveTo>
                <a:cubicBezTo>
                  <a:pt x="66973" y="82099"/>
                  <a:pt x="96982" y="52090"/>
                  <a:pt x="133945" y="52090"/>
                </a:cubicBezTo>
                <a:cubicBezTo>
                  <a:pt x="170909" y="52090"/>
                  <a:pt x="200918" y="82099"/>
                  <a:pt x="200918" y="119062"/>
                </a:cubicBezTo>
                <a:cubicBezTo>
                  <a:pt x="200918" y="156026"/>
                  <a:pt x="170909" y="186035"/>
                  <a:pt x="133945" y="186035"/>
                </a:cubicBezTo>
                <a:cubicBezTo>
                  <a:pt x="96982" y="186035"/>
                  <a:pt x="66973" y="156026"/>
                  <a:pt x="66973" y="119062"/>
                </a:cubicBezTo>
                <a:close/>
                <a:moveTo>
                  <a:pt x="133945" y="89297"/>
                </a:moveTo>
                <a:cubicBezTo>
                  <a:pt x="133945" y="105714"/>
                  <a:pt x="120597" y="119062"/>
                  <a:pt x="104180" y="119062"/>
                </a:cubicBezTo>
                <a:cubicBezTo>
                  <a:pt x="98831" y="119062"/>
                  <a:pt x="93808" y="117667"/>
                  <a:pt x="89436" y="115156"/>
                </a:cubicBezTo>
                <a:cubicBezTo>
                  <a:pt x="88971" y="120225"/>
                  <a:pt x="89390" y="125434"/>
                  <a:pt x="90785" y="130597"/>
                </a:cubicBezTo>
                <a:cubicBezTo>
                  <a:pt x="97157" y="154409"/>
                  <a:pt x="121667" y="168548"/>
                  <a:pt x="145479" y="162176"/>
                </a:cubicBezTo>
                <a:cubicBezTo>
                  <a:pt x="169292" y="155804"/>
                  <a:pt x="183431" y="131294"/>
                  <a:pt x="177059" y="107482"/>
                </a:cubicBezTo>
                <a:cubicBezTo>
                  <a:pt x="171385" y="86227"/>
                  <a:pt x="151247" y="72693"/>
                  <a:pt x="130039" y="74554"/>
                </a:cubicBezTo>
                <a:cubicBezTo>
                  <a:pt x="132504" y="78879"/>
                  <a:pt x="133945" y="83902"/>
                  <a:pt x="133945" y="89297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93" name="Text 91"/>
          <p:cNvSpPr/>
          <p:nvPr/>
        </p:nvSpPr>
        <p:spPr>
          <a:xfrm>
            <a:off x="4795540" y="5319613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402634" y="5676801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4497884" y="5772051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Grad-CAM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4497884" y="5994301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activation mapping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4425454" y="63673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98" name="Text 96"/>
          <p:cNvSpPr/>
          <p:nvPr/>
        </p:nvSpPr>
        <p:spPr>
          <a:xfrm>
            <a:off x="4605040" y="6343551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 visualization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4425454" y="65578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5F737C"/>
          </a:solidFill>
          <a:ln/>
        </p:spPr>
      </p:sp>
      <p:sp>
        <p:nvSpPr>
          <p:cNvPr id="100" name="Text 98"/>
          <p:cNvSpPr/>
          <p:nvPr/>
        </p:nvSpPr>
        <p:spPr>
          <a:xfrm>
            <a:off x="4605040" y="6534051"/>
            <a:ext cx="110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interpretability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113117" y="5159276"/>
            <a:ext cx="3751263" cy="1711325"/>
          </a:xfrm>
          <a:prstGeom prst="roundRect">
            <a:avLst>
              <a:gd name="adj" fmla="val 3711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309968" y="532437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163711"/>
                </a:lnTo>
                <a:cubicBezTo>
                  <a:pt x="0" y="180129"/>
                  <a:pt x="13348" y="193477"/>
                  <a:pt x="29766" y="193477"/>
                </a:cubicBezTo>
                <a:lnTo>
                  <a:pt x="96738" y="193477"/>
                </a:lnTo>
                <a:lnTo>
                  <a:pt x="89297" y="215801"/>
                </a:lnTo>
                <a:lnTo>
                  <a:pt x="55811" y="215801"/>
                </a:lnTo>
                <a:cubicBezTo>
                  <a:pt x="49625" y="215801"/>
                  <a:pt x="44648" y="220777"/>
                  <a:pt x="44648" y="226963"/>
                </a:cubicBezTo>
                <a:cubicBezTo>
                  <a:pt x="44648" y="233149"/>
                  <a:pt x="49625" y="238125"/>
                  <a:pt x="55811" y="238125"/>
                </a:cubicBezTo>
                <a:lnTo>
                  <a:pt x="182314" y="238125"/>
                </a:lnTo>
                <a:cubicBezTo>
                  <a:pt x="188500" y="238125"/>
                  <a:pt x="193477" y="233149"/>
                  <a:pt x="193477" y="226963"/>
                </a:cubicBezTo>
                <a:cubicBezTo>
                  <a:pt x="193477" y="220777"/>
                  <a:pt x="188500" y="215801"/>
                  <a:pt x="182314" y="215801"/>
                </a:cubicBezTo>
                <a:lnTo>
                  <a:pt x="148828" y="215801"/>
                </a:lnTo>
                <a:lnTo>
                  <a:pt x="141387" y="193477"/>
                </a:lnTo>
                <a:lnTo>
                  <a:pt x="208359" y="193477"/>
                </a:lnTo>
                <a:cubicBezTo>
                  <a:pt x="224777" y="193477"/>
                  <a:pt x="238125" y="180129"/>
                  <a:pt x="238125" y="163711"/>
                </a:cubicBezTo>
                <a:lnTo>
                  <a:pt x="238125" y="44648"/>
                </a:lnTo>
                <a:cubicBezTo>
                  <a:pt x="238125" y="28231"/>
                  <a:pt x="224777" y="14883"/>
                  <a:pt x="208359" y="14883"/>
                </a:cubicBezTo>
                <a:lnTo>
                  <a:pt x="29766" y="14883"/>
                </a:lnTo>
                <a:close/>
                <a:moveTo>
                  <a:pt x="44648" y="44648"/>
                </a:moveTo>
                <a:lnTo>
                  <a:pt x="193477" y="44648"/>
                </a:lnTo>
                <a:cubicBezTo>
                  <a:pt x="201709" y="44648"/>
                  <a:pt x="208359" y="51299"/>
                  <a:pt x="208359" y="59531"/>
                </a:cubicBezTo>
                <a:lnTo>
                  <a:pt x="208359" y="133945"/>
                </a:lnTo>
                <a:cubicBezTo>
                  <a:pt x="208359" y="142177"/>
                  <a:pt x="201709" y="148828"/>
                  <a:pt x="193477" y="148828"/>
                </a:cubicBezTo>
                <a:lnTo>
                  <a:pt x="44648" y="148828"/>
                </a:lnTo>
                <a:cubicBezTo>
                  <a:pt x="36416" y="148828"/>
                  <a:pt x="29766" y="142177"/>
                  <a:pt x="29766" y="133945"/>
                </a:cubicBezTo>
                <a:lnTo>
                  <a:pt x="29766" y="59531"/>
                </a:lnTo>
                <a:cubicBezTo>
                  <a:pt x="29766" y="51299"/>
                  <a:pt x="36416" y="44648"/>
                  <a:pt x="44648" y="4464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3" name="Text 101"/>
          <p:cNvSpPr/>
          <p:nvPr/>
        </p:nvSpPr>
        <p:spPr>
          <a:xfrm>
            <a:off x="8671124" y="5332314"/>
            <a:ext cx="70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8278218" y="5689502"/>
            <a:ext cx="3421063" cy="5715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8373468" y="5784752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8373468" y="6007002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web application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8301038" y="63800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08" name="Text 106"/>
          <p:cNvSpPr/>
          <p:nvPr/>
        </p:nvSpPr>
        <p:spPr>
          <a:xfrm>
            <a:off x="8480624" y="6356252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development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8301038" y="65705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0" name="Text 108"/>
          <p:cNvSpPr/>
          <p:nvPr/>
        </p:nvSpPr>
        <p:spPr>
          <a:xfrm>
            <a:off x="8480624" y="6546752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interaction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10" y="339610"/>
            <a:ext cx="67922" cy="407532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09415" y="339610"/>
            <a:ext cx="3073471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9415" y="815064"/>
            <a:ext cx="1142787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 and System Demonstration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402" y="1195427"/>
            <a:ext cx="5659601" cy="1915401"/>
          </a:xfrm>
          <a:prstGeom prst="roundRect">
            <a:avLst>
              <a:gd name="adj" fmla="val 3546"/>
            </a:avLst>
          </a:pr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6960" y="1380408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71786" y="0"/>
                </a:moveTo>
                <a:lnTo>
                  <a:pt x="183220" y="0"/>
                </a:lnTo>
                <a:cubicBezTo>
                  <a:pt x="196403" y="0"/>
                  <a:pt x="207149" y="10845"/>
                  <a:pt x="206651" y="23978"/>
                </a:cubicBezTo>
                <a:cubicBezTo>
                  <a:pt x="206552" y="26615"/>
                  <a:pt x="206452" y="29252"/>
                  <a:pt x="206303" y="31838"/>
                </a:cubicBezTo>
                <a:lnTo>
                  <a:pt x="230978" y="31838"/>
                </a:lnTo>
                <a:cubicBezTo>
                  <a:pt x="243962" y="31838"/>
                  <a:pt x="255404" y="42584"/>
                  <a:pt x="254409" y="56613"/>
                </a:cubicBezTo>
                <a:cubicBezTo>
                  <a:pt x="250678" y="108201"/>
                  <a:pt x="224312" y="136557"/>
                  <a:pt x="195707" y="151382"/>
                </a:cubicBezTo>
                <a:cubicBezTo>
                  <a:pt x="187847" y="155461"/>
                  <a:pt x="179837" y="158496"/>
                  <a:pt x="172226" y="160734"/>
                </a:cubicBezTo>
                <a:cubicBezTo>
                  <a:pt x="162177" y="174962"/>
                  <a:pt x="151730" y="182474"/>
                  <a:pt x="143422" y="186504"/>
                </a:cubicBezTo>
                <a:lnTo>
                  <a:pt x="143422" y="222869"/>
                </a:lnTo>
                <a:lnTo>
                  <a:pt x="175261" y="222869"/>
                </a:lnTo>
                <a:cubicBezTo>
                  <a:pt x="184066" y="222869"/>
                  <a:pt x="191180" y="229983"/>
                  <a:pt x="191180" y="238788"/>
                </a:cubicBezTo>
                <a:cubicBezTo>
                  <a:pt x="191180" y="247594"/>
                  <a:pt x="184066" y="254708"/>
                  <a:pt x="175261" y="254708"/>
                </a:cubicBezTo>
                <a:lnTo>
                  <a:pt x="79745" y="254708"/>
                </a:lnTo>
                <a:cubicBezTo>
                  <a:pt x="70940" y="254708"/>
                  <a:pt x="63826" y="247594"/>
                  <a:pt x="63826" y="238788"/>
                </a:cubicBezTo>
                <a:cubicBezTo>
                  <a:pt x="63826" y="229983"/>
                  <a:pt x="70940" y="222869"/>
                  <a:pt x="79745" y="222869"/>
                </a:cubicBezTo>
                <a:lnTo>
                  <a:pt x="111584" y="222869"/>
                </a:lnTo>
                <a:lnTo>
                  <a:pt x="111584" y="186504"/>
                </a:lnTo>
                <a:cubicBezTo>
                  <a:pt x="103624" y="182673"/>
                  <a:pt x="93724" y="175559"/>
                  <a:pt x="84073" y="162476"/>
                </a:cubicBezTo>
                <a:cubicBezTo>
                  <a:pt x="74920" y="160088"/>
                  <a:pt x="64970" y="156456"/>
                  <a:pt x="55270" y="150984"/>
                </a:cubicBezTo>
                <a:cubicBezTo>
                  <a:pt x="28356" y="135910"/>
                  <a:pt x="4079" y="107504"/>
                  <a:pt x="597" y="56513"/>
                </a:cubicBezTo>
                <a:cubicBezTo>
                  <a:pt x="-348" y="42534"/>
                  <a:pt x="11044" y="31789"/>
                  <a:pt x="24028" y="31789"/>
                </a:cubicBezTo>
                <a:lnTo>
                  <a:pt x="48703" y="31789"/>
                </a:lnTo>
                <a:cubicBezTo>
                  <a:pt x="48554" y="29202"/>
                  <a:pt x="48454" y="26615"/>
                  <a:pt x="48355" y="23929"/>
                </a:cubicBezTo>
                <a:cubicBezTo>
                  <a:pt x="47857" y="10745"/>
                  <a:pt x="58603" y="-50"/>
                  <a:pt x="71786" y="-50"/>
                </a:cubicBezTo>
                <a:close/>
                <a:moveTo>
                  <a:pt x="50494" y="55717"/>
                </a:moveTo>
                <a:lnTo>
                  <a:pt x="24426" y="55717"/>
                </a:lnTo>
                <a:cubicBezTo>
                  <a:pt x="27510" y="97853"/>
                  <a:pt x="46862" y="118946"/>
                  <a:pt x="66811" y="130140"/>
                </a:cubicBezTo>
                <a:cubicBezTo>
                  <a:pt x="59647" y="111584"/>
                  <a:pt x="53727" y="87357"/>
                  <a:pt x="50494" y="55717"/>
                </a:cubicBezTo>
                <a:close/>
                <a:moveTo>
                  <a:pt x="189041" y="127752"/>
                </a:moveTo>
                <a:cubicBezTo>
                  <a:pt x="209189" y="115912"/>
                  <a:pt x="227396" y="94869"/>
                  <a:pt x="230480" y="55717"/>
                </a:cubicBezTo>
                <a:lnTo>
                  <a:pt x="204462" y="55717"/>
                </a:lnTo>
                <a:cubicBezTo>
                  <a:pt x="201378" y="86014"/>
                  <a:pt x="195806" y="109544"/>
                  <a:pt x="189041" y="12775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5"/>
          <p:cNvSpPr/>
          <p:nvPr/>
        </p:nvSpPr>
        <p:spPr>
          <a:xfrm>
            <a:off x="943267" y="1372025"/>
            <a:ext cx="187634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2999" y="1779450"/>
            <a:ext cx="2589526" cy="1154674"/>
          </a:xfrm>
          <a:prstGeom prst="roundRect">
            <a:avLst>
              <a:gd name="adj" fmla="val 588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9128" y="1915294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6960" y="2153021"/>
            <a:ext cx="2521604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09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~80%+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9128" y="2628475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test datasets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4125" y="1779450"/>
            <a:ext cx="2589526" cy="1154674"/>
          </a:xfrm>
          <a:prstGeom prst="roundRect">
            <a:avLst>
              <a:gd name="adj" fmla="val 588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50253" y="1915294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03557" y="2153021"/>
            <a:ext cx="2470663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07" b="1" dirty="0">
                <a:solidFill>
                  <a:srgbClr val="5F73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50253" y="2560553"/>
            <a:ext cx="237727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Artifacts detected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6591" y="3253358"/>
            <a:ext cx="5654507" cy="1528245"/>
          </a:xfrm>
          <a:custGeom>
            <a:avLst/>
            <a:gdLst/>
            <a:ahLst/>
            <a:cxnLst/>
            <a:rect l="l" t="t" r="r" b="b"/>
            <a:pathLst>
              <a:path w="5654507" h="1528245">
                <a:moveTo>
                  <a:pt x="33909" y="0"/>
                </a:moveTo>
                <a:lnTo>
                  <a:pt x="5586603" y="0"/>
                </a:lnTo>
                <a:cubicBezTo>
                  <a:pt x="5624128" y="0"/>
                  <a:pt x="5654548" y="30420"/>
                  <a:pt x="5654548" y="67945"/>
                </a:cubicBezTo>
                <a:lnTo>
                  <a:pt x="5654548" y="1460373"/>
                </a:lnTo>
                <a:cubicBezTo>
                  <a:pt x="5654478" y="1497848"/>
                  <a:pt x="5624078" y="1528191"/>
                  <a:pt x="5586603" y="1528191"/>
                </a:cubicBezTo>
                <a:lnTo>
                  <a:pt x="33909" y="1528191"/>
                </a:lnTo>
                <a:cubicBezTo>
                  <a:pt x="15182" y="1528191"/>
                  <a:pt x="0" y="1513009"/>
                  <a:pt x="0" y="1494282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356591" y="3253358"/>
            <a:ext cx="33961" cy="1528245"/>
          </a:xfrm>
          <a:custGeom>
            <a:avLst/>
            <a:gdLst/>
            <a:ahLst/>
            <a:cxnLst/>
            <a:rect l="l" t="t" r="r" b="b"/>
            <a:pathLst>
              <a:path w="33961" h="1528245">
                <a:moveTo>
                  <a:pt x="33909" y="0"/>
                </a:moveTo>
                <a:lnTo>
                  <a:pt x="33909" y="0"/>
                </a:lnTo>
                <a:lnTo>
                  <a:pt x="33909" y="1528191"/>
                </a:lnTo>
                <a:lnTo>
                  <a:pt x="33909" y="1528191"/>
                </a:lnTo>
                <a:cubicBezTo>
                  <a:pt x="15182" y="1528191"/>
                  <a:pt x="0" y="1513009"/>
                  <a:pt x="0" y="1494282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564602" y="3450333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84903" y="169805"/>
                </a:moveTo>
                <a:cubicBezTo>
                  <a:pt x="131761" y="169805"/>
                  <a:pt x="169805" y="131761"/>
                  <a:pt x="169805" y="84903"/>
                </a:cubicBezTo>
                <a:cubicBezTo>
                  <a:pt x="169805" y="38044"/>
                  <a:pt x="131761" y="0"/>
                  <a:pt x="84903" y="0"/>
                </a:cubicBezTo>
                <a:cubicBezTo>
                  <a:pt x="38044" y="0"/>
                  <a:pt x="0" y="38044"/>
                  <a:pt x="0" y="84903"/>
                </a:cubicBezTo>
                <a:cubicBezTo>
                  <a:pt x="0" y="131761"/>
                  <a:pt x="38044" y="169805"/>
                  <a:pt x="84903" y="169805"/>
                </a:cubicBezTo>
                <a:close/>
                <a:moveTo>
                  <a:pt x="112894" y="70542"/>
                </a:moveTo>
                <a:lnTo>
                  <a:pt x="86362" y="112993"/>
                </a:lnTo>
                <a:cubicBezTo>
                  <a:pt x="84969" y="115215"/>
                  <a:pt x="82581" y="116608"/>
                  <a:pt x="79961" y="116741"/>
                </a:cubicBezTo>
                <a:cubicBezTo>
                  <a:pt x="77341" y="116874"/>
                  <a:pt x="74820" y="115680"/>
                  <a:pt x="73262" y="113557"/>
                </a:cubicBezTo>
                <a:lnTo>
                  <a:pt x="57342" y="92331"/>
                </a:lnTo>
                <a:cubicBezTo>
                  <a:pt x="54689" y="88816"/>
                  <a:pt x="55419" y="83841"/>
                  <a:pt x="58934" y="81188"/>
                </a:cubicBezTo>
                <a:cubicBezTo>
                  <a:pt x="62450" y="78535"/>
                  <a:pt x="67425" y="79264"/>
                  <a:pt x="70078" y="82780"/>
                </a:cubicBezTo>
                <a:lnTo>
                  <a:pt x="79032" y="94719"/>
                </a:lnTo>
                <a:lnTo>
                  <a:pt x="99396" y="62118"/>
                </a:lnTo>
                <a:cubicBezTo>
                  <a:pt x="101717" y="58404"/>
                  <a:pt x="106626" y="57243"/>
                  <a:pt x="110373" y="59598"/>
                </a:cubicBezTo>
                <a:cubicBezTo>
                  <a:pt x="114121" y="61952"/>
                  <a:pt x="115249" y="66828"/>
                  <a:pt x="112894" y="705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801040" y="3423163"/>
            <a:ext cx="512515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 Detections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5214" y="3796734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>
                <a:moveTo>
                  <a:pt x="21226" y="10613"/>
                </a:moveTo>
                <a:cubicBezTo>
                  <a:pt x="9518" y="10613"/>
                  <a:pt x="0" y="20131"/>
                  <a:pt x="0" y="31838"/>
                </a:cubicBezTo>
                <a:lnTo>
                  <a:pt x="0" y="137967"/>
                </a:lnTo>
                <a:cubicBezTo>
                  <a:pt x="0" y="149674"/>
                  <a:pt x="9518" y="159192"/>
                  <a:pt x="21226" y="159192"/>
                </a:cubicBezTo>
                <a:lnTo>
                  <a:pt x="127354" y="159192"/>
                </a:lnTo>
                <a:cubicBezTo>
                  <a:pt x="139061" y="159192"/>
                  <a:pt x="148579" y="149674"/>
                  <a:pt x="148579" y="137967"/>
                </a:cubicBezTo>
                <a:lnTo>
                  <a:pt x="148579" y="31838"/>
                </a:lnTo>
                <a:cubicBezTo>
                  <a:pt x="148579" y="20131"/>
                  <a:pt x="139061" y="10613"/>
                  <a:pt x="127354" y="10613"/>
                </a:cubicBezTo>
                <a:lnTo>
                  <a:pt x="21226" y="10613"/>
                </a:lnTo>
                <a:close/>
                <a:moveTo>
                  <a:pt x="42451" y="37145"/>
                </a:moveTo>
                <a:cubicBezTo>
                  <a:pt x="51237" y="37145"/>
                  <a:pt x="58370" y="44278"/>
                  <a:pt x="58370" y="53064"/>
                </a:cubicBezTo>
                <a:cubicBezTo>
                  <a:pt x="58370" y="61850"/>
                  <a:pt x="51237" y="68983"/>
                  <a:pt x="42451" y="68983"/>
                </a:cubicBezTo>
                <a:cubicBezTo>
                  <a:pt x="33665" y="68983"/>
                  <a:pt x="26532" y="61850"/>
                  <a:pt x="26532" y="53064"/>
                </a:cubicBezTo>
                <a:cubicBezTo>
                  <a:pt x="26532" y="44278"/>
                  <a:pt x="33665" y="37145"/>
                  <a:pt x="42451" y="37145"/>
                </a:cubicBezTo>
                <a:close/>
                <a:moveTo>
                  <a:pt x="90209" y="74290"/>
                </a:moveTo>
                <a:cubicBezTo>
                  <a:pt x="92995" y="74290"/>
                  <a:pt x="95548" y="75749"/>
                  <a:pt x="97008" y="78104"/>
                </a:cubicBezTo>
                <a:lnTo>
                  <a:pt x="126193" y="125861"/>
                </a:lnTo>
                <a:cubicBezTo>
                  <a:pt x="127685" y="128316"/>
                  <a:pt x="127752" y="131400"/>
                  <a:pt x="126359" y="133920"/>
                </a:cubicBezTo>
                <a:cubicBezTo>
                  <a:pt x="124966" y="136441"/>
                  <a:pt x="122280" y="137967"/>
                  <a:pt x="119394" y="137967"/>
                </a:cubicBezTo>
                <a:lnTo>
                  <a:pt x="29185" y="137967"/>
                </a:lnTo>
                <a:cubicBezTo>
                  <a:pt x="26234" y="137967"/>
                  <a:pt x="23481" y="136308"/>
                  <a:pt x="22121" y="133688"/>
                </a:cubicBezTo>
                <a:cubicBezTo>
                  <a:pt x="20761" y="131068"/>
                  <a:pt x="20960" y="127884"/>
                  <a:pt x="22652" y="125463"/>
                </a:cubicBezTo>
                <a:lnTo>
                  <a:pt x="41224" y="98931"/>
                </a:lnTo>
                <a:cubicBezTo>
                  <a:pt x="42717" y="96809"/>
                  <a:pt x="45138" y="95548"/>
                  <a:pt x="47758" y="95548"/>
                </a:cubicBezTo>
                <a:cubicBezTo>
                  <a:pt x="50378" y="95548"/>
                  <a:pt x="52799" y="96809"/>
                  <a:pt x="54291" y="98931"/>
                </a:cubicBezTo>
                <a:lnTo>
                  <a:pt x="63047" y="111468"/>
                </a:lnTo>
                <a:lnTo>
                  <a:pt x="83410" y="78137"/>
                </a:lnTo>
                <a:cubicBezTo>
                  <a:pt x="84869" y="75782"/>
                  <a:pt x="87423" y="74323"/>
                  <a:pt x="90209" y="7432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857515" y="3762773"/>
            <a:ext cx="328572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Artifacts in Images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515" y="3966539"/>
            <a:ext cx="327723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Blending boundaries, texture inconsistencies, facial anomalies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3989" y="4272188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>
                <a:moveTo>
                  <a:pt x="31838" y="21226"/>
                </a:moveTo>
                <a:cubicBezTo>
                  <a:pt x="20131" y="21226"/>
                  <a:pt x="10613" y="30744"/>
                  <a:pt x="10613" y="42451"/>
                </a:cubicBezTo>
                <a:lnTo>
                  <a:pt x="10613" y="127354"/>
                </a:lnTo>
                <a:cubicBezTo>
                  <a:pt x="10613" y="139061"/>
                  <a:pt x="20131" y="148579"/>
                  <a:pt x="31838" y="148579"/>
                </a:cubicBezTo>
                <a:lnTo>
                  <a:pt x="116741" y="148579"/>
                </a:lnTo>
                <a:cubicBezTo>
                  <a:pt x="128448" y="148579"/>
                  <a:pt x="137967" y="139061"/>
                  <a:pt x="137967" y="127354"/>
                </a:cubicBezTo>
                <a:lnTo>
                  <a:pt x="137967" y="42451"/>
                </a:lnTo>
                <a:cubicBezTo>
                  <a:pt x="137967" y="30744"/>
                  <a:pt x="128448" y="21226"/>
                  <a:pt x="116741" y="21226"/>
                </a:cubicBezTo>
                <a:lnTo>
                  <a:pt x="31838" y="21226"/>
                </a:lnTo>
                <a:close/>
                <a:moveTo>
                  <a:pt x="153886" y="111435"/>
                </a:moveTo>
                <a:lnTo>
                  <a:pt x="178262" y="130936"/>
                </a:lnTo>
                <a:cubicBezTo>
                  <a:pt x="179655" y="132063"/>
                  <a:pt x="181380" y="132660"/>
                  <a:pt x="183171" y="132660"/>
                </a:cubicBezTo>
                <a:cubicBezTo>
                  <a:pt x="187515" y="132660"/>
                  <a:pt x="191031" y="129145"/>
                  <a:pt x="191031" y="124800"/>
                </a:cubicBezTo>
                <a:lnTo>
                  <a:pt x="191031" y="45005"/>
                </a:lnTo>
                <a:cubicBezTo>
                  <a:pt x="191031" y="40660"/>
                  <a:pt x="187515" y="37145"/>
                  <a:pt x="183171" y="37145"/>
                </a:cubicBezTo>
                <a:cubicBezTo>
                  <a:pt x="181380" y="37145"/>
                  <a:pt x="179655" y="37742"/>
                  <a:pt x="178262" y="38869"/>
                </a:cubicBezTo>
                <a:lnTo>
                  <a:pt x="153886" y="58370"/>
                </a:lnTo>
                <a:lnTo>
                  <a:pt x="153886" y="11143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57515" y="4238227"/>
            <a:ext cx="257254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Cross-Modal Consistency in Videos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7515" y="4441993"/>
            <a:ext cx="256405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Emotion-sentiment mismatches via ECF module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6402" y="4924239"/>
            <a:ext cx="5659601" cy="1134297"/>
          </a:xfrm>
          <a:prstGeom prst="roundRect">
            <a:avLst>
              <a:gd name="adj" fmla="val 5988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225" y="5128008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21226" y="10613"/>
                </a:moveTo>
                <a:cubicBezTo>
                  <a:pt x="9518" y="10613"/>
                  <a:pt x="0" y="20131"/>
                  <a:pt x="0" y="31838"/>
                </a:cubicBezTo>
                <a:lnTo>
                  <a:pt x="0" y="116741"/>
                </a:lnTo>
                <a:cubicBezTo>
                  <a:pt x="0" y="128448"/>
                  <a:pt x="9518" y="137967"/>
                  <a:pt x="21226" y="137967"/>
                </a:cubicBezTo>
                <a:lnTo>
                  <a:pt x="68983" y="137967"/>
                </a:lnTo>
                <a:lnTo>
                  <a:pt x="63677" y="153886"/>
                </a:lnTo>
                <a:lnTo>
                  <a:pt x="39798" y="153886"/>
                </a:lnTo>
                <a:cubicBezTo>
                  <a:pt x="35387" y="153886"/>
                  <a:pt x="31838" y="157434"/>
                  <a:pt x="31838" y="161845"/>
                </a:cubicBezTo>
                <a:cubicBezTo>
                  <a:pt x="31838" y="166256"/>
                  <a:pt x="35387" y="169805"/>
                  <a:pt x="39798" y="169805"/>
                </a:cubicBezTo>
                <a:lnTo>
                  <a:pt x="130007" y="169805"/>
                </a:lnTo>
                <a:cubicBezTo>
                  <a:pt x="134418" y="169805"/>
                  <a:pt x="137967" y="166256"/>
                  <a:pt x="137967" y="161845"/>
                </a:cubicBezTo>
                <a:cubicBezTo>
                  <a:pt x="137967" y="157434"/>
                  <a:pt x="134418" y="153886"/>
                  <a:pt x="130007" y="153886"/>
                </a:cubicBezTo>
                <a:lnTo>
                  <a:pt x="106128" y="153886"/>
                </a:lnTo>
                <a:lnTo>
                  <a:pt x="100822" y="137967"/>
                </a:lnTo>
                <a:lnTo>
                  <a:pt x="148579" y="137967"/>
                </a:lnTo>
                <a:cubicBezTo>
                  <a:pt x="160287" y="137967"/>
                  <a:pt x="169805" y="128448"/>
                  <a:pt x="169805" y="116741"/>
                </a:cubicBezTo>
                <a:lnTo>
                  <a:pt x="169805" y="31838"/>
                </a:lnTo>
                <a:cubicBezTo>
                  <a:pt x="169805" y="20131"/>
                  <a:pt x="160287" y="10613"/>
                  <a:pt x="148579" y="10613"/>
                </a:cubicBezTo>
                <a:lnTo>
                  <a:pt x="21226" y="10613"/>
                </a:lnTo>
                <a:close/>
                <a:moveTo>
                  <a:pt x="31838" y="31838"/>
                </a:moveTo>
                <a:lnTo>
                  <a:pt x="137967" y="31838"/>
                </a:lnTo>
                <a:cubicBezTo>
                  <a:pt x="143837" y="31838"/>
                  <a:pt x="148579" y="36581"/>
                  <a:pt x="148579" y="42451"/>
                </a:cubicBezTo>
                <a:lnTo>
                  <a:pt x="148579" y="95515"/>
                </a:lnTo>
                <a:cubicBezTo>
                  <a:pt x="148579" y="101386"/>
                  <a:pt x="143837" y="106128"/>
                  <a:pt x="137967" y="106128"/>
                </a:cubicBezTo>
                <a:lnTo>
                  <a:pt x="31838" y="106128"/>
                </a:lnTo>
                <a:cubicBezTo>
                  <a:pt x="25968" y="106128"/>
                  <a:pt x="21226" y="101386"/>
                  <a:pt x="21226" y="95515"/>
                </a:cubicBezTo>
                <a:lnTo>
                  <a:pt x="21226" y="42451"/>
                </a:lnTo>
                <a:cubicBezTo>
                  <a:pt x="21226" y="36581"/>
                  <a:pt x="25968" y="31838"/>
                  <a:pt x="31838" y="318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780663" y="5100837"/>
            <a:ext cx="513364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App Features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409" y="5465918"/>
            <a:ext cx="104006" cy="118864"/>
          </a:xfrm>
          <a:custGeom>
            <a:avLst/>
            <a:gdLst/>
            <a:ahLst/>
            <a:cxnLst/>
            <a:rect l="l" t="t" r="r" b="b"/>
            <a:pathLst>
              <a:path w="104006" h="118864">
                <a:moveTo>
                  <a:pt x="59432" y="25375"/>
                </a:moveTo>
                <a:lnTo>
                  <a:pt x="59432" y="74290"/>
                </a:lnTo>
                <a:cubicBezTo>
                  <a:pt x="59432" y="78399"/>
                  <a:pt x="56112" y="81719"/>
                  <a:pt x="52003" y="81719"/>
                </a:cubicBezTo>
                <a:cubicBezTo>
                  <a:pt x="47894" y="81719"/>
                  <a:pt x="44574" y="78399"/>
                  <a:pt x="44574" y="74290"/>
                </a:cubicBezTo>
                <a:lnTo>
                  <a:pt x="44574" y="25375"/>
                </a:lnTo>
                <a:lnTo>
                  <a:pt x="34963" y="34986"/>
                </a:lnTo>
                <a:cubicBezTo>
                  <a:pt x="32061" y="37888"/>
                  <a:pt x="27348" y="37888"/>
                  <a:pt x="24446" y="34986"/>
                </a:cubicBezTo>
                <a:cubicBezTo>
                  <a:pt x="21544" y="32084"/>
                  <a:pt x="21544" y="27371"/>
                  <a:pt x="24446" y="24469"/>
                </a:cubicBezTo>
                <a:lnTo>
                  <a:pt x="46733" y="2182"/>
                </a:lnTo>
                <a:cubicBezTo>
                  <a:pt x="49635" y="-720"/>
                  <a:pt x="54348" y="-720"/>
                  <a:pt x="57249" y="2182"/>
                </a:cubicBezTo>
                <a:lnTo>
                  <a:pt x="79536" y="24469"/>
                </a:lnTo>
                <a:cubicBezTo>
                  <a:pt x="82438" y="27371"/>
                  <a:pt x="82438" y="32084"/>
                  <a:pt x="79536" y="34986"/>
                </a:cubicBezTo>
                <a:cubicBezTo>
                  <a:pt x="76634" y="37888"/>
                  <a:pt x="71922" y="37888"/>
                  <a:pt x="69020" y="34986"/>
                </a:cubicBezTo>
                <a:lnTo>
                  <a:pt x="59432" y="25375"/>
                </a:lnTo>
                <a:close/>
                <a:moveTo>
                  <a:pt x="52003" y="92862"/>
                </a:moveTo>
                <a:cubicBezTo>
                  <a:pt x="62264" y="92862"/>
                  <a:pt x="70575" y="84551"/>
                  <a:pt x="70575" y="74290"/>
                </a:cubicBezTo>
                <a:lnTo>
                  <a:pt x="89148" y="74290"/>
                </a:lnTo>
                <a:cubicBezTo>
                  <a:pt x="97343" y="74290"/>
                  <a:pt x="104006" y="80953"/>
                  <a:pt x="104006" y="89148"/>
                </a:cubicBezTo>
                <a:lnTo>
                  <a:pt x="104006" y="96577"/>
                </a:lnTo>
                <a:cubicBezTo>
                  <a:pt x="104006" y="104772"/>
                  <a:pt x="97343" y="111435"/>
                  <a:pt x="89148" y="111435"/>
                </a:cubicBezTo>
                <a:lnTo>
                  <a:pt x="14858" y="111435"/>
                </a:lnTo>
                <a:cubicBezTo>
                  <a:pt x="6663" y="111435"/>
                  <a:pt x="0" y="104772"/>
                  <a:pt x="0" y="96577"/>
                </a:cubicBezTo>
                <a:lnTo>
                  <a:pt x="0" y="89148"/>
                </a:lnTo>
                <a:cubicBezTo>
                  <a:pt x="0" y="80953"/>
                  <a:pt x="6663" y="74290"/>
                  <a:pt x="14858" y="74290"/>
                </a:cubicBezTo>
                <a:lnTo>
                  <a:pt x="33430" y="74290"/>
                </a:lnTo>
                <a:cubicBezTo>
                  <a:pt x="33430" y="84551"/>
                  <a:pt x="41742" y="92862"/>
                  <a:pt x="52003" y="92862"/>
                </a:cubicBezTo>
                <a:close/>
                <a:moveTo>
                  <a:pt x="85433" y="98434"/>
                </a:moveTo>
                <a:cubicBezTo>
                  <a:pt x="88508" y="98434"/>
                  <a:pt x="91005" y="95937"/>
                  <a:pt x="91005" y="92862"/>
                </a:cubicBezTo>
                <a:cubicBezTo>
                  <a:pt x="91005" y="89787"/>
                  <a:pt x="88508" y="87290"/>
                  <a:pt x="85433" y="87290"/>
                </a:cubicBezTo>
                <a:cubicBezTo>
                  <a:pt x="82358" y="87290"/>
                  <a:pt x="79861" y="89787"/>
                  <a:pt x="79861" y="92862"/>
                </a:cubicBezTo>
                <a:cubicBezTo>
                  <a:pt x="79861" y="95937"/>
                  <a:pt x="82358" y="98434"/>
                  <a:pt x="85433" y="9843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739501" y="5440447"/>
            <a:ext cx="111222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Image/Video upload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51554" y="5465918"/>
            <a:ext cx="104006" cy="118864"/>
          </a:xfrm>
          <a:custGeom>
            <a:avLst/>
            <a:gdLst/>
            <a:ahLst/>
            <a:cxnLst/>
            <a:rect l="l" t="t" r="r" b="b"/>
            <a:pathLst>
              <a:path w="104006" h="118864">
                <a:moveTo>
                  <a:pt x="37261" y="-6129"/>
                </a:moveTo>
                <a:cubicBezTo>
                  <a:pt x="39420" y="-7940"/>
                  <a:pt x="42600" y="-7870"/>
                  <a:pt x="44667" y="-5920"/>
                </a:cubicBezTo>
                <a:cubicBezTo>
                  <a:pt x="47522" y="-3227"/>
                  <a:pt x="50076" y="-255"/>
                  <a:pt x="52537" y="2763"/>
                </a:cubicBezTo>
                <a:cubicBezTo>
                  <a:pt x="55671" y="6593"/>
                  <a:pt x="59432" y="11654"/>
                  <a:pt x="63053" y="17667"/>
                </a:cubicBezTo>
                <a:cubicBezTo>
                  <a:pt x="64261" y="16088"/>
                  <a:pt x="65375" y="14695"/>
                  <a:pt x="66350" y="13511"/>
                </a:cubicBezTo>
                <a:cubicBezTo>
                  <a:pt x="66605" y="13210"/>
                  <a:pt x="66861" y="12885"/>
                  <a:pt x="67116" y="12560"/>
                </a:cubicBezTo>
                <a:cubicBezTo>
                  <a:pt x="68950" y="10284"/>
                  <a:pt x="71225" y="7429"/>
                  <a:pt x="74266" y="7429"/>
                </a:cubicBezTo>
                <a:cubicBezTo>
                  <a:pt x="77377" y="7429"/>
                  <a:pt x="79560" y="10192"/>
                  <a:pt x="81417" y="12560"/>
                </a:cubicBezTo>
                <a:cubicBezTo>
                  <a:pt x="81719" y="12954"/>
                  <a:pt x="82020" y="13326"/>
                  <a:pt x="82322" y="13674"/>
                </a:cubicBezTo>
                <a:cubicBezTo>
                  <a:pt x="84713" y="16553"/>
                  <a:pt x="87894" y="20708"/>
                  <a:pt x="91075" y="25839"/>
                </a:cubicBezTo>
                <a:cubicBezTo>
                  <a:pt x="97389" y="36031"/>
                  <a:pt x="103982" y="50540"/>
                  <a:pt x="103982" y="66838"/>
                </a:cubicBezTo>
                <a:cubicBezTo>
                  <a:pt x="103982" y="95555"/>
                  <a:pt x="80697" y="118840"/>
                  <a:pt x="51980" y="118840"/>
                </a:cubicBezTo>
                <a:cubicBezTo>
                  <a:pt x="23262" y="118840"/>
                  <a:pt x="0" y="95578"/>
                  <a:pt x="0" y="66861"/>
                </a:cubicBezTo>
                <a:cubicBezTo>
                  <a:pt x="0" y="45711"/>
                  <a:pt x="9542" y="27394"/>
                  <a:pt x="18689" y="14626"/>
                </a:cubicBezTo>
                <a:cubicBezTo>
                  <a:pt x="23308" y="8195"/>
                  <a:pt x="27905" y="3041"/>
                  <a:pt x="31364" y="-488"/>
                </a:cubicBezTo>
                <a:cubicBezTo>
                  <a:pt x="33268" y="-2438"/>
                  <a:pt x="35195" y="-4365"/>
                  <a:pt x="37284" y="-6106"/>
                </a:cubicBezTo>
                <a:close/>
                <a:moveTo>
                  <a:pt x="52397" y="96577"/>
                </a:moveTo>
                <a:cubicBezTo>
                  <a:pt x="58271" y="96577"/>
                  <a:pt x="63471" y="94952"/>
                  <a:pt x="68370" y="91701"/>
                </a:cubicBezTo>
                <a:cubicBezTo>
                  <a:pt x="78143" y="84876"/>
                  <a:pt x="80767" y="71225"/>
                  <a:pt x="74893" y="60500"/>
                </a:cubicBezTo>
                <a:cubicBezTo>
                  <a:pt x="73849" y="58410"/>
                  <a:pt x="71179" y="58271"/>
                  <a:pt x="69670" y="60035"/>
                </a:cubicBezTo>
                <a:lnTo>
                  <a:pt x="63819" y="66838"/>
                </a:lnTo>
                <a:cubicBezTo>
                  <a:pt x="62287" y="68602"/>
                  <a:pt x="59525" y="68555"/>
                  <a:pt x="58085" y="66721"/>
                </a:cubicBezTo>
                <a:cubicBezTo>
                  <a:pt x="54069" y="61591"/>
                  <a:pt x="46686" y="52235"/>
                  <a:pt x="42926" y="47453"/>
                </a:cubicBezTo>
                <a:cubicBezTo>
                  <a:pt x="41672" y="45851"/>
                  <a:pt x="39397" y="45595"/>
                  <a:pt x="37934" y="47011"/>
                </a:cubicBezTo>
                <a:cubicBezTo>
                  <a:pt x="33686" y="51144"/>
                  <a:pt x="25978" y="60198"/>
                  <a:pt x="25978" y="71225"/>
                </a:cubicBezTo>
                <a:cubicBezTo>
                  <a:pt x="25978" y="87151"/>
                  <a:pt x="37725" y="96577"/>
                  <a:pt x="52374" y="9657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3443646" y="5440447"/>
            <a:ext cx="117165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heatmaps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9980" y="5737606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4858" y="14858"/>
                </a:moveTo>
                <a:cubicBezTo>
                  <a:pt x="14858" y="10749"/>
                  <a:pt x="11538" y="7429"/>
                  <a:pt x="7429" y="7429"/>
                </a:cubicBezTo>
                <a:cubicBezTo>
                  <a:pt x="3320" y="7429"/>
                  <a:pt x="0" y="10749"/>
                  <a:pt x="0" y="14858"/>
                </a:cubicBezTo>
                <a:lnTo>
                  <a:pt x="0" y="92862"/>
                </a:lnTo>
                <a:cubicBezTo>
                  <a:pt x="0" y="103123"/>
                  <a:pt x="8311" y="111435"/>
                  <a:pt x="18572" y="111435"/>
                </a:cubicBezTo>
                <a:lnTo>
                  <a:pt x="111435" y="111435"/>
                </a:lnTo>
                <a:cubicBezTo>
                  <a:pt x="115544" y="111435"/>
                  <a:pt x="118864" y="108115"/>
                  <a:pt x="118864" y="104006"/>
                </a:cubicBezTo>
                <a:cubicBezTo>
                  <a:pt x="118864" y="99896"/>
                  <a:pt x="115544" y="96577"/>
                  <a:pt x="111435" y="96577"/>
                </a:cubicBezTo>
                <a:lnTo>
                  <a:pt x="18572" y="96577"/>
                </a:lnTo>
                <a:cubicBezTo>
                  <a:pt x="16529" y="96577"/>
                  <a:pt x="14858" y="94905"/>
                  <a:pt x="14858" y="92862"/>
                </a:cubicBezTo>
                <a:lnTo>
                  <a:pt x="14858" y="14858"/>
                </a:lnTo>
                <a:close/>
                <a:moveTo>
                  <a:pt x="109252" y="34963"/>
                </a:moveTo>
                <a:cubicBezTo>
                  <a:pt x="112154" y="32061"/>
                  <a:pt x="112154" y="27348"/>
                  <a:pt x="109252" y="24446"/>
                </a:cubicBezTo>
                <a:cubicBezTo>
                  <a:pt x="106350" y="21544"/>
                  <a:pt x="101638" y="21544"/>
                  <a:pt x="98736" y="24446"/>
                </a:cubicBezTo>
                <a:lnTo>
                  <a:pt x="74290" y="48915"/>
                </a:lnTo>
                <a:lnTo>
                  <a:pt x="60964" y="35613"/>
                </a:lnTo>
                <a:cubicBezTo>
                  <a:pt x="58062" y="32711"/>
                  <a:pt x="53349" y="32711"/>
                  <a:pt x="50447" y="35613"/>
                </a:cubicBezTo>
                <a:lnTo>
                  <a:pt x="28160" y="57900"/>
                </a:lnTo>
                <a:cubicBezTo>
                  <a:pt x="25258" y="60801"/>
                  <a:pt x="25258" y="65514"/>
                  <a:pt x="28160" y="68416"/>
                </a:cubicBezTo>
                <a:cubicBezTo>
                  <a:pt x="31062" y="71318"/>
                  <a:pt x="35775" y="71318"/>
                  <a:pt x="38677" y="68416"/>
                </a:cubicBezTo>
                <a:lnTo>
                  <a:pt x="55717" y="51376"/>
                </a:lnTo>
                <a:lnTo>
                  <a:pt x="69043" y="64702"/>
                </a:lnTo>
                <a:cubicBezTo>
                  <a:pt x="71945" y="67604"/>
                  <a:pt x="76658" y="67604"/>
                  <a:pt x="79560" y="64702"/>
                </a:cubicBezTo>
                <a:lnTo>
                  <a:pt x="109275" y="3498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739501" y="5712135"/>
            <a:ext cx="1044301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scores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58983" y="5737606"/>
            <a:ext cx="89148" cy="118864"/>
          </a:xfrm>
          <a:custGeom>
            <a:avLst/>
            <a:gdLst/>
            <a:ahLst/>
            <a:cxnLst/>
            <a:rect l="l" t="t" r="r" b="b"/>
            <a:pathLst>
              <a:path w="89148" h="118864">
                <a:moveTo>
                  <a:pt x="0" y="14858"/>
                </a:moveTo>
                <a:cubicBezTo>
                  <a:pt x="0" y="6663"/>
                  <a:pt x="6663" y="0"/>
                  <a:pt x="14858" y="0"/>
                </a:cubicBezTo>
                <a:lnTo>
                  <a:pt x="49565" y="0"/>
                </a:lnTo>
                <a:cubicBezTo>
                  <a:pt x="53512" y="0"/>
                  <a:pt x="57296" y="1555"/>
                  <a:pt x="60082" y="4341"/>
                </a:cubicBezTo>
                <a:lnTo>
                  <a:pt x="84806" y="29089"/>
                </a:lnTo>
                <a:cubicBezTo>
                  <a:pt x="87592" y="31875"/>
                  <a:pt x="89148" y="35659"/>
                  <a:pt x="89148" y="39606"/>
                </a:cubicBezTo>
                <a:lnTo>
                  <a:pt x="89148" y="104006"/>
                </a:lnTo>
                <a:cubicBezTo>
                  <a:pt x="89148" y="112201"/>
                  <a:pt x="82485" y="118864"/>
                  <a:pt x="74290" y="118864"/>
                </a:cubicBezTo>
                <a:lnTo>
                  <a:pt x="14858" y="118864"/>
                </a:lnTo>
                <a:cubicBezTo>
                  <a:pt x="6663" y="118864"/>
                  <a:pt x="0" y="112201"/>
                  <a:pt x="0" y="104006"/>
                </a:cubicBezTo>
                <a:lnTo>
                  <a:pt x="0" y="14858"/>
                </a:lnTo>
                <a:close/>
                <a:moveTo>
                  <a:pt x="48288" y="13581"/>
                </a:moveTo>
                <a:lnTo>
                  <a:pt x="48288" y="35288"/>
                </a:lnTo>
                <a:cubicBezTo>
                  <a:pt x="48288" y="38375"/>
                  <a:pt x="50772" y="40859"/>
                  <a:pt x="53860" y="40859"/>
                </a:cubicBezTo>
                <a:lnTo>
                  <a:pt x="75567" y="40859"/>
                </a:lnTo>
                <a:lnTo>
                  <a:pt x="48288" y="13581"/>
                </a:lnTo>
                <a:close/>
                <a:moveTo>
                  <a:pt x="27859" y="59432"/>
                </a:moveTo>
                <a:cubicBezTo>
                  <a:pt x="24771" y="59432"/>
                  <a:pt x="22287" y="61916"/>
                  <a:pt x="22287" y="65003"/>
                </a:cubicBezTo>
                <a:cubicBezTo>
                  <a:pt x="22287" y="68091"/>
                  <a:pt x="24771" y="70575"/>
                  <a:pt x="27859" y="70575"/>
                </a:cubicBezTo>
                <a:lnTo>
                  <a:pt x="61289" y="70575"/>
                </a:lnTo>
                <a:cubicBezTo>
                  <a:pt x="64377" y="70575"/>
                  <a:pt x="66861" y="68091"/>
                  <a:pt x="66861" y="65003"/>
                </a:cubicBezTo>
                <a:cubicBezTo>
                  <a:pt x="66861" y="61916"/>
                  <a:pt x="64377" y="59432"/>
                  <a:pt x="61289" y="59432"/>
                </a:cubicBezTo>
                <a:lnTo>
                  <a:pt x="27859" y="59432"/>
                </a:lnTo>
                <a:close/>
                <a:moveTo>
                  <a:pt x="27859" y="81719"/>
                </a:moveTo>
                <a:cubicBezTo>
                  <a:pt x="24771" y="81719"/>
                  <a:pt x="22287" y="84203"/>
                  <a:pt x="22287" y="87290"/>
                </a:cubicBezTo>
                <a:cubicBezTo>
                  <a:pt x="22287" y="90378"/>
                  <a:pt x="24771" y="92862"/>
                  <a:pt x="27859" y="92862"/>
                </a:cubicBezTo>
                <a:lnTo>
                  <a:pt x="61289" y="92862"/>
                </a:lnTo>
                <a:cubicBezTo>
                  <a:pt x="64377" y="92862"/>
                  <a:pt x="66861" y="90378"/>
                  <a:pt x="66861" y="87290"/>
                </a:cubicBezTo>
                <a:cubicBezTo>
                  <a:pt x="66861" y="84203"/>
                  <a:pt x="64377" y="81719"/>
                  <a:pt x="61289" y="81719"/>
                </a:cubicBezTo>
                <a:lnTo>
                  <a:pt x="27859" y="8171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3443646" y="5712135"/>
            <a:ext cx="67922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reports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6103" y="1192031"/>
            <a:ext cx="5669789" cy="2808575"/>
          </a:xfrm>
          <a:prstGeom prst="roundRect">
            <a:avLst>
              <a:gd name="adj" fmla="val 2418"/>
            </a:avLst>
          </a:prstGeom>
          <a:solidFill>
            <a:srgbClr val="5F737C">
              <a:alpha val="20000"/>
            </a:srgbClr>
          </a:solidFill>
          <a:ln w="10160">
            <a:solidFill>
              <a:srgbClr val="5F737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6853" y="1365235"/>
            <a:ext cx="540829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Overview</a:t>
            </a:r>
            <a:endParaRPr lang="en-US" sz="1600" dirty="0"/>
          </a:p>
        </p:txBody>
      </p:sp>
      <p:pic>
        <p:nvPicPr>
          <p:cNvPr id="39" name="Image 0" descr="https://kimi-img.moonshot.cn/pub/slides/26-06-04-23:56:52-d8gq0h0lrq4vtqjlkap0.png"/>
          <p:cNvPicPr>
            <a:picLocks noChangeAspect="1"/>
          </p:cNvPicPr>
          <p:nvPr/>
        </p:nvPicPr>
        <p:blipFill>
          <a:blip r:embed="rId3"/>
          <a:srcRect l="80" r="80"/>
          <a:stretch/>
        </p:blipFill>
        <p:spPr>
          <a:xfrm>
            <a:off x="6359304" y="1704845"/>
            <a:ext cx="4652657" cy="2122563"/>
          </a:xfrm>
          <a:prstGeom prst="roundRect">
            <a:avLst>
              <a:gd name="adj" fmla="val 0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6199687" y="4139847"/>
            <a:ext cx="5654507" cy="2207465"/>
          </a:xfrm>
          <a:custGeom>
            <a:avLst/>
            <a:gdLst/>
            <a:ahLst/>
            <a:cxnLst/>
            <a:rect l="l" t="t" r="r" b="b"/>
            <a:pathLst>
              <a:path w="5654507" h="2207465">
                <a:moveTo>
                  <a:pt x="33909" y="0"/>
                </a:moveTo>
                <a:lnTo>
                  <a:pt x="5586603" y="0"/>
                </a:lnTo>
                <a:cubicBezTo>
                  <a:pt x="5624128" y="0"/>
                  <a:pt x="5654548" y="30420"/>
                  <a:pt x="5654548" y="67945"/>
                </a:cubicBezTo>
                <a:lnTo>
                  <a:pt x="5654548" y="2139569"/>
                </a:lnTo>
                <a:cubicBezTo>
                  <a:pt x="5654548" y="2177094"/>
                  <a:pt x="5624128" y="2207514"/>
                  <a:pt x="5586603" y="2207514"/>
                </a:cubicBezTo>
                <a:lnTo>
                  <a:pt x="33909" y="2207514"/>
                </a:lnTo>
                <a:cubicBezTo>
                  <a:pt x="24894" y="2207514"/>
                  <a:pt x="16250" y="2203924"/>
                  <a:pt x="9887" y="2197537"/>
                </a:cubicBezTo>
                <a:cubicBezTo>
                  <a:pt x="3524" y="2191151"/>
                  <a:pt x="-34" y="2182493"/>
                  <a:pt x="0" y="2173478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1" name="Shape 38"/>
          <p:cNvSpPr/>
          <p:nvPr/>
        </p:nvSpPr>
        <p:spPr>
          <a:xfrm>
            <a:off x="6199687" y="4139847"/>
            <a:ext cx="33961" cy="2207465"/>
          </a:xfrm>
          <a:custGeom>
            <a:avLst/>
            <a:gdLst/>
            <a:ahLst/>
            <a:cxnLst/>
            <a:rect l="l" t="t" r="r" b="b"/>
            <a:pathLst>
              <a:path w="33961" h="2207465">
                <a:moveTo>
                  <a:pt x="33909" y="0"/>
                </a:moveTo>
                <a:lnTo>
                  <a:pt x="33909" y="0"/>
                </a:lnTo>
                <a:lnTo>
                  <a:pt x="33909" y="2207514"/>
                </a:lnTo>
                <a:lnTo>
                  <a:pt x="33909" y="2207514"/>
                </a:lnTo>
                <a:cubicBezTo>
                  <a:pt x="24894" y="2207514"/>
                  <a:pt x="16250" y="2203924"/>
                  <a:pt x="9887" y="2197537"/>
                </a:cubicBezTo>
                <a:cubicBezTo>
                  <a:pt x="3524" y="2191151"/>
                  <a:pt x="-34" y="2182493"/>
                  <a:pt x="0" y="2173478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Shape 39"/>
          <p:cNvSpPr/>
          <p:nvPr/>
        </p:nvSpPr>
        <p:spPr>
          <a:xfrm>
            <a:off x="6407699" y="4336823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42451" y="106128"/>
                </a:moveTo>
                <a:lnTo>
                  <a:pt x="8125" y="106128"/>
                </a:lnTo>
                <a:cubicBezTo>
                  <a:pt x="-133" y="106128"/>
                  <a:pt x="-5207" y="97140"/>
                  <a:pt x="-962" y="90043"/>
                </a:cubicBezTo>
                <a:lnTo>
                  <a:pt x="16583" y="60792"/>
                </a:lnTo>
                <a:cubicBezTo>
                  <a:pt x="19468" y="55983"/>
                  <a:pt x="24642" y="53064"/>
                  <a:pt x="30247" y="53064"/>
                </a:cubicBezTo>
                <a:lnTo>
                  <a:pt x="61753" y="53064"/>
                </a:lnTo>
                <a:cubicBezTo>
                  <a:pt x="86992" y="10314"/>
                  <a:pt x="124634" y="8159"/>
                  <a:pt x="149806" y="11840"/>
                </a:cubicBezTo>
                <a:cubicBezTo>
                  <a:pt x="154052" y="12470"/>
                  <a:pt x="157368" y="15787"/>
                  <a:pt x="157965" y="19999"/>
                </a:cubicBezTo>
                <a:cubicBezTo>
                  <a:pt x="161646" y="45171"/>
                  <a:pt x="159491" y="82813"/>
                  <a:pt x="116741" y="108052"/>
                </a:cubicBezTo>
                <a:lnTo>
                  <a:pt x="116741" y="139558"/>
                </a:lnTo>
                <a:cubicBezTo>
                  <a:pt x="116741" y="145163"/>
                  <a:pt x="113822" y="150337"/>
                  <a:pt x="109013" y="153222"/>
                </a:cubicBezTo>
                <a:lnTo>
                  <a:pt x="79762" y="170767"/>
                </a:lnTo>
                <a:cubicBezTo>
                  <a:pt x="72698" y="175012"/>
                  <a:pt x="63677" y="169905"/>
                  <a:pt x="63677" y="161680"/>
                </a:cubicBezTo>
                <a:lnTo>
                  <a:pt x="63677" y="127354"/>
                </a:lnTo>
                <a:cubicBezTo>
                  <a:pt x="63677" y="115647"/>
                  <a:pt x="54159" y="106128"/>
                  <a:pt x="42451" y="106128"/>
                </a:cubicBezTo>
                <a:lnTo>
                  <a:pt x="42418" y="106128"/>
                </a:lnTo>
                <a:close/>
                <a:moveTo>
                  <a:pt x="132660" y="53064"/>
                </a:moveTo>
                <a:cubicBezTo>
                  <a:pt x="132660" y="44278"/>
                  <a:pt x="125527" y="37145"/>
                  <a:pt x="116741" y="37145"/>
                </a:cubicBezTo>
                <a:cubicBezTo>
                  <a:pt x="107955" y="37145"/>
                  <a:pt x="100822" y="44278"/>
                  <a:pt x="100822" y="53064"/>
                </a:cubicBezTo>
                <a:cubicBezTo>
                  <a:pt x="100822" y="61850"/>
                  <a:pt x="107955" y="68983"/>
                  <a:pt x="116741" y="68983"/>
                </a:cubicBezTo>
                <a:cubicBezTo>
                  <a:pt x="125527" y="68983"/>
                  <a:pt x="132660" y="61850"/>
                  <a:pt x="132660" y="5306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0"/>
          <p:cNvSpPr/>
          <p:nvPr/>
        </p:nvSpPr>
        <p:spPr>
          <a:xfrm>
            <a:off x="6644137" y="4309652"/>
            <a:ext cx="512515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86473" y="4649262"/>
            <a:ext cx="5297916" cy="1528245"/>
          </a:xfrm>
          <a:prstGeom prst="roundRect">
            <a:avLst>
              <a:gd name="adj" fmla="val 4444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8781679" y="4853028"/>
            <a:ext cx="509415" cy="509415"/>
          </a:xfrm>
          <a:custGeom>
            <a:avLst/>
            <a:gdLst/>
            <a:ahLst/>
            <a:cxnLst/>
            <a:rect l="l" t="t" r="r" b="b"/>
            <a:pathLst>
              <a:path w="509415" h="509415">
                <a:moveTo>
                  <a:pt x="0" y="254708"/>
                </a:moveTo>
                <a:cubicBezTo>
                  <a:pt x="0" y="114131"/>
                  <a:pt x="114131" y="0"/>
                  <a:pt x="254708" y="0"/>
                </a:cubicBezTo>
                <a:cubicBezTo>
                  <a:pt x="395284" y="0"/>
                  <a:pt x="509415" y="114131"/>
                  <a:pt x="509415" y="254708"/>
                </a:cubicBezTo>
                <a:cubicBezTo>
                  <a:pt x="509415" y="395284"/>
                  <a:pt x="395284" y="509415"/>
                  <a:pt x="254708" y="509415"/>
                </a:cubicBezTo>
                <a:cubicBezTo>
                  <a:pt x="114131" y="509415"/>
                  <a:pt x="0" y="395284"/>
                  <a:pt x="0" y="254708"/>
                </a:cubicBezTo>
                <a:close/>
                <a:moveTo>
                  <a:pt x="187349" y="146357"/>
                </a:moveTo>
                <a:cubicBezTo>
                  <a:pt x="179788" y="150536"/>
                  <a:pt x="175111" y="158595"/>
                  <a:pt x="175111" y="167152"/>
                </a:cubicBezTo>
                <a:lnTo>
                  <a:pt x="175111" y="342263"/>
                </a:lnTo>
                <a:cubicBezTo>
                  <a:pt x="175111" y="350919"/>
                  <a:pt x="179788" y="358879"/>
                  <a:pt x="187349" y="363058"/>
                </a:cubicBezTo>
                <a:cubicBezTo>
                  <a:pt x="194911" y="367237"/>
                  <a:pt x="204065" y="367137"/>
                  <a:pt x="211527" y="362560"/>
                </a:cubicBezTo>
                <a:lnTo>
                  <a:pt x="354800" y="275005"/>
                </a:lnTo>
                <a:cubicBezTo>
                  <a:pt x="361864" y="270627"/>
                  <a:pt x="366242" y="262966"/>
                  <a:pt x="366242" y="254608"/>
                </a:cubicBezTo>
                <a:cubicBezTo>
                  <a:pt x="366242" y="246250"/>
                  <a:pt x="361864" y="238589"/>
                  <a:pt x="354800" y="234212"/>
                </a:cubicBezTo>
                <a:lnTo>
                  <a:pt x="211527" y="146656"/>
                </a:lnTo>
                <a:cubicBezTo>
                  <a:pt x="204164" y="142179"/>
                  <a:pt x="194911" y="141980"/>
                  <a:pt x="187349" y="14615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3"/>
          <p:cNvSpPr/>
          <p:nvPr/>
        </p:nvSpPr>
        <p:spPr>
          <a:xfrm>
            <a:off x="6552033" y="5498287"/>
            <a:ext cx="49667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Watch System Demo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560523" y="5803936"/>
            <a:ext cx="494981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walkthrough of detection capabilities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56591" y="6449195"/>
            <a:ext cx="11495799" cy="407532"/>
          </a:xfrm>
          <a:custGeom>
            <a:avLst/>
            <a:gdLst/>
            <a:ahLst/>
            <a:cxnLst/>
            <a:rect l="l" t="t" r="r" b="b"/>
            <a:pathLst>
              <a:path w="11495799" h="407532">
                <a:moveTo>
                  <a:pt x="33909" y="0"/>
                </a:moveTo>
                <a:lnTo>
                  <a:pt x="11427841" y="0"/>
                </a:lnTo>
                <a:cubicBezTo>
                  <a:pt x="11465366" y="0"/>
                  <a:pt x="11495786" y="30420"/>
                  <a:pt x="11495786" y="67945"/>
                </a:cubicBezTo>
                <a:lnTo>
                  <a:pt x="11495786" y="339598"/>
                </a:lnTo>
                <a:cubicBezTo>
                  <a:pt x="11495786" y="377123"/>
                  <a:pt x="11465366" y="407543"/>
                  <a:pt x="11427841" y="407543"/>
                </a:cubicBezTo>
                <a:lnTo>
                  <a:pt x="33909" y="407543"/>
                </a:lnTo>
                <a:cubicBezTo>
                  <a:pt x="15182" y="407543"/>
                  <a:pt x="0" y="392361"/>
                  <a:pt x="0" y="373634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356591" y="6449195"/>
            <a:ext cx="33961" cy="407532"/>
          </a:xfrm>
          <a:custGeom>
            <a:avLst/>
            <a:gdLst/>
            <a:ahLst/>
            <a:cxnLst/>
            <a:rect l="l" t="t" r="r" b="b"/>
            <a:pathLst>
              <a:path w="33961" h="407532">
                <a:moveTo>
                  <a:pt x="33909" y="0"/>
                </a:moveTo>
                <a:lnTo>
                  <a:pt x="33909" y="0"/>
                </a:lnTo>
                <a:lnTo>
                  <a:pt x="33909" y="407543"/>
                </a:lnTo>
                <a:lnTo>
                  <a:pt x="33909" y="407543"/>
                </a:lnTo>
                <a:cubicBezTo>
                  <a:pt x="15182" y="407543"/>
                  <a:pt x="0" y="392361"/>
                  <a:pt x="0" y="373634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Shape 47"/>
          <p:cNvSpPr/>
          <p:nvPr/>
        </p:nvSpPr>
        <p:spPr>
          <a:xfrm>
            <a:off x="492435" y="6578245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59432" y="42451"/>
                </a:moveTo>
                <a:cubicBezTo>
                  <a:pt x="59432" y="37765"/>
                  <a:pt x="63236" y="33961"/>
                  <a:pt x="67922" y="33961"/>
                </a:cubicBezTo>
                <a:cubicBezTo>
                  <a:pt x="72608" y="33961"/>
                  <a:pt x="76412" y="37765"/>
                  <a:pt x="76412" y="42451"/>
                </a:cubicBezTo>
                <a:cubicBezTo>
                  <a:pt x="76412" y="47137"/>
                  <a:pt x="72608" y="50942"/>
                  <a:pt x="67922" y="50942"/>
                </a:cubicBezTo>
                <a:cubicBezTo>
                  <a:pt x="63236" y="50942"/>
                  <a:pt x="59432" y="47137"/>
                  <a:pt x="59432" y="42451"/>
                </a:cubicBezTo>
                <a:close/>
                <a:moveTo>
                  <a:pt x="57309" y="59432"/>
                </a:moveTo>
                <a:lnTo>
                  <a:pt x="70045" y="59432"/>
                </a:lnTo>
                <a:cubicBezTo>
                  <a:pt x="73573" y="59432"/>
                  <a:pt x="76412" y="62271"/>
                  <a:pt x="76412" y="65799"/>
                </a:cubicBezTo>
                <a:lnTo>
                  <a:pt x="76412" y="89148"/>
                </a:lnTo>
                <a:lnTo>
                  <a:pt x="78535" y="89148"/>
                </a:lnTo>
                <a:cubicBezTo>
                  <a:pt x="82064" y="89148"/>
                  <a:pt x="84903" y="91987"/>
                  <a:pt x="84903" y="95515"/>
                </a:cubicBezTo>
                <a:cubicBezTo>
                  <a:pt x="84903" y="99044"/>
                  <a:pt x="82064" y="101883"/>
                  <a:pt x="78535" y="101883"/>
                </a:cubicBezTo>
                <a:lnTo>
                  <a:pt x="57309" y="101883"/>
                </a:lnTo>
                <a:cubicBezTo>
                  <a:pt x="53780" y="101883"/>
                  <a:pt x="50942" y="99044"/>
                  <a:pt x="50942" y="95515"/>
                </a:cubicBezTo>
                <a:cubicBezTo>
                  <a:pt x="50942" y="91987"/>
                  <a:pt x="53780" y="89148"/>
                  <a:pt x="57309" y="89148"/>
                </a:cubicBezTo>
                <a:lnTo>
                  <a:pt x="63677" y="89148"/>
                </a:lnTo>
                <a:lnTo>
                  <a:pt x="63677" y="72167"/>
                </a:lnTo>
                <a:lnTo>
                  <a:pt x="57309" y="72167"/>
                </a:lnTo>
                <a:cubicBezTo>
                  <a:pt x="53780" y="72167"/>
                  <a:pt x="50942" y="69328"/>
                  <a:pt x="50942" y="65799"/>
                </a:cubicBezTo>
                <a:cubicBezTo>
                  <a:pt x="50942" y="62271"/>
                  <a:pt x="53780" y="59432"/>
                  <a:pt x="57309" y="5943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8"/>
          <p:cNvSpPr/>
          <p:nvPr/>
        </p:nvSpPr>
        <p:spPr>
          <a:xfrm>
            <a:off x="690667" y="6551082"/>
            <a:ext cx="1112776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r>
              <a:rPr lang="en-US" sz="107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Screenshots of the Streamlit application showing image detection with Grad-CAM heatmap and video ECF report are available in the project documentation.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466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Constraints and Areas for Improvement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713" y="1676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157163"/>
                </a:moveTo>
                <a:lnTo>
                  <a:pt x="42863" y="157163"/>
                </a:lnTo>
                <a:lnTo>
                  <a:pt x="102736" y="210383"/>
                </a:lnTo>
                <a:cubicBezTo>
                  <a:pt x="105594" y="212928"/>
                  <a:pt x="109255" y="214313"/>
                  <a:pt x="113050" y="214313"/>
                </a:cubicBezTo>
                <a:cubicBezTo>
                  <a:pt x="121622" y="214313"/>
                  <a:pt x="128588" y="207347"/>
                  <a:pt x="128588" y="198775"/>
                </a:cubicBezTo>
                <a:lnTo>
                  <a:pt x="128588" y="29825"/>
                </a:lnTo>
                <a:cubicBezTo>
                  <a:pt x="128588" y="21253"/>
                  <a:pt x="121622" y="14288"/>
                  <a:pt x="113050" y="14288"/>
                </a:cubicBezTo>
                <a:cubicBezTo>
                  <a:pt x="109255" y="14288"/>
                  <a:pt x="105594" y="15672"/>
                  <a:pt x="102736" y="18217"/>
                </a:cubicBezTo>
                <a:lnTo>
                  <a:pt x="42863" y="71438"/>
                </a:lnTo>
                <a:lnTo>
                  <a:pt x="21431" y="71438"/>
                </a:lnTo>
                <a:cubicBezTo>
                  <a:pt x="9599" y="71438"/>
                  <a:pt x="0" y="81037"/>
                  <a:pt x="0" y="92869"/>
                </a:cubicBezTo>
                <a:lnTo>
                  <a:pt x="0" y="135731"/>
                </a:lnTo>
                <a:cubicBezTo>
                  <a:pt x="0" y="147563"/>
                  <a:pt x="9599" y="157163"/>
                  <a:pt x="21431" y="157163"/>
                </a:cubicBezTo>
                <a:close/>
                <a:moveTo>
                  <a:pt x="163860" y="78135"/>
                </a:moveTo>
                <a:cubicBezTo>
                  <a:pt x="159663" y="82332"/>
                  <a:pt x="159663" y="89118"/>
                  <a:pt x="163860" y="93271"/>
                </a:cubicBezTo>
                <a:lnTo>
                  <a:pt x="184845" y="114255"/>
                </a:lnTo>
                <a:lnTo>
                  <a:pt x="163860" y="135240"/>
                </a:lnTo>
                <a:cubicBezTo>
                  <a:pt x="159663" y="139437"/>
                  <a:pt x="159663" y="146224"/>
                  <a:pt x="163860" y="150376"/>
                </a:cubicBezTo>
                <a:cubicBezTo>
                  <a:pt x="168057" y="154528"/>
                  <a:pt x="174843" y="154573"/>
                  <a:pt x="178996" y="150376"/>
                </a:cubicBezTo>
                <a:lnTo>
                  <a:pt x="199980" y="129391"/>
                </a:lnTo>
                <a:lnTo>
                  <a:pt x="220965" y="150376"/>
                </a:lnTo>
                <a:cubicBezTo>
                  <a:pt x="225162" y="154573"/>
                  <a:pt x="231949" y="154573"/>
                  <a:pt x="236101" y="150376"/>
                </a:cubicBezTo>
                <a:cubicBezTo>
                  <a:pt x="240253" y="146179"/>
                  <a:pt x="240298" y="139392"/>
                  <a:pt x="236101" y="135240"/>
                </a:cubicBezTo>
                <a:lnTo>
                  <a:pt x="215116" y="114255"/>
                </a:lnTo>
                <a:lnTo>
                  <a:pt x="236101" y="93271"/>
                </a:lnTo>
                <a:cubicBezTo>
                  <a:pt x="240298" y="89074"/>
                  <a:pt x="240298" y="82287"/>
                  <a:pt x="236101" y="78135"/>
                </a:cubicBezTo>
                <a:cubicBezTo>
                  <a:pt x="231904" y="73982"/>
                  <a:pt x="225117" y="73938"/>
                  <a:pt x="220965" y="78135"/>
                </a:cubicBezTo>
                <a:lnTo>
                  <a:pt x="199980" y="99120"/>
                </a:lnTo>
                <a:lnTo>
                  <a:pt x="178996" y="78135"/>
                </a:lnTo>
                <a:cubicBezTo>
                  <a:pt x="174799" y="73938"/>
                  <a:pt x="168012" y="73938"/>
                  <a:pt x="163860" y="7813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5240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Dependency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8669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ECF requires </a:t>
            </a: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audio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fails on silent videos or those with heavy background noise.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051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400050" y="27051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2895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0B10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7713" y="3048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139080" y="109701"/>
                </a:lnTo>
                <a:cubicBezTo>
                  <a:pt x="163637" y="104835"/>
                  <a:pt x="182166" y="83135"/>
                  <a:pt x="182166" y="57150"/>
                </a:cubicBezTo>
                <a:cubicBezTo>
                  <a:pt x="182166" y="27548"/>
                  <a:pt x="158189" y="3572"/>
                  <a:pt x="128588" y="3572"/>
                </a:cubicBezTo>
                <a:cubicBezTo>
                  <a:pt x="102602" y="3572"/>
                  <a:pt x="80903" y="22101"/>
                  <a:pt x="76036" y="46658"/>
                </a:cubicBezTo>
                <a:lnTo>
                  <a:pt x="18306" y="-11117"/>
                </a:lnTo>
                <a:close/>
                <a:moveTo>
                  <a:pt x="105192" y="136356"/>
                </a:moveTo>
                <a:cubicBezTo>
                  <a:pt x="66035" y="141357"/>
                  <a:pt x="35719" y="174799"/>
                  <a:pt x="35719" y="215339"/>
                </a:cubicBezTo>
                <a:cubicBezTo>
                  <a:pt x="35719" y="222662"/>
                  <a:pt x="41657" y="228600"/>
                  <a:pt x="48979" y="228600"/>
                </a:cubicBezTo>
                <a:lnTo>
                  <a:pt x="197435" y="228600"/>
                </a:lnTo>
                <a:lnTo>
                  <a:pt x="105192" y="136356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8956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Occlusions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2385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 struggles with </a:t>
            </a: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extreme facial angles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occlusions like masks and glasses.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0767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400050" y="40767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267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7713" y="4419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-2232" y="52685"/>
                </a:moveTo>
                <a:lnTo>
                  <a:pt x="10492" y="124882"/>
                </a:lnTo>
                <a:cubicBezTo>
                  <a:pt x="16743" y="160377"/>
                  <a:pt x="44559" y="188193"/>
                  <a:pt x="80055" y="194444"/>
                </a:cubicBezTo>
                <a:lnTo>
                  <a:pt x="85725" y="195426"/>
                </a:lnTo>
                <a:cubicBezTo>
                  <a:pt x="78358" y="182657"/>
                  <a:pt x="73625" y="168325"/>
                  <a:pt x="72063" y="153233"/>
                </a:cubicBezTo>
                <a:lnTo>
                  <a:pt x="61302" y="155153"/>
                </a:lnTo>
                <a:cubicBezTo>
                  <a:pt x="56971" y="155912"/>
                  <a:pt x="52908" y="152564"/>
                  <a:pt x="53757" y="148233"/>
                </a:cubicBezTo>
                <a:cubicBezTo>
                  <a:pt x="55900" y="137205"/>
                  <a:pt x="62285" y="127427"/>
                  <a:pt x="71482" y="121042"/>
                </a:cubicBezTo>
                <a:lnTo>
                  <a:pt x="71482" y="87734"/>
                </a:lnTo>
                <a:cubicBezTo>
                  <a:pt x="70857" y="88091"/>
                  <a:pt x="70143" y="88315"/>
                  <a:pt x="69384" y="88449"/>
                </a:cubicBezTo>
                <a:lnTo>
                  <a:pt x="41255" y="93405"/>
                </a:lnTo>
                <a:cubicBezTo>
                  <a:pt x="37371" y="94074"/>
                  <a:pt x="33531" y="91440"/>
                  <a:pt x="34156" y="87556"/>
                </a:cubicBezTo>
                <a:cubicBezTo>
                  <a:pt x="35540" y="78804"/>
                  <a:pt x="42371" y="71482"/>
                  <a:pt x="51614" y="69830"/>
                </a:cubicBezTo>
                <a:cubicBezTo>
                  <a:pt x="59293" y="68491"/>
                  <a:pt x="66749" y="71393"/>
                  <a:pt x="71527" y="76885"/>
                </a:cubicBezTo>
                <a:lnTo>
                  <a:pt x="71527" y="66749"/>
                </a:lnTo>
                <a:cubicBezTo>
                  <a:pt x="71527" y="56704"/>
                  <a:pt x="74608" y="43354"/>
                  <a:pt x="85948" y="33977"/>
                </a:cubicBezTo>
                <a:cubicBezTo>
                  <a:pt x="97557" y="24378"/>
                  <a:pt x="116175" y="14377"/>
                  <a:pt x="141714" y="9778"/>
                </a:cubicBezTo>
                <a:cubicBezTo>
                  <a:pt x="128096" y="2500"/>
                  <a:pt x="103183" y="-4509"/>
                  <a:pt x="68580" y="1563"/>
                </a:cubicBezTo>
                <a:cubicBezTo>
                  <a:pt x="32727" y="7903"/>
                  <a:pt x="11430" y="23932"/>
                  <a:pt x="1563" y="35540"/>
                </a:cubicBezTo>
                <a:cubicBezTo>
                  <a:pt x="-2456" y="40228"/>
                  <a:pt x="-3259" y="46658"/>
                  <a:pt x="-2188" y="52730"/>
                </a:cubicBezTo>
                <a:close/>
                <a:moveTo>
                  <a:pt x="92869" y="61927"/>
                </a:moveTo>
                <a:lnTo>
                  <a:pt x="92869" y="139973"/>
                </a:lnTo>
                <a:cubicBezTo>
                  <a:pt x="92869" y="176004"/>
                  <a:pt x="115416" y="208240"/>
                  <a:pt x="149304" y="220519"/>
                </a:cubicBezTo>
                <a:lnTo>
                  <a:pt x="161672" y="225028"/>
                </a:lnTo>
                <a:cubicBezTo>
                  <a:pt x="167967" y="227305"/>
                  <a:pt x="174888" y="227305"/>
                  <a:pt x="181183" y="225028"/>
                </a:cubicBezTo>
                <a:lnTo>
                  <a:pt x="193596" y="220563"/>
                </a:lnTo>
                <a:cubicBezTo>
                  <a:pt x="227484" y="208240"/>
                  <a:pt x="250031" y="176049"/>
                  <a:pt x="250031" y="139973"/>
                </a:cubicBezTo>
                <a:lnTo>
                  <a:pt x="250031" y="61927"/>
                </a:lnTo>
                <a:cubicBezTo>
                  <a:pt x="250031" y="58847"/>
                  <a:pt x="249094" y="55766"/>
                  <a:pt x="246906" y="53623"/>
                </a:cubicBezTo>
                <a:cubicBezTo>
                  <a:pt x="236815" y="43577"/>
                  <a:pt x="211991" y="28620"/>
                  <a:pt x="171450" y="28620"/>
                </a:cubicBezTo>
                <a:cubicBezTo>
                  <a:pt x="130909" y="28620"/>
                  <a:pt x="106085" y="43622"/>
                  <a:pt x="95994" y="53623"/>
                </a:cubicBezTo>
                <a:cubicBezTo>
                  <a:pt x="93806" y="55811"/>
                  <a:pt x="92869" y="58847"/>
                  <a:pt x="92869" y="61927"/>
                </a:cubicBezTo>
                <a:close/>
                <a:moveTo>
                  <a:pt x="122381" y="145465"/>
                </a:moveTo>
                <a:cubicBezTo>
                  <a:pt x="121756" y="142339"/>
                  <a:pt x="125507" y="140553"/>
                  <a:pt x="128052" y="142518"/>
                </a:cubicBezTo>
                <a:cubicBezTo>
                  <a:pt x="140062" y="151715"/>
                  <a:pt x="155109" y="157207"/>
                  <a:pt x="171450" y="157207"/>
                </a:cubicBezTo>
                <a:cubicBezTo>
                  <a:pt x="187791" y="157207"/>
                  <a:pt x="202793" y="151715"/>
                  <a:pt x="214848" y="142518"/>
                </a:cubicBezTo>
                <a:cubicBezTo>
                  <a:pt x="217393" y="140553"/>
                  <a:pt x="221144" y="142339"/>
                  <a:pt x="220519" y="145465"/>
                </a:cubicBezTo>
                <a:cubicBezTo>
                  <a:pt x="216009" y="168414"/>
                  <a:pt x="195739" y="185782"/>
                  <a:pt x="171450" y="185782"/>
                </a:cubicBezTo>
                <a:cubicBezTo>
                  <a:pt x="147161" y="185782"/>
                  <a:pt x="126891" y="168459"/>
                  <a:pt x="122381" y="145465"/>
                </a:cubicBezTo>
                <a:close/>
                <a:moveTo>
                  <a:pt x="122605" y="100146"/>
                </a:moveTo>
                <a:cubicBezTo>
                  <a:pt x="125551" y="91753"/>
                  <a:pt x="133499" y="85725"/>
                  <a:pt x="142875" y="85725"/>
                </a:cubicBezTo>
                <a:cubicBezTo>
                  <a:pt x="152251" y="85725"/>
                  <a:pt x="160243" y="91753"/>
                  <a:pt x="163145" y="100146"/>
                </a:cubicBezTo>
                <a:cubicBezTo>
                  <a:pt x="164440" y="103897"/>
                  <a:pt x="161136" y="107156"/>
                  <a:pt x="157163" y="107156"/>
                </a:cubicBezTo>
                <a:lnTo>
                  <a:pt x="128588" y="107156"/>
                </a:lnTo>
                <a:cubicBezTo>
                  <a:pt x="124658" y="107156"/>
                  <a:pt x="121310" y="103852"/>
                  <a:pt x="122605" y="100146"/>
                </a:cubicBezTo>
                <a:close/>
                <a:moveTo>
                  <a:pt x="214313" y="107156"/>
                </a:moveTo>
                <a:lnTo>
                  <a:pt x="185738" y="107156"/>
                </a:lnTo>
                <a:cubicBezTo>
                  <a:pt x="181808" y="107156"/>
                  <a:pt x="178460" y="103852"/>
                  <a:pt x="179755" y="100146"/>
                </a:cubicBezTo>
                <a:cubicBezTo>
                  <a:pt x="182657" y="91753"/>
                  <a:pt x="190649" y="85725"/>
                  <a:pt x="200025" y="85725"/>
                </a:cubicBezTo>
                <a:cubicBezTo>
                  <a:pt x="209401" y="85725"/>
                  <a:pt x="217393" y="91753"/>
                  <a:pt x="220295" y="100146"/>
                </a:cubicBezTo>
                <a:cubicBezTo>
                  <a:pt x="221590" y="103897"/>
                  <a:pt x="218286" y="107156"/>
                  <a:pt x="214313" y="107156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42672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46101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emotional acting (e.g., </a:t>
            </a: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sarcasm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can trigger false positives in the ECF module.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3335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210300" y="1333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850" y="152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7225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05650" y="15240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05650" y="18669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on </a:t>
            </a: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is high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GPU is recommended for real-time video analysis.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8870" y="2712720"/>
            <a:ext cx="5606415" cy="3187065"/>
          </a:xfrm>
          <a:prstGeom prst="roundRect">
            <a:avLst>
              <a:gd name="adj" fmla="val 2391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4615" y="294131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6692265" y="2910846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 Strategies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6040" y="33680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6701790" y="3329946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Enhancement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01790" y="3558546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noise reduction preprocessing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6040" y="39014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Text 34"/>
          <p:cNvSpPr/>
          <p:nvPr/>
        </p:nvSpPr>
        <p:spPr>
          <a:xfrm>
            <a:off x="6701790" y="3863346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Multi-Angle Training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01790" y="4091946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FER on occluded and angled faces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6040" y="44348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6701790" y="4396746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Analysis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01790" y="4625346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contextual cues to reduce false positives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6040" y="49682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6701790" y="4930146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Optimization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01790" y="5158746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acceleration and model quantization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381000"/>
                </a:lnTo>
                <a:cubicBezTo>
                  <a:pt x="11410950" y="423056"/>
                  <a:pt x="11376806" y="457200"/>
                  <a:pt x="1133475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37C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Shape 44"/>
          <p:cNvSpPr/>
          <p:nvPr/>
        </p:nvSpPr>
        <p:spPr>
          <a:xfrm>
            <a:off x="552450" y="61645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7" name="Text 45"/>
          <p:cNvSpPr/>
          <p:nvPr/>
        </p:nvSpPr>
        <p:spPr>
          <a:xfrm>
            <a:off x="781050" y="6134100"/>
            <a:ext cx="1099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Insight: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limitations represent active research areas in the deepfake detection community, providing clear directions for future development.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5F737C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D4A37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81000"/>
            <a:ext cx="551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 and Research Directions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8620" y="1341120"/>
            <a:ext cx="5606415" cy="2872740"/>
          </a:xfrm>
          <a:prstGeom prst="roundRect">
            <a:avLst>
              <a:gd name="adj" fmla="val 2653"/>
            </a:avLst>
          </a:pr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5F737C">
                  <a:alpha val="20000"/>
                </a:srgbClr>
              </a:gs>
            </a:gsLst>
            <a:lin ang="2700000" scaled="1"/>
          </a:gradFill>
          <a:ln w="20320">
            <a:solidFill>
              <a:srgbClr val="D4A373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4840" y="1548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9" name="Text 6"/>
          <p:cNvSpPr/>
          <p:nvPr/>
        </p:nvSpPr>
        <p:spPr>
          <a:xfrm>
            <a:off x="1058227" y="1539246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6740" y="19963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1" name="Shape 8"/>
          <p:cNvSpPr/>
          <p:nvPr/>
        </p:nvSpPr>
        <p:spPr>
          <a:xfrm>
            <a:off x="693896" y="2101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9"/>
          <p:cNvSpPr/>
          <p:nvPr/>
        </p:nvSpPr>
        <p:spPr>
          <a:xfrm>
            <a:off x="1082040" y="1996325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System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82040" y="2224925"/>
            <a:ext cx="415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developed a comprehensive DeepFake detection system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6740" y="2529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5" name="Shape 12"/>
          <p:cNvSpPr/>
          <p:nvPr/>
        </p:nvSpPr>
        <p:spPr>
          <a:xfrm>
            <a:off x="683181" y="2634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3"/>
          <p:cNvSpPr/>
          <p:nvPr/>
        </p:nvSpPr>
        <p:spPr>
          <a:xfrm>
            <a:off x="1082040" y="2529725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Novel ECF Module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2040" y="2758325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Introduced behavioral forensics dimension for cross-modal analysis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6740" y="3063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9" name="Shape 16"/>
          <p:cNvSpPr/>
          <p:nvPr/>
        </p:nvSpPr>
        <p:spPr>
          <a:xfrm>
            <a:off x="693896" y="3167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7"/>
          <p:cNvSpPr/>
          <p:nvPr/>
        </p:nvSpPr>
        <p:spPr>
          <a:xfrm>
            <a:off x="1082040" y="3063125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2040" y="3291725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Achieved ~80%+ accuracy on test datasets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6740" y="35965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23" name="Shape 20"/>
          <p:cNvSpPr/>
          <p:nvPr/>
        </p:nvSpPr>
        <p:spPr>
          <a:xfrm>
            <a:off x="693896" y="3701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1"/>
          <p:cNvSpPr/>
          <p:nvPr/>
        </p:nvSpPr>
        <p:spPr>
          <a:xfrm>
            <a:off x="1082040" y="3596525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Interface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82040" y="3825125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 user-friendly Streamlit web application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0050" y="4373761"/>
            <a:ext cx="5600700" cy="1504950"/>
          </a:xfrm>
          <a:custGeom>
            <a:avLst/>
            <a:gdLst/>
            <a:ahLst/>
            <a:cxnLst/>
            <a:rect l="l" t="t" r="r" b="b"/>
            <a:pathLst>
              <a:path w="5600700" h="150495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428750"/>
                </a:lnTo>
                <a:cubicBezTo>
                  <a:pt x="5600700" y="1470806"/>
                  <a:pt x="5566556" y="1504950"/>
                  <a:pt x="5524500" y="1504950"/>
                </a:cubicBez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400050" y="4373761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3810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Shape 25"/>
          <p:cNvSpPr/>
          <p:nvPr/>
        </p:nvSpPr>
        <p:spPr>
          <a:xfrm>
            <a:off x="657225" y="459474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6"/>
          <p:cNvSpPr/>
          <p:nvPr/>
        </p:nvSpPr>
        <p:spPr>
          <a:xfrm>
            <a:off x="904875" y="4564261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Impact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09600" y="4945261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demonstrates the </a:t>
            </a: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 of multi-modal deepfake detection</a:t>
            </a:r>
            <a:r>
              <a:rPr lang="en-US" sz="12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opens new research directions in behavioral forensics for multimedia authenticity.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10300" y="1333500"/>
            <a:ext cx="5600700" cy="2857500"/>
          </a:xfrm>
          <a:custGeom>
            <a:avLst/>
            <a:gdLst/>
            <a:ahLst/>
            <a:cxnLst/>
            <a:rect l="l" t="t" r="r" b="b"/>
            <a:pathLst>
              <a:path w="5600700" h="28575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2781300"/>
                </a:lnTo>
                <a:cubicBezTo>
                  <a:pt x="5600700" y="2823356"/>
                  <a:pt x="5566556" y="2857500"/>
                  <a:pt x="5524500" y="2857500"/>
                </a:cubicBezTo>
                <a:lnTo>
                  <a:pt x="38100" y="2857500"/>
                </a:lnTo>
                <a:cubicBezTo>
                  <a:pt x="17072" y="2857500"/>
                  <a:pt x="0" y="2840428"/>
                  <a:pt x="0" y="2819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737C">
                  <a:alpha val="3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2" name="Shape 29"/>
          <p:cNvSpPr/>
          <p:nvPr/>
        </p:nvSpPr>
        <p:spPr>
          <a:xfrm>
            <a:off x="6210300" y="1333500"/>
            <a:ext cx="38100" cy="2857500"/>
          </a:xfrm>
          <a:custGeom>
            <a:avLst/>
            <a:gdLst/>
            <a:ahLst/>
            <a:cxnLst/>
            <a:rect l="l" t="t" r="r" b="b"/>
            <a:pathLst>
              <a:path w="38100" h="2857500">
                <a:moveTo>
                  <a:pt x="38100" y="0"/>
                </a:moveTo>
                <a:lnTo>
                  <a:pt x="38100" y="0"/>
                </a:lnTo>
                <a:lnTo>
                  <a:pt x="38100" y="2857500"/>
                </a:lnTo>
                <a:lnTo>
                  <a:pt x="38100" y="2857500"/>
                </a:lnTo>
                <a:cubicBezTo>
                  <a:pt x="17072" y="2857500"/>
                  <a:pt x="0" y="2840428"/>
                  <a:pt x="0" y="2819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Shape 30"/>
          <p:cNvSpPr/>
          <p:nvPr/>
        </p:nvSpPr>
        <p:spPr>
          <a:xfrm>
            <a:off x="6457950" y="153340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1"/>
          <p:cNvSpPr/>
          <p:nvPr/>
        </p:nvSpPr>
        <p:spPr>
          <a:xfrm>
            <a:off x="6891338" y="1524000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19850" y="19810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36" name="Text 33"/>
          <p:cNvSpPr/>
          <p:nvPr/>
        </p:nvSpPr>
        <p:spPr>
          <a:xfrm>
            <a:off x="6576060" y="2038229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15150" y="1981079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Larger Datasets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15150" y="2209679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on more diverse and comprehensive datasets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19850" y="25144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40" name="Text 37"/>
          <p:cNvSpPr/>
          <p:nvPr/>
        </p:nvSpPr>
        <p:spPr>
          <a:xfrm>
            <a:off x="6560463" y="2571629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915150" y="2514479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Webcam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915150" y="2743079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real-time detection via webcam feed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419850" y="30478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44" name="Text 41"/>
          <p:cNvSpPr/>
          <p:nvPr/>
        </p:nvSpPr>
        <p:spPr>
          <a:xfrm>
            <a:off x="6559748" y="3105029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915150" y="30478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Audio Detection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915150" y="3276479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dedicated audio deepfake detectors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419850" y="35812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5F737C"/>
          </a:solidFill>
          <a:ln/>
        </p:spPr>
      </p:sp>
      <p:sp>
        <p:nvSpPr>
          <p:cNvPr id="48" name="Text 45"/>
          <p:cNvSpPr/>
          <p:nvPr/>
        </p:nvSpPr>
        <p:spPr>
          <a:xfrm>
            <a:off x="6559748" y="3638429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915150" y="35812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915150" y="3809879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processing speed and reduce false positives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198870" y="4350899"/>
            <a:ext cx="5606415" cy="1996440"/>
          </a:xfrm>
          <a:prstGeom prst="roundRect">
            <a:avLst>
              <a:gd name="adj" fmla="val 3817"/>
            </a:avLst>
          </a:pr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5F737C">
                  <a:alpha val="10000"/>
                </a:srgbClr>
              </a:gs>
            </a:gsLst>
            <a:lin ang="2700000" scaled="1"/>
          </a:gradFill>
          <a:ln w="2032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743950" y="454902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2863" y="174843"/>
                </a:moveTo>
                <a:lnTo>
                  <a:pt x="229672" y="251728"/>
                </a:lnTo>
                <a:cubicBezTo>
                  <a:pt x="238423" y="255300"/>
                  <a:pt x="247710" y="257175"/>
                  <a:pt x="257175" y="257175"/>
                </a:cubicBezTo>
                <a:cubicBezTo>
                  <a:pt x="266640" y="257175"/>
                  <a:pt x="275927" y="255300"/>
                  <a:pt x="284678" y="251728"/>
                </a:cubicBezTo>
                <a:lnTo>
                  <a:pt x="501134" y="162610"/>
                </a:lnTo>
                <a:cubicBezTo>
                  <a:pt x="509171" y="159306"/>
                  <a:pt x="514350" y="151537"/>
                  <a:pt x="514350" y="142875"/>
                </a:cubicBezTo>
                <a:cubicBezTo>
                  <a:pt x="514350" y="134213"/>
                  <a:pt x="509171" y="126444"/>
                  <a:pt x="501134" y="123140"/>
                </a:cubicBezTo>
                <a:lnTo>
                  <a:pt x="284678" y="34022"/>
                </a:lnTo>
                <a:cubicBezTo>
                  <a:pt x="275927" y="30450"/>
                  <a:pt x="266640" y="28575"/>
                  <a:pt x="257175" y="28575"/>
                </a:cubicBezTo>
                <a:cubicBezTo>
                  <a:pt x="247710" y="28575"/>
                  <a:pt x="238423" y="30450"/>
                  <a:pt x="229672" y="34022"/>
                </a:cubicBezTo>
                <a:lnTo>
                  <a:pt x="13216" y="123140"/>
                </a:lnTo>
                <a:cubicBezTo>
                  <a:pt x="5179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9555" y="428625"/>
                  <a:pt x="21431" y="428625"/>
                </a:cubicBezTo>
                <a:cubicBezTo>
                  <a:pt x="33308" y="428625"/>
                  <a:pt x="42863" y="419070"/>
                  <a:pt x="42863" y="407194"/>
                </a:cubicBezTo>
                <a:lnTo>
                  <a:pt x="42863" y="174843"/>
                </a:lnTo>
                <a:close/>
                <a:moveTo>
                  <a:pt x="85725" y="238869"/>
                </a:moveTo>
                <a:lnTo>
                  <a:pt x="85725" y="342900"/>
                </a:lnTo>
                <a:cubicBezTo>
                  <a:pt x="85725" y="390227"/>
                  <a:pt x="162520" y="428625"/>
                  <a:pt x="257175" y="428625"/>
                </a:cubicBezTo>
                <a:cubicBezTo>
                  <a:pt x="351830" y="428625"/>
                  <a:pt x="428625" y="390227"/>
                  <a:pt x="428625" y="342900"/>
                </a:cubicBezTo>
                <a:lnTo>
                  <a:pt x="428625" y="238780"/>
                </a:lnTo>
                <a:lnTo>
                  <a:pt x="301020" y="291376"/>
                </a:lnTo>
                <a:cubicBezTo>
                  <a:pt x="287089" y="297091"/>
                  <a:pt x="272266" y="300037"/>
                  <a:pt x="257175" y="300037"/>
                </a:cubicBezTo>
                <a:cubicBezTo>
                  <a:pt x="242084" y="300037"/>
                  <a:pt x="227261" y="297091"/>
                  <a:pt x="213330" y="291376"/>
                </a:cubicBezTo>
                <a:lnTo>
                  <a:pt x="85725" y="23878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3" name="Text 50"/>
          <p:cNvSpPr/>
          <p:nvPr/>
        </p:nvSpPr>
        <p:spPr>
          <a:xfrm>
            <a:off x="8413790" y="5158625"/>
            <a:ext cx="117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063270" y="5577604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497366" y="5920504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 IT 6th A (Morning) • University of Layyah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400050" y="64881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Text 54"/>
          <p:cNvSpPr/>
          <p:nvPr/>
        </p:nvSpPr>
        <p:spPr>
          <a:xfrm>
            <a:off x="647700" y="646914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for collaboration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2274332" y="64881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9" name="Text 56"/>
          <p:cNvSpPr/>
          <p:nvPr/>
        </p:nvSpPr>
        <p:spPr>
          <a:xfrm>
            <a:off x="2521982" y="646914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repository available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9454277" y="646914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2026 • Artificial Intelligence Course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Detector: AI-Powered Multimedia Authenticity Analysis</dc:title>
  <dc:subject>DeepFake Detector: AI-Powered Multimedia Authenticity Analysis</dc:subject>
  <dc:creator>Kimi</dc:creator>
  <cp:lastModifiedBy>Kimi</cp:lastModifiedBy>
  <cp:revision>4</cp:revision>
  <dcterms:created xsi:type="dcterms:W3CDTF">2026-06-04T16:02:35Z</dcterms:created>
  <dcterms:modified xsi:type="dcterms:W3CDTF">2026-06-04T16:36:29Z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{"Label":"DeepFake Detector: AI-Powered Multimedia Authenticity Analysis","ContentProducer":"001191110108MACG2KBH8F10000","ProduceID":"19e93573-f762-8a9e-8000-0000ee3f8626","ReservedCode1":"","ContentPropagator":"001191110108MACG2KBH8F20000","PropagateID":"19e93573-f762-8a9e-8000-0000ee3f8626","ReservedCode2":""}</vt:lpwstr>
  </property>
</Properties>
</file>