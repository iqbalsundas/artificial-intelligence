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ustom.xml" ContentType="application/vnd.openxmlformats-officedocument.custom-propertie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Relationship Id="rId4" Type="http://schemas.openxmlformats.org/officeDocument/2006/relationships/custom-properties" Target="docProps/custom.xml" 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embeddedFontLst>
    <p:embeddedFont>
      <p:font typeface="Liter" charset="-122" pitchFamily="34"/>
      <p:regular r:id="rId19"/>
    </p:embeddedFont>
  </p:embeddedFon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Relationship Id="rId19" Type="http://schemas.openxmlformats.org/officeDocument/2006/relationships/font" Target="fonts/font1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PTIST_MAST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D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statics.moonshot.cn/kimi-ppt/html-gen/static/image-error.png">    </p:cNvPr>
          <p:cNvPicPr>
            <a:picLocks noChangeAspect="1"/>
          </p:cNvPicPr>
          <p:nvPr/>
        </p:nvPicPr>
        <p:blipFill>
          <a:blip r:embed="rId1">
            <a:alphaModFix amt="40000"/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gradFill rotWithShape="1" flip="none">
            <a:gsLst>
              <a:gs pos="0">
                <a:srgbClr val="1A1D21">
                  <a:alpha val="95000"/>
                </a:srgbClr>
              </a:gs>
              <a:gs pos="50000">
                <a:srgbClr val="1A1D21">
                  <a:alpha val="85000"/>
                </a:srgbClr>
              </a:gs>
              <a:gs pos="100000">
                <a:srgbClr val="5F737C">
                  <a:alpha val="60000"/>
                </a:srgbClr>
              </a:gs>
            </a:gsLst>
            <a:lin ang="2700000" scaled="1"/>
          </a:gradFill>
          <a:ln/>
        </p:spPr>
      </p:sp>
      <p:sp>
        <p:nvSpPr>
          <p:cNvPr id="4" name="Shape 1"/>
          <p:cNvSpPr/>
          <p:nvPr/>
        </p:nvSpPr>
        <p:spPr>
          <a:xfrm>
            <a:off x="400050" y="1354455"/>
            <a:ext cx="5114925" cy="419100"/>
          </a:xfrm>
          <a:prstGeom prst="roundRect">
            <a:avLst>
              <a:gd name="adj" fmla="val 0"/>
            </a:avLst>
          </a:prstGeom>
          <a:solidFill>
            <a:srgbClr val="D4A373">
              <a:alpha val="20000"/>
            </a:srgbClr>
          </a:solidFill>
          <a:ln/>
        </p:spPr>
      </p:sp>
      <p:sp>
        <p:nvSpPr>
          <p:cNvPr id="5" name="Shape 2"/>
          <p:cNvSpPr/>
          <p:nvPr/>
        </p:nvSpPr>
        <p:spPr>
          <a:xfrm>
            <a:off x="400050" y="1354455"/>
            <a:ext cx="38100" cy="419100"/>
          </a:xfrm>
          <a:prstGeom prst="roundRect">
            <a:avLst>
              <a:gd name="adj" fmla="val 0"/>
            </a:avLst>
          </a:prstGeom>
          <a:solidFill>
            <a:srgbClr val="D4A373"/>
          </a:solidFill>
          <a:ln/>
        </p:spPr>
      </p:sp>
      <p:sp>
        <p:nvSpPr>
          <p:cNvPr id="6" name="Text 3"/>
          <p:cNvSpPr/>
          <p:nvPr/>
        </p:nvSpPr>
        <p:spPr>
          <a:xfrm>
            <a:off x="609600" y="1430655"/>
            <a:ext cx="48101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spc="150" kern="0" dirty="0">
                <a:solidFill>
                  <a:srgbClr val="D4A37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Artificial Intelligence Course Project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381000" y="2078355"/>
            <a:ext cx="11772900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5400" b="1" dirty="0">
                <a:solidFill>
                  <a:srgbClr val="F0F2F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DeepFake Detector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381000" y="3164205"/>
            <a:ext cx="116014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5F737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AI-Powered Multimedia Authenticity Analysis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409575" y="4059555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121399" y="9019"/>
                </a:moveTo>
                <a:cubicBezTo>
                  <a:pt x="117024" y="6519"/>
                  <a:pt x="111621" y="6519"/>
                  <a:pt x="107201" y="9019"/>
                </a:cubicBezTo>
                <a:lnTo>
                  <a:pt x="7188" y="66169"/>
                </a:lnTo>
                <a:cubicBezTo>
                  <a:pt x="1563" y="69384"/>
                  <a:pt x="-1206" y="75992"/>
                  <a:pt x="446" y="82242"/>
                </a:cubicBezTo>
                <a:cubicBezTo>
                  <a:pt x="2098" y="88493"/>
                  <a:pt x="7813" y="92869"/>
                  <a:pt x="14288" y="92869"/>
                </a:cubicBezTo>
                <a:lnTo>
                  <a:pt x="28575" y="92869"/>
                </a:lnTo>
                <a:lnTo>
                  <a:pt x="28575" y="185738"/>
                </a:lnTo>
                <a:lnTo>
                  <a:pt x="28575" y="185738"/>
                </a:lnTo>
                <a:lnTo>
                  <a:pt x="5715" y="202883"/>
                </a:lnTo>
                <a:cubicBezTo>
                  <a:pt x="2098" y="205561"/>
                  <a:pt x="0" y="209803"/>
                  <a:pt x="0" y="214313"/>
                </a:cubicBezTo>
                <a:cubicBezTo>
                  <a:pt x="0" y="222215"/>
                  <a:pt x="6385" y="228600"/>
                  <a:pt x="14288" y="228600"/>
                </a:cubicBezTo>
                <a:lnTo>
                  <a:pt x="214313" y="228600"/>
                </a:lnTo>
                <a:cubicBezTo>
                  <a:pt x="222215" y="228600"/>
                  <a:pt x="228600" y="222215"/>
                  <a:pt x="228600" y="214313"/>
                </a:cubicBezTo>
                <a:cubicBezTo>
                  <a:pt x="228600" y="209803"/>
                  <a:pt x="226502" y="205561"/>
                  <a:pt x="222885" y="202883"/>
                </a:cubicBezTo>
                <a:lnTo>
                  <a:pt x="200025" y="185738"/>
                </a:lnTo>
                <a:lnTo>
                  <a:pt x="200025" y="92869"/>
                </a:lnTo>
                <a:lnTo>
                  <a:pt x="214313" y="92869"/>
                </a:lnTo>
                <a:cubicBezTo>
                  <a:pt x="220787" y="92869"/>
                  <a:pt x="226457" y="88493"/>
                  <a:pt x="228109" y="82242"/>
                </a:cubicBezTo>
                <a:cubicBezTo>
                  <a:pt x="229761" y="75992"/>
                  <a:pt x="226993" y="69384"/>
                  <a:pt x="221367" y="66169"/>
                </a:cubicBezTo>
                <a:lnTo>
                  <a:pt x="121354" y="9019"/>
                </a:lnTo>
                <a:close/>
                <a:moveTo>
                  <a:pt x="178594" y="92869"/>
                </a:moveTo>
                <a:lnTo>
                  <a:pt x="178594" y="185738"/>
                </a:lnTo>
                <a:lnTo>
                  <a:pt x="150019" y="185738"/>
                </a:lnTo>
                <a:lnTo>
                  <a:pt x="150019" y="92869"/>
                </a:lnTo>
                <a:lnTo>
                  <a:pt x="178594" y="92869"/>
                </a:lnTo>
                <a:close/>
                <a:moveTo>
                  <a:pt x="128588" y="92869"/>
                </a:moveTo>
                <a:lnTo>
                  <a:pt x="128588" y="185738"/>
                </a:lnTo>
                <a:lnTo>
                  <a:pt x="100013" y="185738"/>
                </a:lnTo>
                <a:lnTo>
                  <a:pt x="100013" y="92869"/>
                </a:lnTo>
                <a:lnTo>
                  <a:pt x="128588" y="92869"/>
                </a:lnTo>
                <a:close/>
                <a:moveTo>
                  <a:pt x="78581" y="92869"/>
                </a:moveTo>
                <a:lnTo>
                  <a:pt x="78581" y="185738"/>
                </a:lnTo>
                <a:lnTo>
                  <a:pt x="50006" y="185738"/>
                </a:lnTo>
                <a:lnTo>
                  <a:pt x="50006" y="92869"/>
                </a:lnTo>
                <a:lnTo>
                  <a:pt x="78581" y="92869"/>
                </a:lnTo>
                <a:close/>
                <a:moveTo>
                  <a:pt x="114300" y="42863"/>
                </a:moveTo>
                <a:cubicBezTo>
                  <a:pt x="122185" y="42863"/>
                  <a:pt x="128588" y="49265"/>
                  <a:pt x="128588" y="57150"/>
                </a:cubicBezTo>
                <a:cubicBezTo>
                  <a:pt x="128588" y="65035"/>
                  <a:pt x="122185" y="71438"/>
                  <a:pt x="114300" y="71438"/>
                </a:cubicBezTo>
                <a:cubicBezTo>
                  <a:pt x="106415" y="71438"/>
                  <a:pt x="100013" y="65035"/>
                  <a:pt x="100013" y="57150"/>
                </a:cubicBezTo>
                <a:cubicBezTo>
                  <a:pt x="100013" y="49265"/>
                  <a:pt x="106415" y="42863"/>
                  <a:pt x="114300" y="42863"/>
                </a:cubicBezTo>
                <a:close/>
              </a:path>
            </a:pathLst>
          </a:custGeom>
          <a:solidFill>
            <a:srgbClr val="D4A373"/>
          </a:solidFill>
          <a:ln/>
        </p:spPr>
      </p:sp>
      <p:sp>
        <p:nvSpPr>
          <p:cNvPr id="10" name="Text 7"/>
          <p:cNvSpPr/>
          <p:nvPr/>
        </p:nvSpPr>
        <p:spPr>
          <a:xfrm>
            <a:off x="781050" y="3926205"/>
            <a:ext cx="17811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9A959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University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781050" y="4154805"/>
            <a:ext cx="18002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F0F2F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University of Layyah</a:t>
            </a:r>
            <a:endParaRPr lang="en-US" sz="1600" dirty="0"/>
          </a:p>
        </p:txBody>
      </p:sp>
      <p:sp>
        <p:nvSpPr>
          <p:cNvPr id="12" name="Shape 9"/>
          <p:cNvSpPr/>
          <p:nvPr/>
        </p:nvSpPr>
        <p:spPr>
          <a:xfrm>
            <a:off x="6338888" y="4059555"/>
            <a:ext cx="257175" cy="228600"/>
          </a:xfrm>
          <a:custGeom>
            <a:avLst/>
            <a:gdLst/>
            <a:ahLst/>
            <a:cxnLst/>
            <a:rect l="l" t="t" r="r" b="b"/>
            <a:pathLst>
              <a:path w="257175" h="228600">
                <a:moveTo>
                  <a:pt x="21431" y="87422"/>
                </a:moveTo>
                <a:lnTo>
                  <a:pt x="114836" y="125864"/>
                </a:lnTo>
                <a:cubicBezTo>
                  <a:pt x="119211" y="127650"/>
                  <a:pt x="123855" y="128588"/>
                  <a:pt x="128588" y="128588"/>
                </a:cubicBezTo>
                <a:cubicBezTo>
                  <a:pt x="133320" y="128588"/>
                  <a:pt x="137964" y="127650"/>
                  <a:pt x="142339" y="125864"/>
                </a:cubicBezTo>
                <a:lnTo>
                  <a:pt x="250567" y="81305"/>
                </a:lnTo>
                <a:cubicBezTo>
                  <a:pt x="254585" y="79653"/>
                  <a:pt x="257175" y="75768"/>
                  <a:pt x="257175" y="71437"/>
                </a:cubicBezTo>
                <a:cubicBezTo>
                  <a:pt x="257175" y="67107"/>
                  <a:pt x="254585" y="63222"/>
                  <a:pt x="250567" y="61570"/>
                </a:cubicBezTo>
                <a:lnTo>
                  <a:pt x="142339" y="17011"/>
                </a:lnTo>
                <a:cubicBezTo>
                  <a:pt x="137964" y="15225"/>
                  <a:pt x="133320" y="14288"/>
                  <a:pt x="128588" y="14288"/>
                </a:cubicBezTo>
                <a:cubicBezTo>
                  <a:pt x="123855" y="14288"/>
                  <a:pt x="119211" y="15225"/>
                  <a:pt x="114836" y="17011"/>
                </a:cubicBezTo>
                <a:lnTo>
                  <a:pt x="6608" y="61570"/>
                </a:lnTo>
                <a:cubicBezTo>
                  <a:pt x="2590" y="63222"/>
                  <a:pt x="0" y="67107"/>
                  <a:pt x="0" y="71438"/>
                </a:cubicBezTo>
                <a:lnTo>
                  <a:pt x="0" y="203597"/>
                </a:lnTo>
                <a:cubicBezTo>
                  <a:pt x="0" y="209535"/>
                  <a:pt x="4777" y="214313"/>
                  <a:pt x="10716" y="214313"/>
                </a:cubicBezTo>
                <a:cubicBezTo>
                  <a:pt x="16654" y="214313"/>
                  <a:pt x="21431" y="209535"/>
                  <a:pt x="21431" y="203597"/>
                </a:cubicBezTo>
                <a:lnTo>
                  <a:pt x="21431" y="87422"/>
                </a:lnTo>
                <a:close/>
                <a:moveTo>
                  <a:pt x="42863" y="119435"/>
                </a:moveTo>
                <a:lnTo>
                  <a:pt x="42863" y="171450"/>
                </a:lnTo>
                <a:cubicBezTo>
                  <a:pt x="42863" y="195114"/>
                  <a:pt x="81260" y="214313"/>
                  <a:pt x="128588" y="214313"/>
                </a:cubicBezTo>
                <a:cubicBezTo>
                  <a:pt x="175915" y="214313"/>
                  <a:pt x="214313" y="195114"/>
                  <a:pt x="214313" y="171450"/>
                </a:cubicBezTo>
                <a:lnTo>
                  <a:pt x="214313" y="119390"/>
                </a:lnTo>
                <a:lnTo>
                  <a:pt x="150510" y="145688"/>
                </a:lnTo>
                <a:cubicBezTo>
                  <a:pt x="143545" y="148545"/>
                  <a:pt x="136133" y="150019"/>
                  <a:pt x="128588" y="150019"/>
                </a:cubicBezTo>
                <a:cubicBezTo>
                  <a:pt x="121042" y="150019"/>
                  <a:pt x="113630" y="148545"/>
                  <a:pt x="106665" y="145688"/>
                </a:cubicBezTo>
                <a:lnTo>
                  <a:pt x="42863" y="119390"/>
                </a:lnTo>
                <a:close/>
              </a:path>
            </a:pathLst>
          </a:custGeom>
          <a:solidFill>
            <a:srgbClr val="D4A373"/>
          </a:solidFill>
          <a:ln/>
        </p:spPr>
      </p:sp>
      <p:sp>
        <p:nvSpPr>
          <p:cNvPr id="13" name="Text 10"/>
          <p:cNvSpPr/>
          <p:nvPr/>
        </p:nvSpPr>
        <p:spPr>
          <a:xfrm>
            <a:off x="6724650" y="3926205"/>
            <a:ext cx="18859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9A959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Department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6724650" y="4154805"/>
            <a:ext cx="19050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F0F2F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BS IT 6th A (Morning)</a:t>
            </a:r>
            <a:endParaRPr lang="en-US" sz="1600" dirty="0"/>
          </a:p>
        </p:txBody>
      </p:sp>
      <p:sp>
        <p:nvSpPr>
          <p:cNvPr id="15" name="Shape 12"/>
          <p:cNvSpPr/>
          <p:nvPr/>
        </p:nvSpPr>
        <p:spPr>
          <a:xfrm>
            <a:off x="423863" y="4707255"/>
            <a:ext cx="200025" cy="228600"/>
          </a:xfrm>
          <a:custGeom>
            <a:avLst/>
            <a:gdLst/>
            <a:ahLst/>
            <a:cxnLst/>
            <a:rect l="l" t="t" r="r" b="b"/>
            <a:pathLst>
              <a:path w="200025" h="228600">
                <a:moveTo>
                  <a:pt x="57150" y="0"/>
                </a:moveTo>
                <a:cubicBezTo>
                  <a:pt x="65053" y="0"/>
                  <a:pt x="71438" y="6385"/>
                  <a:pt x="71438" y="14288"/>
                </a:cubicBezTo>
                <a:lnTo>
                  <a:pt x="71438" y="28575"/>
                </a:lnTo>
                <a:lnTo>
                  <a:pt x="128588" y="28575"/>
                </a:lnTo>
                <a:lnTo>
                  <a:pt x="128588" y="14288"/>
                </a:lnTo>
                <a:cubicBezTo>
                  <a:pt x="128588" y="6385"/>
                  <a:pt x="134972" y="0"/>
                  <a:pt x="142875" y="0"/>
                </a:cubicBezTo>
                <a:cubicBezTo>
                  <a:pt x="150778" y="0"/>
                  <a:pt x="157163" y="6385"/>
                  <a:pt x="157163" y="14288"/>
                </a:cubicBezTo>
                <a:lnTo>
                  <a:pt x="157163" y="28575"/>
                </a:lnTo>
                <a:lnTo>
                  <a:pt x="171450" y="28575"/>
                </a:lnTo>
                <a:cubicBezTo>
                  <a:pt x="187211" y="28575"/>
                  <a:pt x="200025" y="41389"/>
                  <a:pt x="200025" y="57150"/>
                </a:cubicBezTo>
                <a:lnTo>
                  <a:pt x="200025" y="185738"/>
                </a:lnTo>
                <a:cubicBezTo>
                  <a:pt x="200025" y="201498"/>
                  <a:pt x="187211" y="214313"/>
                  <a:pt x="171450" y="214313"/>
                </a:cubicBezTo>
                <a:lnTo>
                  <a:pt x="28575" y="214313"/>
                </a:lnTo>
                <a:cubicBezTo>
                  <a:pt x="12814" y="214313"/>
                  <a:pt x="0" y="201498"/>
                  <a:pt x="0" y="185738"/>
                </a:cubicBezTo>
                <a:lnTo>
                  <a:pt x="0" y="57150"/>
                </a:lnTo>
                <a:cubicBezTo>
                  <a:pt x="0" y="41389"/>
                  <a:pt x="12814" y="28575"/>
                  <a:pt x="28575" y="28575"/>
                </a:cubicBezTo>
                <a:lnTo>
                  <a:pt x="42863" y="28575"/>
                </a:lnTo>
                <a:lnTo>
                  <a:pt x="42863" y="14288"/>
                </a:lnTo>
                <a:cubicBezTo>
                  <a:pt x="42863" y="6385"/>
                  <a:pt x="49247" y="0"/>
                  <a:pt x="57150" y="0"/>
                </a:cubicBezTo>
                <a:close/>
                <a:moveTo>
                  <a:pt x="28575" y="107156"/>
                </a:moveTo>
                <a:lnTo>
                  <a:pt x="28575" y="121444"/>
                </a:lnTo>
                <a:cubicBezTo>
                  <a:pt x="28575" y="125373"/>
                  <a:pt x="31790" y="128588"/>
                  <a:pt x="35719" y="128588"/>
                </a:cubicBezTo>
                <a:lnTo>
                  <a:pt x="50006" y="128588"/>
                </a:lnTo>
                <a:cubicBezTo>
                  <a:pt x="53935" y="128588"/>
                  <a:pt x="57150" y="125373"/>
                  <a:pt x="57150" y="121444"/>
                </a:cubicBezTo>
                <a:lnTo>
                  <a:pt x="57150" y="107156"/>
                </a:lnTo>
                <a:cubicBezTo>
                  <a:pt x="57150" y="103227"/>
                  <a:pt x="53935" y="100013"/>
                  <a:pt x="50006" y="100013"/>
                </a:cubicBezTo>
                <a:lnTo>
                  <a:pt x="35719" y="100013"/>
                </a:lnTo>
                <a:cubicBezTo>
                  <a:pt x="31790" y="100013"/>
                  <a:pt x="28575" y="103227"/>
                  <a:pt x="28575" y="107156"/>
                </a:cubicBezTo>
                <a:close/>
                <a:moveTo>
                  <a:pt x="85725" y="107156"/>
                </a:moveTo>
                <a:lnTo>
                  <a:pt x="85725" y="121444"/>
                </a:lnTo>
                <a:cubicBezTo>
                  <a:pt x="85725" y="125373"/>
                  <a:pt x="88940" y="128588"/>
                  <a:pt x="92869" y="128588"/>
                </a:cubicBezTo>
                <a:lnTo>
                  <a:pt x="107156" y="128588"/>
                </a:lnTo>
                <a:cubicBezTo>
                  <a:pt x="111085" y="128588"/>
                  <a:pt x="114300" y="125373"/>
                  <a:pt x="114300" y="121444"/>
                </a:cubicBezTo>
                <a:lnTo>
                  <a:pt x="114300" y="107156"/>
                </a:lnTo>
                <a:cubicBezTo>
                  <a:pt x="114300" y="103227"/>
                  <a:pt x="111085" y="100013"/>
                  <a:pt x="107156" y="100013"/>
                </a:cubicBezTo>
                <a:lnTo>
                  <a:pt x="92869" y="100013"/>
                </a:lnTo>
                <a:cubicBezTo>
                  <a:pt x="88940" y="100013"/>
                  <a:pt x="85725" y="103227"/>
                  <a:pt x="85725" y="107156"/>
                </a:cubicBezTo>
                <a:close/>
                <a:moveTo>
                  <a:pt x="150019" y="100013"/>
                </a:moveTo>
                <a:cubicBezTo>
                  <a:pt x="146090" y="100013"/>
                  <a:pt x="142875" y="103227"/>
                  <a:pt x="142875" y="107156"/>
                </a:cubicBezTo>
                <a:lnTo>
                  <a:pt x="142875" y="121444"/>
                </a:lnTo>
                <a:cubicBezTo>
                  <a:pt x="142875" y="125373"/>
                  <a:pt x="146090" y="128588"/>
                  <a:pt x="150019" y="128588"/>
                </a:cubicBezTo>
                <a:lnTo>
                  <a:pt x="164306" y="128588"/>
                </a:lnTo>
                <a:cubicBezTo>
                  <a:pt x="168235" y="128588"/>
                  <a:pt x="171450" y="125373"/>
                  <a:pt x="171450" y="121444"/>
                </a:cubicBezTo>
                <a:lnTo>
                  <a:pt x="171450" y="107156"/>
                </a:lnTo>
                <a:cubicBezTo>
                  <a:pt x="171450" y="103227"/>
                  <a:pt x="168235" y="100013"/>
                  <a:pt x="164306" y="100013"/>
                </a:cubicBezTo>
                <a:lnTo>
                  <a:pt x="150019" y="100013"/>
                </a:lnTo>
                <a:close/>
                <a:moveTo>
                  <a:pt x="28575" y="164306"/>
                </a:moveTo>
                <a:lnTo>
                  <a:pt x="28575" y="178594"/>
                </a:lnTo>
                <a:cubicBezTo>
                  <a:pt x="28575" y="182523"/>
                  <a:pt x="31790" y="185738"/>
                  <a:pt x="35719" y="185738"/>
                </a:cubicBezTo>
                <a:lnTo>
                  <a:pt x="50006" y="185738"/>
                </a:lnTo>
                <a:cubicBezTo>
                  <a:pt x="53935" y="185738"/>
                  <a:pt x="57150" y="182523"/>
                  <a:pt x="57150" y="178594"/>
                </a:cubicBezTo>
                <a:lnTo>
                  <a:pt x="57150" y="164306"/>
                </a:lnTo>
                <a:cubicBezTo>
                  <a:pt x="57150" y="160377"/>
                  <a:pt x="53935" y="157163"/>
                  <a:pt x="50006" y="157163"/>
                </a:cubicBezTo>
                <a:lnTo>
                  <a:pt x="35719" y="157163"/>
                </a:lnTo>
                <a:cubicBezTo>
                  <a:pt x="31790" y="157163"/>
                  <a:pt x="28575" y="160377"/>
                  <a:pt x="28575" y="164306"/>
                </a:cubicBezTo>
                <a:close/>
                <a:moveTo>
                  <a:pt x="92869" y="157163"/>
                </a:moveTo>
                <a:cubicBezTo>
                  <a:pt x="88940" y="157163"/>
                  <a:pt x="85725" y="160377"/>
                  <a:pt x="85725" y="164306"/>
                </a:cubicBezTo>
                <a:lnTo>
                  <a:pt x="85725" y="178594"/>
                </a:lnTo>
                <a:cubicBezTo>
                  <a:pt x="85725" y="182523"/>
                  <a:pt x="88940" y="185738"/>
                  <a:pt x="92869" y="185738"/>
                </a:cubicBezTo>
                <a:lnTo>
                  <a:pt x="107156" y="185738"/>
                </a:lnTo>
                <a:cubicBezTo>
                  <a:pt x="111085" y="185738"/>
                  <a:pt x="114300" y="182523"/>
                  <a:pt x="114300" y="178594"/>
                </a:cubicBezTo>
                <a:lnTo>
                  <a:pt x="114300" y="164306"/>
                </a:lnTo>
                <a:cubicBezTo>
                  <a:pt x="114300" y="160377"/>
                  <a:pt x="111085" y="157163"/>
                  <a:pt x="107156" y="157163"/>
                </a:cubicBezTo>
                <a:lnTo>
                  <a:pt x="92869" y="157163"/>
                </a:lnTo>
                <a:close/>
                <a:moveTo>
                  <a:pt x="142875" y="164306"/>
                </a:moveTo>
                <a:lnTo>
                  <a:pt x="142875" y="178594"/>
                </a:lnTo>
                <a:cubicBezTo>
                  <a:pt x="142875" y="182523"/>
                  <a:pt x="146090" y="185738"/>
                  <a:pt x="150019" y="185738"/>
                </a:cubicBezTo>
                <a:lnTo>
                  <a:pt x="164306" y="185738"/>
                </a:lnTo>
                <a:cubicBezTo>
                  <a:pt x="168235" y="185738"/>
                  <a:pt x="171450" y="182523"/>
                  <a:pt x="171450" y="178594"/>
                </a:cubicBezTo>
                <a:lnTo>
                  <a:pt x="171450" y="164306"/>
                </a:lnTo>
                <a:cubicBezTo>
                  <a:pt x="171450" y="160377"/>
                  <a:pt x="168235" y="157163"/>
                  <a:pt x="164306" y="157163"/>
                </a:cubicBezTo>
                <a:lnTo>
                  <a:pt x="150019" y="157163"/>
                </a:lnTo>
                <a:cubicBezTo>
                  <a:pt x="146090" y="157163"/>
                  <a:pt x="142875" y="160377"/>
                  <a:pt x="142875" y="164306"/>
                </a:cubicBezTo>
                <a:close/>
              </a:path>
            </a:pathLst>
          </a:custGeom>
          <a:solidFill>
            <a:srgbClr val="D4A373"/>
          </a:solidFill>
          <a:ln/>
        </p:spPr>
      </p:sp>
      <p:sp>
        <p:nvSpPr>
          <p:cNvPr id="16" name="Text 13"/>
          <p:cNvSpPr/>
          <p:nvPr/>
        </p:nvSpPr>
        <p:spPr>
          <a:xfrm>
            <a:off x="781050" y="4573905"/>
            <a:ext cx="9334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9A959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Date</a:t>
            </a:r>
            <a:endParaRPr lang="en-US" sz="1600" dirty="0"/>
          </a:p>
        </p:txBody>
      </p:sp>
      <p:sp>
        <p:nvSpPr>
          <p:cNvPr id="17" name="Text 14"/>
          <p:cNvSpPr/>
          <p:nvPr/>
        </p:nvSpPr>
        <p:spPr>
          <a:xfrm>
            <a:off x="781050" y="4802505"/>
            <a:ext cx="9525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F0F2F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May 2026</a:t>
            </a:r>
            <a:endParaRPr lang="en-US" sz="1600" dirty="0"/>
          </a:p>
        </p:txBody>
      </p:sp>
      <p:sp>
        <p:nvSpPr>
          <p:cNvPr id="18" name="Shape 15"/>
          <p:cNvSpPr/>
          <p:nvPr/>
        </p:nvSpPr>
        <p:spPr>
          <a:xfrm>
            <a:off x="6353175" y="4707255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53578" y="25003"/>
                </a:moveTo>
                <a:cubicBezTo>
                  <a:pt x="53578" y="11207"/>
                  <a:pt x="64785" y="0"/>
                  <a:pt x="78581" y="0"/>
                </a:cubicBezTo>
                <a:lnTo>
                  <a:pt x="89297" y="0"/>
                </a:lnTo>
                <a:cubicBezTo>
                  <a:pt x="97200" y="0"/>
                  <a:pt x="103584" y="6385"/>
                  <a:pt x="103584" y="14288"/>
                </a:cubicBezTo>
                <a:lnTo>
                  <a:pt x="103584" y="214313"/>
                </a:lnTo>
                <a:cubicBezTo>
                  <a:pt x="103584" y="222215"/>
                  <a:pt x="97200" y="228600"/>
                  <a:pt x="89297" y="228600"/>
                </a:cubicBezTo>
                <a:lnTo>
                  <a:pt x="75009" y="228600"/>
                </a:lnTo>
                <a:cubicBezTo>
                  <a:pt x="61704" y="228600"/>
                  <a:pt x="50497" y="219492"/>
                  <a:pt x="47327" y="207169"/>
                </a:cubicBezTo>
                <a:cubicBezTo>
                  <a:pt x="47015" y="207169"/>
                  <a:pt x="46747" y="207169"/>
                  <a:pt x="46434" y="207169"/>
                </a:cubicBezTo>
                <a:cubicBezTo>
                  <a:pt x="26700" y="207169"/>
                  <a:pt x="10716" y="191185"/>
                  <a:pt x="10716" y="171450"/>
                </a:cubicBezTo>
                <a:cubicBezTo>
                  <a:pt x="10716" y="163413"/>
                  <a:pt x="13395" y="156002"/>
                  <a:pt x="17859" y="150019"/>
                </a:cubicBezTo>
                <a:cubicBezTo>
                  <a:pt x="9198" y="143500"/>
                  <a:pt x="3572" y="133142"/>
                  <a:pt x="3572" y="121444"/>
                </a:cubicBezTo>
                <a:cubicBezTo>
                  <a:pt x="3572" y="107647"/>
                  <a:pt x="11430" y="95637"/>
                  <a:pt x="22860" y="89699"/>
                </a:cubicBezTo>
                <a:cubicBezTo>
                  <a:pt x="19690" y="84341"/>
                  <a:pt x="17859" y="78090"/>
                  <a:pt x="17859" y="71438"/>
                </a:cubicBezTo>
                <a:cubicBezTo>
                  <a:pt x="17859" y="51703"/>
                  <a:pt x="33844" y="35719"/>
                  <a:pt x="53578" y="35719"/>
                </a:cubicBezTo>
                <a:lnTo>
                  <a:pt x="53578" y="25003"/>
                </a:lnTo>
                <a:close/>
                <a:moveTo>
                  <a:pt x="175022" y="25003"/>
                </a:moveTo>
                <a:lnTo>
                  <a:pt x="175022" y="35719"/>
                </a:lnTo>
                <a:cubicBezTo>
                  <a:pt x="194756" y="35719"/>
                  <a:pt x="210741" y="51703"/>
                  <a:pt x="210741" y="71438"/>
                </a:cubicBezTo>
                <a:cubicBezTo>
                  <a:pt x="210741" y="78135"/>
                  <a:pt x="208910" y="84386"/>
                  <a:pt x="205740" y="89699"/>
                </a:cubicBezTo>
                <a:cubicBezTo>
                  <a:pt x="217215" y="95637"/>
                  <a:pt x="225028" y="107603"/>
                  <a:pt x="225028" y="121444"/>
                </a:cubicBezTo>
                <a:cubicBezTo>
                  <a:pt x="225028" y="133142"/>
                  <a:pt x="219402" y="143500"/>
                  <a:pt x="210741" y="150019"/>
                </a:cubicBezTo>
                <a:cubicBezTo>
                  <a:pt x="215205" y="156002"/>
                  <a:pt x="217884" y="163413"/>
                  <a:pt x="217884" y="171450"/>
                </a:cubicBezTo>
                <a:cubicBezTo>
                  <a:pt x="217884" y="191185"/>
                  <a:pt x="201900" y="207169"/>
                  <a:pt x="182166" y="207169"/>
                </a:cubicBezTo>
                <a:cubicBezTo>
                  <a:pt x="181853" y="207169"/>
                  <a:pt x="181585" y="207169"/>
                  <a:pt x="181273" y="207169"/>
                </a:cubicBezTo>
                <a:cubicBezTo>
                  <a:pt x="178103" y="219492"/>
                  <a:pt x="166896" y="228600"/>
                  <a:pt x="153591" y="228600"/>
                </a:cubicBezTo>
                <a:lnTo>
                  <a:pt x="139303" y="228600"/>
                </a:lnTo>
                <a:cubicBezTo>
                  <a:pt x="131400" y="228600"/>
                  <a:pt x="125016" y="222215"/>
                  <a:pt x="125016" y="214313"/>
                </a:cubicBezTo>
                <a:lnTo>
                  <a:pt x="125016" y="14288"/>
                </a:lnTo>
                <a:cubicBezTo>
                  <a:pt x="125016" y="6385"/>
                  <a:pt x="131400" y="0"/>
                  <a:pt x="139303" y="0"/>
                </a:cubicBezTo>
                <a:lnTo>
                  <a:pt x="150019" y="0"/>
                </a:lnTo>
                <a:cubicBezTo>
                  <a:pt x="163815" y="0"/>
                  <a:pt x="175022" y="11207"/>
                  <a:pt x="175022" y="25003"/>
                </a:cubicBezTo>
                <a:close/>
              </a:path>
            </a:pathLst>
          </a:custGeom>
          <a:solidFill>
            <a:srgbClr val="D4A373"/>
          </a:solidFill>
          <a:ln/>
        </p:spPr>
      </p:sp>
      <p:sp>
        <p:nvSpPr>
          <p:cNvPr id="19" name="Text 16"/>
          <p:cNvSpPr/>
          <p:nvPr/>
        </p:nvSpPr>
        <p:spPr>
          <a:xfrm>
            <a:off x="6724650" y="4573905"/>
            <a:ext cx="17907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9A959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Course</a:t>
            </a:r>
            <a:endParaRPr lang="en-US" sz="1600" dirty="0"/>
          </a:p>
        </p:txBody>
      </p:sp>
      <p:sp>
        <p:nvSpPr>
          <p:cNvPr id="20" name="Text 17"/>
          <p:cNvSpPr/>
          <p:nvPr/>
        </p:nvSpPr>
        <p:spPr>
          <a:xfrm>
            <a:off x="6724650" y="4802505"/>
            <a:ext cx="18097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F0F2F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Artificial Intelligence</a:t>
            </a:r>
            <a:endParaRPr lang="en-US" sz="1600" dirty="0"/>
          </a:p>
        </p:txBody>
      </p:sp>
      <p:sp>
        <p:nvSpPr>
          <p:cNvPr id="21" name="Shape 18"/>
          <p:cNvSpPr/>
          <p:nvPr/>
        </p:nvSpPr>
        <p:spPr>
          <a:xfrm>
            <a:off x="381000" y="6050280"/>
            <a:ext cx="11430000" cy="15240"/>
          </a:xfrm>
          <a:prstGeom prst="roundRect">
            <a:avLst>
              <a:gd name="adj" fmla="val 0"/>
            </a:avLst>
          </a:prstGeom>
          <a:solidFill>
            <a:srgbClr val="5F737C">
              <a:alpha val="40000"/>
            </a:srgbClr>
          </a:solidFill>
          <a:ln/>
        </p:spPr>
      </p:sp>
      <p:sp>
        <p:nvSpPr>
          <p:cNvPr id="22" name="Text 19"/>
          <p:cNvSpPr/>
          <p:nvPr/>
        </p:nvSpPr>
        <p:spPr>
          <a:xfrm>
            <a:off x="381000" y="6210300"/>
            <a:ext cx="33813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dirty="0">
                <a:solidFill>
                  <a:srgbClr val="9A959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BS IT 6th A (Morning) • University of Layyah</a:t>
            </a:r>
            <a:endParaRPr lang="en-US" sz="1600" dirty="0"/>
          </a:p>
        </p:txBody>
      </p:sp>
      <p:sp>
        <p:nvSpPr>
          <p:cNvPr id="23" name="Text 20"/>
          <p:cNvSpPr/>
          <p:nvPr/>
        </p:nvSpPr>
        <p:spPr>
          <a:xfrm>
            <a:off x="9750504" y="6210300"/>
            <a:ext cx="21431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dirty="0">
                <a:solidFill>
                  <a:srgbClr val="9A959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Academic Year 2025-2026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A1D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1000" y="381000"/>
            <a:ext cx="76200" cy="457200"/>
          </a:xfrm>
          <a:prstGeom prst="roundRect">
            <a:avLst>
              <a:gd name="adj" fmla="val 0"/>
            </a:avLst>
          </a:prstGeom>
          <a:solidFill>
            <a:srgbClr val="D4A373"/>
          </a:solidFill>
          <a:ln/>
        </p:spPr>
      </p:sp>
      <p:sp>
        <p:nvSpPr>
          <p:cNvPr id="3" name="Text 1"/>
          <p:cNvSpPr/>
          <p:nvPr/>
        </p:nvSpPr>
        <p:spPr>
          <a:xfrm>
            <a:off x="571500" y="381000"/>
            <a:ext cx="33909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600" b="1" dirty="0">
                <a:solidFill>
                  <a:srgbClr val="F0F2F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Team Members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571500" y="914400"/>
            <a:ext cx="113347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dirty="0">
                <a:solidFill>
                  <a:srgbClr val="9A959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Collaborative AI Research &amp; Development Team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88620" y="1417320"/>
            <a:ext cx="5549265" cy="3930015"/>
          </a:xfrm>
          <a:prstGeom prst="roundRect">
            <a:avLst>
              <a:gd name="adj" fmla="val 2908"/>
            </a:avLst>
          </a:prstGeom>
          <a:gradFill rotWithShape="1" flip="none">
            <a:gsLst>
              <a:gs pos="0">
                <a:srgbClr val="5F737C">
                  <a:alpha val="30000"/>
                </a:srgbClr>
              </a:gs>
              <a:gs pos="100000">
                <a:srgbClr val="4A5C6A">
                  <a:alpha val="20000"/>
                </a:srgbClr>
              </a:gs>
            </a:gsLst>
            <a:lin ang="2700000" scaled="1"/>
          </a:gradFill>
          <a:ln w="20320">
            <a:solidFill>
              <a:srgbClr val="5F737C">
                <a:alpha val="50196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476500" y="1805940"/>
            <a:ext cx="1371600" cy="1371600"/>
          </a:xfrm>
          <a:prstGeom prst="roundRect">
            <a:avLst>
              <a:gd name="adj" fmla="val 50000"/>
            </a:avLst>
          </a:prstGeom>
          <a:gradFill rotWithShape="1" flip="none">
            <a:gsLst>
              <a:gs pos="0">
                <a:srgbClr val="D4A373"/>
              </a:gs>
              <a:gs pos="100000">
                <a:srgbClr val="5F737C"/>
              </a:gs>
            </a:gsLst>
            <a:lin ang="2700000" scaled="1"/>
          </a:gradFill>
          <a:ln/>
          <a:effectLst>
            <a:outerShdw sx="100000" sy="100000" kx="0" ky="0" algn="bl" rotWithShape="0" blurRad="476250" dist="238125" dir="5400000">
              <a:srgbClr val="000000">
                <a:alpha val="25098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912269" y="2205990"/>
            <a:ext cx="500063" cy="571500"/>
          </a:xfrm>
          <a:custGeom>
            <a:avLst/>
            <a:gdLst/>
            <a:ahLst/>
            <a:cxnLst/>
            <a:rect l="l" t="t" r="r" b="b"/>
            <a:pathLst>
              <a:path w="500063" h="571500">
                <a:moveTo>
                  <a:pt x="250031" y="276820"/>
                </a:moveTo>
                <a:cubicBezTo>
                  <a:pt x="323958" y="276820"/>
                  <a:pt x="383977" y="216801"/>
                  <a:pt x="383977" y="142875"/>
                </a:cubicBezTo>
                <a:cubicBezTo>
                  <a:pt x="383977" y="68949"/>
                  <a:pt x="323958" y="8930"/>
                  <a:pt x="250031" y="8930"/>
                </a:cubicBezTo>
                <a:cubicBezTo>
                  <a:pt x="176105" y="8930"/>
                  <a:pt x="116086" y="68949"/>
                  <a:pt x="116086" y="142875"/>
                </a:cubicBezTo>
                <a:cubicBezTo>
                  <a:pt x="116086" y="216801"/>
                  <a:pt x="176105" y="276820"/>
                  <a:pt x="250031" y="276820"/>
                </a:cubicBezTo>
                <a:close/>
                <a:moveTo>
                  <a:pt x="216880" y="339328"/>
                </a:moveTo>
                <a:cubicBezTo>
                  <a:pt x="106933" y="339328"/>
                  <a:pt x="17859" y="428402"/>
                  <a:pt x="17859" y="538349"/>
                </a:cubicBezTo>
                <a:cubicBezTo>
                  <a:pt x="17859" y="556654"/>
                  <a:pt x="32705" y="571500"/>
                  <a:pt x="51011" y="571500"/>
                </a:cubicBezTo>
                <a:lnTo>
                  <a:pt x="449052" y="571500"/>
                </a:lnTo>
                <a:cubicBezTo>
                  <a:pt x="467358" y="571500"/>
                  <a:pt x="482203" y="556654"/>
                  <a:pt x="482203" y="538349"/>
                </a:cubicBezTo>
                <a:cubicBezTo>
                  <a:pt x="482203" y="428402"/>
                  <a:pt x="393129" y="339328"/>
                  <a:pt x="283183" y="339328"/>
                </a:cubicBezTo>
                <a:lnTo>
                  <a:pt x="216880" y="339328"/>
                </a:lnTo>
                <a:close/>
              </a:path>
            </a:pathLst>
          </a:custGeom>
          <a:solidFill>
            <a:srgbClr val="1A1D21"/>
          </a:solidFill>
          <a:ln/>
        </p:spPr>
      </p:sp>
      <p:sp>
        <p:nvSpPr>
          <p:cNvPr id="8" name="Text 6"/>
          <p:cNvSpPr/>
          <p:nvPr/>
        </p:nvSpPr>
        <p:spPr>
          <a:xfrm>
            <a:off x="2108002" y="3482340"/>
            <a:ext cx="210502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90000"/>
              </a:lnSpc>
            </a:pPr>
            <a:r>
              <a:rPr lang="en-US" sz="2700" b="1" dirty="0">
                <a:solidFill>
                  <a:srgbClr val="F0F2F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Sundas Iqbal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2127885" y="3981450"/>
            <a:ext cx="2065020" cy="464820"/>
          </a:xfrm>
          <a:prstGeom prst="roundRect">
            <a:avLst>
              <a:gd name="adj" fmla="val 16393"/>
            </a:avLst>
          </a:prstGeom>
          <a:solidFill>
            <a:srgbClr val="D4A373">
              <a:alpha val="20000"/>
            </a:srgbClr>
          </a:solidFill>
          <a:ln w="10160">
            <a:solidFill>
              <a:srgbClr val="D4A373">
                <a:alpha val="40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303145" y="4061460"/>
            <a:ext cx="17145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800" b="1" dirty="0">
                <a:solidFill>
                  <a:srgbClr val="D4A37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BSITM-A-23-31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947386" y="4678561"/>
            <a:ext cx="2428875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40000"/>
              </a:lnSpc>
            </a:pPr>
            <a:r>
              <a:rPr lang="en-US" sz="1350" dirty="0">
                <a:solidFill>
                  <a:srgbClr val="9A959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Co-developer &amp; Research Lead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6256020" y="1417320"/>
            <a:ext cx="5549265" cy="3930015"/>
          </a:xfrm>
          <a:prstGeom prst="roundRect">
            <a:avLst>
              <a:gd name="adj" fmla="val 2908"/>
            </a:avLst>
          </a:prstGeom>
          <a:gradFill rotWithShape="1" flip="none">
            <a:gsLst>
              <a:gs pos="0">
                <a:srgbClr val="5F737C">
                  <a:alpha val="30000"/>
                </a:srgbClr>
              </a:gs>
              <a:gs pos="100000">
                <a:srgbClr val="4A5C6A">
                  <a:alpha val="20000"/>
                </a:srgbClr>
              </a:gs>
            </a:gsLst>
            <a:lin ang="2700000" scaled="1"/>
          </a:gradFill>
          <a:ln w="20320">
            <a:solidFill>
              <a:srgbClr val="5F737C">
                <a:alpha val="50196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343900" y="1805940"/>
            <a:ext cx="1371600" cy="1371600"/>
          </a:xfrm>
          <a:prstGeom prst="roundRect">
            <a:avLst>
              <a:gd name="adj" fmla="val 50000"/>
            </a:avLst>
          </a:prstGeom>
          <a:gradFill rotWithShape="1" flip="none">
            <a:gsLst>
              <a:gs pos="0">
                <a:srgbClr val="D4A373"/>
              </a:gs>
              <a:gs pos="100000">
                <a:srgbClr val="5F737C"/>
              </a:gs>
            </a:gsLst>
            <a:lin ang="2700000" scaled="1"/>
          </a:gradFill>
          <a:ln/>
          <a:effectLst>
            <a:outerShdw sx="100000" sy="100000" kx="0" ky="0" algn="bl" rotWithShape="0" blurRad="476250" dist="238125" dir="5400000">
              <a:srgbClr val="000000">
                <a:alpha val="25098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8779669" y="2205990"/>
            <a:ext cx="500063" cy="571500"/>
          </a:xfrm>
          <a:custGeom>
            <a:avLst/>
            <a:gdLst/>
            <a:ahLst/>
            <a:cxnLst/>
            <a:rect l="l" t="t" r="r" b="b"/>
            <a:pathLst>
              <a:path w="500063" h="571500">
                <a:moveTo>
                  <a:pt x="250031" y="276820"/>
                </a:moveTo>
                <a:cubicBezTo>
                  <a:pt x="323958" y="276820"/>
                  <a:pt x="383977" y="216801"/>
                  <a:pt x="383977" y="142875"/>
                </a:cubicBezTo>
                <a:cubicBezTo>
                  <a:pt x="383977" y="68949"/>
                  <a:pt x="323958" y="8930"/>
                  <a:pt x="250031" y="8930"/>
                </a:cubicBezTo>
                <a:cubicBezTo>
                  <a:pt x="176105" y="8930"/>
                  <a:pt x="116086" y="68949"/>
                  <a:pt x="116086" y="142875"/>
                </a:cubicBezTo>
                <a:cubicBezTo>
                  <a:pt x="116086" y="216801"/>
                  <a:pt x="176105" y="276820"/>
                  <a:pt x="250031" y="276820"/>
                </a:cubicBezTo>
                <a:close/>
                <a:moveTo>
                  <a:pt x="216880" y="339328"/>
                </a:moveTo>
                <a:cubicBezTo>
                  <a:pt x="106933" y="339328"/>
                  <a:pt x="17859" y="428402"/>
                  <a:pt x="17859" y="538349"/>
                </a:cubicBezTo>
                <a:cubicBezTo>
                  <a:pt x="17859" y="556654"/>
                  <a:pt x="32705" y="571500"/>
                  <a:pt x="51011" y="571500"/>
                </a:cubicBezTo>
                <a:lnTo>
                  <a:pt x="449052" y="571500"/>
                </a:lnTo>
                <a:cubicBezTo>
                  <a:pt x="467358" y="571500"/>
                  <a:pt x="482203" y="556654"/>
                  <a:pt x="482203" y="538349"/>
                </a:cubicBezTo>
                <a:cubicBezTo>
                  <a:pt x="482203" y="428402"/>
                  <a:pt x="393129" y="339328"/>
                  <a:pt x="283183" y="339328"/>
                </a:cubicBezTo>
                <a:lnTo>
                  <a:pt x="216880" y="339328"/>
                </a:lnTo>
                <a:close/>
              </a:path>
            </a:pathLst>
          </a:custGeom>
          <a:solidFill>
            <a:srgbClr val="1A1D21"/>
          </a:solidFill>
          <a:ln/>
        </p:spPr>
      </p:sp>
      <p:sp>
        <p:nvSpPr>
          <p:cNvPr id="15" name="Text 13"/>
          <p:cNvSpPr/>
          <p:nvPr/>
        </p:nvSpPr>
        <p:spPr>
          <a:xfrm>
            <a:off x="7969687" y="3482340"/>
            <a:ext cx="212407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90000"/>
              </a:lnSpc>
            </a:pPr>
            <a:r>
              <a:rPr lang="en-US" sz="2700" b="1" dirty="0">
                <a:solidFill>
                  <a:srgbClr val="F0F2F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Laiba Fayyaz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7976235" y="3981450"/>
            <a:ext cx="2103120" cy="464820"/>
          </a:xfrm>
          <a:prstGeom prst="roundRect">
            <a:avLst>
              <a:gd name="adj" fmla="val 16393"/>
            </a:avLst>
          </a:prstGeom>
          <a:solidFill>
            <a:srgbClr val="D4A373">
              <a:alpha val="20000"/>
            </a:srgbClr>
          </a:solidFill>
          <a:ln w="10160">
            <a:solidFill>
              <a:srgbClr val="D4A373">
                <a:alpha val="4000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151495" y="4061460"/>
            <a:ext cx="17526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800" b="1" dirty="0">
                <a:solidFill>
                  <a:srgbClr val="D4A37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BSITM-A-23-25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7393305" y="4678561"/>
            <a:ext cx="3276600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40000"/>
              </a:lnSpc>
            </a:pPr>
            <a:r>
              <a:rPr lang="en-US" sz="1350" dirty="0">
                <a:solidFill>
                  <a:srgbClr val="9A959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Co-developer &amp; Technical Implementation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400050" y="5582007"/>
            <a:ext cx="11410950" cy="914400"/>
          </a:xfrm>
          <a:custGeom>
            <a:avLst/>
            <a:gdLst/>
            <a:ahLst/>
            <a:cxnLst/>
            <a:rect l="l" t="t" r="r" b="b"/>
            <a:pathLst>
              <a:path w="11410950" h="914400">
                <a:moveTo>
                  <a:pt x="38100" y="0"/>
                </a:moveTo>
                <a:lnTo>
                  <a:pt x="11334750" y="0"/>
                </a:lnTo>
                <a:cubicBezTo>
                  <a:pt x="11376806" y="0"/>
                  <a:pt x="11410950" y="34144"/>
                  <a:pt x="11410950" y="76200"/>
                </a:cubicBezTo>
                <a:lnTo>
                  <a:pt x="11410950" y="838200"/>
                </a:lnTo>
                <a:cubicBezTo>
                  <a:pt x="11410950" y="880256"/>
                  <a:pt x="11376806" y="914400"/>
                  <a:pt x="11334750" y="914400"/>
                </a:cubicBezTo>
                <a:lnTo>
                  <a:pt x="38100" y="914400"/>
                </a:lnTo>
                <a:cubicBezTo>
                  <a:pt x="17072" y="914400"/>
                  <a:pt x="0" y="897328"/>
                  <a:pt x="0" y="8763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5F737C">
              <a:alpha val="20000"/>
            </a:srgbClr>
          </a:solidFill>
          <a:ln/>
        </p:spPr>
      </p:sp>
      <p:sp>
        <p:nvSpPr>
          <p:cNvPr id="20" name="Shape 18"/>
          <p:cNvSpPr/>
          <p:nvPr/>
        </p:nvSpPr>
        <p:spPr>
          <a:xfrm>
            <a:off x="400050" y="5582007"/>
            <a:ext cx="38100" cy="914400"/>
          </a:xfrm>
          <a:custGeom>
            <a:avLst/>
            <a:gdLst/>
            <a:ahLst/>
            <a:cxnLst/>
            <a:rect l="l" t="t" r="r" b="b"/>
            <a:pathLst>
              <a:path w="38100" h="914400">
                <a:moveTo>
                  <a:pt x="38100" y="0"/>
                </a:moveTo>
                <a:lnTo>
                  <a:pt x="38100" y="0"/>
                </a:lnTo>
                <a:lnTo>
                  <a:pt x="38100" y="914400"/>
                </a:lnTo>
                <a:lnTo>
                  <a:pt x="38100" y="914400"/>
                </a:lnTo>
                <a:cubicBezTo>
                  <a:pt x="17072" y="914400"/>
                  <a:pt x="0" y="897328"/>
                  <a:pt x="0" y="8763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D4A373"/>
          </a:solidFill>
          <a:ln/>
        </p:spPr>
      </p:sp>
      <p:sp>
        <p:nvSpPr>
          <p:cNvPr id="21" name="Shape 19"/>
          <p:cNvSpPr/>
          <p:nvPr/>
        </p:nvSpPr>
        <p:spPr>
          <a:xfrm>
            <a:off x="654844" y="5818227"/>
            <a:ext cx="128588" cy="171450"/>
          </a:xfrm>
          <a:custGeom>
            <a:avLst/>
            <a:gdLst/>
            <a:ahLst/>
            <a:cxnLst/>
            <a:rect l="l" t="t" r="r" b="b"/>
            <a:pathLst>
              <a:path w="128588" h="171450">
                <a:moveTo>
                  <a:pt x="98081" y="128588"/>
                </a:moveTo>
                <a:cubicBezTo>
                  <a:pt x="100526" y="121120"/>
                  <a:pt x="105415" y="114356"/>
                  <a:pt x="110940" y="108529"/>
                </a:cubicBezTo>
                <a:cubicBezTo>
                  <a:pt x="121890" y="97010"/>
                  <a:pt x="128587" y="81439"/>
                  <a:pt x="128587" y="64294"/>
                </a:cubicBezTo>
                <a:cubicBezTo>
                  <a:pt x="128587" y="28798"/>
                  <a:pt x="99789" y="0"/>
                  <a:pt x="64294" y="0"/>
                </a:cubicBezTo>
                <a:cubicBezTo>
                  <a:pt x="28798" y="0"/>
                  <a:pt x="0" y="28798"/>
                  <a:pt x="0" y="64294"/>
                </a:cubicBezTo>
                <a:cubicBezTo>
                  <a:pt x="0" y="81439"/>
                  <a:pt x="6697" y="97010"/>
                  <a:pt x="17647" y="108529"/>
                </a:cubicBezTo>
                <a:cubicBezTo>
                  <a:pt x="23173" y="114356"/>
                  <a:pt x="28095" y="121120"/>
                  <a:pt x="30506" y="128588"/>
                </a:cubicBezTo>
                <a:lnTo>
                  <a:pt x="98048" y="128588"/>
                </a:lnTo>
                <a:close/>
                <a:moveTo>
                  <a:pt x="96441" y="144661"/>
                </a:moveTo>
                <a:lnTo>
                  <a:pt x="32147" y="144661"/>
                </a:lnTo>
                <a:lnTo>
                  <a:pt x="32147" y="150019"/>
                </a:lnTo>
                <a:cubicBezTo>
                  <a:pt x="32147" y="164820"/>
                  <a:pt x="44135" y="176808"/>
                  <a:pt x="58936" y="176808"/>
                </a:cubicBezTo>
                <a:lnTo>
                  <a:pt x="69652" y="176808"/>
                </a:lnTo>
                <a:cubicBezTo>
                  <a:pt x="84453" y="176808"/>
                  <a:pt x="96441" y="164820"/>
                  <a:pt x="96441" y="150019"/>
                </a:cubicBezTo>
                <a:lnTo>
                  <a:pt x="96441" y="144661"/>
                </a:lnTo>
                <a:close/>
                <a:moveTo>
                  <a:pt x="61615" y="37505"/>
                </a:moveTo>
                <a:cubicBezTo>
                  <a:pt x="48287" y="37505"/>
                  <a:pt x="37505" y="48287"/>
                  <a:pt x="37505" y="61615"/>
                </a:cubicBezTo>
                <a:cubicBezTo>
                  <a:pt x="37505" y="66069"/>
                  <a:pt x="33922" y="69652"/>
                  <a:pt x="29468" y="69652"/>
                </a:cubicBezTo>
                <a:cubicBezTo>
                  <a:pt x="25014" y="69652"/>
                  <a:pt x="21431" y="66069"/>
                  <a:pt x="21431" y="61615"/>
                </a:cubicBezTo>
                <a:cubicBezTo>
                  <a:pt x="21431" y="39413"/>
                  <a:pt x="39413" y="21431"/>
                  <a:pt x="61615" y="21431"/>
                </a:cubicBezTo>
                <a:cubicBezTo>
                  <a:pt x="66069" y="21431"/>
                  <a:pt x="69652" y="25014"/>
                  <a:pt x="69652" y="29468"/>
                </a:cubicBezTo>
                <a:cubicBezTo>
                  <a:pt x="69652" y="33922"/>
                  <a:pt x="66069" y="37505"/>
                  <a:pt x="61615" y="37505"/>
                </a:cubicBezTo>
                <a:close/>
              </a:path>
            </a:pathLst>
          </a:custGeom>
          <a:solidFill>
            <a:srgbClr val="D4A373"/>
          </a:solidFill>
          <a:ln/>
        </p:spPr>
      </p:sp>
      <p:sp>
        <p:nvSpPr>
          <p:cNvPr id="22" name="Text 20"/>
          <p:cNvSpPr/>
          <p:nvPr/>
        </p:nvSpPr>
        <p:spPr>
          <a:xfrm>
            <a:off x="885825" y="5772507"/>
            <a:ext cx="108204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F0F2F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Collaborative Focus:</a:t>
            </a:r>
            <a:pPr>
              <a:lnSpc>
                <a:spcPct val="130000"/>
              </a:lnSpc>
            </a:pPr>
            <a:r>
              <a:rPr lang="en-US" sz="1350" dirty="0">
                <a:solidFill>
                  <a:srgbClr val="F0F2F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Joint development of the DeepFake detection system, combining expertise in deep learning, computer vision, and natural language processing to create a multi-modal authenticity analysis platform.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A1D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74850" y="374850"/>
            <a:ext cx="74970" cy="449820"/>
          </a:xfrm>
          <a:prstGeom prst="roundRect">
            <a:avLst>
              <a:gd name="adj" fmla="val 0"/>
            </a:avLst>
          </a:prstGeom>
          <a:solidFill>
            <a:srgbClr val="D4A373"/>
          </a:solidFill>
          <a:ln/>
        </p:spPr>
      </p:sp>
      <p:sp>
        <p:nvSpPr>
          <p:cNvPr id="3" name="Text 1"/>
          <p:cNvSpPr/>
          <p:nvPr/>
        </p:nvSpPr>
        <p:spPr>
          <a:xfrm>
            <a:off x="562275" y="374850"/>
            <a:ext cx="4057752" cy="4498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542" b="1" dirty="0">
                <a:solidFill>
                  <a:srgbClr val="F0F2F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Problem Statement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562275" y="899640"/>
            <a:ext cx="11348587" cy="2623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76" dirty="0">
                <a:solidFill>
                  <a:srgbClr val="9A959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The Critical Threat of DeepFakes to Digital Trust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93593" y="1311975"/>
            <a:ext cx="6784787" cy="1518143"/>
          </a:xfrm>
          <a:custGeom>
            <a:avLst/>
            <a:gdLst/>
            <a:ahLst/>
            <a:cxnLst/>
            <a:rect l="l" t="t" r="r" b="b"/>
            <a:pathLst>
              <a:path w="6784787" h="1518143">
                <a:moveTo>
                  <a:pt x="37465" y="0"/>
                </a:moveTo>
                <a:lnTo>
                  <a:pt x="6709791" y="0"/>
                </a:lnTo>
                <a:cubicBezTo>
                  <a:pt x="6729686" y="-34"/>
                  <a:pt x="6748777" y="7846"/>
                  <a:pt x="6762857" y="21902"/>
                </a:cubicBezTo>
                <a:cubicBezTo>
                  <a:pt x="6776936" y="35957"/>
                  <a:pt x="6784848" y="55035"/>
                  <a:pt x="6784848" y="74930"/>
                </a:cubicBezTo>
                <a:lnTo>
                  <a:pt x="6784848" y="1443228"/>
                </a:lnTo>
                <a:cubicBezTo>
                  <a:pt x="6784848" y="1463123"/>
                  <a:pt x="6776936" y="1482201"/>
                  <a:pt x="6762857" y="1496256"/>
                </a:cubicBezTo>
                <a:cubicBezTo>
                  <a:pt x="6748777" y="1510312"/>
                  <a:pt x="6729686" y="1518192"/>
                  <a:pt x="6709791" y="1518158"/>
                </a:cubicBezTo>
                <a:lnTo>
                  <a:pt x="37465" y="1518158"/>
                </a:lnTo>
                <a:cubicBezTo>
                  <a:pt x="16774" y="1518158"/>
                  <a:pt x="0" y="1501384"/>
                  <a:pt x="0" y="1480693"/>
                </a:cubicBezTo>
                <a:lnTo>
                  <a:pt x="0" y="37465"/>
                </a:lnTo>
                <a:cubicBezTo>
                  <a:pt x="0" y="16788"/>
                  <a:pt x="16788" y="0"/>
                  <a:pt x="37465" y="0"/>
                </a:cubicBezTo>
                <a:close/>
              </a:path>
            </a:pathLst>
          </a:custGeom>
          <a:gradFill rotWithShape="1" flip="none">
            <a:gsLst>
              <a:gs pos="0">
                <a:srgbClr val="5F737C">
                  <a:alpha val="30000"/>
                </a:srgbClr>
              </a:gs>
              <a:gs pos="100000">
                <a:srgbClr val="4A5C6A">
                  <a:alpha val="20000"/>
                </a:srgbClr>
              </a:gs>
            </a:gsLst>
            <a:lin ang="2700000" scaled="1"/>
          </a:gradFill>
          <a:ln/>
        </p:spPr>
      </p:sp>
      <p:sp>
        <p:nvSpPr>
          <p:cNvPr id="6" name="Shape 4"/>
          <p:cNvSpPr/>
          <p:nvPr/>
        </p:nvSpPr>
        <p:spPr>
          <a:xfrm>
            <a:off x="393593" y="1311975"/>
            <a:ext cx="37485" cy="1518143"/>
          </a:xfrm>
          <a:custGeom>
            <a:avLst/>
            <a:gdLst/>
            <a:ahLst/>
            <a:cxnLst/>
            <a:rect l="l" t="t" r="r" b="b"/>
            <a:pathLst>
              <a:path w="37485" h="1518143">
                <a:moveTo>
                  <a:pt x="37465" y="0"/>
                </a:moveTo>
                <a:lnTo>
                  <a:pt x="37465" y="0"/>
                </a:lnTo>
                <a:lnTo>
                  <a:pt x="37465" y="1518158"/>
                </a:lnTo>
                <a:lnTo>
                  <a:pt x="37465" y="1518158"/>
                </a:lnTo>
                <a:cubicBezTo>
                  <a:pt x="16774" y="1518158"/>
                  <a:pt x="0" y="1501384"/>
                  <a:pt x="0" y="1480693"/>
                </a:cubicBezTo>
                <a:lnTo>
                  <a:pt x="0" y="37465"/>
                </a:lnTo>
                <a:cubicBezTo>
                  <a:pt x="0" y="16788"/>
                  <a:pt x="16788" y="0"/>
                  <a:pt x="37465" y="0"/>
                </a:cubicBezTo>
                <a:close/>
              </a:path>
            </a:pathLst>
          </a:custGeom>
          <a:solidFill>
            <a:srgbClr val="D4A373"/>
          </a:solidFill>
          <a:ln/>
        </p:spPr>
      </p:sp>
      <p:sp>
        <p:nvSpPr>
          <p:cNvPr id="7" name="Shape 5"/>
          <p:cNvSpPr/>
          <p:nvPr/>
        </p:nvSpPr>
        <p:spPr>
          <a:xfrm>
            <a:off x="599760" y="1499400"/>
            <a:ext cx="524790" cy="524790"/>
          </a:xfrm>
          <a:prstGeom prst="roundRect">
            <a:avLst>
              <a:gd name="adj" fmla="val 50000"/>
            </a:avLst>
          </a:prstGeom>
          <a:solidFill>
            <a:srgbClr val="D4A373">
              <a:alpha val="20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749700" y="1649341"/>
            <a:ext cx="224910" cy="224910"/>
          </a:xfrm>
          <a:custGeom>
            <a:avLst/>
            <a:gdLst/>
            <a:ahLst/>
            <a:cxnLst/>
            <a:rect l="l" t="t" r="r" b="b"/>
            <a:pathLst>
              <a:path w="224910" h="224910">
                <a:moveTo>
                  <a:pt x="112455" y="0"/>
                </a:moveTo>
                <a:cubicBezTo>
                  <a:pt x="118912" y="0"/>
                  <a:pt x="124843" y="3558"/>
                  <a:pt x="127918" y="9225"/>
                </a:cubicBezTo>
                <a:lnTo>
                  <a:pt x="222802" y="184936"/>
                </a:lnTo>
                <a:cubicBezTo>
                  <a:pt x="225745" y="190383"/>
                  <a:pt x="225613" y="196972"/>
                  <a:pt x="222450" y="202287"/>
                </a:cubicBezTo>
                <a:cubicBezTo>
                  <a:pt x="219287" y="207603"/>
                  <a:pt x="213533" y="210853"/>
                  <a:pt x="207339" y="210853"/>
                </a:cubicBezTo>
                <a:lnTo>
                  <a:pt x="17571" y="210853"/>
                </a:lnTo>
                <a:cubicBezTo>
                  <a:pt x="11377" y="210853"/>
                  <a:pt x="5667" y="207603"/>
                  <a:pt x="2460" y="202287"/>
                </a:cubicBezTo>
                <a:cubicBezTo>
                  <a:pt x="-747" y="196972"/>
                  <a:pt x="-835" y="190383"/>
                  <a:pt x="2109" y="184936"/>
                </a:cubicBezTo>
                <a:lnTo>
                  <a:pt x="96992" y="9225"/>
                </a:lnTo>
                <a:cubicBezTo>
                  <a:pt x="100067" y="3558"/>
                  <a:pt x="105998" y="0"/>
                  <a:pt x="112455" y="0"/>
                </a:cubicBezTo>
                <a:close/>
                <a:moveTo>
                  <a:pt x="112455" y="73799"/>
                </a:moveTo>
                <a:cubicBezTo>
                  <a:pt x="106613" y="73799"/>
                  <a:pt x="101912" y="78499"/>
                  <a:pt x="101912" y="84341"/>
                </a:cubicBezTo>
                <a:lnTo>
                  <a:pt x="101912" y="133540"/>
                </a:lnTo>
                <a:cubicBezTo>
                  <a:pt x="101912" y="139383"/>
                  <a:pt x="106613" y="144083"/>
                  <a:pt x="112455" y="144083"/>
                </a:cubicBezTo>
                <a:cubicBezTo>
                  <a:pt x="118297" y="144083"/>
                  <a:pt x="122998" y="139383"/>
                  <a:pt x="122998" y="133540"/>
                </a:cubicBezTo>
                <a:lnTo>
                  <a:pt x="122998" y="84341"/>
                </a:lnTo>
                <a:cubicBezTo>
                  <a:pt x="122998" y="78499"/>
                  <a:pt x="118297" y="73799"/>
                  <a:pt x="112455" y="73799"/>
                </a:cubicBezTo>
                <a:close/>
                <a:moveTo>
                  <a:pt x="124184" y="168683"/>
                </a:moveTo>
                <a:cubicBezTo>
                  <a:pt x="124451" y="164329"/>
                  <a:pt x="122279" y="160187"/>
                  <a:pt x="118547" y="157929"/>
                </a:cubicBezTo>
                <a:cubicBezTo>
                  <a:pt x="114815" y="155672"/>
                  <a:pt x="110139" y="155672"/>
                  <a:pt x="106407" y="157929"/>
                </a:cubicBezTo>
                <a:cubicBezTo>
                  <a:pt x="102675" y="160187"/>
                  <a:pt x="100503" y="164329"/>
                  <a:pt x="100770" y="168683"/>
                </a:cubicBezTo>
                <a:cubicBezTo>
                  <a:pt x="100503" y="173036"/>
                  <a:pt x="102675" y="177178"/>
                  <a:pt x="106407" y="179436"/>
                </a:cubicBezTo>
                <a:cubicBezTo>
                  <a:pt x="110139" y="181693"/>
                  <a:pt x="114815" y="181693"/>
                  <a:pt x="118547" y="179436"/>
                </a:cubicBezTo>
                <a:cubicBezTo>
                  <a:pt x="122279" y="177178"/>
                  <a:pt x="124451" y="173036"/>
                  <a:pt x="124184" y="168683"/>
                </a:cubicBezTo>
                <a:close/>
              </a:path>
            </a:pathLst>
          </a:custGeom>
          <a:solidFill>
            <a:srgbClr val="D4A373"/>
          </a:solidFill>
          <a:ln/>
        </p:spPr>
      </p:sp>
      <p:sp>
        <p:nvSpPr>
          <p:cNvPr id="9" name="Text 7"/>
          <p:cNvSpPr/>
          <p:nvPr/>
        </p:nvSpPr>
        <p:spPr>
          <a:xfrm>
            <a:off x="1274490" y="1499400"/>
            <a:ext cx="5828919" cy="299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771" b="1" dirty="0">
                <a:solidFill>
                  <a:srgbClr val="F0F2F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Critical Digital Threat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274490" y="1911619"/>
            <a:ext cx="5791434" cy="7309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81" dirty="0">
                <a:solidFill>
                  <a:srgbClr val="F0F2F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DeepFakes represent a </a:t>
            </a:r>
            <a:pPr>
              <a:lnSpc>
                <a:spcPct val="140000"/>
              </a:lnSpc>
            </a:pPr>
            <a:r>
              <a:rPr lang="en-US" sz="1181" dirty="0">
                <a:solidFill>
                  <a:srgbClr val="D4A373"/>
                </a:solidFill>
                <a:highlight>
                  <a:srgbClr val="D4A373">
                    <a:alpha val="30000"/>
                  </a:srgbClr>
                </a:highlight>
                <a:latin typeface="Liter" pitchFamily="34" charset="0"/>
                <a:ea typeface="Liter" pitchFamily="34" charset="-122"/>
                <a:cs typeface="Liter" pitchFamily="34" charset="-120"/>
              </a:rPr>
              <a:t>critical threat to digital trust </a:t>
            </a:r>
            <a:pPr>
              <a:lnSpc>
                <a:spcPct val="140000"/>
              </a:lnSpc>
            </a:pPr>
            <a:r>
              <a:rPr lang="en-US" sz="1181" dirty="0">
                <a:solidFill>
                  <a:srgbClr val="F0F2F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, leveraging advanced AI to create hyper-realistic synthetic media that is increasingly indistinguishable from authentic content.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393593" y="2942457"/>
            <a:ext cx="6784787" cy="1724311"/>
          </a:xfrm>
          <a:custGeom>
            <a:avLst/>
            <a:gdLst/>
            <a:ahLst/>
            <a:cxnLst/>
            <a:rect l="l" t="t" r="r" b="b"/>
            <a:pathLst>
              <a:path w="6784787" h="1724311">
                <a:moveTo>
                  <a:pt x="37465" y="0"/>
                </a:moveTo>
                <a:lnTo>
                  <a:pt x="6709791" y="0"/>
                </a:lnTo>
                <a:cubicBezTo>
                  <a:pt x="6729686" y="-34"/>
                  <a:pt x="6748777" y="7846"/>
                  <a:pt x="6762857" y="21902"/>
                </a:cubicBezTo>
                <a:cubicBezTo>
                  <a:pt x="6776936" y="35957"/>
                  <a:pt x="6784848" y="55035"/>
                  <a:pt x="6784848" y="74930"/>
                </a:cubicBezTo>
                <a:lnTo>
                  <a:pt x="6784848" y="1649349"/>
                </a:lnTo>
                <a:cubicBezTo>
                  <a:pt x="6784848" y="1669244"/>
                  <a:pt x="6776936" y="1688322"/>
                  <a:pt x="6762857" y="1702377"/>
                </a:cubicBezTo>
                <a:cubicBezTo>
                  <a:pt x="6748777" y="1716433"/>
                  <a:pt x="6729686" y="1724313"/>
                  <a:pt x="6709791" y="1724279"/>
                </a:cubicBezTo>
                <a:lnTo>
                  <a:pt x="37465" y="1724279"/>
                </a:lnTo>
                <a:cubicBezTo>
                  <a:pt x="16774" y="1724279"/>
                  <a:pt x="0" y="1707505"/>
                  <a:pt x="0" y="1686814"/>
                </a:cubicBezTo>
                <a:lnTo>
                  <a:pt x="0" y="37465"/>
                </a:lnTo>
                <a:cubicBezTo>
                  <a:pt x="0" y="16788"/>
                  <a:pt x="16788" y="0"/>
                  <a:pt x="37465" y="0"/>
                </a:cubicBezTo>
                <a:close/>
              </a:path>
            </a:pathLst>
          </a:custGeom>
          <a:gradFill rotWithShape="1" flip="none">
            <a:gsLst>
              <a:gs pos="0">
                <a:srgbClr val="5F737C">
                  <a:alpha val="30000"/>
                </a:srgbClr>
              </a:gs>
              <a:gs pos="100000">
                <a:srgbClr val="4A5C6A">
                  <a:alpha val="20000"/>
                </a:srgbClr>
              </a:gs>
            </a:gsLst>
            <a:lin ang="2700000" scaled="1"/>
          </a:gradFill>
          <a:ln/>
        </p:spPr>
      </p:sp>
      <p:sp>
        <p:nvSpPr>
          <p:cNvPr id="12" name="Shape 10"/>
          <p:cNvSpPr/>
          <p:nvPr/>
        </p:nvSpPr>
        <p:spPr>
          <a:xfrm>
            <a:off x="393593" y="2942457"/>
            <a:ext cx="37485" cy="1724311"/>
          </a:xfrm>
          <a:custGeom>
            <a:avLst/>
            <a:gdLst/>
            <a:ahLst/>
            <a:cxnLst/>
            <a:rect l="l" t="t" r="r" b="b"/>
            <a:pathLst>
              <a:path w="37485" h="1724311">
                <a:moveTo>
                  <a:pt x="37465" y="0"/>
                </a:moveTo>
                <a:lnTo>
                  <a:pt x="37465" y="0"/>
                </a:lnTo>
                <a:lnTo>
                  <a:pt x="37465" y="1724279"/>
                </a:lnTo>
                <a:lnTo>
                  <a:pt x="37465" y="1724279"/>
                </a:lnTo>
                <a:cubicBezTo>
                  <a:pt x="16774" y="1724279"/>
                  <a:pt x="0" y="1707505"/>
                  <a:pt x="0" y="1686814"/>
                </a:cubicBezTo>
                <a:lnTo>
                  <a:pt x="0" y="37465"/>
                </a:lnTo>
                <a:cubicBezTo>
                  <a:pt x="0" y="16788"/>
                  <a:pt x="16788" y="0"/>
                  <a:pt x="37465" y="0"/>
                </a:cubicBezTo>
                <a:close/>
              </a:path>
            </a:pathLst>
          </a:custGeom>
          <a:solidFill>
            <a:srgbClr val="5F737C"/>
          </a:solidFill>
          <a:ln/>
        </p:spPr>
      </p:sp>
      <p:sp>
        <p:nvSpPr>
          <p:cNvPr id="13" name="Shape 11"/>
          <p:cNvSpPr/>
          <p:nvPr/>
        </p:nvSpPr>
        <p:spPr>
          <a:xfrm>
            <a:off x="599760" y="3129882"/>
            <a:ext cx="524790" cy="524790"/>
          </a:xfrm>
          <a:prstGeom prst="roundRect">
            <a:avLst>
              <a:gd name="adj" fmla="val 50000"/>
            </a:avLst>
          </a:prstGeom>
          <a:solidFill>
            <a:srgbClr val="5F737C">
              <a:alpha val="30196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749700" y="3279822"/>
            <a:ext cx="224910" cy="224910"/>
          </a:xfrm>
          <a:custGeom>
            <a:avLst/>
            <a:gdLst/>
            <a:ahLst/>
            <a:cxnLst/>
            <a:rect l="l" t="t" r="r" b="b"/>
            <a:pathLst>
              <a:path w="224910" h="224910">
                <a:moveTo>
                  <a:pt x="112455" y="0"/>
                </a:moveTo>
                <a:cubicBezTo>
                  <a:pt x="114476" y="0"/>
                  <a:pt x="116496" y="439"/>
                  <a:pt x="118341" y="1274"/>
                </a:cubicBezTo>
                <a:lnTo>
                  <a:pt x="201101" y="36372"/>
                </a:lnTo>
                <a:cubicBezTo>
                  <a:pt x="210765" y="40457"/>
                  <a:pt x="217969" y="49990"/>
                  <a:pt x="217926" y="61499"/>
                </a:cubicBezTo>
                <a:cubicBezTo>
                  <a:pt x="217706" y="105075"/>
                  <a:pt x="199783" y="184804"/>
                  <a:pt x="124096" y="221044"/>
                </a:cubicBezTo>
                <a:cubicBezTo>
                  <a:pt x="116760" y="224559"/>
                  <a:pt x="108238" y="224559"/>
                  <a:pt x="100902" y="221044"/>
                </a:cubicBezTo>
                <a:cubicBezTo>
                  <a:pt x="25171" y="184804"/>
                  <a:pt x="7292" y="105075"/>
                  <a:pt x="7072" y="61499"/>
                </a:cubicBezTo>
                <a:cubicBezTo>
                  <a:pt x="7028" y="49990"/>
                  <a:pt x="14233" y="40457"/>
                  <a:pt x="23897" y="36372"/>
                </a:cubicBezTo>
                <a:lnTo>
                  <a:pt x="106613" y="1274"/>
                </a:lnTo>
                <a:cubicBezTo>
                  <a:pt x="108458" y="439"/>
                  <a:pt x="110434" y="0"/>
                  <a:pt x="112455" y="0"/>
                </a:cubicBezTo>
                <a:close/>
                <a:moveTo>
                  <a:pt x="112455" y="29344"/>
                </a:moveTo>
                <a:lnTo>
                  <a:pt x="112455" y="195435"/>
                </a:lnTo>
                <a:cubicBezTo>
                  <a:pt x="173075" y="166091"/>
                  <a:pt x="189373" y="101078"/>
                  <a:pt x="189768" y="62158"/>
                </a:cubicBezTo>
                <a:lnTo>
                  <a:pt x="112455" y="29388"/>
                </a:lnTo>
                <a:lnTo>
                  <a:pt x="112455" y="29388"/>
                </a:lnTo>
                <a:close/>
              </a:path>
            </a:pathLst>
          </a:custGeom>
          <a:solidFill>
            <a:srgbClr val="5F737C"/>
          </a:solidFill>
          <a:ln/>
        </p:spPr>
      </p:sp>
      <p:sp>
        <p:nvSpPr>
          <p:cNvPr id="15" name="Text 13"/>
          <p:cNvSpPr/>
          <p:nvPr/>
        </p:nvSpPr>
        <p:spPr>
          <a:xfrm>
            <a:off x="1274490" y="3129882"/>
            <a:ext cx="4029639" cy="299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771" b="1" dirty="0">
                <a:solidFill>
                  <a:srgbClr val="F0F2F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Malicious Applications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1274490" y="3542099"/>
            <a:ext cx="1227634" cy="937125"/>
          </a:xfrm>
          <a:prstGeom prst="roundRect">
            <a:avLst>
              <a:gd name="adj" fmla="val 8000"/>
            </a:avLst>
          </a:prstGeom>
          <a:solidFill>
            <a:srgbClr val="1A1D21">
              <a:alpha val="60000"/>
            </a:srgbClr>
          </a:solidFill>
          <a:ln/>
        </p:spPr>
      </p:sp>
      <p:sp>
        <p:nvSpPr>
          <p:cNvPr id="17" name="Shape 15"/>
          <p:cNvSpPr/>
          <p:nvPr/>
        </p:nvSpPr>
        <p:spPr>
          <a:xfrm>
            <a:off x="1777024" y="3654554"/>
            <a:ext cx="224910" cy="224910"/>
          </a:xfrm>
          <a:custGeom>
            <a:avLst/>
            <a:gdLst/>
            <a:ahLst/>
            <a:cxnLst/>
            <a:rect l="l" t="t" r="r" b="b"/>
            <a:pathLst>
              <a:path w="224910" h="224910">
                <a:moveTo>
                  <a:pt x="0" y="182739"/>
                </a:moveTo>
                <a:lnTo>
                  <a:pt x="0" y="52713"/>
                </a:lnTo>
                <a:cubicBezTo>
                  <a:pt x="0" y="46871"/>
                  <a:pt x="4700" y="42171"/>
                  <a:pt x="10543" y="42171"/>
                </a:cubicBezTo>
                <a:cubicBezTo>
                  <a:pt x="16385" y="42171"/>
                  <a:pt x="21085" y="46871"/>
                  <a:pt x="21085" y="52713"/>
                </a:cubicBezTo>
                <a:lnTo>
                  <a:pt x="21085" y="179225"/>
                </a:lnTo>
                <a:cubicBezTo>
                  <a:pt x="21085" y="185068"/>
                  <a:pt x="25786" y="189768"/>
                  <a:pt x="31628" y="189768"/>
                </a:cubicBezTo>
                <a:cubicBezTo>
                  <a:pt x="37470" y="189768"/>
                  <a:pt x="42171" y="185068"/>
                  <a:pt x="42171" y="179225"/>
                </a:cubicBezTo>
                <a:lnTo>
                  <a:pt x="42171" y="42171"/>
                </a:lnTo>
                <a:cubicBezTo>
                  <a:pt x="42171" y="26664"/>
                  <a:pt x="54778" y="14057"/>
                  <a:pt x="70284" y="14057"/>
                </a:cubicBezTo>
                <a:lnTo>
                  <a:pt x="196796" y="14057"/>
                </a:lnTo>
                <a:cubicBezTo>
                  <a:pt x="212303" y="14057"/>
                  <a:pt x="224910" y="26664"/>
                  <a:pt x="224910" y="42171"/>
                </a:cubicBezTo>
                <a:lnTo>
                  <a:pt x="224910" y="182739"/>
                </a:lnTo>
                <a:cubicBezTo>
                  <a:pt x="224910" y="198246"/>
                  <a:pt x="212303" y="210853"/>
                  <a:pt x="196796" y="210853"/>
                </a:cubicBezTo>
                <a:lnTo>
                  <a:pt x="28114" y="210853"/>
                </a:lnTo>
                <a:cubicBezTo>
                  <a:pt x="12607" y="210853"/>
                  <a:pt x="0" y="198246"/>
                  <a:pt x="0" y="182739"/>
                </a:cubicBezTo>
                <a:close/>
                <a:moveTo>
                  <a:pt x="70284" y="56228"/>
                </a:moveTo>
                <a:lnTo>
                  <a:pt x="70284" y="84341"/>
                </a:lnTo>
                <a:cubicBezTo>
                  <a:pt x="70284" y="92116"/>
                  <a:pt x="76566" y="98398"/>
                  <a:pt x="84341" y="98398"/>
                </a:cubicBezTo>
                <a:lnTo>
                  <a:pt x="112455" y="98398"/>
                </a:lnTo>
                <a:cubicBezTo>
                  <a:pt x="120230" y="98398"/>
                  <a:pt x="126512" y="92116"/>
                  <a:pt x="126512" y="84341"/>
                </a:cubicBezTo>
                <a:lnTo>
                  <a:pt x="126512" y="56228"/>
                </a:lnTo>
                <a:cubicBezTo>
                  <a:pt x="126512" y="48452"/>
                  <a:pt x="120230" y="42171"/>
                  <a:pt x="112455" y="42171"/>
                </a:cubicBezTo>
                <a:lnTo>
                  <a:pt x="84341" y="42171"/>
                </a:lnTo>
                <a:cubicBezTo>
                  <a:pt x="76566" y="42171"/>
                  <a:pt x="70284" y="48452"/>
                  <a:pt x="70284" y="56228"/>
                </a:cubicBezTo>
                <a:close/>
                <a:moveTo>
                  <a:pt x="80827" y="161654"/>
                </a:moveTo>
                <a:cubicBezTo>
                  <a:pt x="74985" y="161654"/>
                  <a:pt x="70284" y="166354"/>
                  <a:pt x="70284" y="172197"/>
                </a:cubicBezTo>
                <a:cubicBezTo>
                  <a:pt x="70284" y="178039"/>
                  <a:pt x="74985" y="182739"/>
                  <a:pt x="80827" y="182739"/>
                </a:cubicBezTo>
                <a:lnTo>
                  <a:pt x="186254" y="182739"/>
                </a:lnTo>
                <a:cubicBezTo>
                  <a:pt x="192096" y="182739"/>
                  <a:pt x="196796" y="178039"/>
                  <a:pt x="196796" y="172197"/>
                </a:cubicBezTo>
                <a:cubicBezTo>
                  <a:pt x="196796" y="166354"/>
                  <a:pt x="192096" y="161654"/>
                  <a:pt x="186254" y="161654"/>
                </a:cubicBezTo>
                <a:lnTo>
                  <a:pt x="80827" y="161654"/>
                </a:lnTo>
                <a:close/>
                <a:moveTo>
                  <a:pt x="70284" y="130026"/>
                </a:moveTo>
                <a:cubicBezTo>
                  <a:pt x="70284" y="135869"/>
                  <a:pt x="74985" y="140569"/>
                  <a:pt x="80827" y="140569"/>
                </a:cubicBezTo>
                <a:lnTo>
                  <a:pt x="186254" y="140569"/>
                </a:lnTo>
                <a:cubicBezTo>
                  <a:pt x="192096" y="140569"/>
                  <a:pt x="196796" y="135869"/>
                  <a:pt x="196796" y="130026"/>
                </a:cubicBezTo>
                <a:cubicBezTo>
                  <a:pt x="196796" y="124184"/>
                  <a:pt x="192096" y="119483"/>
                  <a:pt x="186254" y="119483"/>
                </a:cubicBezTo>
                <a:lnTo>
                  <a:pt x="80827" y="119483"/>
                </a:lnTo>
                <a:cubicBezTo>
                  <a:pt x="74985" y="119483"/>
                  <a:pt x="70284" y="124184"/>
                  <a:pt x="70284" y="130026"/>
                </a:cubicBezTo>
                <a:close/>
                <a:moveTo>
                  <a:pt x="158140" y="77313"/>
                </a:moveTo>
                <a:cubicBezTo>
                  <a:pt x="152298" y="77313"/>
                  <a:pt x="147597" y="82013"/>
                  <a:pt x="147597" y="87855"/>
                </a:cubicBezTo>
                <a:cubicBezTo>
                  <a:pt x="147597" y="93698"/>
                  <a:pt x="152298" y="98398"/>
                  <a:pt x="158140" y="98398"/>
                </a:cubicBezTo>
                <a:lnTo>
                  <a:pt x="186254" y="98398"/>
                </a:lnTo>
                <a:cubicBezTo>
                  <a:pt x="192096" y="98398"/>
                  <a:pt x="196796" y="93698"/>
                  <a:pt x="196796" y="87855"/>
                </a:cubicBezTo>
                <a:cubicBezTo>
                  <a:pt x="196796" y="82013"/>
                  <a:pt x="192096" y="77313"/>
                  <a:pt x="186254" y="77313"/>
                </a:cubicBezTo>
                <a:lnTo>
                  <a:pt x="158140" y="77313"/>
                </a:lnTo>
                <a:close/>
              </a:path>
            </a:pathLst>
          </a:custGeom>
          <a:solidFill>
            <a:srgbClr val="D4A373"/>
          </a:solidFill>
          <a:ln/>
        </p:spPr>
      </p:sp>
      <p:sp>
        <p:nvSpPr>
          <p:cNvPr id="18" name="Text 16"/>
          <p:cNvSpPr/>
          <p:nvPr/>
        </p:nvSpPr>
        <p:spPr>
          <a:xfrm>
            <a:off x="1349460" y="3954434"/>
            <a:ext cx="1077694" cy="2249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181" b="1" dirty="0">
                <a:solidFill>
                  <a:srgbClr val="F0F2F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Misinformation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354146" y="4179344"/>
            <a:ext cx="1068323" cy="1874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33" dirty="0">
                <a:solidFill>
                  <a:srgbClr val="9A959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Fake news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2616922" y="3542099"/>
            <a:ext cx="1227634" cy="937125"/>
          </a:xfrm>
          <a:prstGeom prst="roundRect">
            <a:avLst>
              <a:gd name="adj" fmla="val 8000"/>
            </a:avLst>
          </a:prstGeom>
          <a:solidFill>
            <a:srgbClr val="1A1D21">
              <a:alpha val="60000"/>
            </a:srgbClr>
          </a:solidFill>
          <a:ln/>
        </p:spPr>
      </p:sp>
      <p:sp>
        <p:nvSpPr>
          <p:cNvPr id="21" name="Shape 19"/>
          <p:cNvSpPr/>
          <p:nvPr/>
        </p:nvSpPr>
        <p:spPr>
          <a:xfrm>
            <a:off x="3161626" y="3654554"/>
            <a:ext cx="140569" cy="224910"/>
          </a:xfrm>
          <a:custGeom>
            <a:avLst/>
            <a:gdLst/>
            <a:ahLst/>
            <a:cxnLst/>
            <a:rect l="l" t="t" r="r" b="b"/>
            <a:pathLst>
              <a:path w="140569" h="224910">
                <a:moveTo>
                  <a:pt x="59742" y="10543"/>
                </a:moveTo>
                <a:cubicBezTo>
                  <a:pt x="59742" y="4700"/>
                  <a:pt x="64442" y="0"/>
                  <a:pt x="70284" y="0"/>
                </a:cubicBezTo>
                <a:cubicBezTo>
                  <a:pt x="76127" y="0"/>
                  <a:pt x="80827" y="4700"/>
                  <a:pt x="80827" y="10543"/>
                </a:cubicBezTo>
                <a:lnTo>
                  <a:pt x="80827" y="28114"/>
                </a:lnTo>
                <a:lnTo>
                  <a:pt x="105427" y="28114"/>
                </a:lnTo>
                <a:cubicBezTo>
                  <a:pt x="113202" y="28114"/>
                  <a:pt x="119483" y="34395"/>
                  <a:pt x="119483" y="42171"/>
                </a:cubicBezTo>
                <a:cubicBezTo>
                  <a:pt x="119483" y="49946"/>
                  <a:pt x="113202" y="56228"/>
                  <a:pt x="105427" y="56228"/>
                </a:cubicBezTo>
                <a:lnTo>
                  <a:pt x="54954" y="56228"/>
                </a:lnTo>
                <a:cubicBezTo>
                  <a:pt x="44016" y="56228"/>
                  <a:pt x="35142" y="65101"/>
                  <a:pt x="35142" y="76039"/>
                </a:cubicBezTo>
                <a:cubicBezTo>
                  <a:pt x="35142" y="85923"/>
                  <a:pt x="42390" y="94269"/>
                  <a:pt x="52142" y="95675"/>
                </a:cubicBezTo>
                <a:lnTo>
                  <a:pt x="92380" y="101429"/>
                </a:lnTo>
                <a:cubicBezTo>
                  <a:pt x="116013" y="104812"/>
                  <a:pt x="133540" y="125018"/>
                  <a:pt x="133540" y="148871"/>
                </a:cubicBezTo>
                <a:cubicBezTo>
                  <a:pt x="133540" y="175360"/>
                  <a:pt x="112060" y="196796"/>
                  <a:pt x="85615" y="196796"/>
                </a:cubicBezTo>
                <a:lnTo>
                  <a:pt x="80827" y="196796"/>
                </a:lnTo>
                <a:lnTo>
                  <a:pt x="80827" y="214367"/>
                </a:lnTo>
                <a:cubicBezTo>
                  <a:pt x="80827" y="220210"/>
                  <a:pt x="76127" y="224910"/>
                  <a:pt x="70284" y="224910"/>
                </a:cubicBezTo>
                <a:cubicBezTo>
                  <a:pt x="64442" y="224910"/>
                  <a:pt x="59742" y="220210"/>
                  <a:pt x="59742" y="214367"/>
                </a:cubicBezTo>
                <a:lnTo>
                  <a:pt x="59742" y="196796"/>
                </a:lnTo>
                <a:lnTo>
                  <a:pt x="28114" y="196796"/>
                </a:lnTo>
                <a:cubicBezTo>
                  <a:pt x="20339" y="196796"/>
                  <a:pt x="14057" y="190515"/>
                  <a:pt x="14057" y="182739"/>
                </a:cubicBezTo>
                <a:cubicBezTo>
                  <a:pt x="14057" y="174964"/>
                  <a:pt x="20339" y="168683"/>
                  <a:pt x="28114" y="168683"/>
                </a:cubicBezTo>
                <a:lnTo>
                  <a:pt x="85615" y="168683"/>
                </a:lnTo>
                <a:cubicBezTo>
                  <a:pt x="96553" y="168683"/>
                  <a:pt x="105427" y="159809"/>
                  <a:pt x="105427" y="148871"/>
                </a:cubicBezTo>
                <a:cubicBezTo>
                  <a:pt x="105427" y="138987"/>
                  <a:pt x="98179" y="130641"/>
                  <a:pt x="88427" y="129235"/>
                </a:cubicBezTo>
                <a:lnTo>
                  <a:pt x="48189" y="123481"/>
                </a:lnTo>
                <a:cubicBezTo>
                  <a:pt x="24556" y="120142"/>
                  <a:pt x="7028" y="99892"/>
                  <a:pt x="7028" y="76039"/>
                </a:cubicBezTo>
                <a:cubicBezTo>
                  <a:pt x="7028" y="49594"/>
                  <a:pt x="28509" y="28114"/>
                  <a:pt x="54954" y="28114"/>
                </a:cubicBezTo>
                <a:lnTo>
                  <a:pt x="59742" y="28114"/>
                </a:lnTo>
                <a:lnTo>
                  <a:pt x="59742" y="10543"/>
                </a:lnTo>
                <a:close/>
              </a:path>
            </a:pathLst>
          </a:custGeom>
          <a:solidFill>
            <a:srgbClr val="D4A373"/>
          </a:solidFill>
          <a:ln/>
        </p:spPr>
      </p:sp>
      <p:sp>
        <p:nvSpPr>
          <p:cNvPr id="22" name="Text 20"/>
          <p:cNvSpPr/>
          <p:nvPr/>
        </p:nvSpPr>
        <p:spPr>
          <a:xfrm>
            <a:off x="2691892" y="3954434"/>
            <a:ext cx="1077694" cy="2249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181" b="1" dirty="0">
                <a:solidFill>
                  <a:srgbClr val="F0F2F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Financial Fraud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2696578" y="4179344"/>
            <a:ext cx="1068323" cy="1874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33" dirty="0">
                <a:solidFill>
                  <a:srgbClr val="9A959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Scams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3959354" y="3542099"/>
            <a:ext cx="1227634" cy="937125"/>
          </a:xfrm>
          <a:prstGeom prst="roundRect">
            <a:avLst>
              <a:gd name="adj" fmla="val 8000"/>
            </a:avLst>
          </a:prstGeom>
          <a:solidFill>
            <a:srgbClr val="1A1D21">
              <a:alpha val="60000"/>
            </a:srgbClr>
          </a:solidFill>
          <a:ln/>
        </p:spPr>
      </p:sp>
      <p:sp>
        <p:nvSpPr>
          <p:cNvPr id="25" name="Shape 23"/>
          <p:cNvSpPr/>
          <p:nvPr/>
        </p:nvSpPr>
        <p:spPr>
          <a:xfrm>
            <a:off x="4475945" y="3654554"/>
            <a:ext cx="196796" cy="224910"/>
          </a:xfrm>
          <a:custGeom>
            <a:avLst/>
            <a:gdLst/>
            <a:ahLst/>
            <a:cxnLst/>
            <a:rect l="l" t="t" r="r" b="b"/>
            <a:pathLst>
              <a:path w="196796" h="224910">
                <a:moveTo>
                  <a:pt x="75116" y="-7028"/>
                </a:moveTo>
                <a:cubicBezTo>
                  <a:pt x="59127" y="-7028"/>
                  <a:pt x="49726" y="18581"/>
                  <a:pt x="45114" y="42171"/>
                </a:cubicBezTo>
                <a:lnTo>
                  <a:pt x="31628" y="42171"/>
                </a:lnTo>
                <a:cubicBezTo>
                  <a:pt x="25786" y="42171"/>
                  <a:pt x="21085" y="46871"/>
                  <a:pt x="21085" y="52713"/>
                </a:cubicBezTo>
                <a:cubicBezTo>
                  <a:pt x="21085" y="58556"/>
                  <a:pt x="25786" y="63256"/>
                  <a:pt x="31628" y="63256"/>
                </a:cubicBezTo>
                <a:lnTo>
                  <a:pt x="42171" y="63256"/>
                </a:lnTo>
                <a:lnTo>
                  <a:pt x="42171" y="77313"/>
                </a:lnTo>
                <a:cubicBezTo>
                  <a:pt x="42171" y="84781"/>
                  <a:pt x="43620" y="91897"/>
                  <a:pt x="46256" y="98398"/>
                </a:cubicBezTo>
                <a:lnTo>
                  <a:pt x="42171" y="98398"/>
                </a:lnTo>
                <a:lnTo>
                  <a:pt x="42171" y="98398"/>
                </a:lnTo>
                <a:lnTo>
                  <a:pt x="33165" y="98398"/>
                </a:lnTo>
                <a:cubicBezTo>
                  <a:pt x="26488" y="98398"/>
                  <a:pt x="21085" y="103801"/>
                  <a:pt x="21085" y="110478"/>
                </a:cubicBezTo>
                <a:cubicBezTo>
                  <a:pt x="21085" y="111796"/>
                  <a:pt x="21305" y="113070"/>
                  <a:pt x="21700" y="114300"/>
                </a:cubicBezTo>
                <a:lnTo>
                  <a:pt x="34395" y="152341"/>
                </a:lnTo>
                <a:cubicBezTo>
                  <a:pt x="17659" y="166750"/>
                  <a:pt x="7028" y="188055"/>
                  <a:pt x="7028" y="211864"/>
                </a:cubicBezTo>
                <a:cubicBezTo>
                  <a:pt x="7028" y="219068"/>
                  <a:pt x="12871" y="224910"/>
                  <a:pt x="20075" y="224910"/>
                </a:cubicBezTo>
                <a:lnTo>
                  <a:pt x="176721" y="224910"/>
                </a:lnTo>
                <a:cubicBezTo>
                  <a:pt x="183925" y="224910"/>
                  <a:pt x="189768" y="219068"/>
                  <a:pt x="189768" y="211864"/>
                </a:cubicBezTo>
                <a:cubicBezTo>
                  <a:pt x="189768" y="188055"/>
                  <a:pt x="179137" y="166750"/>
                  <a:pt x="162401" y="152385"/>
                </a:cubicBezTo>
                <a:lnTo>
                  <a:pt x="175096" y="114344"/>
                </a:lnTo>
                <a:cubicBezTo>
                  <a:pt x="175491" y="113114"/>
                  <a:pt x="175711" y="111840"/>
                  <a:pt x="175711" y="110522"/>
                </a:cubicBezTo>
                <a:cubicBezTo>
                  <a:pt x="175711" y="103845"/>
                  <a:pt x="170308" y="98442"/>
                  <a:pt x="163631" y="98442"/>
                </a:cubicBezTo>
                <a:lnTo>
                  <a:pt x="154626" y="98442"/>
                </a:lnTo>
                <a:lnTo>
                  <a:pt x="154626" y="98442"/>
                </a:lnTo>
                <a:lnTo>
                  <a:pt x="150540" y="98442"/>
                </a:lnTo>
                <a:cubicBezTo>
                  <a:pt x="153176" y="91941"/>
                  <a:pt x="154626" y="84824"/>
                  <a:pt x="154626" y="77357"/>
                </a:cubicBezTo>
                <a:lnTo>
                  <a:pt x="154626" y="63300"/>
                </a:lnTo>
                <a:lnTo>
                  <a:pt x="165168" y="63300"/>
                </a:lnTo>
                <a:cubicBezTo>
                  <a:pt x="171011" y="63300"/>
                  <a:pt x="175711" y="58600"/>
                  <a:pt x="175711" y="52757"/>
                </a:cubicBezTo>
                <a:cubicBezTo>
                  <a:pt x="175711" y="46915"/>
                  <a:pt x="171011" y="42215"/>
                  <a:pt x="165168" y="42215"/>
                </a:cubicBezTo>
                <a:lnTo>
                  <a:pt x="151683" y="42215"/>
                </a:lnTo>
                <a:cubicBezTo>
                  <a:pt x="147114" y="18625"/>
                  <a:pt x="137670" y="-6985"/>
                  <a:pt x="121680" y="-6985"/>
                </a:cubicBezTo>
                <a:cubicBezTo>
                  <a:pt x="117463" y="-6985"/>
                  <a:pt x="113334" y="-5271"/>
                  <a:pt x="109600" y="-3382"/>
                </a:cubicBezTo>
                <a:cubicBezTo>
                  <a:pt x="105998" y="-1581"/>
                  <a:pt x="101517" y="44"/>
                  <a:pt x="98398" y="44"/>
                </a:cubicBezTo>
                <a:cubicBezTo>
                  <a:pt x="95279" y="44"/>
                  <a:pt x="90799" y="-1581"/>
                  <a:pt x="87197" y="-3382"/>
                </a:cubicBezTo>
                <a:cubicBezTo>
                  <a:pt x="83463" y="-5315"/>
                  <a:pt x="79334" y="-7028"/>
                  <a:pt x="75116" y="-7028"/>
                </a:cubicBezTo>
                <a:close/>
                <a:moveTo>
                  <a:pt x="116277" y="205758"/>
                </a:moveTo>
                <a:lnTo>
                  <a:pt x="105383" y="174613"/>
                </a:lnTo>
                <a:lnTo>
                  <a:pt x="117639" y="160336"/>
                </a:lnTo>
                <a:cubicBezTo>
                  <a:pt x="118825" y="158931"/>
                  <a:pt x="119483" y="157173"/>
                  <a:pt x="119483" y="155329"/>
                </a:cubicBezTo>
                <a:cubicBezTo>
                  <a:pt x="119483" y="151068"/>
                  <a:pt x="116057" y="147641"/>
                  <a:pt x="111796" y="147641"/>
                </a:cubicBezTo>
                <a:lnTo>
                  <a:pt x="85000" y="147641"/>
                </a:lnTo>
                <a:cubicBezTo>
                  <a:pt x="80739" y="147641"/>
                  <a:pt x="77313" y="151068"/>
                  <a:pt x="77313" y="155329"/>
                </a:cubicBezTo>
                <a:cubicBezTo>
                  <a:pt x="77313" y="157173"/>
                  <a:pt x="77972" y="158931"/>
                  <a:pt x="79158" y="160336"/>
                </a:cubicBezTo>
                <a:lnTo>
                  <a:pt x="91414" y="174613"/>
                </a:lnTo>
                <a:lnTo>
                  <a:pt x="80520" y="205758"/>
                </a:lnTo>
                <a:lnTo>
                  <a:pt x="55481" y="126512"/>
                </a:lnTo>
                <a:lnTo>
                  <a:pt x="71163" y="126512"/>
                </a:lnTo>
                <a:cubicBezTo>
                  <a:pt x="79246" y="130993"/>
                  <a:pt x="88514" y="133540"/>
                  <a:pt x="98398" y="133540"/>
                </a:cubicBezTo>
                <a:cubicBezTo>
                  <a:pt x="108282" y="133540"/>
                  <a:pt x="117551" y="130993"/>
                  <a:pt x="125633" y="126512"/>
                </a:cubicBezTo>
                <a:lnTo>
                  <a:pt x="141316" y="126512"/>
                </a:lnTo>
                <a:lnTo>
                  <a:pt x="116277" y="205758"/>
                </a:lnTo>
                <a:close/>
                <a:moveTo>
                  <a:pt x="98398" y="112455"/>
                </a:moveTo>
                <a:cubicBezTo>
                  <a:pt x="83155" y="112455"/>
                  <a:pt x="70197" y="102747"/>
                  <a:pt x="65321" y="89173"/>
                </a:cubicBezTo>
                <a:cubicBezTo>
                  <a:pt x="67824" y="90579"/>
                  <a:pt x="70724" y="91370"/>
                  <a:pt x="73799" y="91370"/>
                </a:cubicBezTo>
                <a:lnTo>
                  <a:pt x="79246" y="91370"/>
                </a:lnTo>
                <a:cubicBezTo>
                  <a:pt x="86494" y="91370"/>
                  <a:pt x="92907" y="86713"/>
                  <a:pt x="95191" y="79861"/>
                </a:cubicBezTo>
                <a:cubicBezTo>
                  <a:pt x="96202" y="76786"/>
                  <a:pt x="100551" y="76786"/>
                  <a:pt x="101561" y="79861"/>
                </a:cubicBezTo>
                <a:cubicBezTo>
                  <a:pt x="103845" y="86713"/>
                  <a:pt x="110303" y="91370"/>
                  <a:pt x="117507" y="91370"/>
                </a:cubicBezTo>
                <a:lnTo>
                  <a:pt x="122954" y="91370"/>
                </a:lnTo>
                <a:cubicBezTo>
                  <a:pt x="126029" y="91370"/>
                  <a:pt x="128928" y="90579"/>
                  <a:pt x="131432" y="89173"/>
                </a:cubicBezTo>
                <a:cubicBezTo>
                  <a:pt x="126556" y="102747"/>
                  <a:pt x="113597" y="112455"/>
                  <a:pt x="98354" y="112455"/>
                </a:cubicBezTo>
                <a:close/>
              </a:path>
            </a:pathLst>
          </a:custGeom>
          <a:solidFill>
            <a:srgbClr val="D4A373"/>
          </a:solidFill>
          <a:ln/>
        </p:spPr>
      </p:sp>
      <p:sp>
        <p:nvSpPr>
          <p:cNvPr id="26" name="Text 24"/>
          <p:cNvSpPr/>
          <p:nvPr/>
        </p:nvSpPr>
        <p:spPr>
          <a:xfrm>
            <a:off x="4034324" y="3954434"/>
            <a:ext cx="1077694" cy="2249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181" b="1" dirty="0">
                <a:solidFill>
                  <a:srgbClr val="F0F2F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Identity Theft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4039010" y="4179344"/>
            <a:ext cx="1068323" cy="1874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33" dirty="0">
                <a:solidFill>
                  <a:srgbClr val="9A959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Impersonation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393593" y="4779106"/>
            <a:ext cx="6784787" cy="1274490"/>
          </a:xfrm>
          <a:custGeom>
            <a:avLst/>
            <a:gdLst/>
            <a:ahLst/>
            <a:cxnLst/>
            <a:rect l="l" t="t" r="r" b="b"/>
            <a:pathLst>
              <a:path w="6784787" h="1274490">
                <a:moveTo>
                  <a:pt x="37465" y="0"/>
                </a:moveTo>
                <a:lnTo>
                  <a:pt x="6709791" y="0"/>
                </a:lnTo>
                <a:cubicBezTo>
                  <a:pt x="6729686" y="-34"/>
                  <a:pt x="6748777" y="7846"/>
                  <a:pt x="6762857" y="21902"/>
                </a:cubicBezTo>
                <a:cubicBezTo>
                  <a:pt x="6776936" y="35957"/>
                  <a:pt x="6784848" y="55035"/>
                  <a:pt x="6784848" y="74930"/>
                </a:cubicBezTo>
                <a:lnTo>
                  <a:pt x="6784848" y="1199515"/>
                </a:lnTo>
                <a:cubicBezTo>
                  <a:pt x="6784848" y="1219410"/>
                  <a:pt x="6776936" y="1238488"/>
                  <a:pt x="6762857" y="1252543"/>
                </a:cubicBezTo>
                <a:cubicBezTo>
                  <a:pt x="6748777" y="1266599"/>
                  <a:pt x="6729686" y="1274479"/>
                  <a:pt x="6709791" y="1274445"/>
                </a:cubicBezTo>
                <a:lnTo>
                  <a:pt x="37465" y="1274445"/>
                </a:lnTo>
                <a:cubicBezTo>
                  <a:pt x="16774" y="1274445"/>
                  <a:pt x="0" y="1257671"/>
                  <a:pt x="0" y="1236980"/>
                </a:cubicBezTo>
                <a:lnTo>
                  <a:pt x="0" y="37465"/>
                </a:lnTo>
                <a:cubicBezTo>
                  <a:pt x="0" y="16788"/>
                  <a:pt x="16788" y="0"/>
                  <a:pt x="37465" y="0"/>
                </a:cubicBezTo>
                <a:close/>
              </a:path>
            </a:pathLst>
          </a:custGeom>
          <a:gradFill rotWithShape="1" flip="none">
            <a:gsLst>
              <a:gs pos="0">
                <a:srgbClr val="5F737C">
                  <a:alpha val="30000"/>
                </a:srgbClr>
              </a:gs>
              <a:gs pos="100000">
                <a:srgbClr val="4A5C6A">
                  <a:alpha val="20000"/>
                </a:srgbClr>
              </a:gs>
            </a:gsLst>
            <a:lin ang="2700000" scaled="1"/>
          </a:gradFill>
          <a:ln/>
        </p:spPr>
      </p:sp>
      <p:sp>
        <p:nvSpPr>
          <p:cNvPr id="29" name="Shape 27"/>
          <p:cNvSpPr/>
          <p:nvPr/>
        </p:nvSpPr>
        <p:spPr>
          <a:xfrm>
            <a:off x="393593" y="4779106"/>
            <a:ext cx="37485" cy="1274490"/>
          </a:xfrm>
          <a:custGeom>
            <a:avLst/>
            <a:gdLst/>
            <a:ahLst/>
            <a:cxnLst/>
            <a:rect l="l" t="t" r="r" b="b"/>
            <a:pathLst>
              <a:path w="37485" h="1274490">
                <a:moveTo>
                  <a:pt x="37465" y="0"/>
                </a:moveTo>
                <a:lnTo>
                  <a:pt x="37465" y="0"/>
                </a:lnTo>
                <a:lnTo>
                  <a:pt x="37465" y="1274445"/>
                </a:lnTo>
                <a:lnTo>
                  <a:pt x="37465" y="1274445"/>
                </a:lnTo>
                <a:cubicBezTo>
                  <a:pt x="16774" y="1274445"/>
                  <a:pt x="0" y="1257671"/>
                  <a:pt x="0" y="1236980"/>
                </a:cubicBezTo>
                <a:lnTo>
                  <a:pt x="0" y="37465"/>
                </a:lnTo>
                <a:cubicBezTo>
                  <a:pt x="0" y="16788"/>
                  <a:pt x="16788" y="0"/>
                  <a:pt x="37465" y="0"/>
                </a:cubicBezTo>
                <a:close/>
              </a:path>
            </a:pathLst>
          </a:custGeom>
          <a:solidFill>
            <a:srgbClr val="D4A373"/>
          </a:solidFill>
          <a:ln/>
        </p:spPr>
      </p:sp>
      <p:sp>
        <p:nvSpPr>
          <p:cNvPr id="30" name="Shape 28"/>
          <p:cNvSpPr/>
          <p:nvPr/>
        </p:nvSpPr>
        <p:spPr>
          <a:xfrm>
            <a:off x="599760" y="4966531"/>
            <a:ext cx="524790" cy="524790"/>
          </a:xfrm>
          <a:prstGeom prst="roundRect">
            <a:avLst>
              <a:gd name="adj" fmla="val 50000"/>
            </a:avLst>
          </a:prstGeom>
          <a:solidFill>
            <a:srgbClr val="D4A373">
              <a:alpha val="20000"/>
            </a:srgbClr>
          </a:solidFill>
          <a:ln/>
        </p:spPr>
      </p:sp>
      <p:sp>
        <p:nvSpPr>
          <p:cNvPr id="31" name="Shape 29"/>
          <p:cNvSpPr/>
          <p:nvPr/>
        </p:nvSpPr>
        <p:spPr>
          <a:xfrm>
            <a:off x="749700" y="5116471"/>
            <a:ext cx="224910" cy="224910"/>
          </a:xfrm>
          <a:custGeom>
            <a:avLst/>
            <a:gdLst/>
            <a:ahLst/>
            <a:cxnLst/>
            <a:rect l="l" t="t" r="r" b="b"/>
            <a:pathLst>
              <a:path w="224910" h="224910">
                <a:moveTo>
                  <a:pt x="112455" y="224910"/>
                </a:moveTo>
                <a:cubicBezTo>
                  <a:pt x="174521" y="224910"/>
                  <a:pt x="224910" y="174521"/>
                  <a:pt x="224910" y="112455"/>
                </a:cubicBezTo>
                <a:cubicBezTo>
                  <a:pt x="224910" y="50389"/>
                  <a:pt x="174521" y="0"/>
                  <a:pt x="112455" y="0"/>
                </a:cubicBezTo>
                <a:cubicBezTo>
                  <a:pt x="50389" y="0"/>
                  <a:pt x="0" y="50389"/>
                  <a:pt x="0" y="112455"/>
                </a:cubicBezTo>
                <a:cubicBezTo>
                  <a:pt x="0" y="174521"/>
                  <a:pt x="50389" y="224910"/>
                  <a:pt x="112455" y="224910"/>
                </a:cubicBezTo>
                <a:close/>
                <a:moveTo>
                  <a:pt x="73359" y="73359"/>
                </a:moveTo>
                <a:cubicBezTo>
                  <a:pt x="77489" y="69230"/>
                  <a:pt x="84166" y="69230"/>
                  <a:pt x="88251" y="73359"/>
                </a:cubicBezTo>
                <a:lnTo>
                  <a:pt x="112411" y="97520"/>
                </a:lnTo>
                <a:lnTo>
                  <a:pt x="136571" y="73359"/>
                </a:lnTo>
                <a:cubicBezTo>
                  <a:pt x="140701" y="69230"/>
                  <a:pt x="147378" y="69230"/>
                  <a:pt x="151463" y="73359"/>
                </a:cubicBezTo>
                <a:cubicBezTo>
                  <a:pt x="155548" y="77489"/>
                  <a:pt x="155592" y="84166"/>
                  <a:pt x="151463" y="88251"/>
                </a:cubicBezTo>
                <a:lnTo>
                  <a:pt x="127303" y="112411"/>
                </a:lnTo>
                <a:lnTo>
                  <a:pt x="151463" y="136571"/>
                </a:lnTo>
                <a:cubicBezTo>
                  <a:pt x="155592" y="140701"/>
                  <a:pt x="155592" y="147378"/>
                  <a:pt x="151463" y="151463"/>
                </a:cubicBezTo>
                <a:cubicBezTo>
                  <a:pt x="147334" y="155548"/>
                  <a:pt x="140657" y="155592"/>
                  <a:pt x="136571" y="151463"/>
                </a:cubicBezTo>
                <a:lnTo>
                  <a:pt x="112411" y="127303"/>
                </a:lnTo>
                <a:lnTo>
                  <a:pt x="88251" y="151463"/>
                </a:lnTo>
                <a:cubicBezTo>
                  <a:pt x="84122" y="155592"/>
                  <a:pt x="77445" y="155592"/>
                  <a:pt x="73359" y="151463"/>
                </a:cubicBezTo>
                <a:cubicBezTo>
                  <a:pt x="69274" y="147334"/>
                  <a:pt x="69230" y="140657"/>
                  <a:pt x="73359" y="136571"/>
                </a:cubicBezTo>
                <a:lnTo>
                  <a:pt x="97520" y="112411"/>
                </a:lnTo>
                <a:lnTo>
                  <a:pt x="73359" y="88251"/>
                </a:lnTo>
                <a:cubicBezTo>
                  <a:pt x="69230" y="84122"/>
                  <a:pt x="69230" y="77445"/>
                  <a:pt x="73359" y="73359"/>
                </a:cubicBezTo>
                <a:close/>
              </a:path>
            </a:pathLst>
          </a:custGeom>
          <a:solidFill>
            <a:srgbClr val="D4A373"/>
          </a:solidFill>
          <a:ln/>
        </p:spPr>
      </p:sp>
      <p:sp>
        <p:nvSpPr>
          <p:cNvPr id="32" name="Text 30"/>
          <p:cNvSpPr/>
          <p:nvPr/>
        </p:nvSpPr>
        <p:spPr>
          <a:xfrm>
            <a:off x="1274490" y="4966531"/>
            <a:ext cx="5828919" cy="299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771" b="1" dirty="0">
                <a:solidFill>
                  <a:srgbClr val="F0F2F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Limitations of Current Detectors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1274490" y="5378749"/>
            <a:ext cx="5791434" cy="487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81" dirty="0">
                <a:solidFill>
                  <a:srgbClr val="F0F2F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Existing solutions focus </a:t>
            </a:r>
            <a:pPr>
              <a:lnSpc>
                <a:spcPct val="140000"/>
              </a:lnSpc>
            </a:pPr>
            <a:r>
              <a:rPr lang="en-US" sz="1181" b="1" dirty="0">
                <a:solidFill>
                  <a:srgbClr val="F0F2F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only on visual artifacts</a:t>
            </a:r>
            <a:pPr>
              <a:lnSpc>
                <a:spcPct val="140000"/>
              </a:lnSpc>
            </a:pPr>
            <a:r>
              <a:rPr lang="en-US" sz="1181" dirty="0">
                <a:solidFill>
                  <a:srgbClr val="F0F2F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, but modern AI generates highly realistic fakes that bypass standard pixel-level checks. This creates a </a:t>
            </a:r>
            <a:pPr>
              <a:lnSpc>
                <a:spcPct val="140000"/>
              </a:lnSpc>
            </a:pPr>
            <a:r>
              <a:rPr lang="en-US" sz="1181" dirty="0">
                <a:solidFill>
                  <a:srgbClr val="D4A373"/>
                </a:solidFill>
                <a:highlight>
                  <a:srgbClr val="D4A373">
                    <a:alpha val="30000"/>
                  </a:srgbClr>
                </a:highlight>
                <a:latin typeface="Liter" pitchFamily="34" charset="0"/>
                <a:ea typeface="Liter" pitchFamily="34" charset="-122"/>
                <a:cs typeface="Liter" pitchFamily="34" charset="-120"/>
              </a:rPr>
              <a:t>critical detection gap </a:t>
            </a:r>
            <a:pPr>
              <a:lnSpc>
                <a:spcPct val="140000"/>
              </a:lnSpc>
            </a:pPr>
            <a:r>
              <a:rPr lang="en-US" sz="1181" dirty="0">
                <a:solidFill>
                  <a:srgbClr val="F0F2F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.</a:t>
            </a:r>
            <a:endParaRPr lang="en-US" sz="1600" dirty="0"/>
          </a:p>
        </p:txBody>
      </p:sp>
      <p:pic>
        <p:nvPicPr>
          <p:cNvPr id="34" name="Image 0" descr="https://kimi-img.moonshot.cn/pub/slides/26-06-05-00:01:18-d8gq2jgc86s5pgro4uhg.jfif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39448" y="374850"/>
            <a:ext cx="4475710" cy="2708292"/>
          </a:xfrm>
          <a:prstGeom prst="roundRect">
            <a:avLst>
              <a:gd name="adj" fmla="val 4233"/>
            </a:avLst>
          </a:prstGeom>
        </p:spPr>
      </p:pic>
      <p:sp>
        <p:nvSpPr>
          <p:cNvPr id="35" name="Shape 32"/>
          <p:cNvSpPr/>
          <p:nvPr/>
        </p:nvSpPr>
        <p:spPr>
          <a:xfrm>
            <a:off x="7339448" y="3231208"/>
            <a:ext cx="4475710" cy="2816999"/>
          </a:xfrm>
          <a:prstGeom prst="roundRect">
            <a:avLst>
              <a:gd name="adj" fmla="val 2661"/>
            </a:avLst>
          </a:prstGeom>
          <a:gradFill rotWithShape="1" flip="none">
            <a:gsLst>
              <a:gs pos="0">
                <a:srgbClr val="D4A373">
                  <a:alpha val="20000"/>
                </a:srgbClr>
              </a:gs>
              <a:gs pos="100000">
                <a:srgbClr val="5F737C">
                  <a:alpha val="10000"/>
                </a:srgbClr>
              </a:gs>
            </a:gsLst>
            <a:lin ang="2700000" scaled="1"/>
          </a:gradFill>
          <a:ln w="20320">
            <a:solidFill>
              <a:srgbClr val="D4A373">
                <a:alpha val="50196"/>
              </a:srgbClr>
            </a:solidFill>
            <a:prstDash val="solid"/>
          </a:ln>
        </p:spPr>
      </p:sp>
      <p:sp>
        <p:nvSpPr>
          <p:cNvPr id="36" name="Shape 33"/>
          <p:cNvSpPr/>
          <p:nvPr/>
        </p:nvSpPr>
        <p:spPr>
          <a:xfrm>
            <a:off x="9407333" y="3721442"/>
            <a:ext cx="337365" cy="449820"/>
          </a:xfrm>
          <a:custGeom>
            <a:avLst/>
            <a:gdLst/>
            <a:ahLst/>
            <a:cxnLst/>
            <a:rect l="l" t="t" r="r" b="b"/>
            <a:pathLst>
              <a:path w="337365" h="449820">
                <a:moveTo>
                  <a:pt x="257329" y="337365"/>
                </a:moveTo>
                <a:cubicBezTo>
                  <a:pt x="263742" y="317773"/>
                  <a:pt x="276569" y="300027"/>
                  <a:pt x="291065" y="284740"/>
                </a:cubicBezTo>
                <a:cubicBezTo>
                  <a:pt x="319794" y="254517"/>
                  <a:pt x="337365" y="213665"/>
                  <a:pt x="337365" y="168683"/>
                </a:cubicBezTo>
                <a:cubicBezTo>
                  <a:pt x="337365" y="75556"/>
                  <a:pt x="261809" y="0"/>
                  <a:pt x="168683" y="0"/>
                </a:cubicBezTo>
                <a:cubicBezTo>
                  <a:pt x="75556" y="0"/>
                  <a:pt x="0" y="75556"/>
                  <a:pt x="0" y="168683"/>
                </a:cubicBezTo>
                <a:cubicBezTo>
                  <a:pt x="0" y="213665"/>
                  <a:pt x="17571" y="254517"/>
                  <a:pt x="46300" y="284740"/>
                </a:cubicBezTo>
                <a:cubicBezTo>
                  <a:pt x="60796" y="300027"/>
                  <a:pt x="73711" y="317773"/>
                  <a:pt x="80036" y="337365"/>
                </a:cubicBezTo>
                <a:lnTo>
                  <a:pt x="257241" y="337365"/>
                </a:lnTo>
                <a:close/>
                <a:moveTo>
                  <a:pt x="253024" y="379536"/>
                </a:moveTo>
                <a:lnTo>
                  <a:pt x="84341" y="379536"/>
                </a:lnTo>
                <a:lnTo>
                  <a:pt x="84341" y="393593"/>
                </a:lnTo>
                <a:cubicBezTo>
                  <a:pt x="84341" y="432425"/>
                  <a:pt x="115794" y="463877"/>
                  <a:pt x="154626" y="463877"/>
                </a:cubicBezTo>
                <a:lnTo>
                  <a:pt x="182739" y="463877"/>
                </a:lnTo>
                <a:cubicBezTo>
                  <a:pt x="221572" y="463877"/>
                  <a:pt x="253024" y="432425"/>
                  <a:pt x="253024" y="393593"/>
                </a:cubicBezTo>
                <a:lnTo>
                  <a:pt x="253024" y="379536"/>
                </a:lnTo>
                <a:close/>
                <a:moveTo>
                  <a:pt x="161654" y="98398"/>
                </a:moveTo>
                <a:cubicBezTo>
                  <a:pt x="126688" y="98398"/>
                  <a:pt x="98398" y="126688"/>
                  <a:pt x="98398" y="161654"/>
                </a:cubicBezTo>
                <a:cubicBezTo>
                  <a:pt x="98398" y="173339"/>
                  <a:pt x="88998" y="182739"/>
                  <a:pt x="77313" y="182739"/>
                </a:cubicBezTo>
                <a:cubicBezTo>
                  <a:pt x="65628" y="182739"/>
                  <a:pt x="56228" y="173339"/>
                  <a:pt x="56228" y="161654"/>
                </a:cubicBezTo>
                <a:cubicBezTo>
                  <a:pt x="56228" y="103406"/>
                  <a:pt x="103406" y="56228"/>
                  <a:pt x="161654" y="56228"/>
                </a:cubicBezTo>
                <a:cubicBezTo>
                  <a:pt x="173339" y="56228"/>
                  <a:pt x="182739" y="65628"/>
                  <a:pt x="182739" y="77313"/>
                </a:cubicBezTo>
                <a:cubicBezTo>
                  <a:pt x="182739" y="88998"/>
                  <a:pt x="173339" y="98398"/>
                  <a:pt x="161654" y="98398"/>
                </a:cubicBezTo>
                <a:close/>
              </a:path>
            </a:pathLst>
          </a:custGeom>
          <a:solidFill>
            <a:srgbClr val="D4A373"/>
          </a:solidFill>
          <a:ln/>
        </p:spPr>
      </p:sp>
      <p:sp>
        <p:nvSpPr>
          <p:cNvPr id="37" name="Text 34"/>
          <p:cNvSpPr/>
          <p:nvPr/>
        </p:nvSpPr>
        <p:spPr>
          <a:xfrm>
            <a:off x="7478143" y="4283717"/>
            <a:ext cx="4198321" cy="299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771" b="1" dirty="0">
                <a:solidFill>
                  <a:srgbClr val="F0F2F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The Solution</a:t>
            </a:r>
            <a:endParaRPr lang="en-US" sz="1600" dirty="0"/>
          </a:p>
        </p:txBody>
      </p:sp>
      <p:sp>
        <p:nvSpPr>
          <p:cNvPr id="38" name="Text 35"/>
          <p:cNvSpPr/>
          <p:nvPr/>
        </p:nvSpPr>
        <p:spPr>
          <a:xfrm>
            <a:off x="7492199" y="4733421"/>
            <a:ext cx="4170208" cy="8246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40000"/>
              </a:lnSpc>
            </a:pPr>
            <a:r>
              <a:rPr lang="en-US" sz="1328" dirty="0">
                <a:solidFill>
                  <a:srgbClr val="F0F2F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 </a:t>
            </a:r>
            <a:pPr algn="ctr">
              <a:lnSpc>
                <a:spcPct val="140000"/>
              </a:lnSpc>
            </a:pPr>
            <a:r>
              <a:rPr lang="en-US" sz="1328" b="1" dirty="0">
                <a:solidFill>
                  <a:srgbClr val="F0F2F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multi-modal, behavior-aware approach</a:t>
            </a:r>
            <a:pPr algn="ctr">
              <a:lnSpc>
                <a:spcPct val="140000"/>
              </a:lnSpc>
            </a:pPr>
            <a:r>
              <a:rPr lang="en-US" sz="1328" dirty="0">
                <a:solidFill>
                  <a:srgbClr val="F0F2F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is essential—combining visual analysis with emotional consistency checks to detect sophisticated deepfakes.</a:t>
            </a:r>
            <a:endParaRPr lang="en-US" sz="1600" dirty="0"/>
          </a:p>
        </p:txBody>
      </p:sp>
      <p:sp>
        <p:nvSpPr>
          <p:cNvPr id="39" name="Shape 36"/>
          <p:cNvSpPr/>
          <p:nvPr/>
        </p:nvSpPr>
        <p:spPr>
          <a:xfrm>
            <a:off x="393593" y="6165934"/>
            <a:ext cx="11423557" cy="449820"/>
          </a:xfrm>
          <a:custGeom>
            <a:avLst/>
            <a:gdLst/>
            <a:ahLst/>
            <a:cxnLst/>
            <a:rect l="l" t="t" r="r" b="b"/>
            <a:pathLst>
              <a:path w="11423557" h="449820">
                <a:moveTo>
                  <a:pt x="37465" y="0"/>
                </a:moveTo>
                <a:lnTo>
                  <a:pt x="11348593" y="0"/>
                </a:lnTo>
                <a:cubicBezTo>
                  <a:pt x="11389976" y="0"/>
                  <a:pt x="11423523" y="33547"/>
                  <a:pt x="11423523" y="74930"/>
                </a:cubicBezTo>
                <a:lnTo>
                  <a:pt x="11423523" y="374904"/>
                </a:lnTo>
                <a:cubicBezTo>
                  <a:pt x="11423523" y="416287"/>
                  <a:pt x="11389976" y="449834"/>
                  <a:pt x="11348593" y="449834"/>
                </a:cubicBezTo>
                <a:lnTo>
                  <a:pt x="37465" y="449834"/>
                </a:lnTo>
                <a:cubicBezTo>
                  <a:pt x="16774" y="449834"/>
                  <a:pt x="0" y="433060"/>
                  <a:pt x="0" y="412369"/>
                </a:cubicBezTo>
                <a:lnTo>
                  <a:pt x="0" y="37465"/>
                </a:lnTo>
                <a:cubicBezTo>
                  <a:pt x="0" y="16788"/>
                  <a:pt x="16788" y="0"/>
                  <a:pt x="37465" y="0"/>
                </a:cubicBezTo>
                <a:close/>
              </a:path>
            </a:pathLst>
          </a:custGeom>
          <a:solidFill>
            <a:srgbClr val="5F737C">
              <a:alpha val="20000"/>
            </a:srgbClr>
          </a:solidFill>
          <a:ln/>
        </p:spPr>
      </p:sp>
      <p:sp>
        <p:nvSpPr>
          <p:cNvPr id="40" name="Shape 37"/>
          <p:cNvSpPr/>
          <p:nvPr/>
        </p:nvSpPr>
        <p:spPr>
          <a:xfrm>
            <a:off x="393593" y="6165934"/>
            <a:ext cx="37485" cy="449820"/>
          </a:xfrm>
          <a:custGeom>
            <a:avLst/>
            <a:gdLst/>
            <a:ahLst/>
            <a:cxnLst/>
            <a:rect l="l" t="t" r="r" b="b"/>
            <a:pathLst>
              <a:path w="37485" h="449820">
                <a:moveTo>
                  <a:pt x="37465" y="0"/>
                </a:moveTo>
                <a:lnTo>
                  <a:pt x="37465" y="0"/>
                </a:lnTo>
                <a:lnTo>
                  <a:pt x="37465" y="449834"/>
                </a:lnTo>
                <a:lnTo>
                  <a:pt x="37465" y="449834"/>
                </a:lnTo>
                <a:cubicBezTo>
                  <a:pt x="16774" y="449834"/>
                  <a:pt x="0" y="433060"/>
                  <a:pt x="0" y="412369"/>
                </a:cubicBezTo>
                <a:lnTo>
                  <a:pt x="0" y="37465"/>
                </a:lnTo>
                <a:cubicBezTo>
                  <a:pt x="0" y="16788"/>
                  <a:pt x="16788" y="0"/>
                  <a:pt x="37465" y="0"/>
                </a:cubicBezTo>
                <a:close/>
              </a:path>
            </a:pathLst>
          </a:custGeom>
          <a:solidFill>
            <a:srgbClr val="D4A373"/>
          </a:solidFill>
          <a:ln/>
        </p:spPr>
      </p:sp>
      <p:sp>
        <p:nvSpPr>
          <p:cNvPr id="41" name="Shape 38"/>
          <p:cNvSpPr/>
          <p:nvPr/>
        </p:nvSpPr>
        <p:spPr>
          <a:xfrm>
            <a:off x="543533" y="6308377"/>
            <a:ext cx="149940" cy="149940"/>
          </a:xfrm>
          <a:custGeom>
            <a:avLst/>
            <a:gdLst/>
            <a:ahLst/>
            <a:cxnLst/>
            <a:rect l="l" t="t" r="r" b="b"/>
            <a:pathLst>
              <a:path w="149940" h="149940">
                <a:moveTo>
                  <a:pt x="147187" y="81588"/>
                </a:moveTo>
                <a:cubicBezTo>
                  <a:pt x="150848" y="77928"/>
                  <a:pt x="150848" y="71983"/>
                  <a:pt x="147187" y="68322"/>
                </a:cubicBezTo>
                <a:lnTo>
                  <a:pt x="100331" y="21466"/>
                </a:lnTo>
                <a:cubicBezTo>
                  <a:pt x="96670" y="17805"/>
                  <a:pt x="90725" y="17805"/>
                  <a:pt x="87065" y="21466"/>
                </a:cubicBezTo>
                <a:cubicBezTo>
                  <a:pt x="83404" y="25127"/>
                  <a:pt x="83404" y="31072"/>
                  <a:pt x="87065" y="34732"/>
                </a:cubicBezTo>
                <a:lnTo>
                  <a:pt x="117931" y="65599"/>
                </a:lnTo>
                <a:lnTo>
                  <a:pt x="9371" y="65599"/>
                </a:lnTo>
                <a:cubicBezTo>
                  <a:pt x="4188" y="65599"/>
                  <a:pt x="0" y="69787"/>
                  <a:pt x="0" y="74970"/>
                </a:cubicBezTo>
                <a:cubicBezTo>
                  <a:pt x="0" y="80153"/>
                  <a:pt x="4188" y="84341"/>
                  <a:pt x="9371" y="84341"/>
                </a:cubicBezTo>
                <a:lnTo>
                  <a:pt x="117931" y="84341"/>
                </a:lnTo>
                <a:lnTo>
                  <a:pt x="87065" y="115208"/>
                </a:lnTo>
                <a:cubicBezTo>
                  <a:pt x="83404" y="118868"/>
                  <a:pt x="83404" y="124813"/>
                  <a:pt x="87065" y="128474"/>
                </a:cubicBezTo>
                <a:cubicBezTo>
                  <a:pt x="90725" y="132135"/>
                  <a:pt x="96670" y="132135"/>
                  <a:pt x="100331" y="128474"/>
                </a:cubicBezTo>
                <a:lnTo>
                  <a:pt x="147187" y="81618"/>
                </a:lnTo>
                <a:close/>
              </a:path>
            </a:pathLst>
          </a:custGeom>
          <a:solidFill>
            <a:srgbClr val="D4A373"/>
          </a:solidFill>
          <a:ln/>
        </p:spPr>
      </p:sp>
      <p:sp>
        <p:nvSpPr>
          <p:cNvPr id="42" name="Text 39"/>
          <p:cNvSpPr/>
          <p:nvPr/>
        </p:nvSpPr>
        <p:spPr>
          <a:xfrm>
            <a:off x="767535" y="6278389"/>
            <a:ext cx="11012130" cy="2249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81" b="1" dirty="0">
                <a:solidFill>
                  <a:srgbClr val="F0F2F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Research Gap:</a:t>
            </a:r>
            <a:pPr>
              <a:lnSpc>
                <a:spcPct val="130000"/>
              </a:lnSpc>
            </a:pPr>
            <a:r>
              <a:rPr lang="en-US" sz="1181" dirty="0">
                <a:solidFill>
                  <a:srgbClr val="F0F2F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Current detectors lack cross-modal analysis, creating vulnerability to next-generation deepfakes.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A1D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53904" y="353904"/>
            <a:ext cx="70781" cy="424685"/>
          </a:xfrm>
          <a:prstGeom prst="roundRect">
            <a:avLst>
              <a:gd name="adj" fmla="val 0"/>
            </a:avLst>
          </a:prstGeom>
          <a:solidFill>
            <a:srgbClr val="D4A373"/>
          </a:solidFill>
          <a:ln/>
        </p:spPr>
      </p:sp>
      <p:sp>
        <p:nvSpPr>
          <p:cNvPr id="3" name="Text 1"/>
          <p:cNvSpPr/>
          <p:nvPr/>
        </p:nvSpPr>
        <p:spPr>
          <a:xfrm>
            <a:off x="530856" y="353904"/>
            <a:ext cx="3609823" cy="4246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344" b="1" dirty="0">
                <a:solidFill>
                  <a:srgbClr val="F0F2F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Project Objectives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530856" y="849370"/>
            <a:ext cx="11395716" cy="2477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93" dirty="0">
                <a:solidFill>
                  <a:srgbClr val="9A959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Five Strategic Goals for Comprehensive DeepFake Detection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71599" y="1274055"/>
            <a:ext cx="3715994" cy="2282682"/>
          </a:xfrm>
          <a:custGeom>
            <a:avLst/>
            <a:gdLst/>
            <a:ahLst/>
            <a:cxnLst/>
            <a:rect l="l" t="t" r="r" b="b"/>
            <a:pathLst>
              <a:path w="3715994" h="2282682">
                <a:moveTo>
                  <a:pt x="35433" y="0"/>
                </a:moveTo>
                <a:lnTo>
                  <a:pt x="3645154" y="0"/>
                </a:lnTo>
                <a:cubicBezTo>
                  <a:pt x="3663937" y="-34"/>
                  <a:pt x="3681963" y="7404"/>
                  <a:pt x="3695256" y="20674"/>
                </a:cubicBezTo>
                <a:cubicBezTo>
                  <a:pt x="3708550" y="33944"/>
                  <a:pt x="3716020" y="51956"/>
                  <a:pt x="3716020" y="70739"/>
                </a:cubicBezTo>
                <a:lnTo>
                  <a:pt x="3716020" y="2211959"/>
                </a:lnTo>
                <a:cubicBezTo>
                  <a:pt x="3716020" y="2230742"/>
                  <a:pt x="3708550" y="2248754"/>
                  <a:pt x="3695256" y="2262024"/>
                </a:cubicBezTo>
                <a:cubicBezTo>
                  <a:pt x="3681963" y="2275294"/>
                  <a:pt x="3663937" y="2282732"/>
                  <a:pt x="3645154" y="2282698"/>
                </a:cubicBezTo>
                <a:lnTo>
                  <a:pt x="35433" y="2282698"/>
                </a:lnTo>
                <a:cubicBezTo>
                  <a:pt x="15864" y="2282698"/>
                  <a:pt x="0" y="2266834"/>
                  <a:pt x="0" y="2247265"/>
                </a:cubicBezTo>
                <a:lnTo>
                  <a:pt x="0" y="35433"/>
                </a:lnTo>
                <a:cubicBezTo>
                  <a:pt x="0" y="15877"/>
                  <a:pt x="15877" y="0"/>
                  <a:pt x="35433" y="0"/>
                </a:cubicBezTo>
                <a:close/>
              </a:path>
            </a:pathLst>
          </a:custGeom>
          <a:gradFill rotWithShape="1" flip="none">
            <a:gsLst>
              <a:gs pos="0">
                <a:srgbClr val="5F737C">
                  <a:alpha val="30000"/>
                </a:srgbClr>
              </a:gs>
              <a:gs pos="100000">
                <a:srgbClr val="4A5C6A">
                  <a:alpha val="20000"/>
                </a:srgbClr>
              </a:gs>
            </a:gsLst>
            <a:lin ang="2700000" scaled="1"/>
          </a:gradFill>
          <a:ln/>
        </p:spPr>
      </p:sp>
      <p:sp>
        <p:nvSpPr>
          <p:cNvPr id="6" name="Shape 4"/>
          <p:cNvSpPr/>
          <p:nvPr/>
        </p:nvSpPr>
        <p:spPr>
          <a:xfrm>
            <a:off x="371599" y="1274055"/>
            <a:ext cx="35390" cy="2282682"/>
          </a:xfrm>
          <a:custGeom>
            <a:avLst/>
            <a:gdLst/>
            <a:ahLst/>
            <a:cxnLst/>
            <a:rect l="l" t="t" r="r" b="b"/>
            <a:pathLst>
              <a:path w="35390" h="2282682">
                <a:moveTo>
                  <a:pt x="35433" y="0"/>
                </a:moveTo>
                <a:lnTo>
                  <a:pt x="35433" y="0"/>
                </a:lnTo>
                <a:lnTo>
                  <a:pt x="35433" y="2282698"/>
                </a:lnTo>
                <a:lnTo>
                  <a:pt x="35433" y="2282698"/>
                </a:lnTo>
                <a:cubicBezTo>
                  <a:pt x="15864" y="2282698"/>
                  <a:pt x="0" y="2266834"/>
                  <a:pt x="0" y="2247265"/>
                </a:cubicBezTo>
                <a:lnTo>
                  <a:pt x="0" y="35433"/>
                </a:lnTo>
                <a:cubicBezTo>
                  <a:pt x="0" y="15877"/>
                  <a:pt x="15877" y="0"/>
                  <a:pt x="35433" y="0"/>
                </a:cubicBezTo>
                <a:close/>
              </a:path>
            </a:pathLst>
          </a:custGeom>
          <a:solidFill>
            <a:srgbClr val="D4A373"/>
          </a:solidFill>
          <a:ln/>
        </p:spPr>
      </p:sp>
      <p:sp>
        <p:nvSpPr>
          <p:cNvPr id="7" name="Shape 5"/>
          <p:cNvSpPr/>
          <p:nvPr/>
        </p:nvSpPr>
        <p:spPr>
          <a:xfrm>
            <a:off x="566247" y="1451007"/>
            <a:ext cx="495466" cy="495466"/>
          </a:xfrm>
          <a:prstGeom prst="roundRect">
            <a:avLst>
              <a:gd name="adj" fmla="val 50000"/>
            </a:avLst>
          </a:prstGeom>
          <a:solidFill>
            <a:srgbClr val="D4A373"/>
          </a:solidFill>
          <a:ln/>
        </p:spPr>
      </p:sp>
      <p:sp>
        <p:nvSpPr>
          <p:cNvPr id="8" name="Text 6"/>
          <p:cNvSpPr/>
          <p:nvPr/>
        </p:nvSpPr>
        <p:spPr>
          <a:xfrm>
            <a:off x="703716" y="1557179"/>
            <a:ext cx="327361" cy="28312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672" b="1" dirty="0">
                <a:solidFill>
                  <a:srgbClr val="1A1D2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01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167884" y="1574874"/>
            <a:ext cx="1681045" cy="2477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93" b="1" dirty="0">
                <a:solidFill>
                  <a:srgbClr val="F0F2F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DeepFake Detection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566247" y="2052644"/>
            <a:ext cx="3415176" cy="4600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15" dirty="0">
                <a:solidFill>
                  <a:srgbClr val="F0F2F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Detect deepfake </a:t>
            </a:r>
            <a:pPr>
              <a:lnSpc>
                <a:spcPct val="140000"/>
              </a:lnSpc>
            </a:pPr>
            <a:r>
              <a:rPr lang="en-US" sz="1115" b="1" dirty="0">
                <a:solidFill>
                  <a:srgbClr val="F0F2F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images and videos</a:t>
            </a:r>
            <a:pPr>
              <a:lnSpc>
                <a:spcPct val="140000"/>
              </a:lnSpc>
            </a:pPr>
            <a:r>
              <a:rPr lang="en-US" sz="1115" dirty="0">
                <a:solidFill>
                  <a:srgbClr val="F0F2F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using advanced AI algorithms with high accuracy and reliability.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583942" y="2645434"/>
            <a:ext cx="123866" cy="123866"/>
          </a:xfrm>
          <a:custGeom>
            <a:avLst/>
            <a:gdLst/>
            <a:ahLst/>
            <a:cxnLst/>
            <a:rect l="l" t="t" r="r" b="b"/>
            <a:pathLst>
              <a:path w="123866" h="123866">
                <a:moveTo>
                  <a:pt x="61933" y="123866"/>
                </a:moveTo>
                <a:cubicBezTo>
                  <a:pt x="96115" y="123866"/>
                  <a:pt x="123866" y="96115"/>
                  <a:pt x="123866" y="61933"/>
                </a:cubicBezTo>
                <a:cubicBezTo>
                  <a:pt x="123866" y="27751"/>
                  <a:pt x="96115" y="0"/>
                  <a:pt x="61933" y="0"/>
                </a:cubicBezTo>
                <a:cubicBezTo>
                  <a:pt x="27751" y="0"/>
                  <a:pt x="0" y="27751"/>
                  <a:pt x="0" y="61933"/>
                </a:cubicBezTo>
                <a:cubicBezTo>
                  <a:pt x="0" y="96115"/>
                  <a:pt x="27751" y="123866"/>
                  <a:pt x="61933" y="123866"/>
                </a:cubicBezTo>
                <a:close/>
                <a:moveTo>
                  <a:pt x="82352" y="51458"/>
                </a:moveTo>
                <a:lnTo>
                  <a:pt x="62998" y="82424"/>
                </a:lnTo>
                <a:cubicBezTo>
                  <a:pt x="61982" y="84045"/>
                  <a:pt x="60240" y="85061"/>
                  <a:pt x="58329" y="85158"/>
                </a:cubicBezTo>
                <a:cubicBezTo>
                  <a:pt x="56417" y="85255"/>
                  <a:pt x="54579" y="84384"/>
                  <a:pt x="53442" y="82836"/>
                </a:cubicBezTo>
                <a:lnTo>
                  <a:pt x="41829" y="67352"/>
                </a:lnTo>
                <a:cubicBezTo>
                  <a:pt x="39894" y="64788"/>
                  <a:pt x="40426" y="61159"/>
                  <a:pt x="42990" y="59224"/>
                </a:cubicBezTo>
                <a:cubicBezTo>
                  <a:pt x="45555" y="57288"/>
                  <a:pt x="49184" y="57820"/>
                  <a:pt x="51119" y="60385"/>
                </a:cubicBezTo>
                <a:lnTo>
                  <a:pt x="57651" y="69094"/>
                </a:lnTo>
                <a:lnTo>
                  <a:pt x="72505" y="45313"/>
                </a:lnTo>
                <a:cubicBezTo>
                  <a:pt x="74199" y="42603"/>
                  <a:pt x="77779" y="41757"/>
                  <a:pt x="80513" y="43474"/>
                </a:cubicBezTo>
                <a:cubicBezTo>
                  <a:pt x="83247" y="45192"/>
                  <a:pt x="84070" y="48748"/>
                  <a:pt x="82352" y="51482"/>
                </a:cubicBezTo>
                <a:close/>
              </a:path>
            </a:pathLst>
          </a:custGeom>
          <a:solidFill>
            <a:srgbClr val="D4A373"/>
          </a:solidFill>
          <a:ln/>
        </p:spPr>
      </p:sp>
      <p:sp>
        <p:nvSpPr>
          <p:cNvPr id="12" name="Text 10"/>
          <p:cNvSpPr/>
          <p:nvPr/>
        </p:nvSpPr>
        <p:spPr>
          <a:xfrm>
            <a:off x="791861" y="2618891"/>
            <a:ext cx="1539483" cy="1769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75" dirty="0">
                <a:solidFill>
                  <a:srgbClr val="9A959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Multi-modal media support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4246187" y="1274055"/>
            <a:ext cx="3715994" cy="2282682"/>
          </a:xfrm>
          <a:custGeom>
            <a:avLst/>
            <a:gdLst/>
            <a:ahLst/>
            <a:cxnLst/>
            <a:rect l="l" t="t" r="r" b="b"/>
            <a:pathLst>
              <a:path w="3715994" h="2282682">
                <a:moveTo>
                  <a:pt x="35433" y="0"/>
                </a:moveTo>
                <a:lnTo>
                  <a:pt x="3645154" y="0"/>
                </a:lnTo>
                <a:cubicBezTo>
                  <a:pt x="3663937" y="-34"/>
                  <a:pt x="3681963" y="7404"/>
                  <a:pt x="3695256" y="20674"/>
                </a:cubicBezTo>
                <a:cubicBezTo>
                  <a:pt x="3708550" y="33944"/>
                  <a:pt x="3716020" y="51956"/>
                  <a:pt x="3716020" y="70739"/>
                </a:cubicBezTo>
                <a:lnTo>
                  <a:pt x="3716020" y="2211959"/>
                </a:lnTo>
                <a:cubicBezTo>
                  <a:pt x="3716020" y="2230742"/>
                  <a:pt x="3708550" y="2248754"/>
                  <a:pt x="3695256" y="2262024"/>
                </a:cubicBezTo>
                <a:cubicBezTo>
                  <a:pt x="3681963" y="2275294"/>
                  <a:pt x="3663937" y="2282732"/>
                  <a:pt x="3645154" y="2282698"/>
                </a:cubicBezTo>
                <a:lnTo>
                  <a:pt x="35433" y="2282698"/>
                </a:lnTo>
                <a:cubicBezTo>
                  <a:pt x="15864" y="2282698"/>
                  <a:pt x="0" y="2266834"/>
                  <a:pt x="0" y="2247265"/>
                </a:cubicBezTo>
                <a:lnTo>
                  <a:pt x="0" y="35433"/>
                </a:lnTo>
                <a:cubicBezTo>
                  <a:pt x="0" y="15877"/>
                  <a:pt x="15877" y="0"/>
                  <a:pt x="35433" y="0"/>
                </a:cubicBezTo>
                <a:close/>
              </a:path>
            </a:pathLst>
          </a:custGeom>
          <a:gradFill rotWithShape="1" flip="none">
            <a:gsLst>
              <a:gs pos="0">
                <a:srgbClr val="5F737C">
                  <a:alpha val="30000"/>
                </a:srgbClr>
              </a:gs>
              <a:gs pos="100000">
                <a:srgbClr val="4A5C6A">
                  <a:alpha val="20000"/>
                </a:srgbClr>
              </a:gs>
            </a:gsLst>
            <a:lin ang="2700000" scaled="1"/>
          </a:gradFill>
          <a:ln/>
        </p:spPr>
      </p:sp>
      <p:sp>
        <p:nvSpPr>
          <p:cNvPr id="14" name="Shape 12"/>
          <p:cNvSpPr/>
          <p:nvPr/>
        </p:nvSpPr>
        <p:spPr>
          <a:xfrm>
            <a:off x="4246187" y="1274055"/>
            <a:ext cx="35390" cy="2282682"/>
          </a:xfrm>
          <a:custGeom>
            <a:avLst/>
            <a:gdLst/>
            <a:ahLst/>
            <a:cxnLst/>
            <a:rect l="l" t="t" r="r" b="b"/>
            <a:pathLst>
              <a:path w="35390" h="2282682">
                <a:moveTo>
                  <a:pt x="35433" y="0"/>
                </a:moveTo>
                <a:lnTo>
                  <a:pt x="35433" y="0"/>
                </a:lnTo>
                <a:lnTo>
                  <a:pt x="35433" y="2282698"/>
                </a:lnTo>
                <a:lnTo>
                  <a:pt x="35433" y="2282698"/>
                </a:lnTo>
                <a:cubicBezTo>
                  <a:pt x="15864" y="2282698"/>
                  <a:pt x="0" y="2266834"/>
                  <a:pt x="0" y="2247265"/>
                </a:cubicBezTo>
                <a:lnTo>
                  <a:pt x="0" y="35433"/>
                </a:lnTo>
                <a:cubicBezTo>
                  <a:pt x="0" y="15877"/>
                  <a:pt x="15877" y="0"/>
                  <a:pt x="35433" y="0"/>
                </a:cubicBezTo>
                <a:close/>
              </a:path>
            </a:pathLst>
          </a:custGeom>
          <a:solidFill>
            <a:srgbClr val="5F737C"/>
          </a:solidFill>
          <a:ln/>
        </p:spPr>
      </p:sp>
      <p:sp>
        <p:nvSpPr>
          <p:cNvPr id="15" name="Shape 13"/>
          <p:cNvSpPr/>
          <p:nvPr/>
        </p:nvSpPr>
        <p:spPr>
          <a:xfrm>
            <a:off x="4440834" y="1451007"/>
            <a:ext cx="495466" cy="495466"/>
          </a:xfrm>
          <a:prstGeom prst="roundRect">
            <a:avLst>
              <a:gd name="adj" fmla="val 50000"/>
            </a:avLst>
          </a:prstGeom>
          <a:solidFill>
            <a:srgbClr val="5F737C"/>
          </a:solidFill>
          <a:ln/>
        </p:spPr>
      </p:sp>
      <p:sp>
        <p:nvSpPr>
          <p:cNvPr id="16" name="Text 14"/>
          <p:cNvSpPr/>
          <p:nvPr/>
        </p:nvSpPr>
        <p:spPr>
          <a:xfrm>
            <a:off x="4559061" y="1557179"/>
            <a:ext cx="362752" cy="28312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672" b="1" dirty="0">
                <a:solidFill>
                  <a:srgbClr val="F0F2F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02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5042471" y="1574874"/>
            <a:ext cx="1742978" cy="2477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93" b="1" dirty="0">
                <a:solidFill>
                  <a:srgbClr val="F0F2F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EfficientNet-B0 CNN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4440834" y="2052644"/>
            <a:ext cx="3415176" cy="4600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15" dirty="0">
                <a:solidFill>
                  <a:srgbClr val="F0F2F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Implement </a:t>
            </a:r>
            <a:pPr>
              <a:lnSpc>
                <a:spcPct val="140000"/>
              </a:lnSpc>
            </a:pPr>
            <a:r>
              <a:rPr lang="en-US" sz="1115" b="1" dirty="0">
                <a:solidFill>
                  <a:srgbClr val="F0F2F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EfficientNet-B0 CNN</a:t>
            </a:r>
            <a:pPr>
              <a:lnSpc>
                <a:spcPct val="140000"/>
              </a:lnSpc>
            </a:pPr>
            <a:r>
              <a:rPr lang="en-US" sz="1115" dirty="0">
                <a:solidFill>
                  <a:srgbClr val="F0F2F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for visual artifact detection, optimized for facial analysis.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4458530" y="2645434"/>
            <a:ext cx="123866" cy="123866"/>
          </a:xfrm>
          <a:custGeom>
            <a:avLst/>
            <a:gdLst/>
            <a:ahLst/>
            <a:cxnLst/>
            <a:rect l="l" t="t" r="r" b="b"/>
            <a:pathLst>
              <a:path w="123866" h="123866">
                <a:moveTo>
                  <a:pt x="61933" y="123866"/>
                </a:moveTo>
                <a:cubicBezTo>
                  <a:pt x="96115" y="123866"/>
                  <a:pt x="123866" y="96115"/>
                  <a:pt x="123866" y="61933"/>
                </a:cubicBezTo>
                <a:cubicBezTo>
                  <a:pt x="123866" y="27751"/>
                  <a:pt x="96115" y="0"/>
                  <a:pt x="61933" y="0"/>
                </a:cubicBezTo>
                <a:cubicBezTo>
                  <a:pt x="27751" y="0"/>
                  <a:pt x="0" y="27751"/>
                  <a:pt x="0" y="61933"/>
                </a:cubicBezTo>
                <a:cubicBezTo>
                  <a:pt x="0" y="96115"/>
                  <a:pt x="27751" y="123866"/>
                  <a:pt x="61933" y="123866"/>
                </a:cubicBezTo>
                <a:close/>
                <a:moveTo>
                  <a:pt x="82352" y="51458"/>
                </a:moveTo>
                <a:lnTo>
                  <a:pt x="62998" y="82424"/>
                </a:lnTo>
                <a:cubicBezTo>
                  <a:pt x="61982" y="84045"/>
                  <a:pt x="60240" y="85061"/>
                  <a:pt x="58329" y="85158"/>
                </a:cubicBezTo>
                <a:cubicBezTo>
                  <a:pt x="56417" y="85255"/>
                  <a:pt x="54579" y="84384"/>
                  <a:pt x="53442" y="82836"/>
                </a:cubicBezTo>
                <a:lnTo>
                  <a:pt x="41829" y="67352"/>
                </a:lnTo>
                <a:cubicBezTo>
                  <a:pt x="39894" y="64788"/>
                  <a:pt x="40426" y="61159"/>
                  <a:pt x="42990" y="59224"/>
                </a:cubicBezTo>
                <a:cubicBezTo>
                  <a:pt x="45555" y="57288"/>
                  <a:pt x="49184" y="57820"/>
                  <a:pt x="51119" y="60385"/>
                </a:cubicBezTo>
                <a:lnTo>
                  <a:pt x="57651" y="69094"/>
                </a:lnTo>
                <a:lnTo>
                  <a:pt x="72505" y="45313"/>
                </a:lnTo>
                <a:cubicBezTo>
                  <a:pt x="74199" y="42603"/>
                  <a:pt x="77779" y="41757"/>
                  <a:pt x="80513" y="43474"/>
                </a:cubicBezTo>
                <a:cubicBezTo>
                  <a:pt x="83247" y="45192"/>
                  <a:pt x="84070" y="48748"/>
                  <a:pt x="82352" y="51482"/>
                </a:cubicBezTo>
                <a:close/>
              </a:path>
            </a:pathLst>
          </a:custGeom>
          <a:solidFill>
            <a:srgbClr val="5F737C"/>
          </a:solidFill>
          <a:ln/>
        </p:spPr>
      </p:sp>
      <p:sp>
        <p:nvSpPr>
          <p:cNvPr id="20" name="Text 18"/>
          <p:cNvSpPr/>
          <p:nvPr/>
        </p:nvSpPr>
        <p:spPr>
          <a:xfrm>
            <a:off x="4666448" y="2618891"/>
            <a:ext cx="1619112" cy="1769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75" dirty="0">
                <a:solidFill>
                  <a:srgbClr val="9A959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State-of-the-art architecture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360982" y="3704161"/>
            <a:ext cx="3721303" cy="2296838"/>
          </a:xfrm>
          <a:prstGeom prst="roundRect">
            <a:avLst>
              <a:gd name="adj" fmla="val 3082"/>
            </a:avLst>
          </a:prstGeom>
          <a:gradFill rotWithShape="1" flip="none">
            <a:gsLst>
              <a:gs pos="0">
                <a:srgbClr val="D4A373">
                  <a:alpha val="20000"/>
                </a:srgbClr>
              </a:gs>
              <a:gs pos="100000">
                <a:srgbClr val="5F737C">
                  <a:alpha val="10000"/>
                </a:srgbClr>
              </a:gs>
            </a:gsLst>
            <a:lin ang="2700000" scaled="1"/>
          </a:gradFill>
          <a:ln w="20320">
            <a:solidFill>
              <a:srgbClr val="D4A373">
                <a:alpha val="60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45013" y="3888192"/>
            <a:ext cx="495466" cy="495466"/>
          </a:xfrm>
          <a:prstGeom prst="roundRect">
            <a:avLst>
              <a:gd name="adj" fmla="val 50000"/>
            </a:avLst>
          </a:prstGeom>
          <a:gradFill rotWithShape="1" flip="none">
            <a:gsLst>
              <a:gs pos="0">
                <a:srgbClr val="D4A373"/>
              </a:gs>
              <a:gs pos="100000">
                <a:srgbClr val="5F737C"/>
              </a:gs>
            </a:gsLst>
            <a:lin ang="2700000" scaled="1"/>
          </a:gradFill>
          <a:ln/>
        </p:spPr>
      </p:sp>
      <p:sp>
        <p:nvSpPr>
          <p:cNvPr id="23" name="Shape 21"/>
          <p:cNvSpPr/>
          <p:nvPr/>
        </p:nvSpPr>
        <p:spPr>
          <a:xfrm>
            <a:off x="673303" y="4029754"/>
            <a:ext cx="238885" cy="212343"/>
          </a:xfrm>
          <a:custGeom>
            <a:avLst/>
            <a:gdLst/>
            <a:ahLst/>
            <a:cxnLst/>
            <a:rect l="l" t="t" r="r" b="b"/>
            <a:pathLst>
              <a:path w="238885" h="212343">
                <a:moveTo>
                  <a:pt x="128359" y="-7838"/>
                </a:moveTo>
                <a:cubicBezTo>
                  <a:pt x="126659" y="-11156"/>
                  <a:pt x="123217" y="-13271"/>
                  <a:pt x="119484" y="-13271"/>
                </a:cubicBezTo>
                <a:cubicBezTo>
                  <a:pt x="115752" y="-13271"/>
                  <a:pt x="112309" y="-11156"/>
                  <a:pt x="110609" y="-7838"/>
                </a:cubicBezTo>
                <a:lnTo>
                  <a:pt x="80085" y="51966"/>
                </a:lnTo>
                <a:lnTo>
                  <a:pt x="13769" y="62500"/>
                </a:lnTo>
                <a:cubicBezTo>
                  <a:pt x="10078" y="63081"/>
                  <a:pt x="7009" y="65693"/>
                  <a:pt x="5848" y="69260"/>
                </a:cubicBezTo>
                <a:cubicBezTo>
                  <a:pt x="4686" y="72827"/>
                  <a:pt x="5640" y="76725"/>
                  <a:pt x="8253" y="79380"/>
                </a:cubicBezTo>
                <a:lnTo>
                  <a:pt x="55698" y="126866"/>
                </a:lnTo>
                <a:lnTo>
                  <a:pt x="45247" y="193182"/>
                </a:lnTo>
                <a:cubicBezTo>
                  <a:pt x="44667" y="196873"/>
                  <a:pt x="46201" y="200606"/>
                  <a:pt x="49229" y="202804"/>
                </a:cubicBezTo>
                <a:cubicBezTo>
                  <a:pt x="52256" y="205002"/>
                  <a:pt x="56238" y="205334"/>
                  <a:pt x="59597" y="203633"/>
                </a:cubicBezTo>
                <a:lnTo>
                  <a:pt x="119484" y="173192"/>
                </a:lnTo>
                <a:lnTo>
                  <a:pt x="179330" y="203633"/>
                </a:lnTo>
                <a:cubicBezTo>
                  <a:pt x="182648" y="205334"/>
                  <a:pt x="186671" y="205002"/>
                  <a:pt x="189698" y="202804"/>
                </a:cubicBezTo>
                <a:cubicBezTo>
                  <a:pt x="192726" y="200606"/>
                  <a:pt x="194260" y="196915"/>
                  <a:pt x="193680" y="193182"/>
                </a:cubicBezTo>
                <a:lnTo>
                  <a:pt x="183187" y="126866"/>
                </a:lnTo>
                <a:lnTo>
                  <a:pt x="230632" y="79380"/>
                </a:lnTo>
                <a:cubicBezTo>
                  <a:pt x="233286" y="76725"/>
                  <a:pt x="234199" y="72827"/>
                  <a:pt x="233038" y="69260"/>
                </a:cubicBezTo>
                <a:cubicBezTo>
                  <a:pt x="231876" y="65693"/>
                  <a:pt x="228849" y="63081"/>
                  <a:pt x="225116" y="62500"/>
                </a:cubicBezTo>
                <a:lnTo>
                  <a:pt x="158842" y="51966"/>
                </a:lnTo>
                <a:lnTo>
                  <a:pt x="128359" y="-7838"/>
                </a:lnTo>
                <a:close/>
              </a:path>
            </a:pathLst>
          </a:custGeom>
          <a:solidFill>
            <a:srgbClr val="1A1D21"/>
          </a:solidFill>
          <a:ln/>
        </p:spPr>
      </p:sp>
      <p:sp>
        <p:nvSpPr>
          <p:cNvPr id="24" name="Text 22"/>
          <p:cNvSpPr/>
          <p:nvPr/>
        </p:nvSpPr>
        <p:spPr>
          <a:xfrm>
            <a:off x="1146650" y="4012058"/>
            <a:ext cx="1229817" cy="2477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93" b="1" dirty="0">
                <a:solidFill>
                  <a:srgbClr val="D4A37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★ ECF Module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545013" y="4489829"/>
            <a:ext cx="3424023" cy="4600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15" dirty="0">
                <a:solidFill>
                  <a:srgbClr val="F0F2F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Introduce </a:t>
            </a:r>
            <a:pPr>
              <a:lnSpc>
                <a:spcPct val="140000"/>
              </a:lnSpc>
            </a:pPr>
            <a:r>
              <a:rPr lang="en-US" sz="1115" b="1" dirty="0">
                <a:solidFill>
                  <a:srgbClr val="F0F2F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Emotion-Consistency Forensics</a:t>
            </a:r>
            <a:pPr>
              <a:lnSpc>
                <a:spcPct val="140000"/>
              </a:lnSpc>
            </a:pPr>
            <a:r>
              <a:rPr lang="en-US" sz="1115" dirty="0">
                <a:solidFill>
                  <a:srgbClr val="F0F2F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to cross-check facial emotion with voice tone.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562708" y="5082619"/>
            <a:ext cx="123866" cy="123866"/>
          </a:xfrm>
          <a:custGeom>
            <a:avLst/>
            <a:gdLst/>
            <a:ahLst/>
            <a:cxnLst/>
            <a:rect l="l" t="t" r="r" b="b"/>
            <a:pathLst>
              <a:path w="123866" h="123866">
                <a:moveTo>
                  <a:pt x="61933" y="123866"/>
                </a:moveTo>
                <a:cubicBezTo>
                  <a:pt x="96115" y="123866"/>
                  <a:pt x="123866" y="96115"/>
                  <a:pt x="123866" y="61933"/>
                </a:cubicBezTo>
                <a:cubicBezTo>
                  <a:pt x="123866" y="27751"/>
                  <a:pt x="96115" y="0"/>
                  <a:pt x="61933" y="0"/>
                </a:cubicBezTo>
                <a:cubicBezTo>
                  <a:pt x="27751" y="0"/>
                  <a:pt x="0" y="27751"/>
                  <a:pt x="0" y="61933"/>
                </a:cubicBezTo>
                <a:cubicBezTo>
                  <a:pt x="0" y="96115"/>
                  <a:pt x="27751" y="123866"/>
                  <a:pt x="61933" y="123866"/>
                </a:cubicBezTo>
                <a:close/>
                <a:moveTo>
                  <a:pt x="82352" y="51458"/>
                </a:moveTo>
                <a:lnTo>
                  <a:pt x="62998" y="82424"/>
                </a:lnTo>
                <a:cubicBezTo>
                  <a:pt x="61982" y="84045"/>
                  <a:pt x="60240" y="85061"/>
                  <a:pt x="58329" y="85158"/>
                </a:cubicBezTo>
                <a:cubicBezTo>
                  <a:pt x="56417" y="85255"/>
                  <a:pt x="54579" y="84384"/>
                  <a:pt x="53442" y="82836"/>
                </a:cubicBezTo>
                <a:lnTo>
                  <a:pt x="41829" y="67352"/>
                </a:lnTo>
                <a:cubicBezTo>
                  <a:pt x="39894" y="64788"/>
                  <a:pt x="40426" y="61159"/>
                  <a:pt x="42990" y="59224"/>
                </a:cubicBezTo>
                <a:cubicBezTo>
                  <a:pt x="45555" y="57288"/>
                  <a:pt x="49184" y="57820"/>
                  <a:pt x="51119" y="60385"/>
                </a:cubicBezTo>
                <a:lnTo>
                  <a:pt x="57651" y="69094"/>
                </a:lnTo>
                <a:lnTo>
                  <a:pt x="72505" y="45313"/>
                </a:lnTo>
                <a:cubicBezTo>
                  <a:pt x="74199" y="42603"/>
                  <a:pt x="77779" y="41757"/>
                  <a:pt x="80513" y="43474"/>
                </a:cubicBezTo>
                <a:cubicBezTo>
                  <a:pt x="83247" y="45192"/>
                  <a:pt x="84070" y="48748"/>
                  <a:pt x="82352" y="51482"/>
                </a:cubicBezTo>
                <a:close/>
              </a:path>
            </a:pathLst>
          </a:custGeom>
          <a:solidFill>
            <a:srgbClr val="D4A373"/>
          </a:solidFill>
          <a:ln/>
        </p:spPr>
      </p:sp>
      <p:sp>
        <p:nvSpPr>
          <p:cNvPr id="27" name="Text 25"/>
          <p:cNvSpPr/>
          <p:nvPr/>
        </p:nvSpPr>
        <p:spPr>
          <a:xfrm>
            <a:off x="770626" y="5056076"/>
            <a:ext cx="1433312" cy="1769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75" dirty="0">
                <a:solidFill>
                  <a:srgbClr val="9A959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Novel behavioral analysis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4246187" y="3697083"/>
            <a:ext cx="3715994" cy="2309225"/>
          </a:xfrm>
          <a:custGeom>
            <a:avLst/>
            <a:gdLst/>
            <a:ahLst/>
            <a:cxnLst/>
            <a:rect l="l" t="t" r="r" b="b"/>
            <a:pathLst>
              <a:path w="3715994" h="2309225">
                <a:moveTo>
                  <a:pt x="35433" y="0"/>
                </a:moveTo>
                <a:lnTo>
                  <a:pt x="3645154" y="0"/>
                </a:lnTo>
                <a:cubicBezTo>
                  <a:pt x="3663937" y="-34"/>
                  <a:pt x="3681963" y="7404"/>
                  <a:pt x="3695256" y="20674"/>
                </a:cubicBezTo>
                <a:cubicBezTo>
                  <a:pt x="3708550" y="33944"/>
                  <a:pt x="3716020" y="51956"/>
                  <a:pt x="3716020" y="70739"/>
                </a:cubicBezTo>
                <a:lnTo>
                  <a:pt x="3716020" y="2238502"/>
                </a:lnTo>
                <a:cubicBezTo>
                  <a:pt x="3716020" y="2257285"/>
                  <a:pt x="3708550" y="2275297"/>
                  <a:pt x="3695256" y="2288567"/>
                </a:cubicBezTo>
                <a:cubicBezTo>
                  <a:pt x="3681963" y="2301837"/>
                  <a:pt x="3663937" y="2309275"/>
                  <a:pt x="3645154" y="2309241"/>
                </a:cubicBezTo>
                <a:lnTo>
                  <a:pt x="35433" y="2309241"/>
                </a:lnTo>
                <a:cubicBezTo>
                  <a:pt x="15864" y="2309241"/>
                  <a:pt x="0" y="2293377"/>
                  <a:pt x="0" y="2273808"/>
                </a:cubicBezTo>
                <a:lnTo>
                  <a:pt x="0" y="35433"/>
                </a:lnTo>
                <a:cubicBezTo>
                  <a:pt x="0" y="15877"/>
                  <a:pt x="15877" y="0"/>
                  <a:pt x="35433" y="0"/>
                </a:cubicBezTo>
                <a:close/>
              </a:path>
            </a:pathLst>
          </a:custGeom>
          <a:gradFill rotWithShape="1" flip="none">
            <a:gsLst>
              <a:gs pos="0">
                <a:srgbClr val="5F737C">
                  <a:alpha val="30000"/>
                </a:srgbClr>
              </a:gs>
              <a:gs pos="100000">
                <a:srgbClr val="4A5C6A">
                  <a:alpha val="20000"/>
                </a:srgbClr>
              </a:gs>
            </a:gsLst>
            <a:lin ang="2700000" scaled="1"/>
          </a:gradFill>
          <a:ln/>
        </p:spPr>
      </p:sp>
      <p:sp>
        <p:nvSpPr>
          <p:cNvPr id="29" name="Shape 27"/>
          <p:cNvSpPr/>
          <p:nvPr/>
        </p:nvSpPr>
        <p:spPr>
          <a:xfrm>
            <a:off x="4246187" y="3697083"/>
            <a:ext cx="35390" cy="2309225"/>
          </a:xfrm>
          <a:custGeom>
            <a:avLst/>
            <a:gdLst/>
            <a:ahLst/>
            <a:cxnLst/>
            <a:rect l="l" t="t" r="r" b="b"/>
            <a:pathLst>
              <a:path w="35390" h="2309225">
                <a:moveTo>
                  <a:pt x="35433" y="0"/>
                </a:moveTo>
                <a:lnTo>
                  <a:pt x="35433" y="0"/>
                </a:lnTo>
                <a:lnTo>
                  <a:pt x="35433" y="2309241"/>
                </a:lnTo>
                <a:lnTo>
                  <a:pt x="35433" y="2309241"/>
                </a:lnTo>
                <a:cubicBezTo>
                  <a:pt x="15864" y="2309241"/>
                  <a:pt x="0" y="2293377"/>
                  <a:pt x="0" y="2273808"/>
                </a:cubicBezTo>
                <a:lnTo>
                  <a:pt x="0" y="35433"/>
                </a:lnTo>
                <a:cubicBezTo>
                  <a:pt x="0" y="15877"/>
                  <a:pt x="15877" y="0"/>
                  <a:pt x="35433" y="0"/>
                </a:cubicBezTo>
                <a:close/>
              </a:path>
            </a:pathLst>
          </a:custGeom>
          <a:solidFill>
            <a:srgbClr val="5F737C"/>
          </a:solidFill>
          <a:ln/>
        </p:spPr>
      </p:sp>
      <p:sp>
        <p:nvSpPr>
          <p:cNvPr id="30" name="Shape 28"/>
          <p:cNvSpPr/>
          <p:nvPr/>
        </p:nvSpPr>
        <p:spPr>
          <a:xfrm>
            <a:off x="4440834" y="3874035"/>
            <a:ext cx="495466" cy="495466"/>
          </a:xfrm>
          <a:prstGeom prst="roundRect">
            <a:avLst>
              <a:gd name="adj" fmla="val 50000"/>
            </a:avLst>
          </a:prstGeom>
          <a:solidFill>
            <a:srgbClr val="5F737C"/>
          </a:solidFill>
          <a:ln/>
        </p:spPr>
      </p:sp>
      <p:sp>
        <p:nvSpPr>
          <p:cNvPr id="31" name="Text 29"/>
          <p:cNvSpPr/>
          <p:nvPr/>
        </p:nvSpPr>
        <p:spPr>
          <a:xfrm>
            <a:off x="4558286" y="3980206"/>
            <a:ext cx="362752" cy="28312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672" b="1" dirty="0">
                <a:solidFill>
                  <a:srgbClr val="F0F2F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04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5042471" y="3997901"/>
            <a:ext cx="2008406" cy="2477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93" b="1" dirty="0">
                <a:solidFill>
                  <a:srgbClr val="F0F2F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Grad-CAM Explainability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4440834" y="4475672"/>
            <a:ext cx="3415176" cy="4600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15" dirty="0">
                <a:solidFill>
                  <a:srgbClr val="F0F2F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Provide </a:t>
            </a:r>
            <a:pPr>
              <a:lnSpc>
                <a:spcPct val="140000"/>
              </a:lnSpc>
            </a:pPr>
            <a:r>
              <a:rPr lang="en-US" sz="1115" b="1" dirty="0">
                <a:solidFill>
                  <a:srgbClr val="F0F2F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explainability</a:t>
            </a:r>
            <a:pPr>
              <a:lnSpc>
                <a:spcPct val="140000"/>
              </a:lnSpc>
            </a:pPr>
            <a:r>
              <a:rPr lang="en-US" sz="1115" dirty="0">
                <a:solidFill>
                  <a:srgbClr val="F0F2F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using Grad-CAM heatmaps to visualize detection evidence.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4458530" y="5068462"/>
            <a:ext cx="123866" cy="123866"/>
          </a:xfrm>
          <a:custGeom>
            <a:avLst/>
            <a:gdLst/>
            <a:ahLst/>
            <a:cxnLst/>
            <a:rect l="l" t="t" r="r" b="b"/>
            <a:pathLst>
              <a:path w="123866" h="123866">
                <a:moveTo>
                  <a:pt x="61933" y="123866"/>
                </a:moveTo>
                <a:cubicBezTo>
                  <a:pt x="96115" y="123866"/>
                  <a:pt x="123866" y="96115"/>
                  <a:pt x="123866" y="61933"/>
                </a:cubicBezTo>
                <a:cubicBezTo>
                  <a:pt x="123866" y="27751"/>
                  <a:pt x="96115" y="0"/>
                  <a:pt x="61933" y="0"/>
                </a:cubicBezTo>
                <a:cubicBezTo>
                  <a:pt x="27751" y="0"/>
                  <a:pt x="0" y="27751"/>
                  <a:pt x="0" y="61933"/>
                </a:cubicBezTo>
                <a:cubicBezTo>
                  <a:pt x="0" y="96115"/>
                  <a:pt x="27751" y="123866"/>
                  <a:pt x="61933" y="123866"/>
                </a:cubicBezTo>
                <a:close/>
                <a:moveTo>
                  <a:pt x="82352" y="51458"/>
                </a:moveTo>
                <a:lnTo>
                  <a:pt x="62998" y="82424"/>
                </a:lnTo>
                <a:cubicBezTo>
                  <a:pt x="61982" y="84045"/>
                  <a:pt x="60240" y="85061"/>
                  <a:pt x="58329" y="85158"/>
                </a:cubicBezTo>
                <a:cubicBezTo>
                  <a:pt x="56417" y="85255"/>
                  <a:pt x="54579" y="84384"/>
                  <a:pt x="53442" y="82836"/>
                </a:cubicBezTo>
                <a:lnTo>
                  <a:pt x="41829" y="67352"/>
                </a:lnTo>
                <a:cubicBezTo>
                  <a:pt x="39894" y="64788"/>
                  <a:pt x="40426" y="61159"/>
                  <a:pt x="42990" y="59224"/>
                </a:cubicBezTo>
                <a:cubicBezTo>
                  <a:pt x="45555" y="57288"/>
                  <a:pt x="49184" y="57820"/>
                  <a:pt x="51119" y="60385"/>
                </a:cubicBezTo>
                <a:lnTo>
                  <a:pt x="57651" y="69094"/>
                </a:lnTo>
                <a:lnTo>
                  <a:pt x="72505" y="45313"/>
                </a:lnTo>
                <a:cubicBezTo>
                  <a:pt x="74199" y="42603"/>
                  <a:pt x="77779" y="41757"/>
                  <a:pt x="80513" y="43474"/>
                </a:cubicBezTo>
                <a:cubicBezTo>
                  <a:pt x="83247" y="45192"/>
                  <a:pt x="84070" y="48748"/>
                  <a:pt x="82352" y="51482"/>
                </a:cubicBezTo>
                <a:close/>
              </a:path>
            </a:pathLst>
          </a:custGeom>
          <a:solidFill>
            <a:srgbClr val="5F737C"/>
          </a:solidFill>
          <a:ln/>
        </p:spPr>
      </p:sp>
      <p:sp>
        <p:nvSpPr>
          <p:cNvPr id="35" name="Text 33"/>
          <p:cNvSpPr/>
          <p:nvPr/>
        </p:nvSpPr>
        <p:spPr>
          <a:xfrm>
            <a:off x="4666448" y="5041919"/>
            <a:ext cx="1406769" cy="1769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75" dirty="0">
                <a:solidFill>
                  <a:srgbClr val="9A959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Transparent AI decisions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8120775" y="1274055"/>
            <a:ext cx="3715994" cy="2406549"/>
          </a:xfrm>
          <a:custGeom>
            <a:avLst/>
            <a:gdLst/>
            <a:ahLst/>
            <a:cxnLst/>
            <a:rect l="l" t="t" r="r" b="b"/>
            <a:pathLst>
              <a:path w="3715994" h="2406549">
                <a:moveTo>
                  <a:pt x="35433" y="0"/>
                </a:moveTo>
                <a:lnTo>
                  <a:pt x="3645281" y="0"/>
                </a:lnTo>
                <a:cubicBezTo>
                  <a:pt x="3684349" y="0"/>
                  <a:pt x="3716020" y="31671"/>
                  <a:pt x="3716020" y="70739"/>
                </a:cubicBezTo>
                <a:lnTo>
                  <a:pt x="3716020" y="2335784"/>
                </a:lnTo>
                <a:cubicBezTo>
                  <a:pt x="3716020" y="2374852"/>
                  <a:pt x="3684349" y="2406523"/>
                  <a:pt x="3645281" y="2406523"/>
                </a:cubicBezTo>
                <a:lnTo>
                  <a:pt x="35433" y="2406523"/>
                </a:lnTo>
                <a:cubicBezTo>
                  <a:pt x="15913" y="2406523"/>
                  <a:pt x="70" y="2390736"/>
                  <a:pt x="0" y="2371217"/>
                </a:cubicBezTo>
                <a:lnTo>
                  <a:pt x="0" y="35433"/>
                </a:lnTo>
                <a:cubicBezTo>
                  <a:pt x="0" y="15877"/>
                  <a:pt x="15877" y="0"/>
                  <a:pt x="35433" y="0"/>
                </a:cubicBezTo>
                <a:close/>
              </a:path>
            </a:pathLst>
          </a:custGeom>
          <a:gradFill rotWithShape="1" flip="none">
            <a:gsLst>
              <a:gs pos="0">
                <a:srgbClr val="5F737C">
                  <a:alpha val="30000"/>
                </a:srgbClr>
              </a:gs>
              <a:gs pos="100000">
                <a:srgbClr val="4A5C6A">
                  <a:alpha val="20000"/>
                </a:srgbClr>
              </a:gs>
            </a:gsLst>
            <a:lin ang="2700000" scaled="1"/>
          </a:gradFill>
          <a:ln/>
        </p:spPr>
      </p:sp>
      <p:sp>
        <p:nvSpPr>
          <p:cNvPr id="37" name="Shape 35"/>
          <p:cNvSpPr/>
          <p:nvPr/>
        </p:nvSpPr>
        <p:spPr>
          <a:xfrm>
            <a:off x="8120775" y="1274055"/>
            <a:ext cx="35390" cy="2406549"/>
          </a:xfrm>
          <a:custGeom>
            <a:avLst/>
            <a:gdLst/>
            <a:ahLst/>
            <a:cxnLst/>
            <a:rect l="l" t="t" r="r" b="b"/>
            <a:pathLst>
              <a:path w="35390" h="2406549">
                <a:moveTo>
                  <a:pt x="35433" y="0"/>
                </a:moveTo>
                <a:lnTo>
                  <a:pt x="35433" y="0"/>
                </a:lnTo>
                <a:lnTo>
                  <a:pt x="35433" y="2406523"/>
                </a:lnTo>
                <a:lnTo>
                  <a:pt x="35433" y="2406523"/>
                </a:lnTo>
                <a:cubicBezTo>
                  <a:pt x="15913" y="2406523"/>
                  <a:pt x="70" y="2390736"/>
                  <a:pt x="0" y="2371217"/>
                </a:cubicBezTo>
                <a:lnTo>
                  <a:pt x="0" y="35433"/>
                </a:lnTo>
                <a:cubicBezTo>
                  <a:pt x="0" y="15877"/>
                  <a:pt x="15877" y="0"/>
                  <a:pt x="35433" y="0"/>
                </a:cubicBezTo>
                <a:close/>
              </a:path>
            </a:pathLst>
          </a:custGeom>
          <a:solidFill>
            <a:srgbClr val="D4A373"/>
          </a:solidFill>
          <a:ln/>
        </p:spPr>
      </p:sp>
      <p:sp>
        <p:nvSpPr>
          <p:cNvPr id="38" name="Shape 36"/>
          <p:cNvSpPr/>
          <p:nvPr/>
        </p:nvSpPr>
        <p:spPr>
          <a:xfrm>
            <a:off x="8350813" y="1486398"/>
            <a:ext cx="495466" cy="495466"/>
          </a:xfrm>
          <a:prstGeom prst="roundRect">
            <a:avLst>
              <a:gd name="adj" fmla="val 50000"/>
            </a:avLst>
          </a:prstGeom>
          <a:solidFill>
            <a:srgbClr val="D4A373"/>
          </a:solidFill>
          <a:ln/>
        </p:spPr>
      </p:sp>
      <p:sp>
        <p:nvSpPr>
          <p:cNvPr id="39" name="Text 37"/>
          <p:cNvSpPr/>
          <p:nvPr/>
        </p:nvSpPr>
        <p:spPr>
          <a:xfrm>
            <a:off x="8469592" y="1592569"/>
            <a:ext cx="362752" cy="28312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672" b="1" dirty="0">
                <a:solidFill>
                  <a:srgbClr val="1A1D2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05</a:t>
            </a:r>
            <a:endParaRPr lang="en-US" sz="1600" dirty="0"/>
          </a:p>
        </p:txBody>
      </p:sp>
      <p:sp>
        <p:nvSpPr>
          <p:cNvPr id="40" name="Text 38"/>
          <p:cNvSpPr/>
          <p:nvPr/>
        </p:nvSpPr>
        <p:spPr>
          <a:xfrm>
            <a:off x="8952450" y="1610264"/>
            <a:ext cx="1937626" cy="2477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93" b="1" dirty="0">
                <a:solidFill>
                  <a:srgbClr val="F0F2F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Streamlit Web Interface</a:t>
            </a:r>
            <a:endParaRPr lang="en-US" sz="1600" dirty="0"/>
          </a:p>
        </p:txBody>
      </p:sp>
      <p:sp>
        <p:nvSpPr>
          <p:cNvPr id="41" name="Text 39"/>
          <p:cNvSpPr/>
          <p:nvPr/>
        </p:nvSpPr>
        <p:spPr>
          <a:xfrm>
            <a:off x="8350813" y="2123425"/>
            <a:ext cx="3344395" cy="4600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15" dirty="0">
                <a:solidFill>
                  <a:srgbClr val="F0F2F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Deploy an </a:t>
            </a:r>
            <a:pPr>
              <a:lnSpc>
                <a:spcPct val="140000"/>
              </a:lnSpc>
            </a:pPr>
            <a:r>
              <a:rPr lang="en-US" sz="1115" b="1" dirty="0">
                <a:solidFill>
                  <a:srgbClr val="F0F2F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interactive web interface</a:t>
            </a:r>
            <a:pPr>
              <a:lnSpc>
                <a:spcPct val="140000"/>
              </a:lnSpc>
            </a:pPr>
            <a:r>
              <a:rPr lang="en-US" sz="1115" dirty="0">
                <a:solidFill>
                  <a:srgbClr val="F0F2F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using Streamlit for real-time deepfake detection.</a:t>
            </a:r>
            <a:endParaRPr lang="en-US" sz="1600" dirty="0"/>
          </a:p>
        </p:txBody>
      </p:sp>
      <p:sp>
        <p:nvSpPr>
          <p:cNvPr id="42" name="Shape 40"/>
          <p:cNvSpPr/>
          <p:nvPr/>
        </p:nvSpPr>
        <p:spPr>
          <a:xfrm>
            <a:off x="8368508" y="2751605"/>
            <a:ext cx="123866" cy="123866"/>
          </a:xfrm>
          <a:custGeom>
            <a:avLst/>
            <a:gdLst/>
            <a:ahLst/>
            <a:cxnLst/>
            <a:rect l="l" t="t" r="r" b="b"/>
            <a:pathLst>
              <a:path w="123866" h="123866">
                <a:moveTo>
                  <a:pt x="61933" y="123866"/>
                </a:moveTo>
                <a:cubicBezTo>
                  <a:pt x="96115" y="123866"/>
                  <a:pt x="123866" y="96115"/>
                  <a:pt x="123866" y="61933"/>
                </a:cubicBezTo>
                <a:cubicBezTo>
                  <a:pt x="123866" y="27751"/>
                  <a:pt x="96115" y="0"/>
                  <a:pt x="61933" y="0"/>
                </a:cubicBezTo>
                <a:cubicBezTo>
                  <a:pt x="27751" y="0"/>
                  <a:pt x="0" y="27751"/>
                  <a:pt x="0" y="61933"/>
                </a:cubicBezTo>
                <a:cubicBezTo>
                  <a:pt x="0" y="96115"/>
                  <a:pt x="27751" y="123866"/>
                  <a:pt x="61933" y="123866"/>
                </a:cubicBezTo>
                <a:close/>
                <a:moveTo>
                  <a:pt x="82352" y="51458"/>
                </a:moveTo>
                <a:lnTo>
                  <a:pt x="62998" y="82424"/>
                </a:lnTo>
                <a:cubicBezTo>
                  <a:pt x="61982" y="84045"/>
                  <a:pt x="60240" y="85061"/>
                  <a:pt x="58329" y="85158"/>
                </a:cubicBezTo>
                <a:cubicBezTo>
                  <a:pt x="56417" y="85255"/>
                  <a:pt x="54579" y="84384"/>
                  <a:pt x="53442" y="82836"/>
                </a:cubicBezTo>
                <a:lnTo>
                  <a:pt x="41829" y="67352"/>
                </a:lnTo>
                <a:cubicBezTo>
                  <a:pt x="39894" y="64788"/>
                  <a:pt x="40426" y="61159"/>
                  <a:pt x="42990" y="59224"/>
                </a:cubicBezTo>
                <a:cubicBezTo>
                  <a:pt x="45555" y="57288"/>
                  <a:pt x="49184" y="57820"/>
                  <a:pt x="51119" y="60385"/>
                </a:cubicBezTo>
                <a:lnTo>
                  <a:pt x="57651" y="69094"/>
                </a:lnTo>
                <a:lnTo>
                  <a:pt x="72505" y="45313"/>
                </a:lnTo>
                <a:cubicBezTo>
                  <a:pt x="74199" y="42603"/>
                  <a:pt x="77779" y="41757"/>
                  <a:pt x="80513" y="43474"/>
                </a:cubicBezTo>
                <a:cubicBezTo>
                  <a:pt x="83247" y="45192"/>
                  <a:pt x="84070" y="48748"/>
                  <a:pt x="82352" y="51482"/>
                </a:cubicBezTo>
                <a:close/>
              </a:path>
            </a:pathLst>
          </a:custGeom>
          <a:solidFill>
            <a:srgbClr val="D4A373"/>
          </a:solidFill>
          <a:ln/>
        </p:spPr>
      </p:sp>
      <p:sp>
        <p:nvSpPr>
          <p:cNvPr id="43" name="Text 41"/>
          <p:cNvSpPr/>
          <p:nvPr/>
        </p:nvSpPr>
        <p:spPr>
          <a:xfrm>
            <a:off x="8576426" y="2725062"/>
            <a:ext cx="1176731" cy="1769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75" dirty="0">
                <a:solidFill>
                  <a:srgbClr val="9A959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User-friendly design</a:t>
            </a:r>
            <a:endParaRPr lang="en-US" sz="1600" dirty="0"/>
          </a:p>
        </p:txBody>
      </p:sp>
      <p:sp>
        <p:nvSpPr>
          <p:cNvPr id="44" name="Shape 42"/>
          <p:cNvSpPr/>
          <p:nvPr/>
        </p:nvSpPr>
        <p:spPr>
          <a:xfrm>
            <a:off x="8368508" y="3034729"/>
            <a:ext cx="123866" cy="123866"/>
          </a:xfrm>
          <a:custGeom>
            <a:avLst/>
            <a:gdLst/>
            <a:ahLst/>
            <a:cxnLst/>
            <a:rect l="l" t="t" r="r" b="b"/>
            <a:pathLst>
              <a:path w="123866" h="123866">
                <a:moveTo>
                  <a:pt x="61933" y="123866"/>
                </a:moveTo>
                <a:cubicBezTo>
                  <a:pt x="96115" y="123866"/>
                  <a:pt x="123866" y="96115"/>
                  <a:pt x="123866" y="61933"/>
                </a:cubicBezTo>
                <a:cubicBezTo>
                  <a:pt x="123866" y="27751"/>
                  <a:pt x="96115" y="0"/>
                  <a:pt x="61933" y="0"/>
                </a:cubicBezTo>
                <a:cubicBezTo>
                  <a:pt x="27751" y="0"/>
                  <a:pt x="0" y="27751"/>
                  <a:pt x="0" y="61933"/>
                </a:cubicBezTo>
                <a:cubicBezTo>
                  <a:pt x="0" y="96115"/>
                  <a:pt x="27751" y="123866"/>
                  <a:pt x="61933" y="123866"/>
                </a:cubicBezTo>
                <a:close/>
                <a:moveTo>
                  <a:pt x="82352" y="51458"/>
                </a:moveTo>
                <a:lnTo>
                  <a:pt x="62998" y="82424"/>
                </a:lnTo>
                <a:cubicBezTo>
                  <a:pt x="61982" y="84045"/>
                  <a:pt x="60240" y="85061"/>
                  <a:pt x="58329" y="85158"/>
                </a:cubicBezTo>
                <a:cubicBezTo>
                  <a:pt x="56417" y="85255"/>
                  <a:pt x="54579" y="84384"/>
                  <a:pt x="53442" y="82836"/>
                </a:cubicBezTo>
                <a:lnTo>
                  <a:pt x="41829" y="67352"/>
                </a:lnTo>
                <a:cubicBezTo>
                  <a:pt x="39894" y="64788"/>
                  <a:pt x="40426" y="61159"/>
                  <a:pt x="42990" y="59224"/>
                </a:cubicBezTo>
                <a:cubicBezTo>
                  <a:pt x="45555" y="57288"/>
                  <a:pt x="49184" y="57820"/>
                  <a:pt x="51119" y="60385"/>
                </a:cubicBezTo>
                <a:lnTo>
                  <a:pt x="57651" y="69094"/>
                </a:lnTo>
                <a:lnTo>
                  <a:pt x="72505" y="45313"/>
                </a:lnTo>
                <a:cubicBezTo>
                  <a:pt x="74199" y="42603"/>
                  <a:pt x="77779" y="41757"/>
                  <a:pt x="80513" y="43474"/>
                </a:cubicBezTo>
                <a:cubicBezTo>
                  <a:pt x="83247" y="45192"/>
                  <a:pt x="84070" y="48748"/>
                  <a:pt x="82352" y="51482"/>
                </a:cubicBezTo>
                <a:close/>
              </a:path>
            </a:pathLst>
          </a:custGeom>
          <a:solidFill>
            <a:srgbClr val="D4A373"/>
          </a:solidFill>
          <a:ln/>
        </p:spPr>
      </p:sp>
      <p:sp>
        <p:nvSpPr>
          <p:cNvPr id="45" name="Text 43"/>
          <p:cNvSpPr/>
          <p:nvPr/>
        </p:nvSpPr>
        <p:spPr>
          <a:xfrm>
            <a:off x="8576426" y="3008186"/>
            <a:ext cx="1220970" cy="1769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75" dirty="0">
                <a:solidFill>
                  <a:srgbClr val="9A959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Real-time processing</a:t>
            </a:r>
            <a:endParaRPr lang="en-US" sz="1600" dirty="0"/>
          </a:p>
        </p:txBody>
      </p:sp>
      <p:sp>
        <p:nvSpPr>
          <p:cNvPr id="46" name="Shape 44"/>
          <p:cNvSpPr/>
          <p:nvPr/>
        </p:nvSpPr>
        <p:spPr>
          <a:xfrm>
            <a:off x="8368508" y="3317852"/>
            <a:ext cx="123866" cy="123866"/>
          </a:xfrm>
          <a:custGeom>
            <a:avLst/>
            <a:gdLst/>
            <a:ahLst/>
            <a:cxnLst/>
            <a:rect l="l" t="t" r="r" b="b"/>
            <a:pathLst>
              <a:path w="123866" h="123866">
                <a:moveTo>
                  <a:pt x="61933" y="123866"/>
                </a:moveTo>
                <a:cubicBezTo>
                  <a:pt x="96115" y="123866"/>
                  <a:pt x="123866" y="96115"/>
                  <a:pt x="123866" y="61933"/>
                </a:cubicBezTo>
                <a:cubicBezTo>
                  <a:pt x="123866" y="27751"/>
                  <a:pt x="96115" y="0"/>
                  <a:pt x="61933" y="0"/>
                </a:cubicBezTo>
                <a:cubicBezTo>
                  <a:pt x="27751" y="0"/>
                  <a:pt x="0" y="27751"/>
                  <a:pt x="0" y="61933"/>
                </a:cubicBezTo>
                <a:cubicBezTo>
                  <a:pt x="0" y="96115"/>
                  <a:pt x="27751" y="123866"/>
                  <a:pt x="61933" y="123866"/>
                </a:cubicBezTo>
                <a:close/>
                <a:moveTo>
                  <a:pt x="82352" y="51458"/>
                </a:moveTo>
                <a:lnTo>
                  <a:pt x="62998" y="82424"/>
                </a:lnTo>
                <a:cubicBezTo>
                  <a:pt x="61982" y="84045"/>
                  <a:pt x="60240" y="85061"/>
                  <a:pt x="58329" y="85158"/>
                </a:cubicBezTo>
                <a:cubicBezTo>
                  <a:pt x="56417" y="85255"/>
                  <a:pt x="54579" y="84384"/>
                  <a:pt x="53442" y="82836"/>
                </a:cubicBezTo>
                <a:lnTo>
                  <a:pt x="41829" y="67352"/>
                </a:lnTo>
                <a:cubicBezTo>
                  <a:pt x="39894" y="64788"/>
                  <a:pt x="40426" y="61159"/>
                  <a:pt x="42990" y="59224"/>
                </a:cubicBezTo>
                <a:cubicBezTo>
                  <a:pt x="45555" y="57288"/>
                  <a:pt x="49184" y="57820"/>
                  <a:pt x="51119" y="60385"/>
                </a:cubicBezTo>
                <a:lnTo>
                  <a:pt x="57651" y="69094"/>
                </a:lnTo>
                <a:lnTo>
                  <a:pt x="72505" y="45313"/>
                </a:lnTo>
                <a:cubicBezTo>
                  <a:pt x="74199" y="42603"/>
                  <a:pt x="77779" y="41757"/>
                  <a:pt x="80513" y="43474"/>
                </a:cubicBezTo>
                <a:cubicBezTo>
                  <a:pt x="83247" y="45192"/>
                  <a:pt x="84070" y="48748"/>
                  <a:pt x="82352" y="51482"/>
                </a:cubicBezTo>
                <a:close/>
              </a:path>
            </a:pathLst>
          </a:custGeom>
          <a:solidFill>
            <a:srgbClr val="D4A373"/>
          </a:solidFill>
          <a:ln/>
        </p:spPr>
      </p:sp>
      <p:sp>
        <p:nvSpPr>
          <p:cNvPr id="47" name="Text 45"/>
          <p:cNvSpPr/>
          <p:nvPr/>
        </p:nvSpPr>
        <p:spPr>
          <a:xfrm>
            <a:off x="8576426" y="3291309"/>
            <a:ext cx="1451007" cy="1769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75" dirty="0">
                <a:solidFill>
                  <a:srgbClr val="9A959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Comprehensive reporting</a:t>
            </a:r>
            <a:endParaRPr lang="en-US" sz="1600" dirty="0"/>
          </a:p>
        </p:txBody>
      </p:sp>
      <p:sp>
        <p:nvSpPr>
          <p:cNvPr id="48" name="Shape 46"/>
          <p:cNvSpPr/>
          <p:nvPr/>
        </p:nvSpPr>
        <p:spPr>
          <a:xfrm>
            <a:off x="8110158" y="3829244"/>
            <a:ext cx="3721303" cy="2172972"/>
          </a:xfrm>
          <a:prstGeom prst="roundRect">
            <a:avLst>
              <a:gd name="adj" fmla="val 3257"/>
            </a:avLst>
          </a:prstGeom>
          <a:gradFill rotWithShape="1" flip="none">
            <a:gsLst>
              <a:gs pos="0">
                <a:srgbClr val="D4A373">
                  <a:alpha val="20000"/>
                </a:srgbClr>
              </a:gs>
              <a:gs pos="100000">
                <a:srgbClr val="5F737C">
                  <a:alpha val="10000"/>
                </a:srgbClr>
              </a:gs>
            </a:gsLst>
            <a:lin ang="2700000" scaled="1"/>
          </a:gradFill>
          <a:ln w="20320">
            <a:solidFill>
              <a:srgbClr val="D4A373">
                <a:alpha val="50196"/>
              </a:srgbClr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9757250" y="4048665"/>
            <a:ext cx="424685" cy="424685"/>
          </a:xfrm>
          <a:custGeom>
            <a:avLst/>
            <a:gdLst/>
            <a:ahLst/>
            <a:cxnLst/>
            <a:rect l="l" t="t" r="r" b="b"/>
            <a:pathLst>
              <a:path w="424685" h="424685">
                <a:moveTo>
                  <a:pt x="371599" y="212343"/>
                </a:moveTo>
                <a:cubicBezTo>
                  <a:pt x="371599" y="124446"/>
                  <a:pt x="300239" y="53086"/>
                  <a:pt x="212343" y="53086"/>
                </a:cubicBezTo>
                <a:cubicBezTo>
                  <a:pt x="124446" y="53086"/>
                  <a:pt x="53086" y="124446"/>
                  <a:pt x="53086" y="212343"/>
                </a:cubicBezTo>
                <a:cubicBezTo>
                  <a:pt x="53086" y="300239"/>
                  <a:pt x="124446" y="371599"/>
                  <a:pt x="212343" y="371599"/>
                </a:cubicBezTo>
                <a:cubicBezTo>
                  <a:pt x="300239" y="371599"/>
                  <a:pt x="371599" y="300239"/>
                  <a:pt x="371599" y="212343"/>
                </a:cubicBezTo>
                <a:close/>
                <a:moveTo>
                  <a:pt x="0" y="212343"/>
                </a:moveTo>
                <a:cubicBezTo>
                  <a:pt x="0" y="95147"/>
                  <a:pt x="95147" y="0"/>
                  <a:pt x="212343" y="0"/>
                </a:cubicBezTo>
                <a:cubicBezTo>
                  <a:pt x="329538" y="0"/>
                  <a:pt x="424685" y="95147"/>
                  <a:pt x="424685" y="212343"/>
                </a:cubicBezTo>
                <a:cubicBezTo>
                  <a:pt x="424685" y="329538"/>
                  <a:pt x="329538" y="424685"/>
                  <a:pt x="212343" y="424685"/>
                </a:cubicBezTo>
                <a:cubicBezTo>
                  <a:pt x="95147" y="424685"/>
                  <a:pt x="0" y="329538"/>
                  <a:pt x="0" y="212343"/>
                </a:cubicBezTo>
                <a:close/>
                <a:moveTo>
                  <a:pt x="212343" y="278700"/>
                </a:moveTo>
                <a:cubicBezTo>
                  <a:pt x="248966" y="278700"/>
                  <a:pt x="278700" y="248966"/>
                  <a:pt x="278700" y="212343"/>
                </a:cubicBezTo>
                <a:cubicBezTo>
                  <a:pt x="278700" y="175719"/>
                  <a:pt x="248966" y="145985"/>
                  <a:pt x="212343" y="145985"/>
                </a:cubicBezTo>
                <a:cubicBezTo>
                  <a:pt x="175719" y="145985"/>
                  <a:pt x="145985" y="175719"/>
                  <a:pt x="145985" y="212343"/>
                </a:cubicBezTo>
                <a:cubicBezTo>
                  <a:pt x="145985" y="248966"/>
                  <a:pt x="175719" y="278700"/>
                  <a:pt x="212343" y="278700"/>
                </a:cubicBezTo>
                <a:close/>
                <a:moveTo>
                  <a:pt x="212343" y="92900"/>
                </a:moveTo>
                <a:cubicBezTo>
                  <a:pt x="278265" y="92900"/>
                  <a:pt x="331785" y="146420"/>
                  <a:pt x="331785" y="212343"/>
                </a:cubicBezTo>
                <a:cubicBezTo>
                  <a:pt x="331785" y="278265"/>
                  <a:pt x="278265" y="331785"/>
                  <a:pt x="212343" y="331785"/>
                </a:cubicBezTo>
                <a:cubicBezTo>
                  <a:pt x="146420" y="331785"/>
                  <a:pt x="92900" y="278265"/>
                  <a:pt x="92900" y="212343"/>
                </a:cubicBezTo>
                <a:cubicBezTo>
                  <a:pt x="92900" y="146420"/>
                  <a:pt x="146420" y="92900"/>
                  <a:pt x="212343" y="92900"/>
                </a:cubicBezTo>
                <a:close/>
                <a:moveTo>
                  <a:pt x="185800" y="212343"/>
                </a:moveTo>
                <a:cubicBezTo>
                  <a:pt x="185800" y="197693"/>
                  <a:pt x="197693" y="185800"/>
                  <a:pt x="212343" y="185800"/>
                </a:cubicBezTo>
                <a:cubicBezTo>
                  <a:pt x="226992" y="185800"/>
                  <a:pt x="238885" y="197693"/>
                  <a:pt x="238885" y="212343"/>
                </a:cubicBezTo>
                <a:cubicBezTo>
                  <a:pt x="238885" y="226992"/>
                  <a:pt x="226992" y="238885"/>
                  <a:pt x="212343" y="238885"/>
                </a:cubicBezTo>
                <a:cubicBezTo>
                  <a:pt x="197693" y="238885"/>
                  <a:pt x="185800" y="226992"/>
                  <a:pt x="185800" y="212343"/>
                </a:cubicBezTo>
                <a:close/>
              </a:path>
            </a:pathLst>
          </a:custGeom>
          <a:solidFill>
            <a:srgbClr val="D4A373"/>
          </a:solidFill>
          <a:ln/>
        </p:spPr>
      </p:sp>
      <p:sp>
        <p:nvSpPr>
          <p:cNvPr id="50" name="Text 48"/>
          <p:cNvSpPr/>
          <p:nvPr/>
        </p:nvSpPr>
        <p:spPr>
          <a:xfrm>
            <a:off x="9343514" y="4614912"/>
            <a:ext cx="1256360" cy="28312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672" b="1" dirty="0">
                <a:solidFill>
                  <a:srgbClr val="F0F2F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Unified Goal</a:t>
            </a:r>
            <a:endParaRPr lang="en-US" sz="1600" dirty="0"/>
          </a:p>
        </p:txBody>
      </p:sp>
      <p:sp>
        <p:nvSpPr>
          <p:cNvPr id="51" name="Text 49"/>
          <p:cNvSpPr/>
          <p:nvPr/>
        </p:nvSpPr>
        <p:spPr>
          <a:xfrm>
            <a:off x="8289764" y="5004096"/>
            <a:ext cx="3362090" cy="7785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40000"/>
              </a:lnSpc>
            </a:pPr>
            <a:r>
              <a:rPr lang="en-US" sz="1254" dirty="0">
                <a:solidFill>
                  <a:srgbClr val="F0F2F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Create a </a:t>
            </a:r>
            <a:pPr algn="ctr">
              <a:lnSpc>
                <a:spcPct val="140000"/>
              </a:lnSpc>
            </a:pPr>
            <a:r>
              <a:rPr lang="en-US" sz="1254" b="1" dirty="0">
                <a:solidFill>
                  <a:srgbClr val="F0F2F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comprehensive, multi-modal</a:t>
            </a:r>
            <a:pPr algn="ctr">
              <a:lnSpc>
                <a:spcPct val="140000"/>
              </a:lnSpc>
            </a:pPr>
            <a:r>
              <a:rPr lang="en-US" sz="1254" dirty="0">
                <a:solidFill>
                  <a:srgbClr val="F0F2F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detection system that addresses current limitations.</a:t>
            </a:r>
            <a:endParaRPr lang="en-US" sz="1600" dirty="0"/>
          </a:p>
        </p:txBody>
      </p:sp>
      <p:sp>
        <p:nvSpPr>
          <p:cNvPr id="52" name="Shape 50"/>
          <p:cNvSpPr/>
          <p:nvPr/>
        </p:nvSpPr>
        <p:spPr>
          <a:xfrm>
            <a:off x="371599" y="6148533"/>
            <a:ext cx="11466496" cy="707808"/>
          </a:xfrm>
          <a:custGeom>
            <a:avLst/>
            <a:gdLst/>
            <a:ahLst/>
            <a:cxnLst/>
            <a:rect l="l" t="t" r="r" b="b"/>
            <a:pathLst>
              <a:path w="11466496" h="707808">
                <a:moveTo>
                  <a:pt x="35433" y="0"/>
                </a:moveTo>
                <a:lnTo>
                  <a:pt x="11395710" y="0"/>
                </a:lnTo>
                <a:cubicBezTo>
                  <a:pt x="11434778" y="0"/>
                  <a:pt x="11466449" y="31671"/>
                  <a:pt x="11466449" y="70739"/>
                </a:cubicBezTo>
                <a:lnTo>
                  <a:pt x="11466449" y="637032"/>
                </a:lnTo>
                <a:cubicBezTo>
                  <a:pt x="11466449" y="676100"/>
                  <a:pt x="11434778" y="707771"/>
                  <a:pt x="11395710" y="707771"/>
                </a:cubicBezTo>
                <a:lnTo>
                  <a:pt x="35433" y="707771"/>
                </a:lnTo>
                <a:cubicBezTo>
                  <a:pt x="15913" y="707771"/>
                  <a:pt x="70" y="691984"/>
                  <a:pt x="0" y="672465"/>
                </a:cubicBezTo>
                <a:lnTo>
                  <a:pt x="0" y="35433"/>
                </a:lnTo>
                <a:cubicBezTo>
                  <a:pt x="0" y="15877"/>
                  <a:pt x="15877" y="0"/>
                  <a:pt x="35433" y="0"/>
                </a:cubicBezTo>
                <a:close/>
              </a:path>
            </a:pathLst>
          </a:custGeom>
          <a:solidFill>
            <a:srgbClr val="5F737C">
              <a:alpha val="20000"/>
            </a:srgbClr>
          </a:solidFill>
          <a:ln/>
        </p:spPr>
      </p:sp>
      <p:sp>
        <p:nvSpPr>
          <p:cNvPr id="53" name="Shape 51"/>
          <p:cNvSpPr/>
          <p:nvPr/>
        </p:nvSpPr>
        <p:spPr>
          <a:xfrm>
            <a:off x="371599" y="6148533"/>
            <a:ext cx="35390" cy="707808"/>
          </a:xfrm>
          <a:custGeom>
            <a:avLst/>
            <a:gdLst/>
            <a:ahLst/>
            <a:cxnLst/>
            <a:rect l="l" t="t" r="r" b="b"/>
            <a:pathLst>
              <a:path w="35390" h="707808">
                <a:moveTo>
                  <a:pt x="35433" y="0"/>
                </a:moveTo>
                <a:lnTo>
                  <a:pt x="35433" y="0"/>
                </a:lnTo>
                <a:lnTo>
                  <a:pt x="35433" y="707771"/>
                </a:lnTo>
                <a:lnTo>
                  <a:pt x="35433" y="707771"/>
                </a:lnTo>
                <a:cubicBezTo>
                  <a:pt x="15913" y="707771"/>
                  <a:pt x="70" y="691984"/>
                  <a:pt x="0" y="672465"/>
                </a:cubicBezTo>
                <a:lnTo>
                  <a:pt x="0" y="35433"/>
                </a:lnTo>
                <a:cubicBezTo>
                  <a:pt x="0" y="15877"/>
                  <a:pt x="15877" y="0"/>
                  <a:pt x="35433" y="0"/>
                </a:cubicBezTo>
                <a:close/>
              </a:path>
            </a:pathLst>
          </a:custGeom>
          <a:solidFill>
            <a:srgbClr val="D4A373"/>
          </a:solidFill>
          <a:ln/>
        </p:spPr>
      </p:sp>
      <p:sp>
        <p:nvSpPr>
          <p:cNvPr id="54" name="Shape 52"/>
          <p:cNvSpPr/>
          <p:nvPr/>
        </p:nvSpPr>
        <p:spPr>
          <a:xfrm>
            <a:off x="548552" y="6318406"/>
            <a:ext cx="141562" cy="141562"/>
          </a:xfrm>
          <a:custGeom>
            <a:avLst/>
            <a:gdLst/>
            <a:ahLst/>
            <a:cxnLst/>
            <a:rect l="l" t="t" r="r" b="b"/>
            <a:pathLst>
              <a:path w="141562" h="141562">
                <a:moveTo>
                  <a:pt x="70781" y="141562"/>
                </a:moveTo>
                <a:cubicBezTo>
                  <a:pt x="109846" y="141562"/>
                  <a:pt x="141562" y="109846"/>
                  <a:pt x="141562" y="70781"/>
                </a:cubicBezTo>
                <a:cubicBezTo>
                  <a:pt x="141562" y="31716"/>
                  <a:pt x="109846" y="0"/>
                  <a:pt x="70781" y="0"/>
                </a:cubicBezTo>
                <a:cubicBezTo>
                  <a:pt x="31716" y="0"/>
                  <a:pt x="0" y="31716"/>
                  <a:pt x="0" y="70781"/>
                </a:cubicBezTo>
                <a:cubicBezTo>
                  <a:pt x="0" y="109846"/>
                  <a:pt x="31716" y="141562"/>
                  <a:pt x="70781" y="141562"/>
                </a:cubicBezTo>
                <a:close/>
                <a:moveTo>
                  <a:pt x="61933" y="44238"/>
                </a:moveTo>
                <a:cubicBezTo>
                  <a:pt x="61933" y="39355"/>
                  <a:pt x="65898" y="35390"/>
                  <a:pt x="70781" y="35390"/>
                </a:cubicBezTo>
                <a:cubicBezTo>
                  <a:pt x="75664" y="35390"/>
                  <a:pt x="79628" y="39355"/>
                  <a:pt x="79628" y="44238"/>
                </a:cubicBezTo>
                <a:cubicBezTo>
                  <a:pt x="79628" y="49121"/>
                  <a:pt x="75664" y="53086"/>
                  <a:pt x="70781" y="53086"/>
                </a:cubicBezTo>
                <a:cubicBezTo>
                  <a:pt x="65898" y="53086"/>
                  <a:pt x="61933" y="49121"/>
                  <a:pt x="61933" y="44238"/>
                </a:cubicBezTo>
                <a:close/>
                <a:moveTo>
                  <a:pt x="59721" y="61933"/>
                </a:moveTo>
                <a:lnTo>
                  <a:pt x="72993" y="61933"/>
                </a:lnTo>
                <a:cubicBezTo>
                  <a:pt x="76670" y="61933"/>
                  <a:pt x="79628" y="64892"/>
                  <a:pt x="79628" y="68569"/>
                </a:cubicBezTo>
                <a:lnTo>
                  <a:pt x="79628" y="92900"/>
                </a:lnTo>
                <a:lnTo>
                  <a:pt x="81840" y="92900"/>
                </a:lnTo>
                <a:cubicBezTo>
                  <a:pt x="85518" y="92900"/>
                  <a:pt x="88476" y="95858"/>
                  <a:pt x="88476" y="99536"/>
                </a:cubicBezTo>
                <a:cubicBezTo>
                  <a:pt x="88476" y="103213"/>
                  <a:pt x="85518" y="106171"/>
                  <a:pt x="81840" y="106171"/>
                </a:cubicBezTo>
                <a:lnTo>
                  <a:pt x="59721" y="106171"/>
                </a:lnTo>
                <a:cubicBezTo>
                  <a:pt x="56044" y="106171"/>
                  <a:pt x="53086" y="103213"/>
                  <a:pt x="53086" y="99536"/>
                </a:cubicBezTo>
                <a:cubicBezTo>
                  <a:pt x="53086" y="95858"/>
                  <a:pt x="56044" y="92900"/>
                  <a:pt x="59721" y="92900"/>
                </a:cubicBezTo>
                <a:lnTo>
                  <a:pt x="66357" y="92900"/>
                </a:lnTo>
                <a:lnTo>
                  <a:pt x="66357" y="75205"/>
                </a:lnTo>
                <a:lnTo>
                  <a:pt x="59721" y="75205"/>
                </a:lnTo>
                <a:cubicBezTo>
                  <a:pt x="56044" y="75205"/>
                  <a:pt x="53086" y="72246"/>
                  <a:pt x="53086" y="68569"/>
                </a:cubicBezTo>
                <a:cubicBezTo>
                  <a:pt x="53086" y="64892"/>
                  <a:pt x="56044" y="61933"/>
                  <a:pt x="59721" y="61933"/>
                </a:cubicBezTo>
                <a:close/>
              </a:path>
            </a:pathLst>
          </a:custGeom>
          <a:solidFill>
            <a:srgbClr val="D4A373"/>
          </a:solidFill>
          <a:ln/>
        </p:spPr>
      </p:sp>
      <p:sp>
        <p:nvSpPr>
          <p:cNvPr id="55" name="Text 53"/>
          <p:cNvSpPr/>
          <p:nvPr/>
        </p:nvSpPr>
        <p:spPr>
          <a:xfrm>
            <a:off x="757119" y="6290094"/>
            <a:ext cx="11010196" cy="4246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15" b="1" dirty="0">
                <a:solidFill>
                  <a:srgbClr val="F0F2F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Integration Strategy:</a:t>
            </a:r>
            <a:pPr>
              <a:lnSpc>
                <a:spcPct val="130000"/>
              </a:lnSpc>
            </a:pPr>
            <a:r>
              <a:rPr lang="en-US" sz="1115" dirty="0">
                <a:solidFill>
                  <a:srgbClr val="F0F2F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All five objectives work synergistically—visual CNN detects artifacts, ECF catches emotional inconsistencies, Grad-CAM provides transparency, and Streamlit delivers accessibility.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A1D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17500" y="317500"/>
            <a:ext cx="63500" cy="381000"/>
          </a:xfrm>
          <a:prstGeom prst="roundRect">
            <a:avLst>
              <a:gd name="adj" fmla="val 0"/>
            </a:avLst>
          </a:prstGeom>
          <a:solidFill>
            <a:srgbClr val="D4A373"/>
          </a:solidFill>
          <a:ln/>
        </p:spPr>
      </p:sp>
      <p:sp>
        <p:nvSpPr>
          <p:cNvPr id="3" name="Text 1"/>
          <p:cNvSpPr/>
          <p:nvPr/>
        </p:nvSpPr>
        <p:spPr>
          <a:xfrm>
            <a:off x="476250" y="317500"/>
            <a:ext cx="363537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000" b="1" dirty="0">
                <a:solidFill>
                  <a:srgbClr val="F0F2F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System Architecture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476250" y="762000"/>
            <a:ext cx="11477625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50" dirty="0">
                <a:solidFill>
                  <a:srgbClr val="9A959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End-to-End Multi-Modal DeepFake Detection Pipeline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23850" y="1117600"/>
            <a:ext cx="11545888" cy="742950"/>
          </a:xfrm>
          <a:prstGeom prst="roundRect">
            <a:avLst>
              <a:gd name="adj" fmla="val 8547"/>
            </a:avLst>
          </a:prstGeom>
          <a:gradFill rotWithShape="1" flip="none">
            <a:gsLst>
              <a:gs pos="0">
                <a:srgbClr val="D4A373">
                  <a:alpha val="30000"/>
                </a:srgbClr>
              </a:gs>
              <a:gs pos="100000">
                <a:srgbClr val="5F737C">
                  <a:alpha val="20000"/>
                </a:srgbClr>
              </a:gs>
            </a:gsLst>
            <a:lin ang="0" scaled="1"/>
          </a:gradFill>
          <a:ln w="20320">
            <a:solidFill>
              <a:srgbClr val="D4A373">
                <a:alpha val="6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934148" y="1369914"/>
            <a:ext cx="208359" cy="238125"/>
          </a:xfrm>
          <a:custGeom>
            <a:avLst/>
            <a:gdLst/>
            <a:ahLst/>
            <a:cxnLst/>
            <a:rect l="l" t="t" r="r" b="b"/>
            <a:pathLst>
              <a:path w="208359" h="238125">
                <a:moveTo>
                  <a:pt x="119062" y="50834"/>
                </a:moveTo>
                <a:lnTo>
                  <a:pt x="119062" y="148828"/>
                </a:lnTo>
                <a:cubicBezTo>
                  <a:pt x="119062" y="157060"/>
                  <a:pt x="112412" y="163711"/>
                  <a:pt x="104180" y="163711"/>
                </a:cubicBezTo>
                <a:cubicBezTo>
                  <a:pt x="95948" y="163711"/>
                  <a:pt x="89297" y="157060"/>
                  <a:pt x="89297" y="148828"/>
                </a:cubicBezTo>
                <a:lnTo>
                  <a:pt x="89297" y="50834"/>
                </a:lnTo>
                <a:lnTo>
                  <a:pt x="70042" y="70089"/>
                </a:lnTo>
                <a:cubicBezTo>
                  <a:pt x="64229" y="75902"/>
                  <a:pt x="54787" y="75902"/>
                  <a:pt x="48974" y="70089"/>
                </a:cubicBezTo>
                <a:cubicBezTo>
                  <a:pt x="43160" y="64275"/>
                  <a:pt x="43160" y="54834"/>
                  <a:pt x="48974" y="49020"/>
                </a:cubicBezTo>
                <a:lnTo>
                  <a:pt x="93622" y="4372"/>
                </a:lnTo>
                <a:cubicBezTo>
                  <a:pt x="99436" y="-1442"/>
                  <a:pt x="108877" y="-1442"/>
                  <a:pt x="114691" y="4372"/>
                </a:cubicBezTo>
                <a:lnTo>
                  <a:pt x="159339" y="49020"/>
                </a:lnTo>
                <a:cubicBezTo>
                  <a:pt x="165153" y="54834"/>
                  <a:pt x="165153" y="64275"/>
                  <a:pt x="159339" y="70089"/>
                </a:cubicBezTo>
                <a:cubicBezTo>
                  <a:pt x="153526" y="75902"/>
                  <a:pt x="144084" y="75902"/>
                  <a:pt x="138271" y="70089"/>
                </a:cubicBezTo>
                <a:lnTo>
                  <a:pt x="119062" y="50834"/>
                </a:lnTo>
                <a:close/>
                <a:moveTo>
                  <a:pt x="104180" y="186035"/>
                </a:moveTo>
                <a:cubicBezTo>
                  <a:pt x="124737" y="186035"/>
                  <a:pt x="141387" y="169385"/>
                  <a:pt x="141387" y="148828"/>
                </a:cubicBezTo>
                <a:lnTo>
                  <a:pt x="178594" y="148828"/>
                </a:lnTo>
                <a:cubicBezTo>
                  <a:pt x="195011" y="148828"/>
                  <a:pt x="208359" y="162176"/>
                  <a:pt x="208359" y="178594"/>
                </a:cubicBezTo>
                <a:lnTo>
                  <a:pt x="208359" y="193477"/>
                </a:lnTo>
                <a:cubicBezTo>
                  <a:pt x="208359" y="209894"/>
                  <a:pt x="195011" y="223242"/>
                  <a:pt x="178594" y="223242"/>
                </a:cubicBezTo>
                <a:lnTo>
                  <a:pt x="29766" y="223242"/>
                </a:lnTo>
                <a:cubicBezTo>
                  <a:pt x="13348" y="223242"/>
                  <a:pt x="0" y="209894"/>
                  <a:pt x="0" y="193477"/>
                </a:cubicBezTo>
                <a:lnTo>
                  <a:pt x="0" y="178594"/>
                </a:lnTo>
                <a:cubicBezTo>
                  <a:pt x="0" y="162176"/>
                  <a:pt x="13348" y="148828"/>
                  <a:pt x="29766" y="148828"/>
                </a:cubicBezTo>
                <a:lnTo>
                  <a:pt x="66973" y="148828"/>
                </a:lnTo>
                <a:cubicBezTo>
                  <a:pt x="66973" y="169385"/>
                  <a:pt x="83623" y="186035"/>
                  <a:pt x="104180" y="186035"/>
                </a:cubicBezTo>
                <a:close/>
                <a:moveTo>
                  <a:pt x="171152" y="197197"/>
                </a:moveTo>
                <a:cubicBezTo>
                  <a:pt x="177313" y="197197"/>
                  <a:pt x="182314" y="192196"/>
                  <a:pt x="182314" y="186035"/>
                </a:cubicBezTo>
                <a:cubicBezTo>
                  <a:pt x="182314" y="179875"/>
                  <a:pt x="177313" y="174873"/>
                  <a:pt x="171152" y="174873"/>
                </a:cubicBezTo>
                <a:cubicBezTo>
                  <a:pt x="164992" y="174873"/>
                  <a:pt x="159990" y="179875"/>
                  <a:pt x="159990" y="186035"/>
                </a:cubicBezTo>
                <a:cubicBezTo>
                  <a:pt x="159990" y="192196"/>
                  <a:pt x="164992" y="197197"/>
                  <a:pt x="171152" y="197197"/>
                </a:cubicBezTo>
                <a:close/>
              </a:path>
            </a:pathLst>
          </a:custGeom>
          <a:solidFill>
            <a:srgbClr val="D4A373"/>
          </a:solidFill>
          <a:ln/>
        </p:spPr>
      </p:sp>
      <p:sp>
        <p:nvSpPr>
          <p:cNvPr id="7" name="Text 5"/>
          <p:cNvSpPr/>
          <p:nvPr/>
        </p:nvSpPr>
        <p:spPr>
          <a:xfrm>
            <a:off x="5264547" y="1250951"/>
            <a:ext cx="2087563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500" b="1" dirty="0">
                <a:solidFill>
                  <a:srgbClr val="F0F2F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INPUT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276453" y="1504852"/>
            <a:ext cx="2063750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125" dirty="0">
                <a:solidFill>
                  <a:srgbClr val="9A959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Image/Video Upload via Web UI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6008688" y="1962051"/>
            <a:ext cx="178594" cy="238125"/>
          </a:xfrm>
          <a:custGeom>
            <a:avLst/>
            <a:gdLst/>
            <a:ahLst/>
            <a:cxnLst/>
            <a:rect l="l" t="t" r="r" b="b"/>
            <a:pathLst>
              <a:path w="178594" h="238125">
                <a:moveTo>
                  <a:pt x="78786" y="233753"/>
                </a:moveTo>
                <a:cubicBezTo>
                  <a:pt x="84599" y="239567"/>
                  <a:pt x="94041" y="239567"/>
                  <a:pt x="99854" y="233753"/>
                </a:cubicBezTo>
                <a:lnTo>
                  <a:pt x="174268" y="159339"/>
                </a:lnTo>
                <a:cubicBezTo>
                  <a:pt x="180082" y="153526"/>
                  <a:pt x="180082" y="144084"/>
                  <a:pt x="174268" y="138271"/>
                </a:cubicBezTo>
                <a:cubicBezTo>
                  <a:pt x="168455" y="132457"/>
                  <a:pt x="159014" y="132457"/>
                  <a:pt x="153200" y="138271"/>
                </a:cubicBezTo>
                <a:lnTo>
                  <a:pt x="104180" y="187291"/>
                </a:lnTo>
                <a:lnTo>
                  <a:pt x="104180" y="14883"/>
                </a:lnTo>
                <a:cubicBezTo>
                  <a:pt x="104180" y="6651"/>
                  <a:pt x="97529" y="0"/>
                  <a:pt x="89297" y="0"/>
                </a:cubicBezTo>
                <a:cubicBezTo>
                  <a:pt x="81065" y="0"/>
                  <a:pt x="74414" y="6651"/>
                  <a:pt x="74414" y="14883"/>
                </a:cubicBezTo>
                <a:lnTo>
                  <a:pt x="74414" y="187291"/>
                </a:lnTo>
                <a:lnTo>
                  <a:pt x="25394" y="138271"/>
                </a:lnTo>
                <a:cubicBezTo>
                  <a:pt x="19580" y="132457"/>
                  <a:pt x="10139" y="132457"/>
                  <a:pt x="4325" y="138271"/>
                </a:cubicBezTo>
                <a:cubicBezTo>
                  <a:pt x="-1488" y="144084"/>
                  <a:pt x="-1488" y="153526"/>
                  <a:pt x="4325" y="159339"/>
                </a:cubicBezTo>
                <a:lnTo>
                  <a:pt x="78739" y="233753"/>
                </a:lnTo>
                <a:close/>
              </a:path>
            </a:pathLst>
          </a:custGeom>
          <a:solidFill>
            <a:srgbClr val="D4A373"/>
          </a:solidFill>
          <a:ln/>
        </p:spPr>
      </p:sp>
      <p:sp>
        <p:nvSpPr>
          <p:cNvPr id="10" name="Shape 8"/>
          <p:cNvSpPr/>
          <p:nvPr/>
        </p:nvSpPr>
        <p:spPr>
          <a:xfrm>
            <a:off x="333375" y="2295426"/>
            <a:ext cx="11541125" cy="730250"/>
          </a:xfrm>
          <a:custGeom>
            <a:avLst/>
            <a:gdLst/>
            <a:ahLst/>
            <a:cxnLst/>
            <a:rect l="l" t="t" r="r" b="b"/>
            <a:pathLst>
              <a:path w="11541125" h="730250">
                <a:moveTo>
                  <a:pt x="31750" y="0"/>
                </a:moveTo>
                <a:lnTo>
                  <a:pt x="11477625" y="0"/>
                </a:lnTo>
                <a:cubicBezTo>
                  <a:pt x="11512672" y="0"/>
                  <a:pt x="11541125" y="28453"/>
                  <a:pt x="11541125" y="63500"/>
                </a:cubicBezTo>
                <a:lnTo>
                  <a:pt x="11541125" y="666750"/>
                </a:lnTo>
                <a:cubicBezTo>
                  <a:pt x="11541125" y="701797"/>
                  <a:pt x="11512672" y="730250"/>
                  <a:pt x="11477625" y="730250"/>
                </a:cubicBezTo>
                <a:lnTo>
                  <a:pt x="31750" y="730250"/>
                </a:lnTo>
                <a:cubicBezTo>
                  <a:pt x="14227" y="730250"/>
                  <a:pt x="0" y="716023"/>
                  <a:pt x="0" y="698500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gradFill rotWithShape="1" flip="none">
            <a:gsLst>
              <a:gs pos="0">
                <a:srgbClr val="5F737C">
                  <a:alpha val="30000"/>
                </a:srgbClr>
              </a:gs>
              <a:gs pos="100000">
                <a:srgbClr val="4A5C6A">
                  <a:alpha val="20000"/>
                </a:srgbClr>
              </a:gs>
            </a:gsLst>
            <a:lin ang="0" scaled="1"/>
          </a:gradFill>
          <a:ln/>
        </p:spPr>
      </p:sp>
      <p:sp>
        <p:nvSpPr>
          <p:cNvPr id="11" name="Shape 9"/>
          <p:cNvSpPr/>
          <p:nvPr/>
        </p:nvSpPr>
        <p:spPr>
          <a:xfrm>
            <a:off x="333375" y="2295426"/>
            <a:ext cx="31750" cy="730250"/>
          </a:xfrm>
          <a:custGeom>
            <a:avLst/>
            <a:gdLst/>
            <a:ahLst/>
            <a:cxnLst/>
            <a:rect l="l" t="t" r="r" b="b"/>
            <a:pathLst>
              <a:path w="31750" h="730250">
                <a:moveTo>
                  <a:pt x="31750" y="0"/>
                </a:moveTo>
                <a:lnTo>
                  <a:pt x="31750" y="0"/>
                </a:lnTo>
                <a:lnTo>
                  <a:pt x="31750" y="730250"/>
                </a:lnTo>
                <a:lnTo>
                  <a:pt x="31750" y="730250"/>
                </a:lnTo>
                <a:cubicBezTo>
                  <a:pt x="14227" y="730250"/>
                  <a:pt x="0" y="716023"/>
                  <a:pt x="0" y="698500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5F737C"/>
          </a:solidFill>
          <a:ln/>
        </p:spPr>
      </p:sp>
      <p:sp>
        <p:nvSpPr>
          <p:cNvPr id="12" name="Shape 10"/>
          <p:cNvSpPr/>
          <p:nvPr/>
        </p:nvSpPr>
        <p:spPr>
          <a:xfrm>
            <a:off x="3964384" y="2541389"/>
            <a:ext cx="297656" cy="238125"/>
          </a:xfrm>
          <a:custGeom>
            <a:avLst/>
            <a:gdLst/>
            <a:ahLst/>
            <a:cxnLst/>
            <a:rect l="l" t="t" r="r" b="b"/>
            <a:pathLst>
              <a:path w="297656" h="238125">
                <a:moveTo>
                  <a:pt x="193430" y="97901"/>
                </a:moveTo>
                <a:cubicBezTo>
                  <a:pt x="199104" y="96366"/>
                  <a:pt x="205057" y="99064"/>
                  <a:pt x="207615" y="104319"/>
                </a:cubicBezTo>
                <a:lnTo>
                  <a:pt x="216266" y="121807"/>
                </a:lnTo>
                <a:cubicBezTo>
                  <a:pt x="221056" y="122458"/>
                  <a:pt x="225754" y="123760"/>
                  <a:pt x="230172" y="125574"/>
                </a:cubicBezTo>
                <a:lnTo>
                  <a:pt x="246450" y="114737"/>
                </a:lnTo>
                <a:cubicBezTo>
                  <a:pt x="251333" y="111482"/>
                  <a:pt x="257798" y="112133"/>
                  <a:pt x="261937" y="116272"/>
                </a:cubicBezTo>
                <a:lnTo>
                  <a:pt x="270867" y="125202"/>
                </a:lnTo>
                <a:cubicBezTo>
                  <a:pt x="275006" y="129341"/>
                  <a:pt x="275658" y="135852"/>
                  <a:pt x="272402" y="140689"/>
                </a:cubicBezTo>
                <a:lnTo>
                  <a:pt x="261565" y="156921"/>
                </a:lnTo>
                <a:cubicBezTo>
                  <a:pt x="262449" y="159107"/>
                  <a:pt x="263240" y="161385"/>
                  <a:pt x="263891" y="163757"/>
                </a:cubicBezTo>
                <a:cubicBezTo>
                  <a:pt x="264542" y="166129"/>
                  <a:pt x="264961" y="168455"/>
                  <a:pt x="265286" y="170827"/>
                </a:cubicBezTo>
                <a:lnTo>
                  <a:pt x="282820" y="179477"/>
                </a:lnTo>
                <a:cubicBezTo>
                  <a:pt x="288075" y="182082"/>
                  <a:pt x="290773" y="188035"/>
                  <a:pt x="289238" y="193663"/>
                </a:cubicBezTo>
                <a:lnTo>
                  <a:pt x="285983" y="205848"/>
                </a:lnTo>
                <a:cubicBezTo>
                  <a:pt x="284448" y="211475"/>
                  <a:pt x="279192" y="215289"/>
                  <a:pt x="273332" y="214917"/>
                </a:cubicBezTo>
                <a:lnTo>
                  <a:pt x="253798" y="213661"/>
                </a:lnTo>
                <a:cubicBezTo>
                  <a:pt x="250868" y="217429"/>
                  <a:pt x="247473" y="220917"/>
                  <a:pt x="243613" y="223893"/>
                </a:cubicBezTo>
                <a:lnTo>
                  <a:pt x="244869" y="243380"/>
                </a:lnTo>
                <a:cubicBezTo>
                  <a:pt x="245241" y="249241"/>
                  <a:pt x="241427" y="254543"/>
                  <a:pt x="235800" y="256031"/>
                </a:cubicBezTo>
                <a:lnTo>
                  <a:pt x="223614" y="259286"/>
                </a:lnTo>
                <a:cubicBezTo>
                  <a:pt x="217940" y="260821"/>
                  <a:pt x="212034" y="258124"/>
                  <a:pt x="209429" y="252868"/>
                </a:cubicBezTo>
                <a:lnTo>
                  <a:pt x="200778" y="235381"/>
                </a:lnTo>
                <a:cubicBezTo>
                  <a:pt x="195988" y="234730"/>
                  <a:pt x="191291" y="233428"/>
                  <a:pt x="186872" y="231614"/>
                </a:cubicBezTo>
                <a:lnTo>
                  <a:pt x="170594" y="242450"/>
                </a:lnTo>
                <a:cubicBezTo>
                  <a:pt x="165711" y="245706"/>
                  <a:pt x="159246" y="245055"/>
                  <a:pt x="155107" y="240916"/>
                </a:cubicBezTo>
                <a:lnTo>
                  <a:pt x="146177" y="231986"/>
                </a:lnTo>
                <a:cubicBezTo>
                  <a:pt x="142038" y="227847"/>
                  <a:pt x="141387" y="221382"/>
                  <a:pt x="144642" y="216498"/>
                </a:cubicBezTo>
                <a:lnTo>
                  <a:pt x="155479" y="200220"/>
                </a:lnTo>
                <a:cubicBezTo>
                  <a:pt x="154595" y="198034"/>
                  <a:pt x="153805" y="195755"/>
                  <a:pt x="153153" y="193384"/>
                </a:cubicBezTo>
                <a:cubicBezTo>
                  <a:pt x="152502" y="191012"/>
                  <a:pt x="152084" y="188640"/>
                  <a:pt x="151758" y="186314"/>
                </a:cubicBezTo>
                <a:lnTo>
                  <a:pt x="134224" y="177664"/>
                </a:lnTo>
                <a:cubicBezTo>
                  <a:pt x="128969" y="175059"/>
                  <a:pt x="126318" y="169106"/>
                  <a:pt x="127806" y="163478"/>
                </a:cubicBezTo>
                <a:lnTo>
                  <a:pt x="131062" y="151293"/>
                </a:lnTo>
                <a:cubicBezTo>
                  <a:pt x="132597" y="145666"/>
                  <a:pt x="137852" y="141852"/>
                  <a:pt x="143712" y="142224"/>
                </a:cubicBezTo>
                <a:lnTo>
                  <a:pt x="163199" y="143480"/>
                </a:lnTo>
                <a:cubicBezTo>
                  <a:pt x="166129" y="139712"/>
                  <a:pt x="169525" y="136224"/>
                  <a:pt x="173385" y="133248"/>
                </a:cubicBezTo>
                <a:lnTo>
                  <a:pt x="172129" y="113807"/>
                </a:lnTo>
                <a:cubicBezTo>
                  <a:pt x="171757" y="107947"/>
                  <a:pt x="175571" y="102645"/>
                  <a:pt x="181198" y="101157"/>
                </a:cubicBezTo>
                <a:lnTo>
                  <a:pt x="193384" y="97901"/>
                </a:lnTo>
                <a:close/>
                <a:moveTo>
                  <a:pt x="208545" y="158130"/>
                </a:moveTo>
                <a:cubicBezTo>
                  <a:pt x="197251" y="158143"/>
                  <a:pt x="188092" y="167323"/>
                  <a:pt x="188105" y="178617"/>
                </a:cubicBezTo>
                <a:cubicBezTo>
                  <a:pt x="188118" y="189911"/>
                  <a:pt x="197298" y="199070"/>
                  <a:pt x="208592" y="199058"/>
                </a:cubicBezTo>
                <a:cubicBezTo>
                  <a:pt x="219886" y="199045"/>
                  <a:pt x="229045" y="189865"/>
                  <a:pt x="229033" y="178570"/>
                </a:cubicBezTo>
                <a:cubicBezTo>
                  <a:pt x="229020" y="167276"/>
                  <a:pt x="219840" y="158117"/>
                  <a:pt x="208545" y="158130"/>
                </a:cubicBezTo>
                <a:close/>
                <a:moveTo>
                  <a:pt x="104598" y="-21161"/>
                </a:moveTo>
                <a:lnTo>
                  <a:pt x="116784" y="-17906"/>
                </a:lnTo>
                <a:cubicBezTo>
                  <a:pt x="122411" y="-16371"/>
                  <a:pt x="126225" y="-11069"/>
                  <a:pt x="125853" y="-5255"/>
                </a:cubicBezTo>
                <a:lnTo>
                  <a:pt x="124597" y="14185"/>
                </a:lnTo>
                <a:cubicBezTo>
                  <a:pt x="128457" y="17162"/>
                  <a:pt x="131852" y="20603"/>
                  <a:pt x="134782" y="24417"/>
                </a:cubicBezTo>
                <a:lnTo>
                  <a:pt x="154316" y="23161"/>
                </a:lnTo>
                <a:cubicBezTo>
                  <a:pt x="160130" y="22789"/>
                  <a:pt x="165432" y="26603"/>
                  <a:pt x="166967" y="32231"/>
                </a:cubicBezTo>
                <a:lnTo>
                  <a:pt x="170222" y="44416"/>
                </a:lnTo>
                <a:cubicBezTo>
                  <a:pt x="171710" y="50043"/>
                  <a:pt x="169059" y="55997"/>
                  <a:pt x="163804" y="58601"/>
                </a:cubicBezTo>
                <a:lnTo>
                  <a:pt x="146270" y="67252"/>
                </a:lnTo>
                <a:cubicBezTo>
                  <a:pt x="145945" y="69624"/>
                  <a:pt x="145479" y="71996"/>
                  <a:pt x="144875" y="74321"/>
                </a:cubicBezTo>
                <a:cubicBezTo>
                  <a:pt x="144270" y="76646"/>
                  <a:pt x="143433" y="78972"/>
                  <a:pt x="142549" y="81158"/>
                </a:cubicBezTo>
                <a:lnTo>
                  <a:pt x="153386" y="97436"/>
                </a:lnTo>
                <a:cubicBezTo>
                  <a:pt x="156642" y="102319"/>
                  <a:pt x="155990" y="108784"/>
                  <a:pt x="151851" y="112923"/>
                </a:cubicBezTo>
                <a:lnTo>
                  <a:pt x="142922" y="121853"/>
                </a:lnTo>
                <a:cubicBezTo>
                  <a:pt x="138782" y="125992"/>
                  <a:pt x="132318" y="126643"/>
                  <a:pt x="127434" y="123388"/>
                </a:cubicBezTo>
                <a:lnTo>
                  <a:pt x="111156" y="112551"/>
                </a:lnTo>
                <a:cubicBezTo>
                  <a:pt x="106738" y="114365"/>
                  <a:pt x="102040" y="115667"/>
                  <a:pt x="97250" y="116318"/>
                </a:cubicBezTo>
                <a:lnTo>
                  <a:pt x="88599" y="133806"/>
                </a:lnTo>
                <a:cubicBezTo>
                  <a:pt x="85995" y="139061"/>
                  <a:pt x="80042" y="141712"/>
                  <a:pt x="74414" y="140224"/>
                </a:cubicBezTo>
                <a:lnTo>
                  <a:pt x="62229" y="136968"/>
                </a:lnTo>
                <a:cubicBezTo>
                  <a:pt x="56555" y="135434"/>
                  <a:pt x="52787" y="130132"/>
                  <a:pt x="53160" y="124318"/>
                </a:cubicBezTo>
                <a:lnTo>
                  <a:pt x="54415" y="104831"/>
                </a:lnTo>
                <a:cubicBezTo>
                  <a:pt x="50555" y="101854"/>
                  <a:pt x="47160" y="98413"/>
                  <a:pt x="44230" y="94599"/>
                </a:cubicBezTo>
                <a:lnTo>
                  <a:pt x="24696" y="95855"/>
                </a:lnTo>
                <a:cubicBezTo>
                  <a:pt x="18883" y="96227"/>
                  <a:pt x="13581" y="92413"/>
                  <a:pt x="12046" y="86785"/>
                </a:cubicBezTo>
                <a:lnTo>
                  <a:pt x="8790" y="74600"/>
                </a:lnTo>
                <a:cubicBezTo>
                  <a:pt x="7302" y="68973"/>
                  <a:pt x="9953" y="63019"/>
                  <a:pt x="15208" y="60415"/>
                </a:cubicBezTo>
                <a:lnTo>
                  <a:pt x="32742" y="51764"/>
                </a:lnTo>
                <a:cubicBezTo>
                  <a:pt x="33068" y="49392"/>
                  <a:pt x="33533" y="47067"/>
                  <a:pt x="34137" y="44695"/>
                </a:cubicBezTo>
                <a:cubicBezTo>
                  <a:pt x="34789" y="42323"/>
                  <a:pt x="35533" y="40044"/>
                  <a:pt x="36463" y="37858"/>
                </a:cubicBezTo>
                <a:lnTo>
                  <a:pt x="25626" y="21627"/>
                </a:lnTo>
                <a:cubicBezTo>
                  <a:pt x="22371" y="16743"/>
                  <a:pt x="23022" y="10278"/>
                  <a:pt x="27161" y="6139"/>
                </a:cubicBezTo>
                <a:lnTo>
                  <a:pt x="36091" y="-2791"/>
                </a:lnTo>
                <a:cubicBezTo>
                  <a:pt x="40230" y="-6930"/>
                  <a:pt x="46695" y="-7581"/>
                  <a:pt x="51578" y="-4325"/>
                </a:cubicBezTo>
                <a:lnTo>
                  <a:pt x="67856" y="6511"/>
                </a:lnTo>
                <a:cubicBezTo>
                  <a:pt x="72275" y="4697"/>
                  <a:pt x="76972" y="3395"/>
                  <a:pt x="81762" y="2744"/>
                </a:cubicBezTo>
                <a:lnTo>
                  <a:pt x="90413" y="-14743"/>
                </a:lnTo>
                <a:cubicBezTo>
                  <a:pt x="93018" y="-19999"/>
                  <a:pt x="98924" y="-22650"/>
                  <a:pt x="104598" y="-21161"/>
                </a:cubicBezTo>
                <a:close/>
                <a:moveTo>
                  <a:pt x="89483" y="39067"/>
                </a:moveTo>
                <a:cubicBezTo>
                  <a:pt x="78189" y="39067"/>
                  <a:pt x="69019" y="48237"/>
                  <a:pt x="69019" y="59531"/>
                </a:cubicBezTo>
                <a:cubicBezTo>
                  <a:pt x="69019" y="70826"/>
                  <a:pt x="78189" y="79995"/>
                  <a:pt x="89483" y="79995"/>
                </a:cubicBezTo>
                <a:cubicBezTo>
                  <a:pt x="100777" y="79995"/>
                  <a:pt x="109947" y="70826"/>
                  <a:pt x="109947" y="59531"/>
                </a:cubicBezTo>
                <a:cubicBezTo>
                  <a:pt x="109947" y="48237"/>
                  <a:pt x="100777" y="39067"/>
                  <a:pt x="89483" y="39067"/>
                </a:cubicBezTo>
                <a:close/>
              </a:path>
            </a:pathLst>
          </a:custGeom>
          <a:solidFill>
            <a:srgbClr val="5F737C"/>
          </a:solidFill>
          <a:ln/>
        </p:spPr>
      </p:sp>
      <p:sp>
        <p:nvSpPr>
          <p:cNvPr id="13" name="Text 11"/>
          <p:cNvSpPr/>
          <p:nvPr/>
        </p:nvSpPr>
        <p:spPr>
          <a:xfrm>
            <a:off x="4339431" y="2422426"/>
            <a:ext cx="396875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500" b="1" dirty="0">
                <a:solidFill>
                  <a:srgbClr val="F0F2F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PREPROCESSING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4351338" y="2676327"/>
            <a:ext cx="3944937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125" dirty="0">
                <a:solidFill>
                  <a:srgbClr val="9A959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MTCNN Face Detection • Frame Extraction • Audio Separation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4943078" y="3166865"/>
            <a:ext cx="178594" cy="238125"/>
          </a:xfrm>
          <a:custGeom>
            <a:avLst/>
            <a:gdLst/>
            <a:ahLst/>
            <a:cxnLst/>
            <a:rect l="l" t="t" r="r" b="b"/>
            <a:pathLst>
              <a:path w="178594" h="238125">
                <a:moveTo>
                  <a:pt x="78786" y="233753"/>
                </a:moveTo>
                <a:cubicBezTo>
                  <a:pt x="84599" y="239567"/>
                  <a:pt x="94041" y="239567"/>
                  <a:pt x="99854" y="233753"/>
                </a:cubicBezTo>
                <a:lnTo>
                  <a:pt x="174268" y="159339"/>
                </a:lnTo>
                <a:cubicBezTo>
                  <a:pt x="180082" y="153526"/>
                  <a:pt x="180082" y="144084"/>
                  <a:pt x="174268" y="138271"/>
                </a:cubicBezTo>
                <a:cubicBezTo>
                  <a:pt x="168455" y="132457"/>
                  <a:pt x="159014" y="132457"/>
                  <a:pt x="153200" y="138271"/>
                </a:cubicBezTo>
                <a:lnTo>
                  <a:pt x="104180" y="187291"/>
                </a:lnTo>
                <a:lnTo>
                  <a:pt x="104180" y="14883"/>
                </a:lnTo>
                <a:cubicBezTo>
                  <a:pt x="104180" y="6651"/>
                  <a:pt x="97529" y="0"/>
                  <a:pt x="89297" y="0"/>
                </a:cubicBezTo>
                <a:cubicBezTo>
                  <a:pt x="81065" y="0"/>
                  <a:pt x="74414" y="6651"/>
                  <a:pt x="74414" y="14883"/>
                </a:cubicBezTo>
                <a:lnTo>
                  <a:pt x="74414" y="187291"/>
                </a:lnTo>
                <a:lnTo>
                  <a:pt x="25394" y="138271"/>
                </a:lnTo>
                <a:cubicBezTo>
                  <a:pt x="19580" y="132457"/>
                  <a:pt x="10139" y="132457"/>
                  <a:pt x="4325" y="138271"/>
                </a:cubicBezTo>
                <a:cubicBezTo>
                  <a:pt x="-1488" y="144084"/>
                  <a:pt x="-1488" y="153526"/>
                  <a:pt x="4325" y="159339"/>
                </a:cubicBezTo>
                <a:lnTo>
                  <a:pt x="78739" y="233753"/>
                </a:lnTo>
                <a:close/>
              </a:path>
            </a:pathLst>
          </a:custGeom>
          <a:solidFill>
            <a:srgbClr val="5F737C"/>
          </a:solidFill>
          <a:ln/>
        </p:spPr>
      </p:sp>
      <p:sp>
        <p:nvSpPr>
          <p:cNvPr id="16" name="Shape 14"/>
          <p:cNvSpPr/>
          <p:nvPr/>
        </p:nvSpPr>
        <p:spPr>
          <a:xfrm>
            <a:off x="5436394" y="3124002"/>
            <a:ext cx="1316038" cy="323850"/>
          </a:xfrm>
          <a:prstGeom prst="roundRect">
            <a:avLst>
              <a:gd name="adj" fmla="val 19608"/>
            </a:avLst>
          </a:prstGeom>
          <a:solidFill>
            <a:srgbClr val="D4A373">
              <a:alpha val="20000"/>
            </a:srgbClr>
          </a:solidFill>
          <a:ln w="10160">
            <a:solidFill>
              <a:srgbClr val="D4A373">
                <a:alpha val="4000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566569" y="3190677"/>
            <a:ext cx="1119188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D4A37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Parallel Processing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7074198" y="3166865"/>
            <a:ext cx="178594" cy="238125"/>
          </a:xfrm>
          <a:custGeom>
            <a:avLst/>
            <a:gdLst/>
            <a:ahLst/>
            <a:cxnLst/>
            <a:rect l="l" t="t" r="r" b="b"/>
            <a:pathLst>
              <a:path w="178594" h="238125">
                <a:moveTo>
                  <a:pt x="78786" y="233753"/>
                </a:moveTo>
                <a:cubicBezTo>
                  <a:pt x="84599" y="239567"/>
                  <a:pt x="94041" y="239567"/>
                  <a:pt x="99854" y="233753"/>
                </a:cubicBezTo>
                <a:lnTo>
                  <a:pt x="174268" y="159339"/>
                </a:lnTo>
                <a:cubicBezTo>
                  <a:pt x="180082" y="153526"/>
                  <a:pt x="180082" y="144084"/>
                  <a:pt x="174268" y="138271"/>
                </a:cubicBezTo>
                <a:cubicBezTo>
                  <a:pt x="168455" y="132457"/>
                  <a:pt x="159014" y="132457"/>
                  <a:pt x="153200" y="138271"/>
                </a:cubicBezTo>
                <a:lnTo>
                  <a:pt x="104180" y="187291"/>
                </a:lnTo>
                <a:lnTo>
                  <a:pt x="104180" y="14883"/>
                </a:lnTo>
                <a:cubicBezTo>
                  <a:pt x="104180" y="6651"/>
                  <a:pt x="97529" y="0"/>
                  <a:pt x="89297" y="0"/>
                </a:cubicBezTo>
                <a:cubicBezTo>
                  <a:pt x="81065" y="0"/>
                  <a:pt x="74414" y="6651"/>
                  <a:pt x="74414" y="14883"/>
                </a:cubicBezTo>
                <a:lnTo>
                  <a:pt x="74414" y="187291"/>
                </a:lnTo>
                <a:lnTo>
                  <a:pt x="25394" y="138271"/>
                </a:lnTo>
                <a:cubicBezTo>
                  <a:pt x="19580" y="132457"/>
                  <a:pt x="10139" y="132457"/>
                  <a:pt x="4325" y="138271"/>
                </a:cubicBezTo>
                <a:cubicBezTo>
                  <a:pt x="-1488" y="144084"/>
                  <a:pt x="-1488" y="153526"/>
                  <a:pt x="4325" y="159339"/>
                </a:cubicBezTo>
                <a:lnTo>
                  <a:pt x="78739" y="233753"/>
                </a:lnTo>
                <a:close/>
              </a:path>
            </a:pathLst>
          </a:custGeom>
          <a:solidFill>
            <a:srgbClr val="5F737C"/>
          </a:solidFill>
          <a:ln/>
        </p:spPr>
      </p:sp>
      <p:sp>
        <p:nvSpPr>
          <p:cNvPr id="19" name="Shape 17"/>
          <p:cNvSpPr/>
          <p:nvPr/>
        </p:nvSpPr>
        <p:spPr>
          <a:xfrm>
            <a:off x="333375" y="3546278"/>
            <a:ext cx="4881563" cy="1674813"/>
          </a:xfrm>
          <a:custGeom>
            <a:avLst/>
            <a:gdLst/>
            <a:ahLst/>
            <a:cxnLst/>
            <a:rect l="l" t="t" r="r" b="b"/>
            <a:pathLst>
              <a:path w="4881563" h="1674813">
                <a:moveTo>
                  <a:pt x="31750" y="0"/>
                </a:moveTo>
                <a:lnTo>
                  <a:pt x="4818126" y="0"/>
                </a:lnTo>
                <a:cubicBezTo>
                  <a:pt x="4853173" y="0"/>
                  <a:pt x="4881626" y="28453"/>
                  <a:pt x="4881626" y="63500"/>
                </a:cubicBezTo>
                <a:lnTo>
                  <a:pt x="4881626" y="1611376"/>
                </a:lnTo>
                <a:cubicBezTo>
                  <a:pt x="4881626" y="1646423"/>
                  <a:pt x="4853173" y="1674876"/>
                  <a:pt x="4818126" y="1674876"/>
                </a:cubicBezTo>
                <a:lnTo>
                  <a:pt x="31750" y="1674876"/>
                </a:lnTo>
                <a:cubicBezTo>
                  <a:pt x="14227" y="1674876"/>
                  <a:pt x="0" y="1660649"/>
                  <a:pt x="0" y="1643126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gradFill rotWithShape="1" flip="none">
            <a:gsLst>
              <a:gs pos="0">
                <a:srgbClr val="5F737C">
                  <a:alpha val="30000"/>
                </a:srgbClr>
              </a:gs>
              <a:gs pos="100000">
                <a:srgbClr val="4A5C6A">
                  <a:alpha val="20000"/>
                </a:srgbClr>
              </a:gs>
            </a:gsLst>
            <a:lin ang="2700000" scaled="1"/>
          </a:gradFill>
          <a:ln/>
        </p:spPr>
      </p:sp>
      <p:sp>
        <p:nvSpPr>
          <p:cNvPr id="20" name="Shape 18"/>
          <p:cNvSpPr/>
          <p:nvPr/>
        </p:nvSpPr>
        <p:spPr>
          <a:xfrm>
            <a:off x="333375" y="3546278"/>
            <a:ext cx="31750" cy="1674813"/>
          </a:xfrm>
          <a:custGeom>
            <a:avLst/>
            <a:gdLst/>
            <a:ahLst/>
            <a:cxnLst/>
            <a:rect l="l" t="t" r="r" b="b"/>
            <a:pathLst>
              <a:path w="31750" h="1674813">
                <a:moveTo>
                  <a:pt x="31750" y="0"/>
                </a:moveTo>
                <a:lnTo>
                  <a:pt x="31750" y="0"/>
                </a:lnTo>
                <a:lnTo>
                  <a:pt x="31750" y="1674876"/>
                </a:lnTo>
                <a:lnTo>
                  <a:pt x="31750" y="1674876"/>
                </a:lnTo>
                <a:cubicBezTo>
                  <a:pt x="14227" y="1674876"/>
                  <a:pt x="0" y="1660649"/>
                  <a:pt x="0" y="1643126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5F737C"/>
          </a:solidFill>
          <a:ln/>
        </p:spPr>
      </p:sp>
      <p:sp>
        <p:nvSpPr>
          <p:cNvPr id="21" name="Shape 19"/>
          <p:cNvSpPr/>
          <p:nvPr/>
        </p:nvSpPr>
        <p:spPr>
          <a:xfrm>
            <a:off x="488156" y="3689153"/>
            <a:ext cx="214313" cy="190500"/>
          </a:xfrm>
          <a:custGeom>
            <a:avLst/>
            <a:gdLst/>
            <a:ahLst/>
            <a:cxnLst/>
            <a:rect l="l" t="t" r="r" b="b"/>
            <a:pathLst>
              <a:path w="214313" h="190500">
                <a:moveTo>
                  <a:pt x="107156" y="11906"/>
                </a:moveTo>
                <a:cubicBezTo>
                  <a:pt x="77093" y="11906"/>
                  <a:pt x="53020" y="25598"/>
                  <a:pt x="35496" y="41895"/>
                </a:cubicBezTo>
                <a:cubicBezTo>
                  <a:pt x="18083" y="58080"/>
                  <a:pt x="6437" y="77391"/>
                  <a:pt x="893" y="90674"/>
                </a:cubicBezTo>
                <a:cubicBezTo>
                  <a:pt x="-335" y="93613"/>
                  <a:pt x="-335" y="96887"/>
                  <a:pt x="893" y="99826"/>
                </a:cubicBezTo>
                <a:cubicBezTo>
                  <a:pt x="6437" y="113109"/>
                  <a:pt x="18083" y="132457"/>
                  <a:pt x="35496" y="148605"/>
                </a:cubicBezTo>
                <a:cubicBezTo>
                  <a:pt x="53020" y="164864"/>
                  <a:pt x="77093" y="178594"/>
                  <a:pt x="107156" y="178594"/>
                </a:cubicBezTo>
                <a:cubicBezTo>
                  <a:pt x="137220" y="178594"/>
                  <a:pt x="161292" y="164902"/>
                  <a:pt x="178817" y="148605"/>
                </a:cubicBezTo>
                <a:cubicBezTo>
                  <a:pt x="196230" y="132420"/>
                  <a:pt x="207876" y="113109"/>
                  <a:pt x="213420" y="99826"/>
                </a:cubicBezTo>
                <a:cubicBezTo>
                  <a:pt x="214647" y="96887"/>
                  <a:pt x="214647" y="93613"/>
                  <a:pt x="213420" y="90674"/>
                </a:cubicBezTo>
                <a:cubicBezTo>
                  <a:pt x="207876" y="77391"/>
                  <a:pt x="196230" y="58043"/>
                  <a:pt x="178817" y="41895"/>
                </a:cubicBezTo>
                <a:cubicBezTo>
                  <a:pt x="161292" y="25636"/>
                  <a:pt x="137220" y="11906"/>
                  <a:pt x="107156" y="11906"/>
                </a:cubicBezTo>
                <a:close/>
                <a:moveTo>
                  <a:pt x="53578" y="95250"/>
                </a:moveTo>
                <a:cubicBezTo>
                  <a:pt x="53578" y="65679"/>
                  <a:pt x="77586" y="41672"/>
                  <a:pt x="107156" y="41672"/>
                </a:cubicBezTo>
                <a:cubicBezTo>
                  <a:pt x="136727" y="41672"/>
                  <a:pt x="160734" y="65679"/>
                  <a:pt x="160734" y="95250"/>
                </a:cubicBezTo>
                <a:cubicBezTo>
                  <a:pt x="160734" y="124821"/>
                  <a:pt x="136727" y="148828"/>
                  <a:pt x="107156" y="148828"/>
                </a:cubicBezTo>
                <a:cubicBezTo>
                  <a:pt x="77586" y="148828"/>
                  <a:pt x="53578" y="124821"/>
                  <a:pt x="53578" y="95250"/>
                </a:cubicBezTo>
                <a:close/>
                <a:moveTo>
                  <a:pt x="107156" y="71438"/>
                </a:moveTo>
                <a:cubicBezTo>
                  <a:pt x="107156" y="84572"/>
                  <a:pt x="96478" y="95250"/>
                  <a:pt x="83344" y="95250"/>
                </a:cubicBezTo>
                <a:cubicBezTo>
                  <a:pt x="79065" y="95250"/>
                  <a:pt x="75047" y="94134"/>
                  <a:pt x="71549" y="92125"/>
                </a:cubicBezTo>
                <a:cubicBezTo>
                  <a:pt x="71177" y="96180"/>
                  <a:pt x="71512" y="100347"/>
                  <a:pt x="72628" y="104477"/>
                </a:cubicBezTo>
                <a:cubicBezTo>
                  <a:pt x="77725" y="123527"/>
                  <a:pt x="97334" y="134838"/>
                  <a:pt x="116384" y="129741"/>
                </a:cubicBezTo>
                <a:cubicBezTo>
                  <a:pt x="135434" y="124644"/>
                  <a:pt x="146745" y="105035"/>
                  <a:pt x="141647" y="85985"/>
                </a:cubicBezTo>
                <a:cubicBezTo>
                  <a:pt x="137108" y="68982"/>
                  <a:pt x="120997" y="58155"/>
                  <a:pt x="104031" y="59643"/>
                </a:cubicBezTo>
                <a:cubicBezTo>
                  <a:pt x="106003" y="63103"/>
                  <a:pt x="107156" y="67121"/>
                  <a:pt x="107156" y="71438"/>
                </a:cubicBezTo>
                <a:close/>
              </a:path>
            </a:pathLst>
          </a:custGeom>
          <a:solidFill>
            <a:srgbClr val="5F737C"/>
          </a:solidFill>
          <a:ln/>
        </p:spPr>
      </p:sp>
      <p:sp>
        <p:nvSpPr>
          <p:cNvPr id="22" name="Text 20"/>
          <p:cNvSpPr/>
          <p:nvPr/>
        </p:nvSpPr>
        <p:spPr>
          <a:xfrm>
            <a:off x="809625" y="3673278"/>
            <a:ext cx="1127125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50" b="1" dirty="0">
                <a:solidFill>
                  <a:srgbClr val="F0F2F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Visual Analysis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476250" y="3990778"/>
            <a:ext cx="1250752" cy="1841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F0F2F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EfficientNet-B0 CNN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476250" y="4244778"/>
            <a:ext cx="4667250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9A959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Detects blending boundaries, texture inconsistencies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476250" y="4498778"/>
            <a:ext cx="4611688" cy="571500"/>
          </a:xfrm>
          <a:prstGeom prst="roundRect">
            <a:avLst>
              <a:gd name="adj" fmla="val 11111"/>
            </a:avLst>
          </a:prstGeom>
          <a:solidFill>
            <a:srgbClr val="1A1D21">
              <a:alpha val="60000"/>
            </a:srgbClr>
          </a:solidFill>
          <a:ln/>
        </p:spPr>
      </p:sp>
      <p:sp>
        <p:nvSpPr>
          <p:cNvPr id="26" name="Text 24"/>
          <p:cNvSpPr/>
          <p:nvPr/>
        </p:nvSpPr>
        <p:spPr>
          <a:xfrm>
            <a:off x="543719" y="4594028"/>
            <a:ext cx="4476750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875" dirty="0">
                <a:solidFill>
                  <a:srgbClr val="9A959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Output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531813" y="4752778"/>
            <a:ext cx="4500563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50" b="1" dirty="0">
                <a:solidFill>
                  <a:srgbClr val="D4A37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Visual Fake Score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5993705" y="4265414"/>
            <a:ext cx="208359" cy="238125"/>
          </a:xfrm>
          <a:custGeom>
            <a:avLst/>
            <a:gdLst/>
            <a:ahLst/>
            <a:cxnLst/>
            <a:rect l="l" t="t" r="r" b="b"/>
            <a:pathLst>
              <a:path w="208359" h="238125">
                <a:moveTo>
                  <a:pt x="119062" y="29766"/>
                </a:moveTo>
                <a:cubicBezTo>
                  <a:pt x="119062" y="21534"/>
                  <a:pt x="112412" y="14883"/>
                  <a:pt x="104180" y="14883"/>
                </a:cubicBezTo>
                <a:cubicBezTo>
                  <a:pt x="95948" y="14883"/>
                  <a:pt x="89297" y="21534"/>
                  <a:pt x="89297" y="29766"/>
                </a:cubicBezTo>
                <a:lnTo>
                  <a:pt x="89297" y="104180"/>
                </a:lnTo>
                <a:lnTo>
                  <a:pt x="14883" y="104180"/>
                </a:lnTo>
                <a:cubicBezTo>
                  <a:pt x="6651" y="104180"/>
                  <a:pt x="0" y="110830"/>
                  <a:pt x="0" y="119062"/>
                </a:cubicBezTo>
                <a:cubicBezTo>
                  <a:pt x="0" y="127295"/>
                  <a:pt x="6651" y="133945"/>
                  <a:pt x="14883" y="133945"/>
                </a:cubicBezTo>
                <a:lnTo>
                  <a:pt x="89297" y="133945"/>
                </a:lnTo>
                <a:lnTo>
                  <a:pt x="89297" y="208359"/>
                </a:lnTo>
                <a:cubicBezTo>
                  <a:pt x="89297" y="216591"/>
                  <a:pt x="95948" y="223242"/>
                  <a:pt x="104180" y="223242"/>
                </a:cubicBezTo>
                <a:cubicBezTo>
                  <a:pt x="112412" y="223242"/>
                  <a:pt x="119062" y="216591"/>
                  <a:pt x="119062" y="208359"/>
                </a:cubicBezTo>
                <a:lnTo>
                  <a:pt x="119062" y="133945"/>
                </a:lnTo>
                <a:lnTo>
                  <a:pt x="193477" y="133945"/>
                </a:lnTo>
                <a:cubicBezTo>
                  <a:pt x="201709" y="133945"/>
                  <a:pt x="208359" y="127295"/>
                  <a:pt x="208359" y="119062"/>
                </a:cubicBezTo>
                <a:cubicBezTo>
                  <a:pt x="208359" y="110830"/>
                  <a:pt x="201709" y="104180"/>
                  <a:pt x="193477" y="104180"/>
                </a:cubicBezTo>
                <a:lnTo>
                  <a:pt x="119062" y="104180"/>
                </a:lnTo>
                <a:lnTo>
                  <a:pt x="119062" y="29766"/>
                </a:lnTo>
                <a:close/>
              </a:path>
            </a:pathLst>
          </a:custGeom>
          <a:solidFill>
            <a:srgbClr val="D4A373"/>
          </a:solidFill>
          <a:ln/>
        </p:spPr>
      </p:sp>
      <p:sp>
        <p:nvSpPr>
          <p:cNvPr id="29" name="Shape 27"/>
          <p:cNvSpPr/>
          <p:nvPr/>
        </p:nvSpPr>
        <p:spPr>
          <a:xfrm>
            <a:off x="6982222" y="3552628"/>
            <a:ext cx="4886325" cy="1663700"/>
          </a:xfrm>
          <a:prstGeom prst="roundRect">
            <a:avLst>
              <a:gd name="adj" fmla="val 3817"/>
            </a:avLst>
          </a:prstGeom>
          <a:gradFill rotWithShape="1" flip="none">
            <a:gsLst>
              <a:gs pos="0">
                <a:srgbClr val="D4A373">
                  <a:alpha val="20000"/>
                </a:srgbClr>
              </a:gs>
              <a:gs pos="100000">
                <a:srgbClr val="5F737C">
                  <a:alpha val="10000"/>
                </a:srgbClr>
              </a:gs>
            </a:gsLst>
            <a:lin ang="2700000" scaled="1"/>
          </a:gradFill>
          <a:ln w="20320">
            <a:solidFill>
              <a:srgbClr val="D4A373">
                <a:alpha val="6000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7127478" y="3701852"/>
            <a:ext cx="214313" cy="190500"/>
          </a:xfrm>
          <a:custGeom>
            <a:avLst/>
            <a:gdLst/>
            <a:ahLst/>
            <a:cxnLst/>
            <a:rect l="l" t="t" r="r" b="b"/>
            <a:pathLst>
              <a:path w="214313" h="190500">
                <a:moveTo>
                  <a:pt x="115156" y="-7032"/>
                </a:moveTo>
                <a:cubicBezTo>
                  <a:pt x="113630" y="-10009"/>
                  <a:pt x="110542" y="-11906"/>
                  <a:pt x="107193" y="-11906"/>
                </a:cubicBezTo>
                <a:cubicBezTo>
                  <a:pt x="103845" y="-11906"/>
                  <a:pt x="100757" y="-10009"/>
                  <a:pt x="99231" y="-7032"/>
                </a:cubicBezTo>
                <a:lnTo>
                  <a:pt x="71847" y="46620"/>
                </a:lnTo>
                <a:lnTo>
                  <a:pt x="12353" y="56071"/>
                </a:lnTo>
                <a:cubicBezTo>
                  <a:pt x="9041" y="56592"/>
                  <a:pt x="6288" y="58936"/>
                  <a:pt x="5246" y="62136"/>
                </a:cubicBezTo>
                <a:cubicBezTo>
                  <a:pt x="4204" y="65336"/>
                  <a:pt x="5060" y="68833"/>
                  <a:pt x="7404" y="71214"/>
                </a:cubicBezTo>
                <a:lnTo>
                  <a:pt x="49969" y="113816"/>
                </a:lnTo>
                <a:lnTo>
                  <a:pt x="40593" y="173310"/>
                </a:lnTo>
                <a:cubicBezTo>
                  <a:pt x="40072" y="176622"/>
                  <a:pt x="41449" y="179970"/>
                  <a:pt x="44165" y="181942"/>
                </a:cubicBezTo>
                <a:cubicBezTo>
                  <a:pt x="46881" y="183914"/>
                  <a:pt x="50453" y="184212"/>
                  <a:pt x="53467" y="182687"/>
                </a:cubicBezTo>
                <a:lnTo>
                  <a:pt x="107193" y="155377"/>
                </a:lnTo>
                <a:lnTo>
                  <a:pt x="160883" y="182687"/>
                </a:lnTo>
                <a:cubicBezTo>
                  <a:pt x="163860" y="184212"/>
                  <a:pt x="167469" y="183914"/>
                  <a:pt x="170185" y="181942"/>
                </a:cubicBezTo>
                <a:cubicBezTo>
                  <a:pt x="172901" y="179970"/>
                  <a:pt x="174278" y="176659"/>
                  <a:pt x="173757" y="173310"/>
                </a:cubicBezTo>
                <a:lnTo>
                  <a:pt x="164343" y="113816"/>
                </a:lnTo>
                <a:lnTo>
                  <a:pt x="206908" y="71214"/>
                </a:lnTo>
                <a:cubicBezTo>
                  <a:pt x="209290" y="68833"/>
                  <a:pt x="210108" y="65336"/>
                  <a:pt x="209066" y="62136"/>
                </a:cubicBezTo>
                <a:cubicBezTo>
                  <a:pt x="208025" y="58936"/>
                  <a:pt x="205308" y="56592"/>
                  <a:pt x="201960" y="56071"/>
                </a:cubicBezTo>
                <a:lnTo>
                  <a:pt x="142503" y="46620"/>
                </a:lnTo>
                <a:lnTo>
                  <a:pt x="115156" y="-7032"/>
                </a:lnTo>
                <a:close/>
              </a:path>
            </a:pathLst>
          </a:custGeom>
          <a:solidFill>
            <a:srgbClr val="D4A373"/>
          </a:solidFill>
          <a:ln/>
        </p:spPr>
      </p:sp>
      <p:sp>
        <p:nvSpPr>
          <p:cNvPr id="31" name="Text 29"/>
          <p:cNvSpPr/>
          <p:nvPr/>
        </p:nvSpPr>
        <p:spPr>
          <a:xfrm>
            <a:off x="7448947" y="3685977"/>
            <a:ext cx="1103313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50" b="1" dirty="0">
                <a:solidFill>
                  <a:srgbClr val="D4A37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★ ECF Module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7115572" y="4003477"/>
            <a:ext cx="1414859" cy="1841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F0F2F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FER + Whisper + VADER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7115572" y="4257477"/>
            <a:ext cx="4675188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9A959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Cross-checks facial emotion with voice sentiment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7115572" y="4511477"/>
            <a:ext cx="4619625" cy="571500"/>
          </a:xfrm>
          <a:prstGeom prst="roundRect">
            <a:avLst>
              <a:gd name="adj" fmla="val 11111"/>
            </a:avLst>
          </a:prstGeom>
          <a:solidFill>
            <a:srgbClr val="1A1D21">
              <a:alpha val="60000"/>
            </a:srgbClr>
          </a:solidFill>
          <a:ln/>
        </p:spPr>
      </p:sp>
      <p:sp>
        <p:nvSpPr>
          <p:cNvPr id="35" name="Text 33"/>
          <p:cNvSpPr/>
          <p:nvPr/>
        </p:nvSpPr>
        <p:spPr>
          <a:xfrm>
            <a:off x="7183041" y="4606727"/>
            <a:ext cx="4484688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875" dirty="0">
                <a:solidFill>
                  <a:srgbClr val="9A959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Output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7171134" y="4765477"/>
            <a:ext cx="4508500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50" b="1" dirty="0">
                <a:solidFill>
                  <a:srgbClr val="D4A37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Inconsistency Score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6008688" y="5317927"/>
            <a:ext cx="178594" cy="238125"/>
          </a:xfrm>
          <a:custGeom>
            <a:avLst/>
            <a:gdLst/>
            <a:ahLst/>
            <a:cxnLst/>
            <a:rect l="l" t="t" r="r" b="b"/>
            <a:pathLst>
              <a:path w="178594" h="238125">
                <a:moveTo>
                  <a:pt x="78786" y="233753"/>
                </a:moveTo>
                <a:cubicBezTo>
                  <a:pt x="84599" y="239567"/>
                  <a:pt x="94041" y="239567"/>
                  <a:pt x="99854" y="233753"/>
                </a:cubicBezTo>
                <a:lnTo>
                  <a:pt x="174268" y="159339"/>
                </a:lnTo>
                <a:cubicBezTo>
                  <a:pt x="180082" y="153526"/>
                  <a:pt x="180082" y="144084"/>
                  <a:pt x="174268" y="138271"/>
                </a:cubicBezTo>
                <a:cubicBezTo>
                  <a:pt x="168455" y="132457"/>
                  <a:pt x="159014" y="132457"/>
                  <a:pt x="153200" y="138271"/>
                </a:cubicBezTo>
                <a:lnTo>
                  <a:pt x="104180" y="187291"/>
                </a:lnTo>
                <a:lnTo>
                  <a:pt x="104180" y="14883"/>
                </a:lnTo>
                <a:cubicBezTo>
                  <a:pt x="104180" y="6651"/>
                  <a:pt x="97529" y="0"/>
                  <a:pt x="89297" y="0"/>
                </a:cubicBezTo>
                <a:cubicBezTo>
                  <a:pt x="81065" y="0"/>
                  <a:pt x="74414" y="6651"/>
                  <a:pt x="74414" y="14883"/>
                </a:cubicBezTo>
                <a:lnTo>
                  <a:pt x="74414" y="187291"/>
                </a:lnTo>
                <a:lnTo>
                  <a:pt x="25394" y="138271"/>
                </a:lnTo>
                <a:cubicBezTo>
                  <a:pt x="19580" y="132457"/>
                  <a:pt x="10139" y="132457"/>
                  <a:pt x="4325" y="138271"/>
                </a:cubicBezTo>
                <a:cubicBezTo>
                  <a:pt x="-1488" y="144084"/>
                  <a:pt x="-1488" y="153526"/>
                  <a:pt x="4325" y="159339"/>
                </a:cubicBezTo>
                <a:lnTo>
                  <a:pt x="78739" y="233753"/>
                </a:lnTo>
                <a:close/>
              </a:path>
            </a:pathLst>
          </a:custGeom>
          <a:solidFill>
            <a:srgbClr val="D4A373"/>
          </a:solidFill>
          <a:ln/>
        </p:spPr>
      </p:sp>
      <p:sp>
        <p:nvSpPr>
          <p:cNvPr id="38" name="Shape 36"/>
          <p:cNvSpPr/>
          <p:nvPr/>
        </p:nvSpPr>
        <p:spPr>
          <a:xfrm>
            <a:off x="333375" y="5651302"/>
            <a:ext cx="11541125" cy="730250"/>
          </a:xfrm>
          <a:custGeom>
            <a:avLst/>
            <a:gdLst/>
            <a:ahLst/>
            <a:cxnLst/>
            <a:rect l="l" t="t" r="r" b="b"/>
            <a:pathLst>
              <a:path w="11541125" h="730250">
                <a:moveTo>
                  <a:pt x="31750" y="0"/>
                </a:moveTo>
                <a:lnTo>
                  <a:pt x="11477625" y="0"/>
                </a:lnTo>
                <a:cubicBezTo>
                  <a:pt x="11512672" y="0"/>
                  <a:pt x="11541125" y="28453"/>
                  <a:pt x="11541125" y="63500"/>
                </a:cubicBezTo>
                <a:lnTo>
                  <a:pt x="11541125" y="666750"/>
                </a:lnTo>
                <a:cubicBezTo>
                  <a:pt x="11541125" y="701797"/>
                  <a:pt x="11512672" y="730250"/>
                  <a:pt x="11477625" y="730250"/>
                </a:cubicBezTo>
                <a:lnTo>
                  <a:pt x="31750" y="730250"/>
                </a:lnTo>
                <a:cubicBezTo>
                  <a:pt x="14227" y="730250"/>
                  <a:pt x="0" y="716023"/>
                  <a:pt x="0" y="698500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gradFill rotWithShape="1" flip="none">
            <a:gsLst>
              <a:gs pos="0">
                <a:srgbClr val="5F737C">
                  <a:alpha val="30000"/>
                </a:srgbClr>
              </a:gs>
              <a:gs pos="100000">
                <a:srgbClr val="4A5C6A">
                  <a:alpha val="20000"/>
                </a:srgbClr>
              </a:gs>
            </a:gsLst>
            <a:lin ang="0" scaled="1"/>
          </a:gradFill>
          <a:ln/>
        </p:spPr>
      </p:sp>
      <p:sp>
        <p:nvSpPr>
          <p:cNvPr id="39" name="Shape 37"/>
          <p:cNvSpPr/>
          <p:nvPr/>
        </p:nvSpPr>
        <p:spPr>
          <a:xfrm>
            <a:off x="333375" y="5651302"/>
            <a:ext cx="31750" cy="730250"/>
          </a:xfrm>
          <a:custGeom>
            <a:avLst/>
            <a:gdLst/>
            <a:ahLst/>
            <a:cxnLst/>
            <a:rect l="l" t="t" r="r" b="b"/>
            <a:pathLst>
              <a:path w="31750" h="730250">
                <a:moveTo>
                  <a:pt x="31750" y="0"/>
                </a:moveTo>
                <a:lnTo>
                  <a:pt x="31750" y="0"/>
                </a:lnTo>
                <a:lnTo>
                  <a:pt x="31750" y="730250"/>
                </a:lnTo>
                <a:lnTo>
                  <a:pt x="31750" y="730250"/>
                </a:lnTo>
                <a:cubicBezTo>
                  <a:pt x="14227" y="730250"/>
                  <a:pt x="0" y="716023"/>
                  <a:pt x="0" y="698500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D4A373"/>
          </a:solidFill>
          <a:ln/>
        </p:spPr>
      </p:sp>
      <p:sp>
        <p:nvSpPr>
          <p:cNvPr id="40" name="Shape 38"/>
          <p:cNvSpPr/>
          <p:nvPr/>
        </p:nvSpPr>
        <p:spPr>
          <a:xfrm>
            <a:off x="4595416" y="5897266"/>
            <a:ext cx="297656" cy="238125"/>
          </a:xfrm>
          <a:custGeom>
            <a:avLst/>
            <a:gdLst/>
            <a:ahLst/>
            <a:cxnLst/>
            <a:rect l="l" t="t" r="r" b="b"/>
            <a:pathLst>
              <a:path w="297656" h="238125">
                <a:moveTo>
                  <a:pt x="178594" y="14883"/>
                </a:moveTo>
                <a:lnTo>
                  <a:pt x="238125" y="14883"/>
                </a:lnTo>
                <a:cubicBezTo>
                  <a:pt x="246357" y="14883"/>
                  <a:pt x="253008" y="21534"/>
                  <a:pt x="253008" y="29766"/>
                </a:cubicBezTo>
                <a:cubicBezTo>
                  <a:pt x="253008" y="37998"/>
                  <a:pt x="246357" y="44648"/>
                  <a:pt x="238125" y="44648"/>
                </a:cubicBezTo>
                <a:lnTo>
                  <a:pt x="185291" y="44648"/>
                </a:lnTo>
                <a:cubicBezTo>
                  <a:pt x="182873" y="56648"/>
                  <a:pt x="174641" y="66554"/>
                  <a:pt x="163711" y="71298"/>
                </a:cubicBezTo>
                <a:lnTo>
                  <a:pt x="163711" y="208359"/>
                </a:lnTo>
                <a:lnTo>
                  <a:pt x="238125" y="208359"/>
                </a:lnTo>
                <a:cubicBezTo>
                  <a:pt x="246357" y="208359"/>
                  <a:pt x="253008" y="215010"/>
                  <a:pt x="253008" y="223242"/>
                </a:cubicBezTo>
                <a:cubicBezTo>
                  <a:pt x="253008" y="231474"/>
                  <a:pt x="246357" y="238125"/>
                  <a:pt x="238125" y="238125"/>
                </a:cubicBezTo>
                <a:lnTo>
                  <a:pt x="59531" y="238125"/>
                </a:lnTo>
                <a:cubicBezTo>
                  <a:pt x="51299" y="238125"/>
                  <a:pt x="44648" y="231474"/>
                  <a:pt x="44648" y="223242"/>
                </a:cubicBezTo>
                <a:cubicBezTo>
                  <a:pt x="44648" y="215010"/>
                  <a:pt x="51299" y="208359"/>
                  <a:pt x="59531" y="208359"/>
                </a:cubicBezTo>
                <a:lnTo>
                  <a:pt x="133945" y="208359"/>
                </a:lnTo>
                <a:lnTo>
                  <a:pt x="133945" y="71298"/>
                </a:lnTo>
                <a:cubicBezTo>
                  <a:pt x="123016" y="66508"/>
                  <a:pt x="114784" y="56601"/>
                  <a:pt x="112365" y="44648"/>
                </a:cubicBezTo>
                <a:lnTo>
                  <a:pt x="59531" y="44648"/>
                </a:lnTo>
                <a:cubicBezTo>
                  <a:pt x="51299" y="44648"/>
                  <a:pt x="44648" y="37998"/>
                  <a:pt x="44648" y="29766"/>
                </a:cubicBezTo>
                <a:cubicBezTo>
                  <a:pt x="44648" y="21534"/>
                  <a:pt x="51299" y="14883"/>
                  <a:pt x="59531" y="14883"/>
                </a:cubicBezTo>
                <a:lnTo>
                  <a:pt x="119062" y="14883"/>
                </a:lnTo>
                <a:cubicBezTo>
                  <a:pt x="125853" y="5860"/>
                  <a:pt x="136643" y="0"/>
                  <a:pt x="148828" y="0"/>
                </a:cubicBezTo>
                <a:cubicBezTo>
                  <a:pt x="161013" y="0"/>
                  <a:pt x="171803" y="5860"/>
                  <a:pt x="178594" y="14883"/>
                </a:cubicBezTo>
                <a:close/>
                <a:moveTo>
                  <a:pt x="204453" y="148828"/>
                </a:moveTo>
                <a:lnTo>
                  <a:pt x="271797" y="148828"/>
                </a:lnTo>
                <a:lnTo>
                  <a:pt x="238125" y="91064"/>
                </a:lnTo>
                <a:lnTo>
                  <a:pt x="204453" y="148828"/>
                </a:lnTo>
                <a:close/>
                <a:moveTo>
                  <a:pt x="238125" y="193477"/>
                </a:moveTo>
                <a:cubicBezTo>
                  <a:pt x="208871" y="193477"/>
                  <a:pt x="184547" y="177664"/>
                  <a:pt x="179524" y="156781"/>
                </a:cubicBezTo>
                <a:cubicBezTo>
                  <a:pt x="178315" y="151665"/>
                  <a:pt x="179989" y="146410"/>
                  <a:pt x="182640" y="141852"/>
                </a:cubicBezTo>
                <a:lnTo>
                  <a:pt x="226916" y="65949"/>
                </a:lnTo>
                <a:cubicBezTo>
                  <a:pt x="229242" y="61950"/>
                  <a:pt x="233521" y="59531"/>
                  <a:pt x="238125" y="59531"/>
                </a:cubicBezTo>
                <a:cubicBezTo>
                  <a:pt x="242729" y="59531"/>
                  <a:pt x="247008" y="61996"/>
                  <a:pt x="249334" y="65949"/>
                </a:cubicBezTo>
                <a:lnTo>
                  <a:pt x="293610" y="141852"/>
                </a:lnTo>
                <a:cubicBezTo>
                  <a:pt x="296261" y="146410"/>
                  <a:pt x="297935" y="151665"/>
                  <a:pt x="296726" y="156781"/>
                </a:cubicBezTo>
                <a:cubicBezTo>
                  <a:pt x="291703" y="177617"/>
                  <a:pt x="267379" y="193477"/>
                  <a:pt x="238125" y="193477"/>
                </a:cubicBezTo>
                <a:close/>
                <a:moveTo>
                  <a:pt x="58973" y="91064"/>
                </a:moveTo>
                <a:lnTo>
                  <a:pt x="25301" y="148828"/>
                </a:lnTo>
                <a:lnTo>
                  <a:pt x="92692" y="148828"/>
                </a:lnTo>
                <a:lnTo>
                  <a:pt x="58973" y="91064"/>
                </a:lnTo>
                <a:close/>
                <a:moveTo>
                  <a:pt x="419" y="156781"/>
                </a:moveTo>
                <a:cubicBezTo>
                  <a:pt x="-791" y="151665"/>
                  <a:pt x="884" y="146410"/>
                  <a:pt x="3535" y="141852"/>
                </a:cubicBezTo>
                <a:lnTo>
                  <a:pt x="47811" y="65949"/>
                </a:lnTo>
                <a:cubicBezTo>
                  <a:pt x="50136" y="61950"/>
                  <a:pt x="54415" y="59531"/>
                  <a:pt x="59020" y="59531"/>
                </a:cubicBezTo>
                <a:cubicBezTo>
                  <a:pt x="63624" y="59531"/>
                  <a:pt x="67903" y="61996"/>
                  <a:pt x="70228" y="65949"/>
                </a:cubicBezTo>
                <a:lnTo>
                  <a:pt x="114505" y="141852"/>
                </a:lnTo>
                <a:cubicBezTo>
                  <a:pt x="117156" y="146410"/>
                  <a:pt x="118830" y="151665"/>
                  <a:pt x="117621" y="156781"/>
                </a:cubicBezTo>
                <a:cubicBezTo>
                  <a:pt x="112598" y="177617"/>
                  <a:pt x="88274" y="193477"/>
                  <a:pt x="59020" y="193477"/>
                </a:cubicBezTo>
                <a:cubicBezTo>
                  <a:pt x="29766" y="193477"/>
                  <a:pt x="5442" y="177664"/>
                  <a:pt x="419" y="156781"/>
                </a:cubicBezTo>
                <a:close/>
              </a:path>
            </a:pathLst>
          </a:custGeom>
          <a:solidFill>
            <a:srgbClr val="D4A373"/>
          </a:solidFill>
          <a:ln/>
        </p:spPr>
      </p:sp>
      <p:sp>
        <p:nvSpPr>
          <p:cNvPr id="41" name="Text 39"/>
          <p:cNvSpPr/>
          <p:nvPr/>
        </p:nvSpPr>
        <p:spPr>
          <a:xfrm>
            <a:off x="4970463" y="5778302"/>
            <a:ext cx="2706688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500" b="1" dirty="0">
                <a:solidFill>
                  <a:srgbClr val="F0F2F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FUSION</a:t>
            </a:r>
            <a:endParaRPr lang="en-US" sz="1600" dirty="0"/>
          </a:p>
        </p:txBody>
      </p:sp>
      <p:sp>
        <p:nvSpPr>
          <p:cNvPr id="42" name="Text 40"/>
          <p:cNvSpPr/>
          <p:nvPr/>
        </p:nvSpPr>
        <p:spPr>
          <a:xfrm>
            <a:off x="4982369" y="6032204"/>
            <a:ext cx="2682875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125" dirty="0">
                <a:solidFill>
                  <a:srgbClr val="9A959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Weighted Average of Visual + ECF Scores</a:t>
            </a:r>
            <a:endParaRPr lang="en-US" sz="1600" dirty="0"/>
          </a:p>
        </p:txBody>
      </p:sp>
      <p:sp>
        <p:nvSpPr>
          <p:cNvPr id="43" name="Shape 41"/>
          <p:cNvSpPr/>
          <p:nvPr/>
        </p:nvSpPr>
        <p:spPr>
          <a:xfrm>
            <a:off x="6008688" y="6476704"/>
            <a:ext cx="178594" cy="238125"/>
          </a:xfrm>
          <a:custGeom>
            <a:avLst/>
            <a:gdLst/>
            <a:ahLst/>
            <a:cxnLst/>
            <a:rect l="l" t="t" r="r" b="b"/>
            <a:pathLst>
              <a:path w="178594" h="238125">
                <a:moveTo>
                  <a:pt x="78786" y="233753"/>
                </a:moveTo>
                <a:cubicBezTo>
                  <a:pt x="84599" y="239567"/>
                  <a:pt x="94041" y="239567"/>
                  <a:pt x="99854" y="233753"/>
                </a:cubicBezTo>
                <a:lnTo>
                  <a:pt x="174268" y="159339"/>
                </a:lnTo>
                <a:cubicBezTo>
                  <a:pt x="180082" y="153526"/>
                  <a:pt x="180082" y="144084"/>
                  <a:pt x="174268" y="138271"/>
                </a:cubicBezTo>
                <a:cubicBezTo>
                  <a:pt x="168455" y="132457"/>
                  <a:pt x="159014" y="132457"/>
                  <a:pt x="153200" y="138271"/>
                </a:cubicBezTo>
                <a:lnTo>
                  <a:pt x="104180" y="187291"/>
                </a:lnTo>
                <a:lnTo>
                  <a:pt x="104180" y="14883"/>
                </a:lnTo>
                <a:cubicBezTo>
                  <a:pt x="104180" y="6651"/>
                  <a:pt x="97529" y="0"/>
                  <a:pt x="89297" y="0"/>
                </a:cubicBezTo>
                <a:cubicBezTo>
                  <a:pt x="81065" y="0"/>
                  <a:pt x="74414" y="6651"/>
                  <a:pt x="74414" y="14883"/>
                </a:cubicBezTo>
                <a:lnTo>
                  <a:pt x="74414" y="187291"/>
                </a:lnTo>
                <a:lnTo>
                  <a:pt x="25394" y="138271"/>
                </a:lnTo>
                <a:cubicBezTo>
                  <a:pt x="19580" y="132457"/>
                  <a:pt x="10139" y="132457"/>
                  <a:pt x="4325" y="138271"/>
                </a:cubicBezTo>
                <a:cubicBezTo>
                  <a:pt x="-1488" y="144084"/>
                  <a:pt x="-1488" y="153526"/>
                  <a:pt x="4325" y="159339"/>
                </a:cubicBezTo>
                <a:lnTo>
                  <a:pt x="78739" y="233753"/>
                </a:lnTo>
                <a:close/>
              </a:path>
            </a:pathLst>
          </a:custGeom>
          <a:solidFill>
            <a:srgbClr val="D4A373"/>
          </a:solidFill>
          <a:ln/>
        </p:spPr>
      </p:sp>
      <p:sp>
        <p:nvSpPr>
          <p:cNvPr id="44" name="Shape 42"/>
          <p:cNvSpPr/>
          <p:nvPr/>
        </p:nvSpPr>
        <p:spPr>
          <a:xfrm>
            <a:off x="323850" y="6816429"/>
            <a:ext cx="11545888" cy="742950"/>
          </a:xfrm>
          <a:prstGeom prst="roundRect">
            <a:avLst>
              <a:gd name="adj" fmla="val 8547"/>
            </a:avLst>
          </a:prstGeom>
          <a:gradFill rotWithShape="1" flip="none">
            <a:gsLst>
              <a:gs pos="0">
                <a:srgbClr val="D4A373">
                  <a:alpha val="30000"/>
                </a:srgbClr>
              </a:gs>
              <a:gs pos="100000">
                <a:srgbClr val="5F737C">
                  <a:alpha val="20000"/>
                </a:srgbClr>
              </a:gs>
            </a:gsLst>
            <a:lin ang="0" scaled="1"/>
          </a:gradFill>
          <a:ln w="20320">
            <a:solidFill>
              <a:srgbClr val="D4A373">
                <a:alpha val="60000"/>
              </a:srgbClr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4373761" y="7068741"/>
            <a:ext cx="238125" cy="238125"/>
          </a:xfrm>
          <a:custGeom>
            <a:avLst/>
            <a:gdLst/>
            <a:ahLst/>
            <a:cxnLst/>
            <a:rect l="l" t="t" r="r" b="b"/>
            <a:pathLst>
              <a:path w="238125" h="238125">
                <a:moveTo>
                  <a:pt x="119062" y="238125"/>
                </a:moveTo>
                <a:cubicBezTo>
                  <a:pt x="184775" y="238125"/>
                  <a:pt x="238125" y="184775"/>
                  <a:pt x="238125" y="119062"/>
                </a:cubicBezTo>
                <a:cubicBezTo>
                  <a:pt x="238125" y="53350"/>
                  <a:pt x="184775" y="0"/>
                  <a:pt x="119062" y="0"/>
                </a:cubicBezTo>
                <a:cubicBezTo>
                  <a:pt x="53350" y="0"/>
                  <a:pt x="0" y="53350"/>
                  <a:pt x="0" y="119062"/>
                </a:cubicBezTo>
                <a:cubicBezTo>
                  <a:pt x="0" y="184775"/>
                  <a:pt x="53350" y="238125"/>
                  <a:pt x="119062" y="238125"/>
                </a:cubicBezTo>
                <a:close/>
                <a:moveTo>
                  <a:pt x="158316" y="98924"/>
                </a:moveTo>
                <a:lnTo>
                  <a:pt x="121109" y="158455"/>
                </a:lnTo>
                <a:cubicBezTo>
                  <a:pt x="119156" y="161572"/>
                  <a:pt x="115807" y="163525"/>
                  <a:pt x="112133" y="163711"/>
                </a:cubicBezTo>
                <a:cubicBezTo>
                  <a:pt x="108458" y="163897"/>
                  <a:pt x="104924" y="162223"/>
                  <a:pt x="102738" y="159246"/>
                </a:cubicBezTo>
                <a:lnTo>
                  <a:pt x="80414" y="129480"/>
                </a:lnTo>
                <a:cubicBezTo>
                  <a:pt x="76693" y="124551"/>
                  <a:pt x="77716" y="117574"/>
                  <a:pt x="82646" y="113854"/>
                </a:cubicBezTo>
                <a:cubicBezTo>
                  <a:pt x="87576" y="110133"/>
                  <a:pt x="94552" y="111156"/>
                  <a:pt x="98273" y="116086"/>
                </a:cubicBezTo>
                <a:lnTo>
                  <a:pt x="110830" y="132829"/>
                </a:lnTo>
                <a:lnTo>
                  <a:pt x="139387" y="87111"/>
                </a:lnTo>
                <a:cubicBezTo>
                  <a:pt x="142642" y="81902"/>
                  <a:pt x="149526" y="80274"/>
                  <a:pt x="154781" y="83576"/>
                </a:cubicBezTo>
                <a:cubicBezTo>
                  <a:pt x="160037" y="86878"/>
                  <a:pt x="161618" y="93715"/>
                  <a:pt x="158316" y="98971"/>
                </a:cubicBezTo>
                <a:close/>
              </a:path>
            </a:pathLst>
          </a:custGeom>
          <a:solidFill>
            <a:srgbClr val="D4A373"/>
          </a:solidFill>
          <a:ln/>
        </p:spPr>
      </p:sp>
      <p:sp>
        <p:nvSpPr>
          <p:cNvPr id="46" name="Text 44"/>
          <p:cNvSpPr/>
          <p:nvPr/>
        </p:nvSpPr>
        <p:spPr>
          <a:xfrm>
            <a:off x="4782542" y="6949777"/>
            <a:ext cx="31115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500" b="1" dirty="0">
                <a:solidFill>
                  <a:srgbClr val="F0F2F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OUTPUT</a:t>
            </a:r>
            <a:endParaRPr lang="en-US" sz="1600" dirty="0"/>
          </a:p>
        </p:txBody>
      </p:sp>
      <p:sp>
        <p:nvSpPr>
          <p:cNvPr id="47" name="Text 45"/>
          <p:cNvSpPr/>
          <p:nvPr/>
        </p:nvSpPr>
        <p:spPr>
          <a:xfrm>
            <a:off x="4794449" y="7203679"/>
            <a:ext cx="3087688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125" dirty="0">
                <a:solidFill>
                  <a:srgbClr val="9A959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Final Verdict • Grad-CAM Heatmap • ECF Report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A1D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1000" y="381000"/>
            <a:ext cx="76200" cy="457200"/>
          </a:xfrm>
          <a:prstGeom prst="roundRect">
            <a:avLst>
              <a:gd name="adj" fmla="val 0"/>
            </a:avLst>
          </a:prstGeom>
          <a:solidFill>
            <a:srgbClr val="D4A373"/>
          </a:solidFill>
          <a:ln/>
        </p:spPr>
      </p:sp>
      <p:sp>
        <p:nvSpPr>
          <p:cNvPr id="3" name="Text 1"/>
          <p:cNvSpPr/>
          <p:nvPr/>
        </p:nvSpPr>
        <p:spPr>
          <a:xfrm>
            <a:off x="571500" y="381000"/>
            <a:ext cx="568642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600" b="1" dirty="0">
                <a:solidFill>
                  <a:srgbClr val="F0F2F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AI Algorithm 1 - Visual CNN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571500" y="914400"/>
            <a:ext cx="113347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dirty="0">
                <a:solidFill>
                  <a:srgbClr val="9A959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EfficientNet-B0 for Visual Artifact Detection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400050" y="1257300"/>
            <a:ext cx="5619750" cy="1485900"/>
          </a:xfrm>
          <a:custGeom>
            <a:avLst/>
            <a:gdLst/>
            <a:ahLst/>
            <a:cxnLst/>
            <a:rect l="l" t="t" r="r" b="b"/>
            <a:pathLst>
              <a:path w="5619750" h="1485900">
                <a:moveTo>
                  <a:pt x="38100" y="0"/>
                </a:moveTo>
                <a:lnTo>
                  <a:pt x="5543550" y="0"/>
                </a:lnTo>
                <a:cubicBezTo>
                  <a:pt x="5585606" y="0"/>
                  <a:pt x="5619750" y="34144"/>
                  <a:pt x="5619750" y="76200"/>
                </a:cubicBezTo>
                <a:lnTo>
                  <a:pt x="5619750" y="1409700"/>
                </a:lnTo>
                <a:cubicBezTo>
                  <a:pt x="5619750" y="1451756"/>
                  <a:pt x="5585606" y="1485900"/>
                  <a:pt x="5543550" y="1485900"/>
                </a:cubicBezTo>
                <a:lnTo>
                  <a:pt x="38100" y="1485900"/>
                </a:lnTo>
                <a:cubicBezTo>
                  <a:pt x="17072" y="1485900"/>
                  <a:pt x="0" y="1468828"/>
                  <a:pt x="0" y="14478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gradFill rotWithShape="1" flip="none">
            <a:gsLst>
              <a:gs pos="0">
                <a:srgbClr val="5F737C">
                  <a:alpha val="30000"/>
                </a:srgbClr>
              </a:gs>
              <a:gs pos="100000">
                <a:srgbClr val="4A5C6A">
                  <a:alpha val="20000"/>
                </a:srgbClr>
              </a:gs>
            </a:gsLst>
            <a:lin ang="2700000" scaled="1"/>
          </a:gradFill>
          <a:ln/>
        </p:spPr>
      </p:sp>
      <p:sp>
        <p:nvSpPr>
          <p:cNvPr id="6" name="Shape 4"/>
          <p:cNvSpPr/>
          <p:nvPr/>
        </p:nvSpPr>
        <p:spPr>
          <a:xfrm>
            <a:off x="400050" y="1257300"/>
            <a:ext cx="38100" cy="1485900"/>
          </a:xfrm>
          <a:custGeom>
            <a:avLst/>
            <a:gdLst/>
            <a:ahLst/>
            <a:cxnLst/>
            <a:rect l="l" t="t" r="r" b="b"/>
            <a:pathLst>
              <a:path w="38100" h="1485900">
                <a:moveTo>
                  <a:pt x="38100" y="0"/>
                </a:moveTo>
                <a:lnTo>
                  <a:pt x="38100" y="0"/>
                </a:lnTo>
                <a:lnTo>
                  <a:pt x="38100" y="1485900"/>
                </a:lnTo>
                <a:lnTo>
                  <a:pt x="38100" y="1485900"/>
                </a:lnTo>
                <a:cubicBezTo>
                  <a:pt x="17072" y="1485900"/>
                  <a:pt x="0" y="1468828"/>
                  <a:pt x="0" y="14478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D4A373"/>
          </a:solidFill>
          <a:ln/>
        </p:spPr>
      </p:sp>
      <p:sp>
        <p:nvSpPr>
          <p:cNvPr id="7" name="Shape 5"/>
          <p:cNvSpPr/>
          <p:nvPr/>
        </p:nvSpPr>
        <p:spPr>
          <a:xfrm>
            <a:off x="571500" y="1381009"/>
            <a:ext cx="285750" cy="285750"/>
          </a:xfrm>
          <a:custGeom>
            <a:avLst/>
            <a:gdLst/>
            <a:ahLst/>
            <a:cxnLst/>
            <a:rect l="l" t="t" r="r" b="b"/>
            <a:pathLst>
              <a:path w="285750" h="285750">
                <a:moveTo>
                  <a:pt x="66973" y="31254"/>
                </a:moveTo>
                <a:cubicBezTo>
                  <a:pt x="66973" y="14008"/>
                  <a:pt x="80981" y="0"/>
                  <a:pt x="98227" y="0"/>
                </a:cubicBezTo>
                <a:lnTo>
                  <a:pt x="111621" y="0"/>
                </a:lnTo>
                <a:cubicBezTo>
                  <a:pt x="121500" y="0"/>
                  <a:pt x="129480" y="7981"/>
                  <a:pt x="129480" y="17859"/>
                </a:cubicBezTo>
                <a:lnTo>
                  <a:pt x="129480" y="267891"/>
                </a:lnTo>
                <a:cubicBezTo>
                  <a:pt x="129480" y="277769"/>
                  <a:pt x="121500" y="285750"/>
                  <a:pt x="111621" y="285750"/>
                </a:cubicBezTo>
                <a:lnTo>
                  <a:pt x="93762" y="285750"/>
                </a:lnTo>
                <a:cubicBezTo>
                  <a:pt x="77130" y="285750"/>
                  <a:pt x="63122" y="274365"/>
                  <a:pt x="59159" y="258961"/>
                </a:cubicBezTo>
                <a:cubicBezTo>
                  <a:pt x="58769" y="258961"/>
                  <a:pt x="58434" y="258961"/>
                  <a:pt x="58043" y="258961"/>
                </a:cubicBezTo>
                <a:cubicBezTo>
                  <a:pt x="33375" y="258961"/>
                  <a:pt x="13395" y="238981"/>
                  <a:pt x="13395" y="214313"/>
                </a:cubicBezTo>
                <a:cubicBezTo>
                  <a:pt x="13395" y="204267"/>
                  <a:pt x="16743" y="195002"/>
                  <a:pt x="22324" y="187523"/>
                </a:cubicBezTo>
                <a:cubicBezTo>
                  <a:pt x="11497" y="179375"/>
                  <a:pt x="4465" y="166427"/>
                  <a:pt x="4465" y="151805"/>
                </a:cubicBezTo>
                <a:cubicBezTo>
                  <a:pt x="4465" y="134559"/>
                  <a:pt x="14288" y="119546"/>
                  <a:pt x="28575" y="112123"/>
                </a:cubicBezTo>
                <a:cubicBezTo>
                  <a:pt x="24612" y="105426"/>
                  <a:pt x="22324" y="97613"/>
                  <a:pt x="22324" y="89297"/>
                </a:cubicBezTo>
                <a:cubicBezTo>
                  <a:pt x="22324" y="64629"/>
                  <a:pt x="42304" y="44648"/>
                  <a:pt x="66973" y="44648"/>
                </a:cubicBezTo>
                <a:lnTo>
                  <a:pt x="66973" y="31254"/>
                </a:lnTo>
                <a:close/>
                <a:moveTo>
                  <a:pt x="218777" y="31254"/>
                </a:moveTo>
                <a:lnTo>
                  <a:pt x="218777" y="44648"/>
                </a:lnTo>
                <a:cubicBezTo>
                  <a:pt x="243446" y="44648"/>
                  <a:pt x="263426" y="64629"/>
                  <a:pt x="263426" y="89297"/>
                </a:cubicBezTo>
                <a:cubicBezTo>
                  <a:pt x="263426" y="97668"/>
                  <a:pt x="261138" y="105482"/>
                  <a:pt x="257175" y="112123"/>
                </a:cubicBezTo>
                <a:cubicBezTo>
                  <a:pt x="271518" y="119546"/>
                  <a:pt x="281285" y="134503"/>
                  <a:pt x="281285" y="151805"/>
                </a:cubicBezTo>
                <a:cubicBezTo>
                  <a:pt x="281285" y="166427"/>
                  <a:pt x="274253" y="179375"/>
                  <a:pt x="263426" y="187523"/>
                </a:cubicBezTo>
                <a:cubicBezTo>
                  <a:pt x="269007" y="195002"/>
                  <a:pt x="272355" y="204267"/>
                  <a:pt x="272355" y="214313"/>
                </a:cubicBezTo>
                <a:cubicBezTo>
                  <a:pt x="272355" y="238981"/>
                  <a:pt x="252375" y="258961"/>
                  <a:pt x="227707" y="258961"/>
                </a:cubicBezTo>
                <a:cubicBezTo>
                  <a:pt x="227316" y="258961"/>
                  <a:pt x="226981" y="258961"/>
                  <a:pt x="226591" y="258961"/>
                </a:cubicBezTo>
                <a:cubicBezTo>
                  <a:pt x="222628" y="274365"/>
                  <a:pt x="208620" y="285750"/>
                  <a:pt x="191988" y="285750"/>
                </a:cubicBezTo>
                <a:lnTo>
                  <a:pt x="174129" y="285750"/>
                </a:lnTo>
                <a:cubicBezTo>
                  <a:pt x="164250" y="285750"/>
                  <a:pt x="156270" y="277769"/>
                  <a:pt x="156270" y="267891"/>
                </a:cubicBezTo>
                <a:lnTo>
                  <a:pt x="156270" y="17859"/>
                </a:lnTo>
                <a:cubicBezTo>
                  <a:pt x="156270" y="7981"/>
                  <a:pt x="164250" y="0"/>
                  <a:pt x="174129" y="0"/>
                </a:cubicBezTo>
                <a:lnTo>
                  <a:pt x="187523" y="0"/>
                </a:lnTo>
                <a:cubicBezTo>
                  <a:pt x="204769" y="0"/>
                  <a:pt x="218777" y="14008"/>
                  <a:pt x="218777" y="31254"/>
                </a:cubicBezTo>
                <a:close/>
              </a:path>
            </a:pathLst>
          </a:custGeom>
          <a:solidFill>
            <a:srgbClr val="D4A373"/>
          </a:solidFill>
          <a:ln/>
        </p:spPr>
      </p:sp>
      <p:sp>
        <p:nvSpPr>
          <p:cNvPr id="8" name="Text 6"/>
          <p:cNvSpPr/>
          <p:nvPr/>
        </p:nvSpPr>
        <p:spPr>
          <a:xfrm>
            <a:off x="1004887" y="1371600"/>
            <a:ext cx="20574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F0F2F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Model Architecture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33400" y="1790584"/>
            <a:ext cx="304800" cy="304800"/>
          </a:xfrm>
          <a:prstGeom prst="roundRect">
            <a:avLst>
              <a:gd name="adj" fmla="val 50000"/>
            </a:avLst>
          </a:prstGeom>
          <a:solidFill>
            <a:srgbClr val="D4A373"/>
          </a:solidFill>
          <a:ln/>
        </p:spPr>
      </p:sp>
      <p:sp>
        <p:nvSpPr>
          <p:cNvPr id="10" name="Shape 8"/>
          <p:cNvSpPr/>
          <p:nvPr/>
        </p:nvSpPr>
        <p:spPr>
          <a:xfrm>
            <a:off x="613172" y="1876309"/>
            <a:ext cx="150019" cy="133350"/>
          </a:xfrm>
          <a:custGeom>
            <a:avLst/>
            <a:gdLst/>
            <a:ahLst/>
            <a:cxnLst/>
            <a:rect l="l" t="t" r="r" b="b"/>
            <a:pathLst>
              <a:path w="150019" h="133350">
                <a:moveTo>
                  <a:pt x="64591" y="22920"/>
                </a:moveTo>
                <a:lnTo>
                  <a:pt x="85427" y="22920"/>
                </a:lnTo>
                <a:lnTo>
                  <a:pt x="85427" y="35421"/>
                </a:lnTo>
                <a:lnTo>
                  <a:pt x="64591" y="35421"/>
                </a:lnTo>
                <a:lnTo>
                  <a:pt x="64591" y="22920"/>
                </a:lnTo>
                <a:close/>
                <a:moveTo>
                  <a:pt x="62508" y="8334"/>
                </a:moveTo>
                <a:cubicBezTo>
                  <a:pt x="55606" y="8334"/>
                  <a:pt x="50006" y="13934"/>
                  <a:pt x="50006" y="20836"/>
                </a:cubicBezTo>
                <a:lnTo>
                  <a:pt x="50006" y="37505"/>
                </a:lnTo>
                <a:cubicBezTo>
                  <a:pt x="50006" y="44407"/>
                  <a:pt x="55606" y="50006"/>
                  <a:pt x="62508" y="50006"/>
                </a:cubicBezTo>
                <a:lnTo>
                  <a:pt x="66675" y="50006"/>
                </a:lnTo>
                <a:lnTo>
                  <a:pt x="66675" y="58341"/>
                </a:lnTo>
                <a:lnTo>
                  <a:pt x="8334" y="58341"/>
                </a:lnTo>
                <a:cubicBezTo>
                  <a:pt x="3724" y="58341"/>
                  <a:pt x="0" y="62065"/>
                  <a:pt x="0" y="66675"/>
                </a:cubicBezTo>
                <a:cubicBezTo>
                  <a:pt x="0" y="71285"/>
                  <a:pt x="3724" y="75009"/>
                  <a:pt x="8334" y="75009"/>
                </a:cubicBezTo>
                <a:lnTo>
                  <a:pt x="33337" y="75009"/>
                </a:lnTo>
                <a:lnTo>
                  <a:pt x="33337" y="83344"/>
                </a:lnTo>
                <a:lnTo>
                  <a:pt x="29170" y="83344"/>
                </a:lnTo>
                <a:cubicBezTo>
                  <a:pt x="22268" y="83344"/>
                  <a:pt x="16669" y="88943"/>
                  <a:pt x="16669" y="95845"/>
                </a:cubicBezTo>
                <a:lnTo>
                  <a:pt x="16669" y="112514"/>
                </a:lnTo>
                <a:cubicBezTo>
                  <a:pt x="16669" y="119416"/>
                  <a:pt x="22268" y="125016"/>
                  <a:pt x="29170" y="125016"/>
                </a:cubicBezTo>
                <a:lnTo>
                  <a:pt x="54173" y="125016"/>
                </a:lnTo>
                <a:cubicBezTo>
                  <a:pt x="61075" y="125016"/>
                  <a:pt x="66675" y="119416"/>
                  <a:pt x="66675" y="112514"/>
                </a:cubicBezTo>
                <a:lnTo>
                  <a:pt x="66675" y="95845"/>
                </a:lnTo>
                <a:cubicBezTo>
                  <a:pt x="66675" y="88943"/>
                  <a:pt x="61075" y="83344"/>
                  <a:pt x="54173" y="83344"/>
                </a:cubicBezTo>
                <a:lnTo>
                  <a:pt x="50006" y="83344"/>
                </a:lnTo>
                <a:lnTo>
                  <a:pt x="50006" y="75009"/>
                </a:lnTo>
                <a:lnTo>
                  <a:pt x="100013" y="75009"/>
                </a:lnTo>
                <a:lnTo>
                  <a:pt x="100013" y="83344"/>
                </a:lnTo>
                <a:lnTo>
                  <a:pt x="95845" y="83344"/>
                </a:lnTo>
                <a:cubicBezTo>
                  <a:pt x="88943" y="83344"/>
                  <a:pt x="83344" y="88943"/>
                  <a:pt x="83344" y="95845"/>
                </a:cubicBezTo>
                <a:lnTo>
                  <a:pt x="83344" y="112514"/>
                </a:lnTo>
                <a:cubicBezTo>
                  <a:pt x="83344" y="119416"/>
                  <a:pt x="88943" y="125016"/>
                  <a:pt x="95845" y="125016"/>
                </a:cubicBezTo>
                <a:lnTo>
                  <a:pt x="120848" y="125016"/>
                </a:lnTo>
                <a:cubicBezTo>
                  <a:pt x="127750" y="125016"/>
                  <a:pt x="133350" y="119416"/>
                  <a:pt x="133350" y="112514"/>
                </a:cubicBezTo>
                <a:lnTo>
                  <a:pt x="133350" y="95845"/>
                </a:lnTo>
                <a:cubicBezTo>
                  <a:pt x="133350" y="88943"/>
                  <a:pt x="127750" y="83344"/>
                  <a:pt x="120848" y="83344"/>
                </a:cubicBezTo>
                <a:lnTo>
                  <a:pt x="116681" y="83344"/>
                </a:lnTo>
                <a:lnTo>
                  <a:pt x="116681" y="75009"/>
                </a:lnTo>
                <a:lnTo>
                  <a:pt x="141684" y="75009"/>
                </a:lnTo>
                <a:cubicBezTo>
                  <a:pt x="146294" y="75009"/>
                  <a:pt x="150019" y="71285"/>
                  <a:pt x="150019" y="66675"/>
                </a:cubicBezTo>
                <a:cubicBezTo>
                  <a:pt x="150019" y="62065"/>
                  <a:pt x="146294" y="58341"/>
                  <a:pt x="141684" y="58341"/>
                </a:cubicBezTo>
                <a:lnTo>
                  <a:pt x="83344" y="58341"/>
                </a:lnTo>
                <a:lnTo>
                  <a:pt x="83344" y="50006"/>
                </a:lnTo>
                <a:lnTo>
                  <a:pt x="87511" y="50006"/>
                </a:lnTo>
                <a:cubicBezTo>
                  <a:pt x="94413" y="50006"/>
                  <a:pt x="100013" y="44407"/>
                  <a:pt x="100013" y="37505"/>
                </a:cubicBezTo>
                <a:lnTo>
                  <a:pt x="100013" y="20836"/>
                </a:lnTo>
                <a:cubicBezTo>
                  <a:pt x="100013" y="13934"/>
                  <a:pt x="94413" y="8334"/>
                  <a:pt x="87511" y="8334"/>
                </a:cubicBezTo>
                <a:lnTo>
                  <a:pt x="62508" y="8334"/>
                </a:lnTo>
                <a:close/>
                <a:moveTo>
                  <a:pt x="116681" y="97929"/>
                </a:moveTo>
                <a:lnTo>
                  <a:pt x="118765" y="97929"/>
                </a:lnTo>
                <a:lnTo>
                  <a:pt x="118765" y="110430"/>
                </a:lnTo>
                <a:lnTo>
                  <a:pt x="97929" y="110430"/>
                </a:lnTo>
                <a:lnTo>
                  <a:pt x="97929" y="97929"/>
                </a:lnTo>
                <a:lnTo>
                  <a:pt x="116681" y="97929"/>
                </a:lnTo>
                <a:close/>
                <a:moveTo>
                  <a:pt x="50006" y="97929"/>
                </a:moveTo>
                <a:lnTo>
                  <a:pt x="52090" y="97929"/>
                </a:lnTo>
                <a:lnTo>
                  <a:pt x="52090" y="110430"/>
                </a:lnTo>
                <a:lnTo>
                  <a:pt x="31254" y="110430"/>
                </a:lnTo>
                <a:lnTo>
                  <a:pt x="31254" y="97929"/>
                </a:lnTo>
                <a:lnTo>
                  <a:pt x="50006" y="97929"/>
                </a:lnTo>
                <a:close/>
              </a:path>
            </a:pathLst>
          </a:custGeom>
          <a:solidFill>
            <a:srgbClr val="1A1D21"/>
          </a:solidFill>
          <a:ln/>
        </p:spPr>
      </p:sp>
      <p:sp>
        <p:nvSpPr>
          <p:cNvPr id="11" name="Text 9"/>
          <p:cNvSpPr/>
          <p:nvPr/>
        </p:nvSpPr>
        <p:spPr>
          <a:xfrm>
            <a:off x="952500" y="1752484"/>
            <a:ext cx="35528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0F2F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EfficientNet-B0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952500" y="1981084"/>
            <a:ext cx="35433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9A959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Pre-trained on ImageNet, fine-tuned for deepfake detection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533400" y="2247784"/>
            <a:ext cx="304800" cy="304800"/>
          </a:xfrm>
          <a:prstGeom prst="roundRect">
            <a:avLst>
              <a:gd name="adj" fmla="val 50000"/>
            </a:avLst>
          </a:prstGeom>
          <a:solidFill>
            <a:srgbClr val="5F737C"/>
          </a:solidFill>
          <a:ln/>
        </p:spPr>
      </p:sp>
      <p:sp>
        <p:nvSpPr>
          <p:cNvPr id="14" name="Shape 12"/>
          <p:cNvSpPr/>
          <p:nvPr/>
        </p:nvSpPr>
        <p:spPr>
          <a:xfrm>
            <a:off x="629841" y="2333509"/>
            <a:ext cx="116681" cy="133350"/>
          </a:xfrm>
          <a:custGeom>
            <a:avLst/>
            <a:gdLst/>
            <a:ahLst/>
            <a:cxnLst/>
            <a:rect l="l" t="t" r="r" b="b"/>
            <a:pathLst>
              <a:path w="116681" h="133350">
                <a:moveTo>
                  <a:pt x="116681" y="53600"/>
                </a:moveTo>
                <a:cubicBezTo>
                  <a:pt x="112827" y="56153"/>
                  <a:pt x="108399" y="58210"/>
                  <a:pt x="103789" y="59851"/>
                </a:cubicBezTo>
                <a:cubicBezTo>
                  <a:pt x="91548" y="64227"/>
                  <a:pt x="75478" y="66675"/>
                  <a:pt x="58341" y="66675"/>
                </a:cubicBezTo>
                <a:cubicBezTo>
                  <a:pt x="41203" y="66675"/>
                  <a:pt x="25107" y="64201"/>
                  <a:pt x="12892" y="59851"/>
                </a:cubicBezTo>
                <a:cubicBezTo>
                  <a:pt x="8308" y="58210"/>
                  <a:pt x="3855" y="56153"/>
                  <a:pt x="0" y="53600"/>
                </a:cubicBezTo>
                <a:lnTo>
                  <a:pt x="0" y="75009"/>
                </a:lnTo>
                <a:cubicBezTo>
                  <a:pt x="0" y="86521"/>
                  <a:pt x="26123" y="95845"/>
                  <a:pt x="58341" y="95845"/>
                </a:cubicBezTo>
                <a:cubicBezTo>
                  <a:pt x="90558" y="95845"/>
                  <a:pt x="116681" y="86521"/>
                  <a:pt x="116681" y="75009"/>
                </a:cubicBezTo>
                <a:lnTo>
                  <a:pt x="116681" y="53600"/>
                </a:lnTo>
                <a:close/>
                <a:moveTo>
                  <a:pt x="116681" y="33337"/>
                </a:moveTo>
                <a:lnTo>
                  <a:pt x="116681" y="20836"/>
                </a:lnTo>
                <a:cubicBezTo>
                  <a:pt x="116681" y="9324"/>
                  <a:pt x="90558" y="0"/>
                  <a:pt x="58341" y="0"/>
                </a:cubicBezTo>
                <a:cubicBezTo>
                  <a:pt x="26123" y="0"/>
                  <a:pt x="0" y="9324"/>
                  <a:pt x="0" y="20836"/>
                </a:cubicBezTo>
                <a:lnTo>
                  <a:pt x="0" y="33337"/>
                </a:lnTo>
                <a:cubicBezTo>
                  <a:pt x="0" y="44849"/>
                  <a:pt x="26123" y="54173"/>
                  <a:pt x="58341" y="54173"/>
                </a:cubicBezTo>
                <a:cubicBezTo>
                  <a:pt x="90558" y="54173"/>
                  <a:pt x="116681" y="44849"/>
                  <a:pt x="116681" y="33337"/>
                </a:cubicBezTo>
                <a:close/>
                <a:moveTo>
                  <a:pt x="103789" y="101523"/>
                </a:moveTo>
                <a:cubicBezTo>
                  <a:pt x="91574" y="105873"/>
                  <a:pt x="75504" y="108347"/>
                  <a:pt x="58341" y="108347"/>
                </a:cubicBezTo>
                <a:cubicBezTo>
                  <a:pt x="41177" y="108347"/>
                  <a:pt x="25107" y="105873"/>
                  <a:pt x="12892" y="101523"/>
                </a:cubicBezTo>
                <a:cubicBezTo>
                  <a:pt x="8308" y="99882"/>
                  <a:pt x="3855" y="97825"/>
                  <a:pt x="0" y="95272"/>
                </a:cubicBezTo>
                <a:lnTo>
                  <a:pt x="0" y="112514"/>
                </a:lnTo>
                <a:cubicBezTo>
                  <a:pt x="0" y="124026"/>
                  <a:pt x="26123" y="133350"/>
                  <a:pt x="58341" y="133350"/>
                </a:cubicBezTo>
                <a:cubicBezTo>
                  <a:pt x="90558" y="133350"/>
                  <a:pt x="116681" y="124026"/>
                  <a:pt x="116681" y="112514"/>
                </a:cubicBezTo>
                <a:lnTo>
                  <a:pt x="116681" y="95272"/>
                </a:lnTo>
                <a:cubicBezTo>
                  <a:pt x="112827" y="97825"/>
                  <a:pt x="108399" y="99882"/>
                  <a:pt x="103789" y="101523"/>
                </a:cubicBezTo>
                <a:close/>
              </a:path>
            </a:pathLst>
          </a:custGeom>
          <a:solidFill>
            <a:srgbClr val="F0F2F5"/>
          </a:solidFill>
          <a:ln/>
        </p:spPr>
      </p:sp>
      <p:sp>
        <p:nvSpPr>
          <p:cNvPr id="15" name="Text 13"/>
          <p:cNvSpPr/>
          <p:nvPr/>
        </p:nvSpPr>
        <p:spPr>
          <a:xfrm>
            <a:off x="952500" y="2209684"/>
            <a:ext cx="36480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0F2F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Training Datasets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952500" y="2438284"/>
            <a:ext cx="36385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9A959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FaceForensics++ and DFDC (DeepFake Detection Challenge)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400050" y="2819284"/>
            <a:ext cx="5619750" cy="2400300"/>
          </a:xfrm>
          <a:custGeom>
            <a:avLst/>
            <a:gdLst/>
            <a:ahLst/>
            <a:cxnLst/>
            <a:rect l="l" t="t" r="r" b="b"/>
            <a:pathLst>
              <a:path w="5619750" h="2400300">
                <a:moveTo>
                  <a:pt x="38100" y="0"/>
                </a:moveTo>
                <a:lnTo>
                  <a:pt x="5543550" y="0"/>
                </a:lnTo>
                <a:cubicBezTo>
                  <a:pt x="5585606" y="0"/>
                  <a:pt x="5619750" y="34144"/>
                  <a:pt x="5619750" y="76200"/>
                </a:cubicBezTo>
                <a:lnTo>
                  <a:pt x="5619750" y="2324100"/>
                </a:lnTo>
                <a:cubicBezTo>
                  <a:pt x="5619750" y="2366156"/>
                  <a:pt x="5585606" y="2400300"/>
                  <a:pt x="5543550" y="2400300"/>
                </a:cubicBezTo>
                <a:lnTo>
                  <a:pt x="38100" y="2400300"/>
                </a:lnTo>
                <a:cubicBezTo>
                  <a:pt x="17072" y="2400300"/>
                  <a:pt x="0" y="2383228"/>
                  <a:pt x="0" y="23622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gradFill rotWithShape="1" flip="none">
            <a:gsLst>
              <a:gs pos="0">
                <a:srgbClr val="5F737C">
                  <a:alpha val="30000"/>
                </a:srgbClr>
              </a:gs>
              <a:gs pos="100000">
                <a:srgbClr val="4A5C6A">
                  <a:alpha val="20000"/>
                </a:srgbClr>
              </a:gs>
            </a:gsLst>
            <a:lin ang="2700000" scaled="1"/>
          </a:gradFill>
          <a:ln/>
        </p:spPr>
      </p:sp>
      <p:sp>
        <p:nvSpPr>
          <p:cNvPr id="18" name="Shape 16"/>
          <p:cNvSpPr/>
          <p:nvPr/>
        </p:nvSpPr>
        <p:spPr>
          <a:xfrm>
            <a:off x="400050" y="2819284"/>
            <a:ext cx="38100" cy="2400300"/>
          </a:xfrm>
          <a:custGeom>
            <a:avLst/>
            <a:gdLst/>
            <a:ahLst/>
            <a:cxnLst/>
            <a:rect l="l" t="t" r="r" b="b"/>
            <a:pathLst>
              <a:path w="38100" h="2400300">
                <a:moveTo>
                  <a:pt x="38100" y="0"/>
                </a:moveTo>
                <a:lnTo>
                  <a:pt x="38100" y="0"/>
                </a:lnTo>
                <a:lnTo>
                  <a:pt x="38100" y="2400300"/>
                </a:lnTo>
                <a:lnTo>
                  <a:pt x="38100" y="2400300"/>
                </a:lnTo>
                <a:cubicBezTo>
                  <a:pt x="17072" y="2400300"/>
                  <a:pt x="0" y="2383228"/>
                  <a:pt x="0" y="23622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5F737C"/>
          </a:solidFill>
          <a:ln/>
        </p:spPr>
      </p:sp>
      <p:sp>
        <p:nvSpPr>
          <p:cNvPr id="19" name="Shape 17"/>
          <p:cNvSpPr/>
          <p:nvPr/>
        </p:nvSpPr>
        <p:spPr>
          <a:xfrm>
            <a:off x="571500" y="2942988"/>
            <a:ext cx="285750" cy="285750"/>
          </a:xfrm>
          <a:custGeom>
            <a:avLst/>
            <a:gdLst/>
            <a:ahLst/>
            <a:cxnLst/>
            <a:rect l="l" t="t" r="r" b="b"/>
            <a:pathLst>
              <a:path w="285750" h="285750">
                <a:moveTo>
                  <a:pt x="232172" y="116086"/>
                </a:moveTo>
                <a:cubicBezTo>
                  <a:pt x="232172" y="141703"/>
                  <a:pt x="223856" y="165367"/>
                  <a:pt x="209848" y="184565"/>
                </a:cubicBezTo>
                <a:lnTo>
                  <a:pt x="280504" y="255277"/>
                </a:lnTo>
                <a:cubicBezTo>
                  <a:pt x="287480" y="262254"/>
                  <a:pt x="287480" y="273583"/>
                  <a:pt x="280504" y="280560"/>
                </a:cubicBezTo>
                <a:cubicBezTo>
                  <a:pt x="273527" y="287536"/>
                  <a:pt x="262198" y="287536"/>
                  <a:pt x="255222" y="280560"/>
                </a:cubicBezTo>
                <a:lnTo>
                  <a:pt x="184565" y="209848"/>
                </a:lnTo>
                <a:cubicBezTo>
                  <a:pt x="165367" y="223856"/>
                  <a:pt x="141703" y="232172"/>
                  <a:pt x="116086" y="232172"/>
                </a:cubicBezTo>
                <a:cubicBezTo>
                  <a:pt x="51960" y="232172"/>
                  <a:pt x="0" y="180212"/>
                  <a:pt x="0" y="116086"/>
                </a:cubicBezTo>
                <a:cubicBezTo>
                  <a:pt x="0" y="51960"/>
                  <a:pt x="51960" y="0"/>
                  <a:pt x="116086" y="0"/>
                </a:cubicBezTo>
                <a:cubicBezTo>
                  <a:pt x="180212" y="0"/>
                  <a:pt x="232172" y="51960"/>
                  <a:pt x="232172" y="116086"/>
                </a:cubicBezTo>
                <a:close/>
                <a:moveTo>
                  <a:pt x="116086" y="196453"/>
                </a:moveTo>
                <a:cubicBezTo>
                  <a:pt x="160442" y="196453"/>
                  <a:pt x="196453" y="160442"/>
                  <a:pt x="196453" y="116086"/>
                </a:cubicBezTo>
                <a:cubicBezTo>
                  <a:pt x="196453" y="71730"/>
                  <a:pt x="160442" y="35719"/>
                  <a:pt x="116086" y="35719"/>
                </a:cubicBezTo>
                <a:cubicBezTo>
                  <a:pt x="71730" y="35719"/>
                  <a:pt x="35719" y="71730"/>
                  <a:pt x="35719" y="116086"/>
                </a:cubicBezTo>
                <a:cubicBezTo>
                  <a:pt x="35719" y="160442"/>
                  <a:pt x="71730" y="196453"/>
                  <a:pt x="116086" y="196453"/>
                </a:cubicBezTo>
                <a:close/>
              </a:path>
            </a:pathLst>
          </a:custGeom>
          <a:solidFill>
            <a:srgbClr val="5F737C"/>
          </a:solidFill>
          <a:ln/>
        </p:spPr>
      </p:sp>
      <p:sp>
        <p:nvSpPr>
          <p:cNvPr id="20" name="Text 18"/>
          <p:cNvSpPr/>
          <p:nvPr/>
        </p:nvSpPr>
        <p:spPr>
          <a:xfrm>
            <a:off x="1004887" y="2933584"/>
            <a:ext cx="233362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F0F2F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Detection Capabilities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533400" y="3314463"/>
            <a:ext cx="5372100" cy="571500"/>
          </a:xfrm>
          <a:prstGeom prst="roundRect">
            <a:avLst>
              <a:gd name="adj" fmla="val 13333"/>
            </a:avLst>
          </a:prstGeom>
          <a:solidFill>
            <a:srgbClr val="1A1D21">
              <a:alpha val="60000"/>
            </a:srgbClr>
          </a:solidFill>
          <a:ln/>
        </p:spPr>
      </p:sp>
      <p:sp>
        <p:nvSpPr>
          <p:cNvPr id="22" name="Shape 20"/>
          <p:cNvSpPr/>
          <p:nvPr/>
        </p:nvSpPr>
        <p:spPr>
          <a:xfrm>
            <a:off x="633413" y="3504963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86506" y="1935"/>
                </a:moveTo>
                <a:cubicBezTo>
                  <a:pt x="92050" y="-633"/>
                  <a:pt x="98450" y="-633"/>
                  <a:pt x="103994" y="1935"/>
                </a:cubicBezTo>
                <a:lnTo>
                  <a:pt x="185328" y="39514"/>
                </a:lnTo>
                <a:cubicBezTo>
                  <a:pt x="188491" y="40965"/>
                  <a:pt x="190500" y="44128"/>
                  <a:pt x="190500" y="47625"/>
                </a:cubicBezTo>
                <a:cubicBezTo>
                  <a:pt x="190500" y="51122"/>
                  <a:pt x="188491" y="54285"/>
                  <a:pt x="185328" y="55736"/>
                </a:cubicBezTo>
                <a:lnTo>
                  <a:pt x="103994" y="93315"/>
                </a:lnTo>
                <a:cubicBezTo>
                  <a:pt x="98450" y="95883"/>
                  <a:pt x="92050" y="95883"/>
                  <a:pt x="86506" y="93315"/>
                </a:cubicBezTo>
                <a:lnTo>
                  <a:pt x="5172" y="55736"/>
                </a:lnTo>
                <a:cubicBezTo>
                  <a:pt x="2009" y="54248"/>
                  <a:pt x="0" y="51085"/>
                  <a:pt x="0" y="47625"/>
                </a:cubicBezTo>
                <a:cubicBezTo>
                  <a:pt x="0" y="44165"/>
                  <a:pt x="2009" y="40965"/>
                  <a:pt x="5172" y="39514"/>
                </a:cubicBezTo>
                <a:lnTo>
                  <a:pt x="86506" y="1935"/>
                </a:lnTo>
                <a:close/>
                <a:moveTo>
                  <a:pt x="17897" y="81260"/>
                </a:moveTo>
                <a:lnTo>
                  <a:pt x="79028" y="109500"/>
                </a:lnTo>
                <a:cubicBezTo>
                  <a:pt x="89334" y="114263"/>
                  <a:pt x="101203" y="114263"/>
                  <a:pt x="111509" y="109500"/>
                </a:cubicBezTo>
                <a:lnTo>
                  <a:pt x="172641" y="81260"/>
                </a:lnTo>
                <a:lnTo>
                  <a:pt x="185328" y="87139"/>
                </a:lnTo>
                <a:cubicBezTo>
                  <a:pt x="188491" y="88590"/>
                  <a:pt x="190500" y="91753"/>
                  <a:pt x="190500" y="95250"/>
                </a:cubicBezTo>
                <a:cubicBezTo>
                  <a:pt x="190500" y="98747"/>
                  <a:pt x="188491" y="101910"/>
                  <a:pt x="185328" y="103361"/>
                </a:cubicBezTo>
                <a:lnTo>
                  <a:pt x="103994" y="140940"/>
                </a:lnTo>
                <a:cubicBezTo>
                  <a:pt x="98450" y="143508"/>
                  <a:pt x="92050" y="143508"/>
                  <a:pt x="86506" y="140940"/>
                </a:cubicBezTo>
                <a:lnTo>
                  <a:pt x="5172" y="103361"/>
                </a:lnTo>
                <a:cubicBezTo>
                  <a:pt x="2009" y="101873"/>
                  <a:pt x="0" y="98710"/>
                  <a:pt x="0" y="95250"/>
                </a:cubicBezTo>
                <a:cubicBezTo>
                  <a:pt x="0" y="91790"/>
                  <a:pt x="2009" y="88590"/>
                  <a:pt x="5172" y="87139"/>
                </a:cubicBezTo>
                <a:lnTo>
                  <a:pt x="17859" y="81260"/>
                </a:lnTo>
                <a:close/>
                <a:moveTo>
                  <a:pt x="5172" y="134764"/>
                </a:moveTo>
                <a:lnTo>
                  <a:pt x="17859" y="128885"/>
                </a:lnTo>
                <a:lnTo>
                  <a:pt x="78991" y="157125"/>
                </a:lnTo>
                <a:cubicBezTo>
                  <a:pt x="89297" y="161888"/>
                  <a:pt x="101166" y="161888"/>
                  <a:pt x="111472" y="157125"/>
                </a:cubicBezTo>
                <a:lnTo>
                  <a:pt x="172603" y="128885"/>
                </a:lnTo>
                <a:lnTo>
                  <a:pt x="185291" y="134764"/>
                </a:lnTo>
                <a:cubicBezTo>
                  <a:pt x="188454" y="136215"/>
                  <a:pt x="190463" y="139378"/>
                  <a:pt x="190463" y="142875"/>
                </a:cubicBezTo>
                <a:cubicBezTo>
                  <a:pt x="190463" y="146372"/>
                  <a:pt x="188454" y="149535"/>
                  <a:pt x="185291" y="150986"/>
                </a:cubicBezTo>
                <a:lnTo>
                  <a:pt x="103956" y="188565"/>
                </a:lnTo>
                <a:cubicBezTo>
                  <a:pt x="98413" y="191133"/>
                  <a:pt x="92013" y="191133"/>
                  <a:pt x="86469" y="188565"/>
                </a:cubicBezTo>
                <a:lnTo>
                  <a:pt x="5172" y="150986"/>
                </a:lnTo>
                <a:cubicBezTo>
                  <a:pt x="2009" y="149498"/>
                  <a:pt x="0" y="146335"/>
                  <a:pt x="0" y="142875"/>
                </a:cubicBezTo>
                <a:cubicBezTo>
                  <a:pt x="0" y="139415"/>
                  <a:pt x="2009" y="136215"/>
                  <a:pt x="5172" y="134764"/>
                </a:cubicBezTo>
                <a:close/>
              </a:path>
            </a:pathLst>
          </a:custGeom>
          <a:solidFill>
            <a:srgbClr val="D4A373"/>
          </a:solidFill>
          <a:ln/>
        </p:spPr>
      </p:sp>
      <p:sp>
        <p:nvSpPr>
          <p:cNvPr id="23" name="Text 21"/>
          <p:cNvSpPr/>
          <p:nvPr/>
        </p:nvSpPr>
        <p:spPr>
          <a:xfrm>
            <a:off x="962025" y="3390663"/>
            <a:ext cx="32289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0F2F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Blending Boundaries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962025" y="3619263"/>
            <a:ext cx="32194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9A959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Detects seams between original and synthetic regions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533400" y="3924063"/>
            <a:ext cx="5372100" cy="571500"/>
          </a:xfrm>
          <a:prstGeom prst="roundRect">
            <a:avLst>
              <a:gd name="adj" fmla="val 13333"/>
            </a:avLst>
          </a:prstGeom>
          <a:solidFill>
            <a:srgbClr val="1A1D21">
              <a:alpha val="60000"/>
            </a:srgbClr>
          </a:solidFill>
          <a:ln/>
        </p:spPr>
      </p:sp>
      <p:sp>
        <p:nvSpPr>
          <p:cNvPr id="26" name="Shape 24"/>
          <p:cNvSpPr/>
          <p:nvPr/>
        </p:nvSpPr>
        <p:spPr>
          <a:xfrm>
            <a:off x="633413" y="4114563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24519" y="85018"/>
                </a:moveTo>
                <a:cubicBezTo>
                  <a:pt x="29468" y="50416"/>
                  <a:pt x="59271" y="23812"/>
                  <a:pt x="95250" y="23812"/>
                </a:cubicBezTo>
                <a:cubicBezTo>
                  <a:pt x="114970" y="23812"/>
                  <a:pt x="132829" y="31812"/>
                  <a:pt x="145777" y="44723"/>
                </a:cubicBezTo>
                <a:cubicBezTo>
                  <a:pt x="145852" y="44797"/>
                  <a:pt x="145926" y="44872"/>
                  <a:pt x="146000" y="44946"/>
                </a:cubicBezTo>
                <a:lnTo>
                  <a:pt x="148828" y="47625"/>
                </a:lnTo>
                <a:lnTo>
                  <a:pt x="131006" y="47625"/>
                </a:lnTo>
                <a:cubicBezTo>
                  <a:pt x="124420" y="47625"/>
                  <a:pt x="119100" y="52946"/>
                  <a:pt x="119100" y="59531"/>
                </a:cubicBezTo>
                <a:cubicBezTo>
                  <a:pt x="119100" y="66117"/>
                  <a:pt x="124420" y="71438"/>
                  <a:pt x="131006" y="71438"/>
                </a:cubicBezTo>
                <a:lnTo>
                  <a:pt x="178631" y="71438"/>
                </a:lnTo>
                <a:cubicBezTo>
                  <a:pt x="185217" y="71438"/>
                  <a:pt x="190537" y="66117"/>
                  <a:pt x="190537" y="59531"/>
                </a:cubicBezTo>
                <a:lnTo>
                  <a:pt x="190537" y="11906"/>
                </a:lnTo>
                <a:cubicBezTo>
                  <a:pt x="190537" y="5321"/>
                  <a:pt x="185217" y="0"/>
                  <a:pt x="178631" y="0"/>
                </a:cubicBezTo>
                <a:cubicBezTo>
                  <a:pt x="172045" y="0"/>
                  <a:pt x="166725" y="5321"/>
                  <a:pt x="166725" y="11906"/>
                </a:cubicBezTo>
                <a:lnTo>
                  <a:pt x="166725" y="31775"/>
                </a:lnTo>
                <a:lnTo>
                  <a:pt x="162520" y="27794"/>
                </a:lnTo>
                <a:cubicBezTo>
                  <a:pt x="145293" y="10641"/>
                  <a:pt x="121481" y="0"/>
                  <a:pt x="95250" y="0"/>
                </a:cubicBezTo>
                <a:cubicBezTo>
                  <a:pt x="47253" y="0"/>
                  <a:pt x="7553" y="35496"/>
                  <a:pt x="967" y="81669"/>
                </a:cubicBezTo>
                <a:cubicBezTo>
                  <a:pt x="37" y="88181"/>
                  <a:pt x="4539" y="94208"/>
                  <a:pt x="11050" y="95138"/>
                </a:cubicBezTo>
                <a:cubicBezTo>
                  <a:pt x="17562" y="96069"/>
                  <a:pt x="23589" y="91529"/>
                  <a:pt x="24519" y="85055"/>
                </a:cubicBezTo>
                <a:close/>
                <a:moveTo>
                  <a:pt x="189533" y="108831"/>
                </a:moveTo>
                <a:cubicBezTo>
                  <a:pt x="190463" y="102319"/>
                  <a:pt x="185924" y="96292"/>
                  <a:pt x="179450" y="95362"/>
                </a:cubicBezTo>
                <a:cubicBezTo>
                  <a:pt x="172975" y="94431"/>
                  <a:pt x="166911" y="98971"/>
                  <a:pt x="165981" y="105445"/>
                </a:cubicBezTo>
                <a:cubicBezTo>
                  <a:pt x="161032" y="140047"/>
                  <a:pt x="131229" y="166650"/>
                  <a:pt x="95250" y="166650"/>
                </a:cubicBezTo>
                <a:cubicBezTo>
                  <a:pt x="75530" y="166650"/>
                  <a:pt x="57671" y="158651"/>
                  <a:pt x="44723" y="145740"/>
                </a:cubicBezTo>
                <a:cubicBezTo>
                  <a:pt x="44648" y="145666"/>
                  <a:pt x="44574" y="145591"/>
                  <a:pt x="44500" y="145517"/>
                </a:cubicBezTo>
                <a:lnTo>
                  <a:pt x="41672" y="142838"/>
                </a:lnTo>
                <a:lnTo>
                  <a:pt x="59494" y="142838"/>
                </a:lnTo>
                <a:cubicBezTo>
                  <a:pt x="66080" y="142838"/>
                  <a:pt x="71400" y="137517"/>
                  <a:pt x="71400" y="130932"/>
                </a:cubicBezTo>
                <a:cubicBezTo>
                  <a:pt x="71400" y="124346"/>
                  <a:pt x="66080" y="119025"/>
                  <a:pt x="59494" y="119025"/>
                </a:cubicBezTo>
                <a:lnTo>
                  <a:pt x="11906" y="119063"/>
                </a:lnTo>
                <a:cubicBezTo>
                  <a:pt x="8744" y="119063"/>
                  <a:pt x="5693" y="120328"/>
                  <a:pt x="3460" y="122597"/>
                </a:cubicBezTo>
                <a:cubicBezTo>
                  <a:pt x="1228" y="124867"/>
                  <a:pt x="-37" y="127881"/>
                  <a:pt x="0" y="131080"/>
                </a:cubicBezTo>
                <a:lnTo>
                  <a:pt x="372" y="178333"/>
                </a:lnTo>
                <a:cubicBezTo>
                  <a:pt x="409" y="184919"/>
                  <a:pt x="5804" y="190202"/>
                  <a:pt x="12390" y="190128"/>
                </a:cubicBezTo>
                <a:cubicBezTo>
                  <a:pt x="18976" y="190054"/>
                  <a:pt x="24259" y="184696"/>
                  <a:pt x="24185" y="178110"/>
                </a:cubicBezTo>
                <a:lnTo>
                  <a:pt x="24036" y="158948"/>
                </a:lnTo>
                <a:lnTo>
                  <a:pt x="28017" y="162706"/>
                </a:lnTo>
                <a:cubicBezTo>
                  <a:pt x="45244" y="179859"/>
                  <a:pt x="69019" y="190500"/>
                  <a:pt x="95250" y="190500"/>
                </a:cubicBezTo>
                <a:cubicBezTo>
                  <a:pt x="143247" y="190500"/>
                  <a:pt x="182947" y="155004"/>
                  <a:pt x="189533" y="108831"/>
                </a:cubicBezTo>
                <a:close/>
              </a:path>
            </a:pathLst>
          </a:custGeom>
          <a:solidFill>
            <a:srgbClr val="D4A373"/>
          </a:solidFill>
          <a:ln/>
        </p:spPr>
      </p:sp>
      <p:sp>
        <p:nvSpPr>
          <p:cNvPr id="27" name="Text 25"/>
          <p:cNvSpPr/>
          <p:nvPr/>
        </p:nvSpPr>
        <p:spPr>
          <a:xfrm>
            <a:off x="962025" y="4000263"/>
            <a:ext cx="31337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0F2F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Texture Inconsistencies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962025" y="4228863"/>
            <a:ext cx="31242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9A959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Identifies unnatural skin texture and lighting artifacts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533400" y="4533663"/>
            <a:ext cx="5372100" cy="571500"/>
          </a:xfrm>
          <a:prstGeom prst="roundRect">
            <a:avLst>
              <a:gd name="adj" fmla="val 13333"/>
            </a:avLst>
          </a:prstGeom>
          <a:solidFill>
            <a:srgbClr val="1A1D21">
              <a:alpha val="60000"/>
            </a:srgbClr>
          </a:solidFill>
          <a:ln/>
        </p:spPr>
      </p:sp>
      <p:sp>
        <p:nvSpPr>
          <p:cNvPr id="30" name="Shape 28"/>
          <p:cNvSpPr/>
          <p:nvPr/>
        </p:nvSpPr>
        <p:spPr>
          <a:xfrm>
            <a:off x="633413" y="4724163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95250" y="0"/>
                </a:moveTo>
                <a:cubicBezTo>
                  <a:pt x="100719" y="0"/>
                  <a:pt x="105742" y="3014"/>
                  <a:pt x="108347" y="7813"/>
                </a:cubicBezTo>
                <a:lnTo>
                  <a:pt x="188714" y="156642"/>
                </a:lnTo>
                <a:cubicBezTo>
                  <a:pt x="191207" y="161255"/>
                  <a:pt x="191095" y="166836"/>
                  <a:pt x="188416" y="171338"/>
                </a:cubicBezTo>
                <a:cubicBezTo>
                  <a:pt x="185737" y="175840"/>
                  <a:pt x="180863" y="178594"/>
                  <a:pt x="175617" y="178594"/>
                </a:cubicBezTo>
                <a:lnTo>
                  <a:pt x="14883" y="178594"/>
                </a:lnTo>
                <a:cubicBezTo>
                  <a:pt x="9637" y="178594"/>
                  <a:pt x="4800" y="175840"/>
                  <a:pt x="2084" y="171338"/>
                </a:cubicBezTo>
                <a:cubicBezTo>
                  <a:pt x="-633" y="166836"/>
                  <a:pt x="-707" y="161255"/>
                  <a:pt x="1786" y="156642"/>
                </a:cubicBezTo>
                <a:lnTo>
                  <a:pt x="82153" y="7813"/>
                </a:lnTo>
                <a:cubicBezTo>
                  <a:pt x="84758" y="3014"/>
                  <a:pt x="89781" y="0"/>
                  <a:pt x="95250" y="0"/>
                </a:cubicBezTo>
                <a:close/>
                <a:moveTo>
                  <a:pt x="95250" y="62508"/>
                </a:moveTo>
                <a:cubicBezTo>
                  <a:pt x="90301" y="62508"/>
                  <a:pt x="86320" y="66489"/>
                  <a:pt x="86320" y="71438"/>
                </a:cubicBezTo>
                <a:lnTo>
                  <a:pt x="86320" y="113109"/>
                </a:lnTo>
                <a:cubicBezTo>
                  <a:pt x="86320" y="118058"/>
                  <a:pt x="90301" y="122039"/>
                  <a:pt x="95250" y="122039"/>
                </a:cubicBezTo>
                <a:cubicBezTo>
                  <a:pt x="100199" y="122039"/>
                  <a:pt x="104180" y="118058"/>
                  <a:pt x="104180" y="113109"/>
                </a:cubicBezTo>
                <a:lnTo>
                  <a:pt x="104180" y="71438"/>
                </a:lnTo>
                <a:cubicBezTo>
                  <a:pt x="104180" y="66489"/>
                  <a:pt x="100199" y="62508"/>
                  <a:pt x="95250" y="62508"/>
                </a:cubicBezTo>
                <a:close/>
                <a:moveTo>
                  <a:pt x="105184" y="142875"/>
                </a:moveTo>
                <a:cubicBezTo>
                  <a:pt x="105410" y="139188"/>
                  <a:pt x="103571" y="135679"/>
                  <a:pt x="100410" y="133767"/>
                </a:cubicBezTo>
                <a:cubicBezTo>
                  <a:pt x="97249" y="131855"/>
                  <a:pt x="93288" y="131855"/>
                  <a:pt x="90127" y="133767"/>
                </a:cubicBezTo>
                <a:cubicBezTo>
                  <a:pt x="86966" y="135679"/>
                  <a:pt x="85127" y="139188"/>
                  <a:pt x="85353" y="142875"/>
                </a:cubicBezTo>
                <a:cubicBezTo>
                  <a:pt x="85127" y="146562"/>
                  <a:pt x="86966" y="150071"/>
                  <a:pt x="90127" y="151983"/>
                </a:cubicBezTo>
                <a:cubicBezTo>
                  <a:pt x="93288" y="153895"/>
                  <a:pt x="97249" y="153895"/>
                  <a:pt x="100410" y="151983"/>
                </a:cubicBezTo>
                <a:cubicBezTo>
                  <a:pt x="103571" y="150071"/>
                  <a:pt x="105410" y="146562"/>
                  <a:pt x="105184" y="142875"/>
                </a:cubicBezTo>
                <a:close/>
              </a:path>
            </a:pathLst>
          </a:custGeom>
          <a:solidFill>
            <a:srgbClr val="D4A373"/>
          </a:solidFill>
          <a:ln/>
        </p:spPr>
      </p:sp>
      <p:sp>
        <p:nvSpPr>
          <p:cNvPr id="31" name="Text 29"/>
          <p:cNvSpPr/>
          <p:nvPr/>
        </p:nvSpPr>
        <p:spPr>
          <a:xfrm>
            <a:off x="962025" y="4609863"/>
            <a:ext cx="29622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0F2F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Facial Anomalies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962025" y="4838463"/>
            <a:ext cx="29527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9A959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Spots irregularities in eyes, teeth, and hair regions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388620" y="5303283"/>
            <a:ext cx="5625465" cy="739140"/>
          </a:xfrm>
          <a:prstGeom prst="roundRect">
            <a:avLst>
              <a:gd name="adj" fmla="val 10309"/>
            </a:avLst>
          </a:prstGeom>
          <a:gradFill rotWithShape="1" flip="none">
            <a:gsLst>
              <a:gs pos="0">
                <a:srgbClr val="D4A373">
                  <a:alpha val="20000"/>
                </a:srgbClr>
              </a:gs>
              <a:gs pos="100000">
                <a:srgbClr val="5F737C">
                  <a:alpha val="10000"/>
                </a:srgbClr>
              </a:gs>
            </a:gsLst>
            <a:lin ang="2700000" scaled="1"/>
          </a:gradFill>
          <a:ln w="20320">
            <a:solidFill>
              <a:srgbClr val="D4A373">
                <a:alpha val="50196"/>
              </a:srgbClr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548640" y="5529979"/>
            <a:ext cx="285750" cy="285750"/>
          </a:xfrm>
          <a:custGeom>
            <a:avLst/>
            <a:gdLst/>
            <a:ahLst/>
            <a:cxnLst/>
            <a:rect l="l" t="t" r="r" b="b"/>
            <a:pathLst>
              <a:path w="285750" h="285750">
                <a:moveTo>
                  <a:pt x="35719" y="35719"/>
                </a:moveTo>
                <a:cubicBezTo>
                  <a:pt x="35719" y="25840"/>
                  <a:pt x="27738" y="17859"/>
                  <a:pt x="17859" y="17859"/>
                </a:cubicBezTo>
                <a:cubicBezTo>
                  <a:pt x="7981" y="17859"/>
                  <a:pt x="0" y="25840"/>
                  <a:pt x="0" y="35719"/>
                </a:cubicBezTo>
                <a:lnTo>
                  <a:pt x="0" y="223242"/>
                </a:lnTo>
                <a:cubicBezTo>
                  <a:pt x="0" y="247910"/>
                  <a:pt x="19980" y="267891"/>
                  <a:pt x="44648" y="267891"/>
                </a:cubicBezTo>
                <a:lnTo>
                  <a:pt x="267891" y="267891"/>
                </a:lnTo>
                <a:cubicBezTo>
                  <a:pt x="277769" y="267891"/>
                  <a:pt x="285750" y="259910"/>
                  <a:pt x="285750" y="250031"/>
                </a:cubicBezTo>
                <a:cubicBezTo>
                  <a:pt x="285750" y="240153"/>
                  <a:pt x="277769" y="232172"/>
                  <a:pt x="267891" y="232172"/>
                </a:cubicBezTo>
                <a:lnTo>
                  <a:pt x="44648" y="232172"/>
                </a:lnTo>
                <a:cubicBezTo>
                  <a:pt x="39737" y="232172"/>
                  <a:pt x="35719" y="228154"/>
                  <a:pt x="35719" y="223242"/>
                </a:cubicBezTo>
                <a:lnTo>
                  <a:pt x="35719" y="35719"/>
                </a:lnTo>
                <a:close/>
                <a:moveTo>
                  <a:pt x="262644" y="84051"/>
                </a:moveTo>
                <a:cubicBezTo>
                  <a:pt x="269621" y="77074"/>
                  <a:pt x="269621" y="65745"/>
                  <a:pt x="262644" y="58769"/>
                </a:cubicBezTo>
                <a:cubicBezTo>
                  <a:pt x="255668" y="51792"/>
                  <a:pt x="244339" y="51792"/>
                  <a:pt x="237362" y="58769"/>
                </a:cubicBezTo>
                <a:lnTo>
                  <a:pt x="178594" y="117593"/>
                </a:lnTo>
                <a:lnTo>
                  <a:pt x="146558" y="85613"/>
                </a:lnTo>
                <a:cubicBezTo>
                  <a:pt x="139582" y="78637"/>
                  <a:pt x="128253" y="78637"/>
                  <a:pt x="121276" y="85613"/>
                </a:cubicBezTo>
                <a:lnTo>
                  <a:pt x="67698" y="139192"/>
                </a:lnTo>
                <a:cubicBezTo>
                  <a:pt x="60722" y="146168"/>
                  <a:pt x="60722" y="157497"/>
                  <a:pt x="67698" y="164474"/>
                </a:cubicBezTo>
                <a:cubicBezTo>
                  <a:pt x="74675" y="171450"/>
                  <a:pt x="86004" y="171450"/>
                  <a:pt x="92980" y="164474"/>
                </a:cubicBezTo>
                <a:lnTo>
                  <a:pt x="133945" y="123509"/>
                </a:lnTo>
                <a:lnTo>
                  <a:pt x="165981" y="155544"/>
                </a:lnTo>
                <a:cubicBezTo>
                  <a:pt x="172957" y="162520"/>
                  <a:pt x="184286" y="162520"/>
                  <a:pt x="191263" y="155544"/>
                </a:cubicBezTo>
                <a:lnTo>
                  <a:pt x="262700" y="84106"/>
                </a:lnTo>
                <a:close/>
              </a:path>
            </a:pathLst>
          </a:custGeom>
          <a:solidFill>
            <a:srgbClr val="D4A373"/>
          </a:solidFill>
          <a:ln/>
        </p:spPr>
      </p:sp>
      <p:sp>
        <p:nvSpPr>
          <p:cNvPr id="35" name="Text 33"/>
          <p:cNvSpPr/>
          <p:nvPr/>
        </p:nvSpPr>
        <p:spPr>
          <a:xfrm>
            <a:off x="982027" y="5425204"/>
            <a:ext cx="42100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F0F2F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Performance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982027" y="5691904"/>
            <a:ext cx="4191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F0F2F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Achieves </a:t>
            </a:r>
            <a:pPr>
              <a:lnSpc>
                <a:spcPct val="130000"/>
              </a:lnSpc>
            </a:pPr>
            <a:r>
              <a:rPr lang="en-US" sz="1200" dirty="0">
                <a:solidFill>
                  <a:srgbClr val="D4A373"/>
                </a:solidFill>
                <a:highlight>
                  <a:srgbClr val="D4A373">
                    <a:alpha val="30000"/>
                  </a:srgbClr>
                </a:highlight>
                <a:latin typeface="Liter" pitchFamily="34" charset="0"/>
                <a:ea typeface="Liter" pitchFamily="34" charset="-122"/>
                <a:cs typeface="Liter" pitchFamily="34" charset="-120"/>
              </a:rPr>
              <a:t>high accuracy </a:t>
            </a:r>
            <a:pPr>
              <a:lnSpc>
                <a:spcPct val="130000"/>
              </a:lnSpc>
            </a:pPr>
            <a:r>
              <a:rPr lang="en-US" sz="1200" dirty="0">
                <a:solidFill>
                  <a:srgbClr val="F0F2F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 distinguishing real vs. fake faces.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6176010" y="1261110"/>
            <a:ext cx="5627370" cy="3379470"/>
          </a:xfrm>
          <a:prstGeom prst="roundRect">
            <a:avLst>
              <a:gd name="adj" fmla="val 2255"/>
            </a:avLst>
          </a:prstGeom>
          <a:solidFill>
            <a:srgbClr val="5F737C">
              <a:alpha val="20000"/>
            </a:srgbClr>
          </a:solidFill>
          <a:ln w="10160">
            <a:solidFill>
              <a:srgbClr val="5F737C">
                <a:alpha val="40000"/>
              </a:srgbClr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246495" y="1379223"/>
            <a:ext cx="54864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500" b="1" dirty="0">
                <a:solidFill>
                  <a:srgbClr val="F0F2F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Architecture Diagram</a:t>
            </a:r>
            <a:endParaRPr lang="en-US" sz="1600" dirty="0"/>
          </a:p>
        </p:txBody>
      </p:sp>
      <p:pic>
        <p:nvPicPr>
          <p:cNvPr id="39" name="Image 0" descr="https://kimi-img.moonshot.cn/pub/slides/26-06-04-23:56:50-d8gq0ggc86s5pgro274g.png">    </p:cNvPr>
          <p:cNvPicPr>
            <a:picLocks noChangeAspect="1"/>
          </p:cNvPicPr>
          <p:nvPr/>
        </p:nvPicPr>
        <p:blipFill>
          <a:blip r:embed="rId1"/>
          <a:srcRect l="33" r="33" t="0" b="0"/>
          <a:stretch/>
        </p:blipFill>
        <p:spPr>
          <a:xfrm>
            <a:off x="6294120" y="1722123"/>
            <a:ext cx="5391150" cy="2800350"/>
          </a:xfrm>
          <a:prstGeom prst="roundRect">
            <a:avLst>
              <a:gd name="adj" fmla="val 0"/>
            </a:avLst>
          </a:prstGeom>
        </p:spPr>
      </p:pic>
      <p:sp>
        <p:nvSpPr>
          <p:cNvPr id="40" name="Shape 37"/>
          <p:cNvSpPr/>
          <p:nvPr/>
        </p:nvSpPr>
        <p:spPr>
          <a:xfrm>
            <a:off x="6191250" y="4720591"/>
            <a:ext cx="5619750" cy="1333500"/>
          </a:xfrm>
          <a:custGeom>
            <a:avLst/>
            <a:gdLst/>
            <a:ahLst/>
            <a:cxnLst/>
            <a:rect l="l" t="t" r="r" b="b"/>
            <a:pathLst>
              <a:path w="5619750" h="1333500">
                <a:moveTo>
                  <a:pt x="38100" y="0"/>
                </a:moveTo>
                <a:lnTo>
                  <a:pt x="5543550" y="0"/>
                </a:lnTo>
                <a:cubicBezTo>
                  <a:pt x="5585606" y="0"/>
                  <a:pt x="5619750" y="34144"/>
                  <a:pt x="5619750" y="76200"/>
                </a:cubicBezTo>
                <a:lnTo>
                  <a:pt x="5619750" y="1257300"/>
                </a:lnTo>
                <a:cubicBezTo>
                  <a:pt x="5619750" y="1299356"/>
                  <a:pt x="5585606" y="1333500"/>
                  <a:pt x="5543550" y="1333500"/>
                </a:cubicBezTo>
                <a:lnTo>
                  <a:pt x="38100" y="1333500"/>
                </a:lnTo>
                <a:cubicBezTo>
                  <a:pt x="17072" y="1333500"/>
                  <a:pt x="0" y="1316428"/>
                  <a:pt x="0" y="12954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gradFill rotWithShape="1" flip="none">
            <a:gsLst>
              <a:gs pos="0">
                <a:srgbClr val="5F737C">
                  <a:alpha val="30000"/>
                </a:srgbClr>
              </a:gs>
              <a:gs pos="100000">
                <a:srgbClr val="4A5C6A">
                  <a:alpha val="20000"/>
                </a:srgbClr>
              </a:gs>
            </a:gsLst>
            <a:lin ang="2700000" scaled="1"/>
          </a:gradFill>
          <a:ln/>
        </p:spPr>
      </p:sp>
      <p:sp>
        <p:nvSpPr>
          <p:cNvPr id="41" name="Shape 38"/>
          <p:cNvSpPr/>
          <p:nvPr/>
        </p:nvSpPr>
        <p:spPr>
          <a:xfrm>
            <a:off x="6191250" y="4720591"/>
            <a:ext cx="38100" cy="1333500"/>
          </a:xfrm>
          <a:custGeom>
            <a:avLst/>
            <a:gdLst/>
            <a:ahLst/>
            <a:cxnLst/>
            <a:rect l="l" t="t" r="r" b="b"/>
            <a:pathLst>
              <a:path w="38100" h="1333500">
                <a:moveTo>
                  <a:pt x="38100" y="0"/>
                </a:moveTo>
                <a:lnTo>
                  <a:pt x="38100" y="0"/>
                </a:lnTo>
                <a:lnTo>
                  <a:pt x="38100" y="1333500"/>
                </a:lnTo>
                <a:lnTo>
                  <a:pt x="38100" y="1333500"/>
                </a:lnTo>
                <a:cubicBezTo>
                  <a:pt x="17072" y="1333500"/>
                  <a:pt x="0" y="1316428"/>
                  <a:pt x="0" y="12954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D4A373"/>
          </a:solidFill>
          <a:ln/>
        </p:spPr>
      </p:sp>
      <p:sp>
        <p:nvSpPr>
          <p:cNvPr id="42" name="Shape 39"/>
          <p:cNvSpPr/>
          <p:nvPr/>
        </p:nvSpPr>
        <p:spPr>
          <a:xfrm>
            <a:off x="6369844" y="4880609"/>
            <a:ext cx="128588" cy="171450"/>
          </a:xfrm>
          <a:custGeom>
            <a:avLst/>
            <a:gdLst/>
            <a:ahLst/>
            <a:cxnLst/>
            <a:rect l="l" t="t" r="r" b="b"/>
            <a:pathLst>
              <a:path w="128588" h="171450">
                <a:moveTo>
                  <a:pt x="98081" y="128588"/>
                </a:moveTo>
                <a:cubicBezTo>
                  <a:pt x="100526" y="121120"/>
                  <a:pt x="105415" y="114356"/>
                  <a:pt x="110940" y="108529"/>
                </a:cubicBezTo>
                <a:cubicBezTo>
                  <a:pt x="121890" y="97010"/>
                  <a:pt x="128587" y="81439"/>
                  <a:pt x="128587" y="64294"/>
                </a:cubicBezTo>
                <a:cubicBezTo>
                  <a:pt x="128587" y="28798"/>
                  <a:pt x="99789" y="0"/>
                  <a:pt x="64294" y="0"/>
                </a:cubicBezTo>
                <a:cubicBezTo>
                  <a:pt x="28798" y="0"/>
                  <a:pt x="0" y="28798"/>
                  <a:pt x="0" y="64294"/>
                </a:cubicBezTo>
                <a:cubicBezTo>
                  <a:pt x="0" y="81439"/>
                  <a:pt x="6697" y="97010"/>
                  <a:pt x="17647" y="108529"/>
                </a:cubicBezTo>
                <a:cubicBezTo>
                  <a:pt x="23173" y="114356"/>
                  <a:pt x="28095" y="121120"/>
                  <a:pt x="30506" y="128588"/>
                </a:cubicBezTo>
                <a:lnTo>
                  <a:pt x="98048" y="128588"/>
                </a:lnTo>
                <a:close/>
                <a:moveTo>
                  <a:pt x="96441" y="144661"/>
                </a:moveTo>
                <a:lnTo>
                  <a:pt x="32147" y="144661"/>
                </a:lnTo>
                <a:lnTo>
                  <a:pt x="32147" y="150019"/>
                </a:lnTo>
                <a:cubicBezTo>
                  <a:pt x="32147" y="164820"/>
                  <a:pt x="44135" y="176808"/>
                  <a:pt x="58936" y="176808"/>
                </a:cubicBezTo>
                <a:lnTo>
                  <a:pt x="69652" y="176808"/>
                </a:lnTo>
                <a:cubicBezTo>
                  <a:pt x="84453" y="176808"/>
                  <a:pt x="96441" y="164820"/>
                  <a:pt x="96441" y="150019"/>
                </a:cubicBezTo>
                <a:lnTo>
                  <a:pt x="96441" y="144661"/>
                </a:lnTo>
                <a:close/>
                <a:moveTo>
                  <a:pt x="61615" y="37505"/>
                </a:moveTo>
                <a:cubicBezTo>
                  <a:pt x="48287" y="37505"/>
                  <a:pt x="37505" y="48287"/>
                  <a:pt x="37505" y="61615"/>
                </a:cubicBezTo>
                <a:cubicBezTo>
                  <a:pt x="37505" y="66069"/>
                  <a:pt x="33922" y="69652"/>
                  <a:pt x="29468" y="69652"/>
                </a:cubicBezTo>
                <a:cubicBezTo>
                  <a:pt x="25014" y="69652"/>
                  <a:pt x="21431" y="66069"/>
                  <a:pt x="21431" y="61615"/>
                </a:cubicBezTo>
                <a:cubicBezTo>
                  <a:pt x="21431" y="39413"/>
                  <a:pt x="39413" y="21431"/>
                  <a:pt x="61615" y="21431"/>
                </a:cubicBezTo>
                <a:cubicBezTo>
                  <a:pt x="66069" y="21431"/>
                  <a:pt x="69652" y="25014"/>
                  <a:pt x="69652" y="29468"/>
                </a:cubicBezTo>
                <a:cubicBezTo>
                  <a:pt x="69652" y="33922"/>
                  <a:pt x="66069" y="37505"/>
                  <a:pt x="61615" y="37505"/>
                </a:cubicBezTo>
                <a:close/>
              </a:path>
            </a:pathLst>
          </a:custGeom>
          <a:solidFill>
            <a:srgbClr val="D4A373"/>
          </a:solidFill>
          <a:ln/>
        </p:spPr>
      </p:sp>
      <p:sp>
        <p:nvSpPr>
          <p:cNvPr id="43" name="Text 40"/>
          <p:cNvSpPr/>
          <p:nvPr/>
        </p:nvSpPr>
        <p:spPr>
          <a:xfrm>
            <a:off x="6600825" y="4834891"/>
            <a:ext cx="51816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F0F2F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Why EfficientNet-B0?</a:t>
            </a:r>
            <a:endParaRPr lang="en-US" sz="1600" dirty="0"/>
          </a:p>
        </p:txBody>
      </p:sp>
      <p:sp>
        <p:nvSpPr>
          <p:cNvPr id="44" name="Shape 41"/>
          <p:cNvSpPr/>
          <p:nvPr/>
        </p:nvSpPr>
        <p:spPr>
          <a:xfrm>
            <a:off x="6353175" y="5215891"/>
            <a:ext cx="133350" cy="152400"/>
          </a:xfrm>
          <a:custGeom>
            <a:avLst/>
            <a:gdLst/>
            <a:ahLst/>
            <a:cxnLst/>
            <a:rect l="l" t="t" r="r" b="b"/>
            <a:pathLst>
              <a:path w="133350" h="152400">
                <a:moveTo>
                  <a:pt x="129421" y="20866"/>
                </a:moveTo>
                <a:cubicBezTo>
                  <a:pt x="133677" y="23961"/>
                  <a:pt x="134630" y="29914"/>
                  <a:pt x="131534" y="34171"/>
                </a:cubicBezTo>
                <a:lnTo>
                  <a:pt x="55334" y="138946"/>
                </a:lnTo>
                <a:cubicBezTo>
                  <a:pt x="53697" y="141208"/>
                  <a:pt x="51167" y="142607"/>
                  <a:pt x="48369" y="142845"/>
                </a:cubicBezTo>
                <a:cubicBezTo>
                  <a:pt x="45571" y="143083"/>
                  <a:pt x="42863" y="142042"/>
                  <a:pt x="40898" y="140077"/>
                </a:cubicBezTo>
                <a:lnTo>
                  <a:pt x="2798" y="101977"/>
                </a:lnTo>
                <a:cubicBezTo>
                  <a:pt x="-923" y="98256"/>
                  <a:pt x="-923" y="92214"/>
                  <a:pt x="2798" y="88493"/>
                </a:cubicBezTo>
                <a:cubicBezTo>
                  <a:pt x="6519" y="84773"/>
                  <a:pt x="12561" y="84773"/>
                  <a:pt x="16282" y="88493"/>
                </a:cubicBezTo>
                <a:lnTo>
                  <a:pt x="46494" y="118705"/>
                </a:lnTo>
                <a:lnTo>
                  <a:pt x="116145" y="22949"/>
                </a:lnTo>
                <a:cubicBezTo>
                  <a:pt x="119241" y="18693"/>
                  <a:pt x="125194" y="17740"/>
                  <a:pt x="129451" y="20836"/>
                </a:cubicBezTo>
                <a:close/>
              </a:path>
            </a:pathLst>
          </a:custGeom>
          <a:solidFill>
            <a:srgbClr val="D4A373"/>
          </a:solidFill>
          <a:ln/>
        </p:spPr>
      </p:sp>
      <p:sp>
        <p:nvSpPr>
          <p:cNvPr id="45" name="Text 42"/>
          <p:cNvSpPr/>
          <p:nvPr/>
        </p:nvSpPr>
        <p:spPr>
          <a:xfrm>
            <a:off x="6591300" y="5177791"/>
            <a:ext cx="38957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F0F2F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Compound scaling optimizes depth, width, and resolution</a:t>
            </a:r>
            <a:endParaRPr lang="en-US" sz="1600" dirty="0"/>
          </a:p>
        </p:txBody>
      </p:sp>
      <p:sp>
        <p:nvSpPr>
          <p:cNvPr id="46" name="Shape 43"/>
          <p:cNvSpPr/>
          <p:nvPr/>
        </p:nvSpPr>
        <p:spPr>
          <a:xfrm>
            <a:off x="6353175" y="5482591"/>
            <a:ext cx="133350" cy="152400"/>
          </a:xfrm>
          <a:custGeom>
            <a:avLst/>
            <a:gdLst/>
            <a:ahLst/>
            <a:cxnLst/>
            <a:rect l="l" t="t" r="r" b="b"/>
            <a:pathLst>
              <a:path w="133350" h="152400">
                <a:moveTo>
                  <a:pt x="129421" y="20866"/>
                </a:moveTo>
                <a:cubicBezTo>
                  <a:pt x="133677" y="23961"/>
                  <a:pt x="134630" y="29914"/>
                  <a:pt x="131534" y="34171"/>
                </a:cubicBezTo>
                <a:lnTo>
                  <a:pt x="55334" y="138946"/>
                </a:lnTo>
                <a:cubicBezTo>
                  <a:pt x="53697" y="141208"/>
                  <a:pt x="51167" y="142607"/>
                  <a:pt x="48369" y="142845"/>
                </a:cubicBezTo>
                <a:cubicBezTo>
                  <a:pt x="45571" y="143083"/>
                  <a:pt x="42863" y="142042"/>
                  <a:pt x="40898" y="140077"/>
                </a:cubicBezTo>
                <a:lnTo>
                  <a:pt x="2798" y="101977"/>
                </a:lnTo>
                <a:cubicBezTo>
                  <a:pt x="-923" y="98256"/>
                  <a:pt x="-923" y="92214"/>
                  <a:pt x="2798" y="88493"/>
                </a:cubicBezTo>
                <a:cubicBezTo>
                  <a:pt x="6519" y="84773"/>
                  <a:pt x="12561" y="84773"/>
                  <a:pt x="16282" y="88493"/>
                </a:cubicBezTo>
                <a:lnTo>
                  <a:pt x="46494" y="118705"/>
                </a:lnTo>
                <a:lnTo>
                  <a:pt x="116145" y="22949"/>
                </a:lnTo>
                <a:cubicBezTo>
                  <a:pt x="119241" y="18693"/>
                  <a:pt x="125194" y="17740"/>
                  <a:pt x="129451" y="20836"/>
                </a:cubicBezTo>
                <a:close/>
              </a:path>
            </a:pathLst>
          </a:custGeom>
          <a:solidFill>
            <a:srgbClr val="D4A373"/>
          </a:solidFill>
          <a:ln/>
        </p:spPr>
      </p:sp>
      <p:sp>
        <p:nvSpPr>
          <p:cNvPr id="47" name="Text 44"/>
          <p:cNvSpPr/>
          <p:nvPr/>
        </p:nvSpPr>
        <p:spPr>
          <a:xfrm>
            <a:off x="6591300" y="5444491"/>
            <a:ext cx="36766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F0F2F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Superior accuracy with fewer parameters than ResNet</a:t>
            </a:r>
            <a:endParaRPr lang="en-US" sz="1600" dirty="0"/>
          </a:p>
        </p:txBody>
      </p:sp>
      <p:sp>
        <p:nvSpPr>
          <p:cNvPr id="48" name="Shape 45"/>
          <p:cNvSpPr/>
          <p:nvPr/>
        </p:nvSpPr>
        <p:spPr>
          <a:xfrm>
            <a:off x="6353175" y="5749291"/>
            <a:ext cx="133350" cy="152400"/>
          </a:xfrm>
          <a:custGeom>
            <a:avLst/>
            <a:gdLst/>
            <a:ahLst/>
            <a:cxnLst/>
            <a:rect l="l" t="t" r="r" b="b"/>
            <a:pathLst>
              <a:path w="133350" h="152400">
                <a:moveTo>
                  <a:pt x="129421" y="20866"/>
                </a:moveTo>
                <a:cubicBezTo>
                  <a:pt x="133677" y="23961"/>
                  <a:pt x="134630" y="29914"/>
                  <a:pt x="131534" y="34171"/>
                </a:cubicBezTo>
                <a:lnTo>
                  <a:pt x="55334" y="138946"/>
                </a:lnTo>
                <a:cubicBezTo>
                  <a:pt x="53697" y="141208"/>
                  <a:pt x="51167" y="142607"/>
                  <a:pt x="48369" y="142845"/>
                </a:cubicBezTo>
                <a:cubicBezTo>
                  <a:pt x="45571" y="143083"/>
                  <a:pt x="42863" y="142042"/>
                  <a:pt x="40898" y="140077"/>
                </a:cubicBezTo>
                <a:lnTo>
                  <a:pt x="2798" y="101977"/>
                </a:lnTo>
                <a:cubicBezTo>
                  <a:pt x="-923" y="98256"/>
                  <a:pt x="-923" y="92214"/>
                  <a:pt x="2798" y="88493"/>
                </a:cubicBezTo>
                <a:cubicBezTo>
                  <a:pt x="6519" y="84773"/>
                  <a:pt x="12561" y="84773"/>
                  <a:pt x="16282" y="88493"/>
                </a:cubicBezTo>
                <a:lnTo>
                  <a:pt x="46494" y="118705"/>
                </a:lnTo>
                <a:lnTo>
                  <a:pt x="116145" y="22949"/>
                </a:lnTo>
                <a:cubicBezTo>
                  <a:pt x="119241" y="18693"/>
                  <a:pt x="125194" y="17740"/>
                  <a:pt x="129451" y="20836"/>
                </a:cubicBezTo>
                <a:close/>
              </a:path>
            </a:pathLst>
          </a:custGeom>
          <a:solidFill>
            <a:srgbClr val="D4A373"/>
          </a:solidFill>
          <a:ln/>
        </p:spPr>
      </p:sp>
      <p:sp>
        <p:nvSpPr>
          <p:cNvPr id="49" name="Text 46"/>
          <p:cNvSpPr/>
          <p:nvPr/>
        </p:nvSpPr>
        <p:spPr>
          <a:xfrm>
            <a:off x="6591300" y="5711191"/>
            <a:ext cx="38195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F0F2F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Efficient for real-time deployment on standard hardware</a:t>
            </a:r>
            <a:endParaRPr lang="en-US" sz="1600" dirty="0"/>
          </a:p>
        </p:txBody>
      </p:sp>
      <p:sp>
        <p:nvSpPr>
          <p:cNvPr id="50" name="Shape 47"/>
          <p:cNvSpPr/>
          <p:nvPr/>
        </p:nvSpPr>
        <p:spPr>
          <a:xfrm>
            <a:off x="400050" y="6130291"/>
            <a:ext cx="11410950" cy="381000"/>
          </a:xfrm>
          <a:custGeom>
            <a:avLst/>
            <a:gdLst/>
            <a:ahLst/>
            <a:cxnLst/>
            <a:rect l="l" t="t" r="r" b="b"/>
            <a:pathLst>
              <a:path w="11410950" h="381000">
                <a:moveTo>
                  <a:pt x="38100" y="0"/>
                </a:moveTo>
                <a:lnTo>
                  <a:pt x="11334750" y="0"/>
                </a:lnTo>
                <a:cubicBezTo>
                  <a:pt x="11376806" y="0"/>
                  <a:pt x="11410950" y="34144"/>
                  <a:pt x="11410950" y="76200"/>
                </a:cubicBezTo>
                <a:lnTo>
                  <a:pt x="11410950" y="304800"/>
                </a:lnTo>
                <a:cubicBezTo>
                  <a:pt x="11410950" y="346856"/>
                  <a:pt x="11376806" y="381000"/>
                  <a:pt x="11334750" y="381000"/>
                </a:cubicBezTo>
                <a:lnTo>
                  <a:pt x="38100" y="381000"/>
                </a:lnTo>
                <a:cubicBezTo>
                  <a:pt x="17072" y="381000"/>
                  <a:pt x="0" y="363928"/>
                  <a:pt x="0" y="3429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5F737C">
              <a:alpha val="20000"/>
            </a:srgbClr>
          </a:solidFill>
          <a:ln/>
        </p:spPr>
      </p:sp>
      <p:sp>
        <p:nvSpPr>
          <p:cNvPr id="51" name="Shape 48"/>
          <p:cNvSpPr/>
          <p:nvPr/>
        </p:nvSpPr>
        <p:spPr>
          <a:xfrm>
            <a:off x="400050" y="6130291"/>
            <a:ext cx="38100" cy="381000"/>
          </a:xfrm>
          <a:custGeom>
            <a:avLst/>
            <a:gdLst/>
            <a:ahLst/>
            <a:cxnLst/>
            <a:rect l="l" t="t" r="r" b="b"/>
            <a:pathLst>
              <a:path w="38100" h="381000">
                <a:moveTo>
                  <a:pt x="38100" y="0"/>
                </a:moveTo>
                <a:lnTo>
                  <a:pt x="38100" y="0"/>
                </a:lnTo>
                <a:lnTo>
                  <a:pt x="38100" y="381000"/>
                </a:lnTo>
                <a:lnTo>
                  <a:pt x="38100" y="381000"/>
                </a:lnTo>
                <a:cubicBezTo>
                  <a:pt x="17072" y="381000"/>
                  <a:pt x="0" y="363928"/>
                  <a:pt x="0" y="3429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D4A373"/>
          </a:solidFill>
          <a:ln/>
        </p:spPr>
      </p:sp>
      <p:sp>
        <p:nvSpPr>
          <p:cNvPr id="52" name="Shape 49"/>
          <p:cNvSpPr/>
          <p:nvPr/>
        </p:nvSpPr>
        <p:spPr>
          <a:xfrm>
            <a:off x="514350" y="6236973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152400"/>
                </a:moveTo>
                <a:cubicBezTo>
                  <a:pt x="118256" y="152400"/>
                  <a:pt x="152400" y="118256"/>
                  <a:pt x="152400" y="76200"/>
                </a:cubicBezTo>
                <a:cubicBezTo>
                  <a:pt x="152400" y="34144"/>
                  <a:pt x="118256" y="0"/>
                  <a:pt x="76200" y="0"/>
                </a:cubicBezTo>
                <a:cubicBezTo>
                  <a:pt x="34144" y="0"/>
                  <a:pt x="0" y="34144"/>
                  <a:pt x="0" y="76200"/>
                </a:cubicBezTo>
                <a:cubicBezTo>
                  <a:pt x="0" y="118256"/>
                  <a:pt x="34144" y="152400"/>
                  <a:pt x="76200" y="152400"/>
                </a:cubicBezTo>
                <a:close/>
                <a:moveTo>
                  <a:pt x="66675" y="47625"/>
                </a:moveTo>
                <a:cubicBezTo>
                  <a:pt x="66675" y="42368"/>
                  <a:pt x="70943" y="38100"/>
                  <a:pt x="76200" y="38100"/>
                </a:cubicBezTo>
                <a:cubicBezTo>
                  <a:pt x="81457" y="38100"/>
                  <a:pt x="85725" y="42368"/>
                  <a:pt x="85725" y="47625"/>
                </a:cubicBezTo>
                <a:cubicBezTo>
                  <a:pt x="85725" y="52882"/>
                  <a:pt x="81457" y="57150"/>
                  <a:pt x="76200" y="57150"/>
                </a:cubicBezTo>
                <a:cubicBezTo>
                  <a:pt x="70943" y="57150"/>
                  <a:pt x="66675" y="52882"/>
                  <a:pt x="66675" y="47625"/>
                </a:cubicBezTo>
                <a:close/>
                <a:moveTo>
                  <a:pt x="64294" y="66675"/>
                </a:moveTo>
                <a:lnTo>
                  <a:pt x="78581" y="66675"/>
                </a:lnTo>
                <a:cubicBezTo>
                  <a:pt x="82540" y="66675"/>
                  <a:pt x="85725" y="69860"/>
                  <a:pt x="85725" y="73819"/>
                </a:cubicBezTo>
                <a:lnTo>
                  <a:pt x="85725" y="100013"/>
                </a:lnTo>
                <a:lnTo>
                  <a:pt x="88106" y="100013"/>
                </a:lnTo>
                <a:cubicBezTo>
                  <a:pt x="92065" y="100013"/>
                  <a:pt x="95250" y="103197"/>
                  <a:pt x="95250" y="107156"/>
                </a:cubicBezTo>
                <a:cubicBezTo>
                  <a:pt x="95250" y="111115"/>
                  <a:pt x="92065" y="114300"/>
                  <a:pt x="88106" y="114300"/>
                </a:cubicBezTo>
                <a:lnTo>
                  <a:pt x="64294" y="114300"/>
                </a:lnTo>
                <a:cubicBezTo>
                  <a:pt x="60335" y="114300"/>
                  <a:pt x="57150" y="111115"/>
                  <a:pt x="57150" y="107156"/>
                </a:cubicBezTo>
                <a:cubicBezTo>
                  <a:pt x="57150" y="103197"/>
                  <a:pt x="60335" y="100013"/>
                  <a:pt x="64294" y="100013"/>
                </a:cubicBezTo>
                <a:lnTo>
                  <a:pt x="71438" y="100013"/>
                </a:lnTo>
                <a:lnTo>
                  <a:pt x="71438" y="80962"/>
                </a:lnTo>
                <a:lnTo>
                  <a:pt x="64294" y="80962"/>
                </a:lnTo>
                <a:cubicBezTo>
                  <a:pt x="60335" y="80962"/>
                  <a:pt x="57150" y="77778"/>
                  <a:pt x="57150" y="73819"/>
                </a:cubicBezTo>
                <a:cubicBezTo>
                  <a:pt x="57150" y="69860"/>
                  <a:pt x="60335" y="66675"/>
                  <a:pt x="64294" y="66675"/>
                </a:cubicBezTo>
                <a:close/>
              </a:path>
            </a:pathLst>
          </a:custGeom>
          <a:solidFill>
            <a:srgbClr val="D4A373"/>
          </a:solidFill>
          <a:ln/>
        </p:spPr>
      </p:sp>
      <p:sp>
        <p:nvSpPr>
          <p:cNvPr id="53" name="Text 50"/>
          <p:cNvSpPr/>
          <p:nvPr/>
        </p:nvSpPr>
        <p:spPr>
          <a:xfrm>
            <a:off x="742950" y="6206491"/>
            <a:ext cx="110680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0F2F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Technical Note:</a:t>
            </a:r>
            <a:pPr>
              <a:lnSpc>
                <a:spcPct val="130000"/>
              </a:lnSpc>
            </a:pPr>
            <a:r>
              <a:rPr lang="en-US" sz="1200" dirty="0">
                <a:solidFill>
                  <a:srgbClr val="F0F2F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EfficientNet-B0 uses depthwise separable convolutions and squeeze-and-excitation optimization for superior feature extraction.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A1D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33799" y="333799"/>
            <a:ext cx="66760" cy="400559"/>
          </a:xfrm>
          <a:prstGeom prst="roundRect">
            <a:avLst>
              <a:gd name="adj" fmla="val 0"/>
            </a:avLst>
          </a:prstGeom>
          <a:solidFill>
            <a:srgbClr val="D4A373"/>
          </a:solidFill>
          <a:ln/>
        </p:spPr>
      </p:sp>
      <p:sp>
        <p:nvSpPr>
          <p:cNvPr id="3" name="Text 1"/>
          <p:cNvSpPr/>
          <p:nvPr/>
        </p:nvSpPr>
        <p:spPr>
          <a:xfrm>
            <a:off x="500698" y="333799"/>
            <a:ext cx="4948567" cy="4005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154" b="1" dirty="0">
                <a:solidFill>
                  <a:srgbClr val="F0F2F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AI Algorithm 2 - Grad-CAM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500698" y="801117"/>
            <a:ext cx="11440953" cy="2336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14" dirty="0">
                <a:solidFill>
                  <a:srgbClr val="9A959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Gradient-weighted Class Activation Mapping for Explainability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50489" y="1168296"/>
            <a:ext cx="5666234" cy="2470111"/>
          </a:xfrm>
          <a:custGeom>
            <a:avLst/>
            <a:gdLst/>
            <a:ahLst/>
            <a:cxnLst/>
            <a:rect l="l" t="t" r="r" b="b"/>
            <a:pathLst>
              <a:path w="5666234" h="2470111">
                <a:moveTo>
                  <a:pt x="33401" y="0"/>
                </a:moveTo>
                <a:lnTo>
                  <a:pt x="5599430" y="0"/>
                </a:lnTo>
                <a:cubicBezTo>
                  <a:pt x="5636324" y="0"/>
                  <a:pt x="5666232" y="29908"/>
                  <a:pt x="5666232" y="66802"/>
                </a:cubicBezTo>
                <a:lnTo>
                  <a:pt x="5666232" y="2403348"/>
                </a:lnTo>
                <a:cubicBezTo>
                  <a:pt x="5666232" y="2440242"/>
                  <a:pt x="5636324" y="2470150"/>
                  <a:pt x="5599430" y="2470150"/>
                </a:cubicBezTo>
                <a:lnTo>
                  <a:pt x="33401" y="2470150"/>
                </a:lnTo>
                <a:cubicBezTo>
                  <a:pt x="14954" y="2470150"/>
                  <a:pt x="0" y="2455196"/>
                  <a:pt x="0" y="2436749"/>
                </a:cubicBezTo>
                <a:lnTo>
                  <a:pt x="0" y="33401"/>
                </a:lnTo>
                <a:cubicBezTo>
                  <a:pt x="0" y="14954"/>
                  <a:pt x="14954" y="0"/>
                  <a:pt x="33401" y="0"/>
                </a:cubicBezTo>
                <a:close/>
              </a:path>
            </a:pathLst>
          </a:custGeom>
          <a:gradFill rotWithShape="1" flip="none">
            <a:gsLst>
              <a:gs pos="0">
                <a:srgbClr val="5F737C">
                  <a:alpha val="30000"/>
                </a:srgbClr>
              </a:gs>
              <a:gs pos="100000">
                <a:srgbClr val="4A5C6A">
                  <a:alpha val="20000"/>
                </a:srgbClr>
              </a:gs>
            </a:gsLst>
            <a:lin ang="2700000" scaled="1"/>
          </a:gradFill>
          <a:ln/>
        </p:spPr>
      </p:sp>
      <p:sp>
        <p:nvSpPr>
          <p:cNvPr id="6" name="Shape 4"/>
          <p:cNvSpPr/>
          <p:nvPr/>
        </p:nvSpPr>
        <p:spPr>
          <a:xfrm>
            <a:off x="350489" y="1168296"/>
            <a:ext cx="33380" cy="2470111"/>
          </a:xfrm>
          <a:custGeom>
            <a:avLst/>
            <a:gdLst/>
            <a:ahLst/>
            <a:cxnLst/>
            <a:rect l="l" t="t" r="r" b="b"/>
            <a:pathLst>
              <a:path w="33380" h="2470111">
                <a:moveTo>
                  <a:pt x="33401" y="0"/>
                </a:moveTo>
                <a:lnTo>
                  <a:pt x="33401" y="0"/>
                </a:lnTo>
                <a:lnTo>
                  <a:pt x="33401" y="2470150"/>
                </a:lnTo>
                <a:lnTo>
                  <a:pt x="33401" y="2470150"/>
                </a:lnTo>
                <a:cubicBezTo>
                  <a:pt x="14954" y="2470150"/>
                  <a:pt x="0" y="2455196"/>
                  <a:pt x="0" y="2436749"/>
                </a:cubicBezTo>
                <a:lnTo>
                  <a:pt x="0" y="33401"/>
                </a:lnTo>
                <a:cubicBezTo>
                  <a:pt x="0" y="14954"/>
                  <a:pt x="14954" y="0"/>
                  <a:pt x="33401" y="0"/>
                </a:cubicBezTo>
                <a:close/>
              </a:path>
            </a:pathLst>
          </a:custGeom>
          <a:solidFill>
            <a:srgbClr val="D4A373"/>
          </a:solidFill>
          <a:ln/>
        </p:spPr>
      </p:sp>
      <p:sp>
        <p:nvSpPr>
          <p:cNvPr id="7" name="Shape 5"/>
          <p:cNvSpPr/>
          <p:nvPr/>
        </p:nvSpPr>
        <p:spPr>
          <a:xfrm>
            <a:off x="567458" y="1343438"/>
            <a:ext cx="250349" cy="250349"/>
          </a:xfrm>
          <a:custGeom>
            <a:avLst/>
            <a:gdLst/>
            <a:ahLst/>
            <a:cxnLst/>
            <a:rect l="l" t="t" r="r" b="b"/>
            <a:pathLst>
              <a:path w="250349" h="250349">
                <a:moveTo>
                  <a:pt x="0" y="39117"/>
                </a:moveTo>
                <a:cubicBezTo>
                  <a:pt x="0" y="26160"/>
                  <a:pt x="10513" y="15647"/>
                  <a:pt x="23470" y="15647"/>
                </a:cubicBezTo>
                <a:lnTo>
                  <a:pt x="70411" y="15647"/>
                </a:lnTo>
                <a:cubicBezTo>
                  <a:pt x="83368" y="15647"/>
                  <a:pt x="93881" y="26160"/>
                  <a:pt x="93881" y="39117"/>
                </a:cubicBezTo>
                <a:lnTo>
                  <a:pt x="93881" y="46940"/>
                </a:lnTo>
                <a:lnTo>
                  <a:pt x="156468" y="46940"/>
                </a:lnTo>
                <a:lnTo>
                  <a:pt x="156468" y="39117"/>
                </a:lnTo>
                <a:cubicBezTo>
                  <a:pt x="156468" y="26160"/>
                  <a:pt x="166981" y="15647"/>
                  <a:pt x="179938" y="15647"/>
                </a:cubicBezTo>
                <a:lnTo>
                  <a:pt x="226879" y="15647"/>
                </a:lnTo>
                <a:cubicBezTo>
                  <a:pt x="239836" y="15647"/>
                  <a:pt x="250349" y="26160"/>
                  <a:pt x="250349" y="39117"/>
                </a:cubicBezTo>
                <a:lnTo>
                  <a:pt x="250349" y="86057"/>
                </a:lnTo>
                <a:cubicBezTo>
                  <a:pt x="250349" y="99015"/>
                  <a:pt x="239836" y="109528"/>
                  <a:pt x="226879" y="109528"/>
                </a:cubicBezTo>
                <a:lnTo>
                  <a:pt x="179938" y="109528"/>
                </a:lnTo>
                <a:cubicBezTo>
                  <a:pt x="166981" y="109528"/>
                  <a:pt x="156468" y="99015"/>
                  <a:pt x="156468" y="86057"/>
                </a:cubicBezTo>
                <a:lnTo>
                  <a:pt x="156468" y="78234"/>
                </a:lnTo>
                <a:lnTo>
                  <a:pt x="93881" y="78234"/>
                </a:lnTo>
                <a:lnTo>
                  <a:pt x="93881" y="86057"/>
                </a:lnTo>
                <a:cubicBezTo>
                  <a:pt x="93881" y="89627"/>
                  <a:pt x="93050" y="93050"/>
                  <a:pt x="91632" y="96081"/>
                </a:cubicBezTo>
                <a:lnTo>
                  <a:pt x="125175" y="140821"/>
                </a:lnTo>
                <a:lnTo>
                  <a:pt x="164292" y="140821"/>
                </a:lnTo>
                <a:cubicBezTo>
                  <a:pt x="177249" y="140821"/>
                  <a:pt x="187762" y="151334"/>
                  <a:pt x="187762" y="164292"/>
                </a:cubicBezTo>
                <a:lnTo>
                  <a:pt x="187762" y="211232"/>
                </a:lnTo>
                <a:cubicBezTo>
                  <a:pt x="187762" y="224190"/>
                  <a:pt x="177249" y="234702"/>
                  <a:pt x="164292" y="234702"/>
                </a:cubicBezTo>
                <a:lnTo>
                  <a:pt x="117351" y="234702"/>
                </a:lnTo>
                <a:cubicBezTo>
                  <a:pt x="104394" y="234702"/>
                  <a:pt x="93881" y="224190"/>
                  <a:pt x="93881" y="211232"/>
                </a:cubicBezTo>
                <a:lnTo>
                  <a:pt x="93881" y="164292"/>
                </a:lnTo>
                <a:cubicBezTo>
                  <a:pt x="93881" y="160722"/>
                  <a:pt x="94712" y="157299"/>
                  <a:pt x="96130" y="154268"/>
                </a:cubicBezTo>
                <a:lnTo>
                  <a:pt x="62587" y="109528"/>
                </a:lnTo>
                <a:lnTo>
                  <a:pt x="23470" y="109528"/>
                </a:lnTo>
                <a:cubicBezTo>
                  <a:pt x="10513" y="109528"/>
                  <a:pt x="0" y="99015"/>
                  <a:pt x="0" y="86057"/>
                </a:cubicBezTo>
                <a:lnTo>
                  <a:pt x="0" y="39117"/>
                </a:lnTo>
                <a:close/>
              </a:path>
            </a:pathLst>
          </a:custGeom>
          <a:solidFill>
            <a:srgbClr val="D4A373"/>
          </a:solidFill>
          <a:ln/>
        </p:spPr>
      </p:sp>
      <p:sp>
        <p:nvSpPr>
          <p:cNvPr id="8" name="Text 6"/>
          <p:cNvSpPr/>
          <p:nvPr/>
        </p:nvSpPr>
        <p:spPr>
          <a:xfrm>
            <a:off x="947154" y="1335195"/>
            <a:ext cx="2127967" cy="2670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577" b="1" dirty="0">
                <a:solidFill>
                  <a:srgbClr val="F0F2F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How Grad-CAM Works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34078" y="1702272"/>
            <a:ext cx="333799" cy="333799"/>
          </a:xfrm>
          <a:prstGeom prst="roundRect">
            <a:avLst>
              <a:gd name="adj" fmla="val 50000"/>
            </a:avLst>
          </a:prstGeom>
          <a:solidFill>
            <a:srgbClr val="D4A373"/>
          </a:solidFill>
          <a:ln/>
        </p:spPr>
      </p:sp>
      <p:sp>
        <p:nvSpPr>
          <p:cNvPr id="10" name="Text 8"/>
          <p:cNvSpPr/>
          <p:nvPr/>
        </p:nvSpPr>
        <p:spPr>
          <a:xfrm>
            <a:off x="670936" y="1752342"/>
            <a:ext cx="133520" cy="2336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83" b="1" dirty="0">
                <a:solidFill>
                  <a:srgbClr val="1A1D2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968016" y="1702272"/>
            <a:ext cx="2687080" cy="20027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51" b="1" dirty="0">
                <a:solidFill>
                  <a:srgbClr val="F0F2F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Forward Pass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968016" y="1902551"/>
            <a:ext cx="2678735" cy="16689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20" dirty="0">
                <a:solidFill>
                  <a:srgbClr val="9A959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Image passes through CNN to generate predictions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534078" y="2169590"/>
            <a:ext cx="333799" cy="333799"/>
          </a:xfrm>
          <a:prstGeom prst="roundRect">
            <a:avLst>
              <a:gd name="adj" fmla="val 50000"/>
            </a:avLst>
          </a:prstGeom>
          <a:solidFill>
            <a:srgbClr val="5F737C"/>
          </a:solidFill>
          <a:ln/>
        </p:spPr>
      </p:sp>
      <p:sp>
        <p:nvSpPr>
          <p:cNvPr id="14" name="Text 12"/>
          <p:cNvSpPr/>
          <p:nvPr/>
        </p:nvSpPr>
        <p:spPr>
          <a:xfrm>
            <a:off x="657271" y="2219660"/>
            <a:ext cx="158554" cy="2336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83" b="1" dirty="0">
                <a:solidFill>
                  <a:srgbClr val="F0F2F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968016" y="2169590"/>
            <a:ext cx="2778875" cy="20027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51" b="1" dirty="0">
                <a:solidFill>
                  <a:srgbClr val="F0F2F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Gradient Computation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968016" y="2369869"/>
            <a:ext cx="2770530" cy="16689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20" dirty="0">
                <a:solidFill>
                  <a:srgbClr val="9A959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Calculate gradients of target class w.r.t. feature maps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534078" y="2636908"/>
            <a:ext cx="333799" cy="333799"/>
          </a:xfrm>
          <a:prstGeom prst="roundRect">
            <a:avLst>
              <a:gd name="adj" fmla="val 50000"/>
            </a:avLst>
          </a:prstGeom>
          <a:solidFill>
            <a:srgbClr val="5F737C"/>
          </a:solidFill>
          <a:ln/>
        </p:spPr>
      </p:sp>
      <p:sp>
        <p:nvSpPr>
          <p:cNvPr id="18" name="Text 16"/>
          <p:cNvSpPr/>
          <p:nvPr/>
        </p:nvSpPr>
        <p:spPr>
          <a:xfrm>
            <a:off x="656645" y="2686978"/>
            <a:ext cx="166899" cy="2336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83" b="1" dirty="0">
                <a:solidFill>
                  <a:srgbClr val="F0F2F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3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968016" y="2636908"/>
            <a:ext cx="2687080" cy="20027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51" b="1" dirty="0">
                <a:solidFill>
                  <a:srgbClr val="F0F2F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Weighted Combination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968016" y="2837188"/>
            <a:ext cx="2678735" cy="16689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20" dirty="0">
                <a:solidFill>
                  <a:srgbClr val="9A959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Global average pooling creates importance weights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534078" y="3104227"/>
            <a:ext cx="333799" cy="333799"/>
          </a:xfrm>
          <a:prstGeom prst="roundRect">
            <a:avLst>
              <a:gd name="adj" fmla="val 50000"/>
            </a:avLst>
          </a:prstGeom>
          <a:solidFill>
            <a:srgbClr val="D4A373"/>
          </a:solidFill>
          <a:ln/>
        </p:spPr>
      </p:sp>
      <p:sp>
        <p:nvSpPr>
          <p:cNvPr id="22" name="Text 20"/>
          <p:cNvSpPr/>
          <p:nvPr/>
        </p:nvSpPr>
        <p:spPr>
          <a:xfrm>
            <a:off x="656645" y="3154296"/>
            <a:ext cx="166899" cy="2336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83" b="1" dirty="0">
                <a:solidFill>
                  <a:srgbClr val="1A1D2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4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968016" y="3104227"/>
            <a:ext cx="2662045" cy="20027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51" b="1" dirty="0">
                <a:solidFill>
                  <a:srgbClr val="F0F2F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Heatmap Generation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968016" y="3304506"/>
            <a:ext cx="2653700" cy="16689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20" dirty="0">
                <a:solidFill>
                  <a:srgbClr val="9A959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Overlay heatmap on original image for visualization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340475" y="3778500"/>
            <a:ext cx="5662896" cy="1916005"/>
          </a:xfrm>
          <a:prstGeom prst="roundRect">
            <a:avLst>
              <a:gd name="adj" fmla="val 3484"/>
            </a:avLst>
          </a:prstGeom>
          <a:gradFill rotWithShape="1" flip="none">
            <a:gsLst>
              <a:gs pos="0">
                <a:srgbClr val="D4A373">
                  <a:alpha val="20000"/>
                </a:srgbClr>
              </a:gs>
              <a:gs pos="100000">
                <a:srgbClr val="5F737C">
                  <a:alpha val="10000"/>
                </a:srgbClr>
              </a:gs>
            </a:gsLst>
            <a:lin ang="2700000" scaled="1"/>
          </a:gradFill>
          <a:ln w="20320">
            <a:solidFill>
              <a:srgbClr val="D4A373">
                <a:alpha val="50196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47430" y="3960315"/>
            <a:ext cx="250349" cy="250349"/>
          </a:xfrm>
          <a:custGeom>
            <a:avLst/>
            <a:gdLst/>
            <a:ahLst/>
            <a:cxnLst/>
            <a:rect l="l" t="t" r="r" b="b"/>
            <a:pathLst>
              <a:path w="250349" h="250349">
                <a:moveTo>
                  <a:pt x="250349" y="125175"/>
                </a:moveTo>
                <a:cubicBezTo>
                  <a:pt x="250349" y="125615"/>
                  <a:pt x="250349" y="126055"/>
                  <a:pt x="250349" y="126495"/>
                </a:cubicBezTo>
                <a:cubicBezTo>
                  <a:pt x="250153" y="144342"/>
                  <a:pt x="233920" y="156468"/>
                  <a:pt x="216073" y="156468"/>
                </a:cubicBezTo>
                <a:lnTo>
                  <a:pt x="168203" y="156468"/>
                </a:lnTo>
                <a:cubicBezTo>
                  <a:pt x="155246" y="156468"/>
                  <a:pt x="144733" y="166981"/>
                  <a:pt x="144733" y="179938"/>
                </a:cubicBezTo>
                <a:cubicBezTo>
                  <a:pt x="144733" y="181601"/>
                  <a:pt x="144929" y="183214"/>
                  <a:pt x="145222" y="184779"/>
                </a:cubicBezTo>
                <a:cubicBezTo>
                  <a:pt x="146249" y="189767"/>
                  <a:pt x="148400" y="194558"/>
                  <a:pt x="150503" y="199399"/>
                </a:cubicBezTo>
                <a:cubicBezTo>
                  <a:pt x="153485" y="206147"/>
                  <a:pt x="156419" y="212846"/>
                  <a:pt x="156419" y="219936"/>
                </a:cubicBezTo>
                <a:cubicBezTo>
                  <a:pt x="156419" y="235485"/>
                  <a:pt x="145858" y="249616"/>
                  <a:pt x="130309" y="250251"/>
                </a:cubicBezTo>
                <a:cubicBezTo>
                  <a:pt x="128597" y="250300"/>
                  <a:pt x="126886" y="250349"/>
                  <a:pt x="125126" y="250349"/>
                </a:cubicBezTo>
                <a:cubicBezTo>
                  <a:pt x="55986" y="250349"/>
                  <a:pt x="-49" y="194314"/>
                  <a:pt x="-49" y="125175"/>
                </a:cubicBezTo>
                <a:cubicBezTo>
                  <a:pt x="-49" y="56035"/>
                  <a:pt x="56035" y="0"/>
                  <a:pt x="125175" y="0"/>
                </a:cubicBezTo>
                <a:cubicBezTo>
                  <a:pt x="194314" y="0"/>
                  <a:pt x="250349" y="56035"/>
                  <a:pt x="250349" y="125175"/>
                </a:cubicBezTo>
                <a:close/>
                <a:moveTo>
                  <a:pt x="62587" y="140821"/>
                </a:moveTo>
                <a:cubicBezTo>
                  <a:pt x="62587" y="132186"/>
                  <a:pt x="55576" y="125175"/>
                  <a:pt x="46940" y="125175"/>
                </a:cubicBezTo>
                <a:cubicBezTo>
                  <a:pt x="38305" y="125175"/>
                  <a:pt x="31294" y="132186"/>
                  <a:pt x="31294" y="140821"/>
                </a:cubicBezTo>
                <a:cubicBezTo>
                  <a:pt x="31294" y="149457"/>
                  <a:pt x="38305" y="156468"/>
                  <a:pt x="46940" y="156468"/>
                </a:cubicBezTo>
                <a:cubicBezTo>
                  <a:pt x="55576" y="156468"/>
                  <a:pt x="62587" y="149457"/>
                  <a:pt x="62587" y="140821"/>
                </a:cubicBezTo>
                <a:close/>
                <a:moveTo>
                  <a:pt x="62587" y="93881"/>
                </a:moveTo>
                <a:cubicBezTo>
                  <a:pt x="71223" y="93881"/>
                  <a:pt x="78234" y="86870"/>
                  <a:pt x="78234" y="78234"/>
                </a:cubicBezTo>
                <a:cubicBezTo>
                  <a:pt x="78234" y="69598"/>
                  <a:pt x="71223" y="62587"/>
                  <a:pt x="62587" y="62587"/>
                </a:cubicBezTo>
                <a:cubicBezTo>
                  <a:pt x="53952" y="62587"/>
                  <a:pt x="46940" y="69598"/>
                  <a:pt x="46940" y="78234"/>
                </a:cubicBezTo>
                <a:cubicBezTo>
                  <a:pt x="46940" y="86870"/>
                  <a:pt x="53952" y="93881"/>
                  <a:pt x="62587" y="93881"/>
                </a:cubicBezTo>
                <a:close/>
                <a:moveTo>
                  <a:pt x="140821" y="46940"/>
                </a:moveTo>
                <a:cubicBezTo>
                  <a:pt x="140821" y="38305"/>
                  <a:pt x="133810" y="31294"/>
                  <a:pt x="125175" y="31294"/>
                </a:cubicBezTo>
                <a:cubicBezTo>
                  <a:pt x="116539" y="31294"/>
                  <a:pt x="109528" y="38305"/>
                  <a:pt x="109528" y="46940"/>
                </a:cubicBezTo>
                <a:cubicBezTo>
                  <a:pt x="109528" y="55576"/>
                  <a:pt x="116539" y="62587"/>
                  <a:pt x="125175" y="62587"/>
                </a:cubicBezTo>
                <a:cubicBezTo>
                  <a:pt x="133810" y="62587"/>
                  <a:pt x="140821" y="55576"/>
                  <a:pt x="140821" y="46940"/>
                </a:cubicBezTo>
                <a:close/>
                <a:moveTo>
                  <a:pt x="187762" y="93881"/>
                </a:moveTo>
                <a:cubicBezTo>
                  <a:pt x="196398" y="93881"/>
                  <a:pt x="203409" y="86870"/>
                  <a:pt x="203409" y="78234"/>
                </a:cubicBezTo>
                <a:cubicBezTo>
                  <a:pt x="203409" y="69598"/>
                  <a:pt x="196398" y="62587"/>
                  <a:pt x="187762" y="62587"/>
                </a:cubicBezTo>
                <a:cubicBezTo>
                  <a:pt x="179126" y="62587"/>
                  <a:pt x="172115" y="69598"/>
                  <a:pt x="172115" y="78234"/>
                </a:cubicBezTo>
                <a:cubicBezTo>
                  <a:pt x="172115" y="86870"/>
                  <a:pt x="179126" y="93881"/>
                  <a:pt x="187762" y="93881"/>
                </a:cubicBezTo>
                <a:close/>
              </a:path>
            </a:pathLst>
          </a:custGeom>
          <a:solidFill>
            <a:srgbClr val="D4A373"/>
          </a:solidFill>
          <a:ln/>
        </p:spPr>
      </p:sp>
      <p:sp>
        <p:nvSpPr>
          <p:cNvPr id="27" name="Text 25"/>
          <p:cNvSpPr/>
          <p:nvPr/>
        </p:nvSpPr>
        <p:spPr>
          <a:xfrm>
            <a:off x="927126" y="3952072"/>
            <a:ext cx="2153002" cy="2670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577" b="1" dirty="0">
                <a:solidFill>
                  <a:srgbClr val="F0F2F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Heatmap Interpretation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514050" y="4319149"/>
            <a:ext cx="1702374" cy="1201676"/>
          </a:xfrm>
          <a:prstGeom prst="roundRect">
            <a:avLst>
              <a:gd name="adj" fmla="val 5556"/>
            </a:avLst>
          </a:prstGeom>
          <a:solidFill>
            <a:srgbClr val="1A1D21">
              <a:alpha val="60000"/>
            </a:srgbClr>
          </a:solidFill>
          <a:ln/>
        </p:spPr>
      </p:sp>
      <p:sp>
        <p:nvSpPr>
          <p:cNvPr id="29" name="Shape 27"/>
          <p:cNvSpPr/>
          <p:nvPr/>
        </p:nvSpPr>
        <p:spPr>
          <a:xfrm>
            <a:off x="1166940" y="4419289"/>
            <a:ext cx="400559" cy="400559"/>
          </a:xfrm>
          <a:prstGeom prst="roundRect">
            <a:avLst>
              <a:gd name="adj" fmla="val 8333"/>
            </a:avLst>
          </a:prstGeom>
          <a:gradFill rotWithShape="1" flip="none">
            <a:gsLst>
              <a:gs pos="0">
                <a:srgbClr val="FB2C36"/>
              </a:gs>
              <a:gs pos="100000">
                <a:srgbClr val="C10007"/>
              </a:gs>
            </a:gsLst>
            <a:lin ang="2700000" scaled="1"/>
          </a:gradFill>
          <a:ln/>
        </p:spPr>
      </p:sp>
      <p:sp>
        <p:nvSpPr>
          <p:cNvPr id="30" name="Text 28"/>
          <p:cNvSpPr/>
          <p:nvPr/>
        </p:nvSpPr>
        <p:spPr>
          <a:xfrm>
            <a:off x="580810" y="4886607"/>
            <a:ext cx="1568854" cy="20027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051" b="1" dirty="0">
                <a:solidFill>
                  <a:srgbClr val="F0F2F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Red Regions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584982" y="5086886"/>
            <a:ext cx="1560509" cy="33379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920" dirty="0">
                <a:solidFill>
                  <a:srgbClr val="9A959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Strong evidence of manipulation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2320632" y="4319149"/>
            <a:ext cx="1702374" cy="1201676"/>
          </a:xfrm>
          <a:prstGeom prst="roundRect">
            <a:avLst>
              <a:gd name="adj" fmla="val 5556"/>
            </a:avLst>
          </a:prstGeom>
          <a:solidFill>
            <a:srgbClr val="1A1D21">
              <a:alpha val="60000"/>
            </a:srgbClr>
          </a:solidFill>
          <a:ln/>
        </p:spPr>
      </p:sp>
      <p:sp>
        <p:nvSpPr>
          <p:cNvPr id="33" name="Shape 31"/>
          <p:cNvSpPr/>
          <p:nvPr/>
        </p:nvSpPr>
        <p:spPr>
          <a:xfrm>
            <a:off x="2973521" y="4419289"/>
            <a:ext cx="400559" cy="400559"/>
          </a:xfrm>
          <a:prstGeom prst="roundRect">
            <a:avLst>
              <a:gd name="adj" fmla="val 8333"/>
            </a:avLst>
          </a:prstGeom>
          <a:gradFill rotWithShape="1" flip="none">
            <a:gsLst>
              <a:gs pos="0">
                <a:srgbClr val="FDC700"/>
              </a:gs>
              <a:gs pos="100000">
                <a:srgbClr val="FF6900"/>
              </a:gs>
            </a:gsLst>
            <a:lin ang="2700000" scaled="1"/>
          </a:gradFill>
          <a:ln/>
        </p:spPr>
      </p:sp>
      <p:sp>
        <p:nvSpPr>
          <p:cNvPr id="34" name="Text 32"/>
          <p:cNvSpPr/>
          <p:nvPr/>
        </p:nvSpPr>
        <p:spPr>
          <a:xfrm>
            <a:off x="2387391" y="4886607"/>
            <a:ext cx="1568854" cy="20027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051" b="1" dirty="0">
                <a:solidFill>
                  <a:srgbClr val="F0F2F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Yellow Regions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2391564" y="5086886"/>
            <a:ext cx="1560509" cy="16689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920" dirty="0">
                <a:solidFill>
                  <a:srgbClr val="9A959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Moderate suspicion areas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4127213" y="4319149"/>
            <a:ext cx="1702374" cy="1201676"/>
          </a:xfrm>
          <a:prstGeom prst="roundRect">
            <a:avLst>
              <a:gd name="adj" fmla="val 5556"/>
            </a:avLst>
          </a:prstGeom>
          <a:solidFill>
            <a:srgbClr val="1A1D21">
              <a:alpha val="60000"/>
            </a:srgbClr>
          </a:solidFill>
          <a:ln/>
        </p:spPr>
      </p:sp>
      <p:sp>
        <p:nvSpPr>
          <p:cNvPr id="37" name="Shape 35"/>
          <p:cNvSpPr/>
          <p:nvPr/>
        </p:nvSpPr>
        <p:spPr>
          <a:xfrm>
            <a:off x="4780103" y="4419289"/>
            <a:ext cx="400559" cy="400559"/>
          </a:xfrm>
          <a:prstGeom prst="roundRect">
            <a:avLst>
              <a:gd name="adj" fmla="val 8333"/>
            </a:avLst>
          </a:prstGeom>
          <a:gradFill rotWithShape="1" flip="none">
            <a:gsLst>
              <a:gs pos="0">
                <a:srgbClr val="51A2FF"/>
              </a:gs>
              <a:gs pos="100000">
                <a:srgbClr val="155DFC"/>
              </a:gs>
            </a:gsLst>
            <a:lin ang="2700000" scaled="1"/>
          </a:gradFill>
          <a:ln/>
        </p:spPr>
      </p:sp>
      <p:sp>
        <p:nvSpPr>
          <p:cNvPr id="38" name="Text 36"/>
          <p:cNvSpPr/>
          <p:nvPr/>
        </p:nvSpPr>
        <p:spPr>
          <a:xfrm>
            <a:off x="4193973" y="4886607"/>
            <a:ext cx="1568854" cy="20027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051" b="1" dirty="0">
                <a:solidFill>
                  <a:srgbClr val="F0F2F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Blue Regions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4198145" y="5086886"/>
            <a:ext cx="1560509" cy="16689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920" dirty="0">
                <a:solidFill>
                  <a:srgbClr val="9A959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Low manipulation evidence</a:t>
            </a:r>
            <a:endParaRPr lang="en-US" sz="1600" dirty="0"/>
          </a:p>
        </p:txBody>
      </p:sp>
      <p:sp>
        <p:nvSpPr>
          <p:cNvPr id="40" name="Shape 38"/>
          <p:cNvSpPr/>
          <p:nvPr/>
        </p:nvSpPr>
        <p:spPr>
          <a:xfrm>
            <a:off x="6184144" y="1171634"/>
            <a:ext cx="5672910" cy="3177764"/>
          </a:xfrm>
          <a:prstGeom prst="roundRect">
            <a:avLst>
              <a:gd name="adj" fmla="val 2101"/>
            </a:avLst>
          </a:prstGeom>
          <a:solidFill>
            <a:srgbClr val="5F737C">
              <a:alpha val="20000"/>
            </a:srgbClr>
          </a:solidFill>
          <a:ln w="10160">
            <a:solidFill>
              <a:srgbClr val="5F737C">
                <a:alpha val="40000"/>
              </a:srgbClr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312656" y="1341873"/>
            <a:ext cx="5415885" cy="2336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314" b="1" dirty="0">
                <a:solidFill>
                  <a:srgbClr val="F0F2F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Grad-CAM Visualization Process</a:t>
            </a:r>
            <a:endParaRPr lang="en-US" sz="1600" dirty="0"/>
          </a:p>
        </p:txBody>
      </p:sp>
      <p:pic>
        <p:nvPicPr>
          <p:cNvPr id="42" name="Image 0" descr="https://kimi-img.moonshot.cn/pub/slides/26-06-04-23:56:50-d8gq0gkbr5jofitom2cg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354381" y="1675672"/>
            <a:ext cx="4573043" cy="2503491"/>
          </a:xfrm>
          <a:prstGeom prst="roundRect">
            <a:avLst>
              <a:gd name="adj" fmla="val 0"/>
            </a:avLst>
          </a:prstGeom>
        </p:spPr>
      </p:pic>
      <p:sp>
        <p:nvSpPr>
          <p:cNvPr id="43" name="Shape 40"/>
          <p:cNvSpPr/>
          <p:nvPr/>
        </p:nvSpPr>
        <p:spPr>
          <a:xfrm>
            <a:off x="6197496" y="4486256"/>
            <a:ext cx="5666234" cy="1668994"/>
          </a:xfrm>
          <a:custGeom>
            <a:avLst/>
            <a:gdLst/>
            <a:ahLst/>
            <a:cxnLst/>
            <a:rect l="l" t="t" r="r" b="b"/>
            <a:pathLst>
              <a:path w="5666234" h="1668994">
                <a:moveTo>
                  <a:pt x="33401" y="0"/>
                </a:moveTo>
                <a:lnTo>
                  <a:pt x="5599430" y="0"/>
                </a:lnTo>
                <a:cubicBezTo>
                  <a:pt x="5636324" y="0"/>
                  <a:pt x="5666232" y="29908"/>
                  <a:pt x="5666232" y="66802"/>
                </a:cubicBezTo>
                <a:lnTo>
                  <a:pt x="5666232" y="1602232"/>
                </a:lnTo>
                <a:cubicBezTo>
                  <a:pt x="5666232" y="1639126"/>
                  <a:pt x="5636324" y="1669034"/>
                  <a:pt x="5599430" y="1669034"/>
                </a:cubicBezTo>
                <a:lnTo>
                  <a:pt x="33401" y="1669034"/>
                </a:lnTo>
                <a:cubicBezTo>
                  <a:pt x="14954" y="1669034"/>
                  <a:pt x="0" y="1654080"/>
                  <a:pt x="0" y="1635633"/>
                </a:cubicBezTo>
                <a:lnTo>
                  <a:pt x="0" y="33401"/>
                </a:lnTo>
                <a:cubicBezTo>
                  <a:pt x="0" y="14954"/>
                  <a:pt x="14954" y="0"/>
                  <a:pt x="33401" y="0"/>
                </a:cubicBezTo>
                <a:close/>
              </a:path>
            </a:pathLst>
          </a:custGeom>
          <a:gradFill rotWithShape="1" flip="none">
            <a:gsLst>
              <a:gs pos="0">
                <a:srgbClr val="5F737C">
                  <a:alpha val="30000"/>
                </a:srgbClr>
              </a:gs>
              <a:gs pos="100000">
                <a:srgbClr val="4A5C6A">
                  <a:alpha val="20000"/>
                </a:srgbClr>
              </a:gs>
            </a:gsLst>
            <a:lin ang="2700000" scaled="1"/>
          </a:gradFill>
          <a:ln/>
        </p:spPr>
      </p:sp>
      <p:sp>
        <p:nvSpPr>
          <p:cNvPr id="44" name="Shape 41"/>
          <p:cNvSpPr/>
          <p:nvPr/>
        </p:nvSpPr>
        <p:spPr>
          <a:xfrm>
            <a:off x="6197496" y="4486256"/>
            <a:ext cx="33380" cy="1668994"/>
          </a:xfrm>
          <a:custGeom>
            <a:avLst/>
            <a:gdLst/>
            <a:ahLst/>
            <a:cxnLst/>
            <a:rect l="l" t="t" r="r" b="b"/>
            <a:pathLst>
              <a:path w="33380" h="1668994">
                <a:moveTo>
                  <a:pt x="33401" y="0"/>
                </a:moveTo>
                <a:lnTo>
                  <a:pt x="33401" y="0"/>
                </a:lnTo>
                <a:lnTo>
                  <a:pt x="33401" y="1669034"/>
                </a:lnTo>
                <a:lnTo>
                  <a:pt x="33401" y="1669034"/>
                </a:lnTo>
                <a:cubicBezTo>
                  <a:pt x="14954" y="1669034"/>
                  <a:pt x="0" y="1654080"/>
                  <a:pt x="0" y="1635633"/>
                </a:cubicBezTo>
                <a:lnTo>
                  <a:pt x="0" y="33401"/>
                </a:lnTo>
                <a:cubicBezTo>
                  <a:pt x="0" y="14954"/>
                  <a:pt x="14954" y="0"/>
                  <a:pt x="33401" y="0"/>
                </a:cubicBezTo>
                <a:close/>
              </a:path>
            </a:pathLst>
          </a:custGeom>
          <a:solidFill>
            <a:srgbClr val="D4A373"/>
          </a:solidFill>
          <a:ln/>
        </p:spPr>
      </p:sp>
      <p:sp>
        <p:nvSpPr>
          <p:cNvPr id="45" name="Shape 42"/>
          <p:cNvSpPr/>
          <p:nvPr/>
        </p:nvSpPr>
        <p:spPr>
          <a:xfrm>
            <a:off x="6391517" y="4679861"/>
            <a:ext cx="187762" cy="166899"/>
          </a:xfrm>
          <a:custGeom>
            <a:avLst/>
            <a:gdLst/>
            <a:ahLst/>
            <a:cxnLst/>
            <a:rect l="l" t="t" r="r" b="b"/>
            <a:pathLst>
              <a:path w="187762" h="166899">
                <a:moveTo>
                  <a:pt x="100889" y="-6161"/>
                </a:moveTo>
                <a:cubicBezTo>
                  <a:pt x="99553" y="-8769"/>
                  <a:pt x="96847" y="-10431"/>
                  <a:pt x="93914" y="-10431"/>
                </a:cubicBezTo>
                <a:cubicBezTo>
                  <a:pt x="90980" y="-10431"/>
                  <a:pt x="88274" y="-8769"/>
                  <a:pt x="86938" y="-6161"/>
                </a:cubicBezTo>
                <a:lnTo>
                  <a:pt x="62946" y="40845"/>
                </a:lnTo>
                <a:lnTo>
                  <a:pt x="10822" y="49124"/>
                </a:lnTo>
                <a:cubicBezTo>
                  <a:pt x="7921" y="49581"/>
                  <a:pt x="5509" y="51634"/>
                  <a:pt x="4596" y="54438"/>
                </a:cubicBezTo>
                <a:cubicBezTo>
                  <a:pt x="3684" y="57241"/>
                  <a:pt x="4433" y="60305"/>
                  <a:pt x="6487" y="62392"/>
                </a:cubicBezTo>
                <a:lnTo>
                  <a:pt x="43778" y="99716"/>
                </a:lnTo>
                <a:lnTo>
                  <a:pt x="35564" y="151839"/>
                </a:lnTo>
                <a:cubicBezTo>
                  <a:pt x="35108" y="154741"/>
                  <a:pt x="36314" y="157674"/>
                  <a:pt x="38693" y="159402"/>
                </a:cubicBezTo>
                <a:cubicBezTo>
                  <a:pt x="41073" y="161130"/>
                  <a:pt x="44202" y="161390"/>
                  <a:pt x="46843" y="160054"/>
                </a:cubicBezTo>
                <a:lnTo>
                  <a:pt x="93914" y="136127"/>
                </a:lnTo>
                <a:lnTo>
                  <a:pt x="140952" y="160054"/>
                </a:lnTo>
                <a:cubicBezTo>
                  <a:pt x="143560" y="161390"/>
                  <a:pt x="146722" y="161130"/>
                  <a:pt x="149101" y="159402"/>
                </a:cubicBezTo>
                <a:cubicBezTo>
                  <a:pt x="151481" y="157674"/>
                  <a:pt x="152687" y="154773"/>
                  <a:pt x="152230" y="151839"/>
                </a:cubicBezTo>
                <a:lnTo>
                  <a:pt x="143983" y="99716"/>
                </a:lnTo>
                <a:lnTo>
                  <a:pt x="181275" y="62392"/>
                </a:lnTo>
                <a:cubicBezTo>
                  <a:pt x="183361" y="60305"/>
                  <a:pt x="184078" y="57241"/>
                  <a:pt x="183166" y="54438"/>
                </a:cubicBezTo>
                <a:cubicBezTo>
                  <a:pt x="182253" y="51634"/>
                  <a:pt x="179873" y="49581"/>
                  <a:pt x="176939" y="49124"/>
                </a:cubicBezTo>
                <a:lnTo>
                  <a:pt x="124849" y="40845"/>
                </a:lnTo>
                <a:lnTo>
                  <a:pt x="100889" y="-6161"/>
                </a:lnTo>
                <a:close/>
              </a:path>
            </a:pathLst>
          </a:custGeom>
          <a:solidFill>
            <a:srgbClr val="D4A373"/>
          </a:solidFill>
          <a:ln/>
        </p:spPr>
      </p:sp>
      <p:sp>
        <p:nvSpPr>
          <p:cNvPr id="46" name="Text 43"/>
          <p:cNvSpPr/>
          <p:nvPr/>
        </p:nvSpPr>
        <p:spPr>
          <a:xfrm>
            <a:off x="6633576" y="4653156"/>
            <a:ext cx="5146704" cy="2336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14" b="1" dirty="0">
                <a:solidFill>
                  <a:srgbClr val="F0F2F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Key Benefits</a:t>
            </a:r>
            <a:endParaRPr lang="en-US" sz="1600" dirty="0"/>
          </a:p>
        </p:txBody>
      </p:sp>
      <p:sp>
        <p:nvSpPr>
          <p:cNvPr id="47" name="Shape 44"/>
          <p:cNvSpPr/>
          <p:nvPr/>
        </p:nvSpPr>
        <p:spPr>
          <a:xfrm>
            <a:off x="6397775" y="5020334"/>
            <a:ext cx="133520" cy="133520"/>
          </a:xfrm>
          <a:custGeom>
            <a:avLst/>
            <a:gdLst/>
            <a:ahLst/>
            <a:cxnLst/>
            <a:rect l="l" t="t" r="r" b="b"/>
            <a:pathLst>
              <a:path w="133520" h="133520">
                <a:moveTo>
                  <a:pt x="66760" y="133520"/>
                </a:moveTo>
                <a:cubicBezTo>
                  <a:pt x="103605" y="133520"/>
                  <a:pt x="133520" y="103605"/>
                  <a:pt x="133520" y="66760"/>
                </a:cubicBezTo>
                <a:cubicBezTo>
                  <a:pt x="133520" y="29914"/>
                  <a:pt x="103605" y="0"/>
                  <a:pt x="66760" y="0"/>
                </a:cubicBezTo>
                <a:cubicBezTo>
                  <a:pt x="29914" y="0"/>
                  <a:pt x="0" y="29914"/>
                  <a:pt x="0" y="66760"/>
                </a:cubicBezTo>
                <a:cubicBezTo>
                  <a:pt x="0" y="103605"/>
                  <a:pt x="29914" y="133520"/>
                  <a:pt x="66760" y="133520"/>
                </a:cubicBezTo>
                <a:close/>
                <a:moveTo>
                  <a:pt x="88770" y="55468"/>
                </a:moveTo>
                <a:lnTo>
                  <a:pt x="67907" y="88848"/>
                </a:lnTo>
                <a:cubicBezTo>
                  <a:pt x="66812" y="90595"/>
                  <a:pt x="64934" y="91690"/>
                  <a:pt x="62874" y="91795"/>
                </a:cubicBezTo>
                <a:cubicBezTo>
                  <a:pt x="60814" y="91899"/>
                  <a:pt x="58832" y="90960"/>
                  <a:pt x="57606" y="89291"/>
                </a:cubicBezTo>
                <a:lnTo>
                  <a:pt x="45089" y="72601"/>
                </a:lnTo>
                <a:cubicBezTo>
                  <a:pt x="43003" y="69837"/>
                  <a:pt x="43576" y="65925"/>
                  <a:pt x="46341" y="63839"/>
                </a:cubicBezTo>
                <a:cubicBezTo>
                  <a:pt x="49105" y="61753"/>
                  <a:pt x="53017" y="62326"/>
                  <a:pt x="55103" y="65091"/>
                </a:cubicBezTo>
                <a:lnTo>
                  <a:pt x="62144" y="74479"/>
                </a:lnTo>
                <a:lnTo>
                  <a:pt x="78156" y="48844"/>
                </a:lnTo>
                <a:cubicBezTo>
                  <a:pt x="79981" y="45923"/>
                  <a:pt x="83841" y="45011"/>
                  <a:pt x="86788" y="46862"/>
                </a:cubicBezTo>
                <a:cubicBezTo>
                  <a:pt x="89734" y="48714"/>
                  <a:pt x="90621" y="52547"/>
                  <a:pt x="88770" y="55494"/>
                </a:cubicBezTo>
                <a:close/>
              </a:path>
            </a:pathLst>
          </a:custGeom>
          <a:solidFill>
            <a:srgbClr val="D4A373"/>
          </a:solidFill>
          <a:ln/>
        </p:spPr>
      </p:sp>
      <p:sp>
        <p:nvSpPr>
          <p:cNvPr id="48" name="Text 45"/>
          <p:cNvSpPr/>
          <p:nvPr/>
        </p:nvSpPr>
        <p:spPr>
          <a:xfrm>
            <a:off x="6614744" y="4986954"/>
            <a:ext cx="2845634" cy="20027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51" b="1" dirty="0">
                <a:solidFill>
                  <a:srgbClr val="F0F2F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Transparency:</a:t>
            </a:r>
            <a:pPr>
              <a:lnSpc>
                <a:spcPct val="130000"/>
              </a:lnSpc>
            </a:pPr>
            <a:r>
              <a:rPr lang="en-US" sz="1051" dirty="0">
                <a:solidFill>
                  <a:srgbClr val="F0F2F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Makes AI decisions interpretable</a:t>
            </a:r>
            <a:endParaRPr lang="en-US" sz="1600" dirty="0"/>
          </a:p>
        </p:txBody>
      </p:sp>
      <p:sp>
        <p:nvSpPr>
          <p:cNvPr id="49" name="Shape 46"/>
          <p:cNvSpPr/>
          <p:nvPr/>
        </p:nvSpPr>
        <p:spPr>
          <a:xfrm>
            <a:off x="6397775" y="5287373"/>
            <a:ext cx="133520" cy="133520"/>
          </a:xfrm>
          <a:custGeom>
            <a:avLst/>
            <a:gdLst/>
            <a:ahLst/>
            <a:cxnLst/>
            <a:rect l="l" t="t" r="r" b="b"/>
            <a:pathLst>
              <a:path w="133520" h="133520">
                <a:moveTo>
                  <a:pt x="66760" y="133520"/>
                </a:moveTo>
                <a:cubicBezTo>
                  <a:pt x="103605" y="133520"/>
                  <a:pt x="133520" y="103605"/>
                  <a:pt x="133520" y="66760"/>
                </a:cubicBezTo>
                <a:cubicBezTo>
                  <a:pt x="133520" y="29914"/>
                  <a:pt x="103605" y="0"/>
                  <a:pt x="66760" y="0"/>
                </a:cubicBezTo>
                <a:cubicBezTo>
                  <a:pt x="29914" y="0"/>
                  <a:pt x="0" y="29914"/>
                  <a:pt x="0" y="66760"/>
                </a:cubicBezTo>
                <a:cubicBezTo>
                  <a:pt x="0" y="103605"/>
                  <a:pt x="29914" y="133520"/>
                  <a:pt x="66760" y="133520"/>
                </a:cubicBezTo>
                <a:close/>
                <a:moveTo>
                  <a:pt x="88770" y="55468"/>
                </a:moveTo>
                <a:lnTo>
                  <a:pt x="67907" y="88848"/>
                </a:lnTo>
                <a:cubicBezTo>
                  <a:pt x="66812" y="90595"/>
                  <a:pt x="64934" y="91690"/>
                  <a:pt x="62874" y="91795"/>
                </a:cubicBezTo>
                <a:cubicBezTo>
                  <a:pt x="60814" y="91899"/>
                  <a:pt x="58832" y="90960"/>
                  <a:pt x="57606" y="89291"/>
                </a:cubicBezTo>
                <a:lnTo>
                  <a:pt x="45089" y="72601"/>
                </a:lnTo>
                <a:cubicBezTo>
                  <a:pt x="43003" y="69837"/>
                  <a:pt x="43576" y="65925"/>
                  <a:pt x="46341" y="63839"/>
                </a:cubicBezTo>
                <a:cubicBezTo>
                  <a:pt x="49105" y="61753"/>
                  <a:pt x="53017" y="62326"/>
                  <a:pt x="55103" y="65091"/>
                </a:cubicBezTo>
                <a:lnTo>
                  <a:pt x="62144" y="74479"/>
                </a:lnTo>
                <a:lnTo>
                  <a:pt x="78156" y="48844"/>
                </a:lnTo>
                <a:cubicBezTo>
                  <a:pt x="79981" y="45923"/>
                  <a:pt x="83841" y="45011"/>
                  <a:pt x="86788" y="46862"/>
                </a:cubicBezTo>
                <a:cubicBezTo>
                  <a:pt x="89734" y="48714"/>
                  <a:pt x="90621" y="52547"/>
                  <a:pt x="88770" y="55494"/>
                </a:cubicBezTo>
                <a:close/>
              </a:path>
            </a:pathLst>
          </a:custGeom>
          <a:solidFill>
            <a:srgbClr val="D4A373"/>
          </a:solidFill>
          <a:ln/>
        </p:spPr>
      </p:sp>
      <p:sp>
        <p:nvSpPr>
          <p:cNvPr id="50" name="Text 47"/>
          <p:cNvSpPr/>
          <p:nvPr/>
        </p:nvSpPr>
        <p:spPr>
          <a:xfrm>
            <a:off x="6614744" y="5253993"/>
            <a:ext cx="2495146" cy="20027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51" b="1" dirty="0">
                <a:solidFill>
                  <a:srgbClr val="F0F2F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Trust:</a:t>
            </a:r>
            <a:pPr>
              <a:lnSpc>
                <a:spcPct val="130000"/>
              </a:lnSpc>
            </a:pPr>
            <a:r>
              <a:rPr lang="en-US" sz="1051" dirty="0">
                <a:solidFill>
                  <a:srgbClr val="F0F2F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Users can verify detection rationale</a:t>
            </a:r>
            <a:endParaRPr lang="en-US" sz="1600" dirty="0"/>
          </a:p>
        </p:txBody>
      </p:sp>
      <p:sp>
        <p:nvSpPr>
          <p:cNvPr id="51" name="Shape 48"/>
          <p:cNvSpPr/>
          <p:nvPr/>
        </p:nvSpPr>
        <p:spPr>
          <a:xfrm>
            <a:off x="6397775" y="5554412"/>
            <a:ext cx="133520" cy="133520"/>
          </a:xfrm>
          <a:custGeom>
            <a:avLst/>
            <a:gdLst/>
            <a:ahLst/>
            <a:cxnLst/>
            <a:rect l="l" t="t" r="r" b="b"/>
            <a:pathLst>
              <a:path w="133520" h="133520">
                <a:moveTo>
                  <a:pt x="66760" y="133520"/>
                </a:moveTo>
                <a:cubicBezTo>
                  <a:pt x="103605" y="133520"/>
                  <a:pt x="133520" y="103605"/>
                  <a:pt x="133520" y="66760"/>
                </a:cubicBezTo>
                <a:cubicBezTo>
                  <a:pt x="133520" y="29914"/>
                  <a:pt x="103605" y="0"/>
                  <a:pt x="66760" y="0"/>
                </a:cubicBezTo>
                <a:cubicBezTo>
                  <a:pt x="29914" y="0"/>
                  <a:pt x="0" y="29914"/>
                  <a:pt x="0" y="66760"/>
                </a:cubicBezTo>
                <a:cubicBezTo>
                  <a:pt x="0" y="103605"/>
                  <a:pt x="29914" y="133520"/>
                  <a:pt x="66760" y="133520"/>
                </a:cubicBezTo>
                <a:close/>
                <a:moveTo>
                  <a:pt x="88770" y="55468"/>
                </a:moveTo>
                <a:lnTo>
                  <a:pt x="67907" y="88848"/>
                </a:lnTo>
                <a:cubicBezTo>
                  <a:pt x="66812" y="90595"/>
                  <a:pt x="64934" y="91690"/>
                  <a:pt x="62874" y="91795"/>
                </a:cubicBezTo>
                <a:cubicBezTo>
                  <a:pt x="60814" y="91899"/>
                  <a:pt x="58832" y="90960"/>
                  <a:pt x="57606" y="89291"/>
                </a:cubicBezTo>
                <a:lnTo>
                  <a:pt x="45089" y="72601"/>
                </a:lnTo>
                <a:cubicBezTo>
                  <a:pt x="43003" y="69837"/>
                  <a:pt x="43576" y="65925"/>
                  <a:pt x="46341" y="63839"/>
                </a:cubicBezTo>
                <a:cubicBezTo>
                  <a:pt x="49105" y="61753"/>
                  <a:pt x="53017" y="62326"/>
                  <a:pt x="55103" y="65091"/>
                </a:cubicBezTo>
                <a:lnTo>
                  <a:pt x="62144" y="74479"/>
                </a:lnTo>
                <a:lnTo>
                  <a:pt x="78156" y="48844"/>
                </a:lnTo>
                <a:cubicBezTo>
                  <a:pt x="79981" y="45923"/>
                  <a:pt x="83841" y="45011"/>
                  <a:pt x="86788" y="46862"/>
                </a:cubicBezTo>
                <a:cubicBezTo>
                  <a:pt x="89734" y="48714"/>
                  <a:pt x="90621" y="52547"/>
                  <a:pt x="88770" y="55494"/>
                </a:cubicBezTo>
                <a:close/>
              </a:path>
            </a:pathLst>
          </a:custGeom>
          <a:solidFill>
            <a:srgbClr val="D4A373"/>
          </a:solidFill>
          <a:ln/>
        </p:spPr>
      </p:sp>
      <p:sp>
        <p:nvSpPr>
          <p:cNvPr id="52" name="Text 49"/>
          <p:cNvSpPr/>
          <p:nvPr/>
        </p:nvSpPr>
        <p:spPr>
          <a:xfrm>
            <a:off x="6614744" y="5521032"/>
            <a:ext cx="2737150" cy="20027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51" b="1" dirty="0">
                <a:solidFill>
                  <a:srgbClr val="F0F2F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Debugging:</a:t>
            </a:r>
            <a:pPr>
              <a:lnSpc>
                <a:spcPct val="130000"/>
              </a:lnSpc>
            </a:pPr>
            <a:r>
              <a:rPr lang="en-US" sz="1051" dirty="0">
                <a:solidFill>
                  <a:srgbClr val="F0F2F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Helps identify model weaknesses</a:t>
            </a:r>
            <a:endParaRPr lang="en-US" sz="1600" dirty="0"/>
          </a:p>
        </p:txBody>
      </p:sp>
      <p:sp>
        <p:nvSpPr>
          <p:cNvPr id="53" name="Shape 50"/>
          <p:cNvSpPr/>
          <p:nvPr/>
        </p:nvSpPr>
        <p:spPr>
          <a:xfrm>
            <a:off x="6397775" y="5821451"/>
            <a:ext cx="133520" cy="133520"/>
          </a:xfrm>
          <a:custGeom>
            <a:avLst/>
            <a:gdLst/>
            <a:ahLst/>
            <a:cxnLst/>
            <a:rect l="l" t="t" r="r" b="b"/>
            <a:pathLst>
              <a:path w="133520" h="133520">
                <a:moveTo>
                  <a:pt x="66760" y="133520"/>
                </a:moveTo>
                <a:cubicBezTo>
                  <a:pt x="103605" y="133520"/>
                  <a:pt x="133520" y="103605"/>
                  <a:pt x="133520" y="66760"/>
                </a:cubicBezTo>
                <a:cubicBezTo>
                  <a:pt x="133520" y="29914"/>
                  <a:pt x="103605" y="0"/>
                  <a:pt x="66760" y="0"/>
                </a:cubicBezTo>
                <a:cubicBezTo>
                  <a:pt x="29914" y="0"/>
                  <a:pt x="0" y="29914"/>
                  <a:pt x="0" y="66760"/>
                </a:cubicBezTo>
                <a:cubicBezTo>
                  <a:pt x="0" y="103605"/>
                  <a:pt x="29914" y="133520"/>
                  <a:pt x="66760" y="133520"/>
                </a:cubicBezTo>
                <a:close/>
                <a:moveTo>
                  <a:pt x="88770" y="55468"/>
                </a:moveTo>
                <a:lnTo>
                  <a:pt x="67907" y="88848"/>
                </a:lnTo>
                <a:cubicBezTo>
                  <a:pt x="66812" y="90595"/>
                  <a:pt x="64934" y="91690"/>
                  <a:pt x="62874" y="91795"/>
                </a:cubicBezTo>
                <a:cubicBezTo>
                  <a:pt x="60814" y="91899"/>
                  <a:pt x="58832" y="90960"/>
                  <a:pt x="57606" y="89291"/>
                </a:cubicBezTo>
                <a:lnTo>
                  <a:pt x="45089" y="72601"/>
                </a:lnTo>
                <a:cubicBezTo>
                  <a:pt x="43003" y="69837"/>
                  <a:pt x="43576" y="65925"/>
                  <a:pt x="46341" y="63839"/>
                </a:cubicBezTo>
                <a:cubicBezTo>
                  <a:pt x="49105" y="61753"/>
                  <a:pt x="53017" y="62326"/>
                  <a:pt x="55103" y="65091"/>
                </a:cubicBezTo>
                <a:lnTo>
                  <a:pt x="62144" y="74479"/>
                </a:lnTo>
                <a:lnTo>
                  <a:pt x="78156" y="48844"/>
                </a:lnTo>
                <a:cubicBezTo>
                  <a:pt x="79981" y="45923"/>
                  <a:pt x="83841" y="45011"/>
                  <a:pt x="86788" y="46862"/>
                </a:cubicBezTo>
                <a:cubicBezTo>
                  <a:pt x="89734" y="48714"/>
                  <a:pt x="90621" y="52547"/>
                  <a:pt x="88770" y="55494"/>
                </a:cubicBezTo>
                <a:close/>
              </a:path>
            </a:pathLst>
          </a:custGeom>
          <a:solidFill>
            <a:srgbClr val="D4A373"/>
          </a:solidFill>
          <a:ln/>
        </p:spPr>
      </p:sp>
      <p:sp>
        <p:nvSpPr>
          <p:cNvPr id="54" name="Text 51"/>
          <p:cNvSpPr/>
          <p:nvPr/>
        </p:nvSpPr>
        <p:spPr>
          <a:xfrm>
            <a:off x="6614744" y="5788071"/>
            <a:ext cx="2853979" cy="20027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51" b="1" dirty="0">
                <a:solidFill>
                  <a:srgbClr val="F0F2F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Compliance:</a:t>
            </a:r>
            <a:pPr>
              <a:lnSpc>
                <a:spcPct val="130000"/>
              </a:lnSpc>
            </a:pPr>
            <a:r>
              <a:rPr lang="en-US" sz="1051" dirty="0">
                <a:solidFill>
                  <a:srgbClr val="F0F2F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Meets explainable AI requirements</a:t>
            </a:r>
            <a:endParaRPr lang="en-US" sz="1600" dirty="0"/>
          </a:p>
        </p:txBody>
      </p:sp>
      <p:sp>
        <p:nvSpPr>
          <p:cNvPr id="55" name="Shape 52"/>
          <p:cNvSpPr/>
          <p:nvPr/>
        </p:nvSpPr>
        <p:spPr>
          <a:xfrm>
            <a:off x="350489" y="6255390"/>
            <a:ext cx="11507713" cy="400559"/>
          </a:xfrm>
          <a:custGeom>
            <a:avLst/>
            <a:gdLst/>
            <a:ahLst/>
            <a:cxnLst/>
            <a:rect l="l" t="t" r="r" b="b"/>
            <a:pathLst>
              <a:path w="11507713" h="400559">
                <a:moveTo>
                  <a:pt x="33401" y="0"/>
                </a:moveTo>
                <a:lnTo>
                  <a:pt x="11440922" y="0"/>
                </a:lnTo>
                <a:cubicBezTo>
                  <a:pt x="11477816" y="0"/>
                  <a:pt x="11507724" y="29908"/>
                  <a:pt x="11507724" y="66802"/>
                </a:cubicBezTo>
                <a:lnTo>
                  <a:pt x="11507724" y="333756"/>
                </a:lnTo>
                <a:cubicBezTo>
                  <a:pt x="11507724" y="370650"/>
                  <a:pt x="11477816" y="400558"/>
                  <a:pt x="11440922" y="400558"/>
                </a:cubicBezTo>
                <a:lnTo>
                  <a:pt x="33401" y="400558"/>
                </a:lnTo>
                <a:cubicBezTo>
                  <a:pt x="14966" y="400558"/>
                  <a:pt x="0" y="385592"/>
                  <a:pt x="0" y="367157"/>
                </a:cubicBezTo>
                <a:lnTo>
                  <a:pt x="0" y="33401"/>
                </a:lnTo>
                <a:cubicBezTo>
                  <a:pt x="0" y="14954"/>
                  <a:pt x="14954" y="0"/>
                  <a:pt x="33401" y="0"/>
                </a:cubicBezTo>
                <a:close/>
              </a:path>
            </a:pathLst>
          </a:custGeom>
          <a:solidFill>
            <a:srgbClr val="5F737C">
              <a:alpha val="20000"/>
            </a:srgbClr>
          </a:solidFill>
          <a:ln/>
        </p:spPr>
      </p:sp>
      <p:sp>
        <p:nvSpPr>
          <p:cNvPr id="56" name="Shape 53"/>
          <p:cNvSpPr/>
          <p:nvPr/>
        </p:nvSpPr>
        <p:spPr>
          <a:xfrm>
            <a:off x="350489" y="6255390"/>
            <a:ext cx="33380" cy="400559"/>
          </a:xfrm>
          <a:custGeom>
            <a:avLst/>
            <a:gdLst/>
            <a:ahLst/>
            <a:cxnLst/>
            <a:rect l="l" t="t" r="r" b="b"/>
            <a:pathLst>
              <a:path w="33380" h="400559">
                <a:moveTo>
                  <a:pt x="33401" y="0"/>
                </a:moveTo>
                <a:lnTo>
                  <a:pt x="33401" y="0"/>
                </a:lnTo>
                <a:lnTo>
                  <a:pt x="33401" y="400558"/>
                </a:lnTo>
                <a:lnTo>
                  <a:pt x="33401" y="400558"/>
                </a:lnTo>
                <a:cubicBezTo>
                  <a:pt x="14966" y="400558"/>
                  <a:pt x="0" y="385592"/>
                  <a:pt x="0" y="367157"/>
                </a:cubicBezTo>
                <a:lnTo>
                  <a:pt x="0" y="33401"/>
                </a:lnTo>
                <a:cubicBezTo>
                  <a:pt x="0" y="14954"/>
                  <a:pt x="14954" y="0"/>
                  <a:pt x="33401" y="0"/>
                </a:cubicBezTo>
                <a:close/>
              </a:path>
            </a:pathLst>
          </a:custGeom>
          <a:solidFill>
            <a:srgbClr val="D4A373"/>
          </a:solidFill>
          <a:ln/>
        </p:spPr>
      </p:sp>
      <p:sp>
        <p:nvSpPr>
          <p:cNvPr id="57" name="Shape 54"/>
          <p:cNvSpPr/>
          <p:nvPr/>
        </p:nvSpPr>
        <p:spPr>
          <a:xfrm>
            <a:off x="484008" y="6382235"/>
            <a:ext cx="133520" cy="133520"/>
          </a:xfrm>
          <a:custGeom>
            <a:avLst/>
            <a:gdLst/>
            <a:ahLst/>
            <a:cxnLst/>
            <a:rect l="l" t="t" r="r" b="b"/>
            <a:pathLst>
              <a:path w="133520" h="133520">
                <a:moveTo>
                  <a:pt x="66760" y="133520"/>
                </a:moveTo>
                <a:cubicBezTo>
                  <a:pt x="103605" y="133520"/>
                  <a:pt x="133520" y="103605"/>
                  <a:pt x="133520" y="66760"/>
                </a:cubicBezTo>
                <a:cubicBezTo>
                  <a:pt x="133520" y="29914"/>
                  <a:pt x="103605" y="0"/>
                  <a:pt x="66760" y="0"/>
                </a:cubicBezTo>
                <a:cubicBezTo>
                  <a:pt x="29914" y="0"/>
                  <a:pt x="0" y="29914"/>
                  <a:pt x="0" y="66760"/>
                </a:cubicBezTo>
                <a:cubicBezTo>
                  <a:pt x="0" y="103605"/>
                  <a:pt x="29914" y="133520"/>
                  <a:pt x="66760" y="133520"/>
                </a:cubicBezTo>
                <a:close/>
                <a:moveTo>
                  <a:pt x="58415" y="41725"/>
                </a:moveTo>
                <a:cubicBezTo>
                  <a:pt x="58415" y="37119"/>
                  <a:pt x="62154" y="33380"/>
                  <a:pt x="66760" y="33380"/>
                </a:cubicBezTo>
                <a:cubicBezTo>
                  <a:pt x="71365" y="33380"/>
                  <a:pt x="75105" y="37119"/>
                  <a:pt x="75105" y="41725"/>
                </a:cubicBezTo>
                <a:cubicBezTo>
                  <a:pt x="75105" y="46331"/>
                  <a:pt x="71365" y="50070"/>
                  <a:pt x="66760" y="50070"/>
                </a:cubicBezTo>
                <a:cubicBezTo>
                  <a:pt x="62154" y="50070"/>
                  <a:pt x="58415" y="46331"/>
                  <a:pt x="58415" y="41725"/>
                </a:cubicBezTo>
                <a:close/>
                <a:moveTo>
                  <a:pt x="56329" y="58415"/>
                </a:moveTo>
                <a:lnTo>
                  <a:pt x="68846" y="58415"/>
                </a:lnTo>
                <a:cubicBezTo>
                  <a:pt x="72314" y="58415"/>
                  <a:pt x="75105" y="61205"/>
                  <a:pt x="75105" y="64674"/>
                </a:cubicBezTo>
                <a:lnTo>
                  <a:pt x="75105" y="87622"/>
                </a:lnTo>
                <a:lnTo>
                  <a:pt x="77191" y="87622"/>
                </a:lnTo>
                <a:cubicBezTo>
                  <a:pt x="80659" y="87622"/>
                  <a:pt x="83450" y="90413"/>
                  <a:pt x="83450" y="93881"/>
                </a:cubicBezTo>
                <a:cubicBezTo>
                  <a:pt x="83450" y="97349"/>
                  <a:pt x="80659" y="100140"/>
                  <a:pt x="77191" y="100140"/>
                </a:cubicBezTo>
                <a:lnTo>
                  <a:pt x="56329" y="100140"/>
                </a:lnTo>
                <a:cubicBezTo>
                  <a:pt x="52860" y="100140"/>
                  <a:pt x="50070" y="97349"/>
                  <a:pt x="50070" y="93881"/>
                </a:cubicBezTo>
                <a:cubicBezTo>
                  <a:pt x="50070" y="90413"/>
                  <a:pt x="52860" y="87622"/>
                  <a:pt x="56329" y="87622"/>
                </a:cubicBezTo>
                <a:lnTo>
                  <a:pt x="62587" y="87622"/>
                </a:lnTo>
                <a:lnTo>
                  <a:pt x="62587" y="70932"/>
                </a:lnTo>
                <a:lnTo>
                  <a:pt x="56329" y="70932"/>
                </a:lnTo>
                <a:cubicBezTo>
                  <a:pt x="52860" y="70932"/>
                  <a:pt x="50070" y="68142"/>
                  <a:pt x="50070" y="64674"/>
                </a:cubicBezTo>
                <a:cubicBezTo>
                  <a:pt x="50070" y="61205"/>
                  <a:pt x="52860" y="58415"/>
                  <a:pt x="56329" y="58415"/>
                </a:cubicBezTo>
                <a:close/>
              </a:path>
            </a:pathLst>
          </a:custGeom>
          <a:solidFill>
            <a:srgbClr val="D4A373"/>
          </a:solidFill>
          <a:ln/>
        </p:spPr>
      </p:sp>
      <p:sp>
        <p:nvSpPr>
          <p:cNvPr id="58" name="Text 55"/>
          <p:cNvSpPr/>
          <p:nvPr/>
        </p:nvSpPr>
        <p:spPr>
          <a:xfrm>
            <a:off x="678084" y="6355529"/>
            <a:ext cx="11146737" cy="20027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51" b="1" dirty="0">
                <a:solidFill>
                  <a:srgbClr val="F0F2F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Technical Implementation:</a:t>
            </a:r>
            <a:pPr>
              <a:lnSpc>
                <a:spcPct val="130000"/>
              </a:lnSpc>
            </a:pPr>
            <a:r>
              <a:rPr lang="en-US" sz="1051" dirty="0">
                <a:solidFill>
                  <a:srgbClr val="F0F2F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Grad-CAM uses the gradients of any target concept flowing into the final convolutional layer to produce a coarse localization map highlighting important regions.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A1D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34027" y="334027"/>
            <a:ext cx="66805" cy="400833"/>
          </a:xfrm>
          <a:prstGeom prst="roundRect">
            <a:avLst>
              <a:gd name="adj" fmla="val 0"/>
            </a:avLst>
          </a:prstGeom>
          <a:solidFill>
            <a:srgbClr val="D4A373"/>
          </a:solidFill>
          <a:ln/>
        </p:spPr>
      </p:sp>
      <p:sp>
        <p:nvSpPr>
          <p:cNvPr id="3" name="Text 1"/>
          <p:cNvSpPr/>
          <p:nvPr/>
        </p:nvSpPr>
        <p:spPr>
          <a:xfrm>
            <a:off x="501041" y="334027"/>
            <a:ext cx="5795375" cy="4008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156" b="1" dirty="0">
                <a:solidFill>
                  <a:srgbClr val="D4A37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★ Unique Feature - ECF Module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501041" y="801666"/>
            <a:ext cx="11440438" cy="2338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15" dirty="0">
                <a:solidFill>
                  <a:srgbClr val="9A959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Emotion-Consistency Forensics for Cross-Modal Analysis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40708" y="1175776"/>
            <a:ext cx="5666775" cy="2652178"/>
          </a:xfrm>
          <a:prstGeom prst="roundRect">
            <a:avLst>
              <a:gd name="adj" fmla="val 2519"/>
            </a:avLst>
          </a:prstGeom>
          <a:gradFill rotWithShape="1" flip="none">
            <a:gsLst>
              <a:gs pos="0">
                <a:srgbClr val="D4A373">
                  <a:alpha val="30000"/>
                </a:srgbClr>
              </a:gs>
              <a:gs pos="100000">
                <a:srgbClr val="5F737C">
                  <a:alpha val="20000"/>
                </a:srgbClr>
              </a:gs>
            </a:gsLst>
            <a:lin ang="2700000" scaled="1"/>
          </a:gradFill>
          <a:ln w="20320">
            <a:solidFill>
              <a:srgbClr val="D4A373">
                <a:alpha val="6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14402" y="1376195"/>
            <a:ext cx="250521" cy="200416"/>
          </a:xfrm>
          <a:custGeom>
            <a:avLst/>
            <a:gdLst/>
            <a:ahLst/>
            <a:cxnLst/>
            <a:rect l="l" t="t" r="r" b="b"/>
            <a:pathLst>
              <a:path w="250521" h="200416">
                <a:moveTo>
                  <a:pt x="162799" y="82398"/>
                </a:moveTo>
                <a:cubicBezTo>
                  <a:pt x="167575" y="81106"/>
                  <a:pt x="172585" y="83376"/>
                  <a:pt x="174738" y="87800"/>
                </a:cubicBezTo>
                <a:lnTo>
                  <a:pt x="182019" y="102518"/>
                </a:lnTo>
                <a:cubicBezTo>
                  <a:pt x="186051" y="103066"/>
                  <a:pt x="190004" y="104162"/>
                  <a:pt x="193723" y="105688"/>
                </a:cubicBezTo>
                <a:lnTo>
                  <a:pt x="207423" y="96568"/>
                </a:lnTo>
                <a:cubicBezTo>
                  <a:pt x="211533" y="93828"/>
                  <a:pt x="216974" y="94376"/>
                  <a:pt x="220458" y="97860"/>
                </a:cubicBezTo>
                <a:lnTo>
                  <a:pt x="227974" y="105375"/>
                </a:lnTo>
                <a:cubicBezTo>
                  <a:pt x="231458" y="108859"/>
                  <a:pt x="232006" y="114339"/>
                  <a:pt x="229265" y="118410"/>
                </a:cubicBezTo>
                <a:lnTo>
                  <a:pt x="220145" y="132071"/>
                </a:lnTo>
                <a:cubicBezTo>
                  <a:pt x="220889" y="133911"/>
                  <a:pt x="221554" y="135829"/>
                  <a:pt x="222102" y="137825"/>
                </a:cubicBezTo>
                <a:cubicBezTo>
                  <a:pt x="222650" y="139822"/>
                  <a:pt x="223002" y="141779"/>
                  <a:pt x="223276" y="143775"/>
                </a:cubicBezTo>
                <a:lnTo>
                  <a:pt x="238034" y="151056"/>
                </a:lnTo>
                <a:cubicBezTo>
                  <a:pt x="242457" y="153248"/>
                  <a:pt x="244727" y="158259"/>
                  <a:pt x="243436" y="162995"/>
                </a:cubicBezTo>
                <a:lnTo>
                  <a:pt x="240695" y="173251"/>
                </a:lnTo>
                <a:cubicBezTo>
                  <a:pt x="239404" y="177987"/>
                  <a:pt x="234980" y="181197"/>
                  <a:pt x="230048" y="180884"/>
                </a:cubicBezTo>
                <a:lnTo>
                  <a:pt x="213608" y="179827"/>
                </a:lnTo>
                <a:cubicBezTo>
                  <a:pt x="211142" y="182997"/>
                  <a:pt x="208284" y="185933"/>
                  <a:pt x="205035" y="188438"/>
                </a:cubicBezTo>
                <a:lnTo>
                  <a:pt x="206092" y="204840"/>
                </a:lnTo>
                <a:cubicBezTo>
                  <a:pt x="206405" y="209772"/>
                  <a:pt x="203196" y="214234"/>
                  <a:pt x="198459" y="215487"/>
                </a:cubicBezTo>
                <a:lnTo>
                  <a:pt x="188204" y="218227"/>
                </a:lnTo>
                <a:cubicBezTo>
                  <a:pt x="183428" y="219519"/>
                  <a:pt x="178457" y="217248"/>
                  <a:pt x="176265" y="212825"/>
                </a:cubicBezTo>
                <a:lnTo>
                  <a:pt x="168984" y="198107"/>
                </a:lnTo>
                <a:cubicBezTo>
                  <a:pt x="164952" y="197559"/>
                  <a:pt x="160999" y="196463"/>
                  <a:pt x="157280" y="194936"/>
                </a:cubicBezTo>
                <a:lnTo>
                  <a:pt x="143580" y="204057"/>
                </a:lnTo>
                <a:cubicBezTo>
                  <a:pt x="139469" y="206797"/>
                  <a:pt x="134028" y="206249"/>
                  <a:pt x="130545" y="202765"/>
                </a:cubicBezTo>
                <a:lnTo>
                  <a:pt x="123029" y="195249"/>
                </a:lnTo>
                <a:cubicBezTo>
                  <a:pt x="119545" y="191766"/>
                  <a:pt x="118997" y="186325"/>
                  <a:pt x="121737" y="182215"/>
                </a:cubicBezTo>
                <a:lnTo>
                  <a:pt x="130858" y="168514"/>
                </a:lnTo>
                <a:cubicBezTo>
                  <a:pt x="130114" y="166674"/>
                  <a:pt x="129449" y="164756"/>
                  <a:pt x="128901" y="162760"/>
                </a:cubicBezTo>
                <a:cubicBezTo>
                  <a:pt x="128353" y="160764"/>
                  <a:pt x="128000" y="158767"/>
                  <a:pt x="127726" y="156810"/>
                </a:cubicBezTo>
                <a:lnTo>
                  <a:pt x="112969" y="149529"/>
                </a:lnTo>
                <a:cubicBezTo>
                  <a:pt x="108546" y="147337"/>
                  <a:pt x="106315" y="142327"/>
                  <a:pt x="107567" y="137591"/>
                </a:cubicBezTo>
                <a:lnTo>
                  <a:pt x="110307" y="127335"/>
                </a:lnTo>
                <a:cubicBezTo>
                  <a:pt x="111599" y="122598"/>
                  <a:pt x="116022" y="119389"/>
                  <a:pt x="120954" y="119702"/>
                </a:cubicBezTo>
                <a:lnTo>
                  <a:pt x="137356" y="120759"/>
                </a:lnTo>
                <a:cubicBezTo>
                  <a:pt x="139822" y="117588"/>
                  <a:pt x="142679" y="114652"/>
                  <a:pt x="145928" y="112147"/>
                </a:cubicBezTo>
                <a:lnTo>
                  <a:pt x="144871" y="95785"/>
                </a:lnTo>
                <a:cubicBezTo>
                  <a:pt x="144558" y="90853"/>
                  <a:pt x="147768" y="86390"/>
                  <a:pt x="152504" y="85138"/>
                </a:cubicBezTo>
                <a:lnTo>
                  <a:pt x="162760" y="82398"/>
                </a:lnTo>
                <a:close/>
                <a:moveTo>
                  <a:pt x="175521" y="133089"/>
                </a:moveTo>
                <a:cubicBezTo>
                  <a:pt x="166015" y="133100"/>
                  <a:pt x="158306" y="140826"/>
                  <a:pt x="158317" y="150332"/>
                </a:cubicBezTo>
                <a:cubicBezTo>
                  <a:pt x="158328" y="159838"/>
                  <a:pt x="166054" y="167546"/>
                  <a:pt x="175560" y="167536"/>
                </a:cubicBezTo>
                <a:cubicBezTo>
                  <a:pt x="185066" y="167525"/>
                  <a:pt x="192775" y="159799"/>
                  <a:pt x="192764" y="150293"/>
                </a:cubicBezTo>
                <a:cubicBezTo>
                  <a:pt x="192753" y="140787"/>
                  <a:pt x="185027" y="133078"/>
                  <a:pt x="175521" y="133089"/>
                </a:cubicBezTo>
                <a:close/>
                <a:moveTo>
                  <a:pt x="88034" y="-17810"/>
                </a:moveTo>
                <a:lnTo>
                  <a:pt x="98290" y="-15070"/>
                </a:lnTo>
                <a:cubicBezTo>
                  <a:pt x="103027" y="-13779"/>
                  <a:pt x="106236" y="-9316"/>
                  <a:pt x="105923" y="-4423"/>
                </a:cubicBezTo>
                <a:lnTo>
                  <a:pt x="104866" y="11939"/>
                </a:lnTo>
                <a:cubicBezTo>
                  <a:pt x="108115" y="14444"/>
                  <a:pt x="110973" y="17341"/>
                  <a:pt x="113439" y="20551"/>
                </a:cubicBezTo>
                <a:lnTo>
                  <a:pt x="129879" y="19494"/>
                </a:lnTo>
                <a:cubicBezTo>
                  <a:pt x="134772" y="19180"/>
                  <a:pt x="139235" y="22390"/>
                  <a:pt x="140526" y="27127"/>
                </a:cubicBezTo>
                <a:lnTo>
                  <a:pt x="143266" y="37382"/>
                </a:lnTo>
                <a:cubicBezTo>
                  <a:pt x="144519" y="42119"/>
                  <a:pt x="142288" y="47129"/>
                  <a:pt x="137865" y="49321"/>
                </a:cubicBezTo>
                <a:lnTo>
                  <a:pt x="123107" y="56602"/>
                </a:lnTo>
                <a:cubicBezTo>
                  <a:pt x="122833" y="58598"/>
                  <a:pt x="122442" y="60595"/>
                  <a:pt x="121933" y="62552"/>
                </a:cubicBezTo>
                <a:cubicBezTo>
                  <a:pt x="121424" y="64509"/>
                  <a:pt x="120720" y="66466"/>
                  <a:pt x="119976" y="68306"/>
                </a:cubicBezTo>
                <a:lnTo>
                  <a:pt x="129096" y="82006"/>
                </a:lnTo>
                <a:cubicBezTo>
                  <a:pt x="131836" y="86116"/>
                  <a:pt x="131288" y="91557"/>
                  <a:pt x="127805" y="95041"/>
                </a:cubicBezTo>
                <a:lnTo>
                  <a:pt x="120289" y="102557"/>
                </a:lnTo>
                <a:cubicBezTo>
                  <a:pt x="116805" y="106041"/>
                  <a:pt x="111364" y="106589"/>
                  <a:pt x="107254" y="103849"/>
                </a:cubicBezTo>
                <a:lnTo>
                  <a:pt x="93554" y="94728"/>
                </a:lnTo>
                <a:cubicBezTo>
                  <a:pt x="89835" y="96255"/>
                  <a:pt x="85882" y="97351"/>
                  <a:pt x="81850" y="97899"/>
                </a:cubicBezTo>
                <a:lnTo>
                  <a:pt x="74569" y="112617"/>
                </a:lnTo>
                <a:cubicBezTo>
                  <a:pt x="72377" y="117040"/>
                  <a:pt x="67367" y="119271"/>
                  <a:pt x="62630" y="118019"/>
                </a:cubicBezTo>
                <a:lnTo>
                  <a:pt x="52374" y="115279"/>
                </a:lnTo>
                <a:cubicBezTo>
                  <a:pt x="47599" y="113987"/>
                  <a:pt x="44428" y="109524"/>
                  <a:pt x="44741" y="104631"/>
                </a:cubicBezTo>
                <a:lnTo>
                  <a:pt x="45798" y="88230"/>
                </a:lnTo>
                <a:cubicBezTo>
                  <a:pt x="42549" y="85725"/>
                  <a:pt x="39692" y="82828"/>
                  <a:pt x="37226" y="79619"/>
                </a:cubicBezTo>
                <a:lnTo>
                  <a:pt x="20785" y="80675"/>
                </a:lnTo>
                <a:cubicBezTo>
                  <a:pt x="15892" y="80989"/>
                  <a:pt x="11430" y="77779"/>
                  <a:pt x="10138" y="73042"/>
                </a:cubicBezTo>
                <a:lnTo>
                  <a:pt x="7398" y="62787"/>
                </a:lnTo>
                <a:cubicBezTo>
                  <a:pt x="6146" y="58050"/>
                  <a:pt x="8377" y="53040"/>
                  <a:pt x="12800" y="50848"/>
                </a:cubicBezTo>
                <a:lnTo>
                  <a:pt x="27557" y="43567"/>
                </a:lnTo>
                <a:cubicBezTo>
                  <a:pt x="27831" y="41571"/>
                  <a:pt x="28223" y="39614"/>
                  <a:pt x="28732" y="37617"/>
                </a:cubicBezTo>
                <a:cubicBezTo>
                  <a:pt x="29280" y="35621"/>
                  <a:pt x="29906" y="33703"/>
                  <a:pt x="30689" y="31863"/>
                </a:cubicBezTo>
                <a:lnTo>
                  <a:pt x="21568" y="18202"/>
                </a:lnTo>
                <a:cubicBezTo>
                  <a:pt x="18828" y="14092"/>
                  <a:pt x="19376" y="8651"/>
                  <a:pt x="22860" y="5167"/>
                </a:cubicBezTo>
                <a:lnTo>
                  <a:pt x="30376" y="-2349"/>
                </a:lnTo>
                <a:cubicBezTo>
                  <a:pt x="33859" y="-5832"/>
                  <a:pt x="39300" y="-6380"/>
                  <a:pt x="43411" y="-3640"/>
                </a:cubicBezTo>
                <a:lnTo>
                  <a:pt x="57111" y="5480"/>
                </a:lnTo>
                <a:cubicBezTo>
                  <a:pt x="60830" y="3954"/>
                  <a:pt x="64783" y="2857"/>
                  <a:pt x="68815" y="2309"/>
                </a:cubicBezTo>
                <a:lnTo>
                  <a:pt x="76096" y="-12409"/>
                </a:lnTo>
                <a:cubicBezTo>
                  <a:pt x="78288" y="-16832"/>
                  <a:pt x="83259" y="-19063"/>
                  <a:pt x="88034" y="-17810"/>
                </a:cubicBezTo>
                <a:close/>
                <a:moveTo>
                  <a:pt x="75313" y="32881"/>
                </a:moveTo>
                <a:cubicBezTo>
                  <a:pt x="65807" y="32881"/>
                  <a:pt x="58089" y="40598"/>
                  <a:pt x="58089" y="50104"/>
                </a:cubicBezTo>
                <a:cubicBezTo>
                  <a:pt x="58089" y="59610"/>
                  <a:pt x="65807" y="67327"/>
                  <a:pt x="75313" y="67327"/>
                </a:cubicBezTo>
                <a:cubicBezTo>
                  <a:pt x="84819" y="67327"/>
                  <a:pt x="92536" y="59610"/>
                  <a:pt x="92536" y="50104"/>
                </a:cubicBezTo>
                <a:cubicBezTo>
                  <a:pt x="92536" y="40598"/>
                  <a:pt x="84819" y="32881"/>
                  <a:pt x="75313" y="32881"/>
                </a:cubicBezTo>
                <a:close/>
              </a:path>
            </a:pathLst>
          </a:custGeom>
          <a:solidFill>
            <a:srgbClr val="D4A373"/>
          </a:solidFill>
          <a:ln/>
        </p:spPr>
      </p:sp>
      <p:sp>
        <p:nvSpPr>
          <p:cNvPr id="7" name="Text 5"/>
          <p:cNvSpPr/>
          <p:nvPr/>
        </p:nvSpPr>
        <p:spPr>
          <a:xfrm>
            <a:off x="808850" y="1349472"/>
            <a:ext cx="5125147" cy="2672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578" b="1" dirty="0">
                <a:solidFill>
                  <a:srgbClr val="F0F2F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ECF Processing Pipeline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514402" y="1750198"/>
            <a:ext cx="400833" cy="400833"/>
          </a:xfrm>
          <a:prstGeom prst="roundRect">
            <a:avLst>
              <a:gd name="adj" fmla="val 16667"/>
            </a:avLst>
          </a:prstGeom>
          <a:solidFill>
            <a:srgbClr val="D4A373"/>
          </a:solidFill>
          <a:ln/>
        </p:spPr>
      </p:sp>
      <p:sp>
        <p:nvSpPr>
          <p:cNvPr id="9" name="Text 7"/>
          <p:cNvSpPr/>
          <p:nvPr/>
        </p:nvSpPr>
        <p:spPr>
          <a:xfrm>
            <a:off x="681416" y="1833705"/>
            <a:ext cx="150312" cy="2338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15" b="1" dirty="0">
                <a:solidFill>
                  <a:srgbClr val="1A1D2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015443" y="1750198"/>
            <a:ext cx="4893501" cy="2338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84" b="1" dirty="0">
                <a:solidFill>
                  <a:srgbClr val="F0F2F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FER - Facial Emotion Recognition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015443" y="1984018"/>
            <a:ext cx="4876800" cy="1670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21" dirty="0">
                <a:solidFill>
                  <a:srgbClr val="9A959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Extracts facial emotion from video frames (happy, sad, angry, etc.)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514402" y="2251239"/>
            <a:ext cx="400833" cy="400833"/>
          </a:xfrm>
          <a:prstGeom prst="roundRect">
            <a:avLst>
              <a:gd name="adj" fmla="val 16667"/>
            </a:avLst>
          </a:prstGeom>
          <a:solidFill>
            <a:srgbClr val="5F737C"/>
          </a:solidFill>
          <a:ln/>
        </p:spPr>
      </p:sp>
      <p:sp>
        <p:nvSpPr>
          <p:cNvPr id="13" name="Text 11"/>
          <p:cNvSpPr/>
          <p:nvPr/>
        </p:nvSpPr>
        <p:spPr>
          <a:xfrm>
            <a:off x="666280" y="2334746"/>
            <a:ext cx="183715" cy="2338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15" b="1" dirty="0">
                <a:solidFill>
                  <a:srgbClr val="F0F2F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015443" y="2251239"/>
            <a:ext cx="4893501" cy="2338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84" b="1" dirty="0">
                <a:solidFill>
                  <a:srgbClr val="F0F2F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Whisper - Speech Transcription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015443" y="2485059"/>
            <a:ext cx="4876800" cy="1670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21" dirty="0">
                <a:solidFill>
                  <a:srgbClr val="9A959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Transcribes speech to text with high accuracy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514402" y="2752281"/>
            <a:ext cx="400833" cy="400833"/>
          </a:xfrm>
          <a:prstGeom prst="roundRect">
            <a:avLst>
              <a:gd name="adj" fmla="val 16667"/>
            </a:avLst>
          </a:prstGeom>
          <a:solidFill>
            <a:srgbClr val="5F737C"/>
          </a:solidFill>
          <a:ln/>
        </p:spPr>
      </p:sp>
      <p:sp>
        <p:nvSpPr>
          <p:cNvPr id="17" name="Text 15"/>
          <p:cNvSpPr/>
          <p:nvPr/>
        </p:nvSpPr>
        <p:spPr>
          <a:xfrm>
            <a:off x="665550" y="2835787"/>
            <a:ext cx="183715" cy="2338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15" b="1" dirty="0">
                <a:solidFill>
                  <a:srgbClr val="F0F2F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3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015443" y="2752281"/>
            <a:ext cx="4893501" cy="2338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84" b="1" dirty="0">
                <a:solidFill>
                  <a:srgbClr val="F0F2F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VADER - Sentiment Analysis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015443" y="2986100"/>
            <a:ext cx="4876800" cy="1670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21" dirty="0">
                <a:solidFill>
                  <a:srgbClr val="9A959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Analyzes emotional sentiment of transcribed text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514402" y="3253322"/>
            <a:ext cx="400833" cy="400833"/>
          </a:xfrm>
          <a:prstGeom prst="roundRect">
            <a:avLst>
              <a:gd name="adj" fmla="val 16667"/>
            </a:avLst>
          </a:prstGeom>
          <a:solidFill>
            <a:srgbClr val="D4A373"/>
          </a:solidFill>
          <a:ln/>
        </p:spPr>
      </p:sp>
      <p:sp>
        <p:nvSpPr>
          <p:cNvPr id="21" name="Text 19"/>
          <p:cNvSpPr/>
          <p:nvPr/>
        </p:nvSpPr>
        <p:spPr>
          <a:xfrm>
            <a:off x="665550" y="3336828"/>
            <a:ext cx="183715" cy="2338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15" b="1" dirty="0">
                <a:solidFill>
                  <a:srgbClr val="1A1D2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4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015443" y="3253322"/>
            <a:ext cx="4893501" cy="2338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84" b="1" dirty="0">
                <a:solidFill>
                  <a:srgbClr val="F0F2F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Cross-Modal Consistency Check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1015443" y="3487141"/>
            <a:ext cx="4876800" cy="1670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21" dirty="0">
                <a:solidFill>
                  <a:srgbClr val="9A959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Compares facial emotion vs. voice sentiment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350729" y="3968141"/>
            <a:ext cx="5661764" cy="2388296"/>
          </a:xfrm>
          <a:custGeom>
            <a:avLst/>
            <a:gdLst/>
            <a:ahLst/>
            <a:cxnLst/>
            <a:rect l="l" t="t" r="r" b="b"/>
            <a:pathLst>
              <a:path w="5661764" h="2388296">
                <a:moveTo>
                  <a:pt x="33401" y="0"/>
                </a:moveTo>
                <a:lnTo>
                  <a:pt x="5594985" y="0"/>
                </a:lnTo>
                <a:cubicBezTo>
                  <a:pt x="5631879" y="0"/>
                  <a:pt x="5661787" y="29908"/>
                  <a:pt x="5661787" y="66802"/>
                </a:cubicBezTo>
                <a:lnTo>
                  <a:pt x="5661787" y="2321433"/>
                </a:lnTo>
                <a:cubicBezTo>
                  <a:pt x="5661787" y="2358327"/>
                  <a:pt x="5631879" y="2388235"/>
                  <a:pt x="5594985" y="2388235"/>
                </a:cubicBezTo>
                <a:lnTo>
                  <a:pt x="33401" y="2388235"/>
                </a:lnTo>
                <a:cubicBezTo>
                  <a:pt x="14954" y="2388235"/>
                  <a:pt x="0" y="2373281"/>
                  <a:pt x="0" y="2354834"/>
                </a:cubicBezTo>
                <a:lnTo>
                  <a:pt x="0" y="33401"/>
                </a:lnTo>
                <a:cubicBezTo>
                  <a:pt x="0" y="14954"/>
                  <a:pt x="14954" y="0"/>
                  <a:pt x="33401" y="0"/>
                </a:cubicBezTo>
                <a:close/>
              </a:path>
            </a:pathLst>
          </a:custGeom>
          <a:gradFill rotWithShape="1" flip="none">
            <a:gsLst>
              <a:gs pos="0">
                <a:srgbClr val="5F737C">
                  <a:alpha val="30000"/>
                </a:srgbClr>
              </a:gs>
              <a:gs pos="100000">
                <a:srgbClr val="4A5C6A">
                  <a:alpha val="20000"/>
                </a:srgbClr>
              </a:gs>
            </a:gsLst>
            <a:lin ang="2700000" scaled="1"/>
          </a:gradFill>
          <a:ln/>
        </p:spPr>
      </p:sp>
      <p:sp>
        <p:nvSpPr>
          <p:cNvPr id="25" name="Shape 23"/>
          <p:cNvSpPr/>
          <p:nvPr/>
        </p:nvSpPr>
        <p:spPr>
          <a:xfrm>
            <a:off x="350729" y="3968141"/>
            <a:ext cx="33403" cy="2388296"/>
          </a:xfrm>
          <a:custGeom>
            <a:avLst/>
            <a:gdLst/>
            <a:ahLst/>
            <a:cxnLst/>
            <a:rect l="l" t="t" r="r" b="b"/>
            <a:pathLst>
              <a:path w="33403" h="2388296">
                <a:moveTo>
                  <a:pt x="33401" y="0"/>
                </a:moveTo>
                <a:lnTo>
                  <a:pt x="33401" y="0"/>
                </a:lnTo>
                <a:lnTo>
                  <a:pt x="33401" y="2388235"/>
                </a:lnTo>
                <a:lnTo>
                  <a:pt x="33401" y="2388235"/>
                </a:lnTo>
                <a:cubicBezTo>
                  <a:pt x="14954" y="2388235"/>
                  <a:pt x="0" y="2373281"/>
                  <a:pt x="0" y="2354834"/>
                </a:cubicBezTo>
                <a:lnTo>
                  <a:pt x="0" y="33401"/>
                </a:lnTo>
                <a:cubicBezTo>
                  <a:pt x="0" y="14954"/>
                  <a:pt x="14954" y="0"/>
                  <a:pt x="33401" y="0"/>
                </a:cubicBezTo>
                <a:close/>
              </a:path>
            </a:pathLst>
          </a:custGeom>
          <a:solidFill>
            <a:srgbClr val="D4A373"/>
          </a:solidFill>
          <a:ln/>
        </p:spPr>
      </p:sp>
      <p:sp>
        <p:nvSpPr>
          <p:cNvPr id="26" name="Shape 24"/>
          <p:cNvSpPr/>
          <p:nvPr/>
        </p:nvSpPr>
        <p:spPr>
          <a:xfrm>
            <a:off x="576197" y="4161879"/>
            <a:ext cx="125260" cy="167014"/>
          </a:xfrm>
          <a:custGeom>
            <a:avLst/>
            <a:gdLst/>
            <a:ahLst/>
            <a:cxnLst/>
            <a:rect l="l" t="t" r="r" b="b"/>
            <a:pathLst>
              <a:path w="125260" h="167014">
                <a:moveTo>
                  <a:pt x="95544" y="125260"/>
                </a:moveTo>
                <a:cubicBezTo>
                  <a:pt x="97925" y="117986"/>
                  <a:pt x="102687" y="111397"/>
                  <a:pt x="108070" y="105721"/>
                </a:cubicBezTo>
                <a:cubicBezTo>
                  <a:pt x="118736" y="94500"/>
                  <a:pt x="125260" y="79332"/>
                  <a:pt x="125260" y="62630"/>
                </a:cubicBezTo>
                <a:cubicBezTo>
                  <a:pt x="125260" y="28053"/>
                  <a:pt x="97207" y="0"/>
                  <a:pt x="62630" y="0"/>
                </a:cubicBezTo>
                <a:cubicBezTo>
                  <a:pt x="28053" y="0"/>
                  <a:pt x="0" y="28053"/>
                  <a:pt x="0" y="62630"/>
                </a:cubicBezTo>
                <a:cubicBezTo>
                  <a:pt x="0" y="79332"/>
                  <a:pt x="6524" y="94500"/>
                  <a:pt x="17191" y="105721"/>
                </a:cubicBezTo>
                <a:cubicBezTo>
                  <a:pt x="22573" y="111397"/>
                  <a:pt x="27368" y="117986"/>
                  <a:pt x="29717" y="125260"/>
                </a:cubicBezTo>
                <a:lnTo>
                  <a:pt x="95511" y="125260"/>
                </a:lnTo>
                <a:close/>
                <a:moveTo>
                  <a:pt x="93945" y="140918"/>
                </a:moveTo>
                <a:lnTo>
                  <a:pt x="31315" y="140918"/>
                </a:lnTo>
                <a:lnTo>
                  <a:pt x="31315" y="146137"/>
                </a:lnTo>
                <a:cubicBezTo>
                  <a:pt x="31315" y="160555"/>
                  <a:pt x="42993" y="172233"/>
                  <a:pt x="57411" y="172233"/>
                </a:cubicBezTo>
                <a:lnTo>
                  <a:pt x="67849" y="172233"/>
                </a:lnTo>
                <a:cubicBezTo>
                  <a:pt x="82267" y="172233"/>
                  <a:pt x="93945" y="160555"/>
                  <a:pt x="93945" y="146137"/>
                </a:cubicBezTo>
                <a:lnTo>
                  <a:pt x="93945" y="140918"/>
                </a:lnTo>
                <a:close/>
                <a:moveTo>
                  <a:pt x="60021" y="36534"/>
                </a:moveTo>
                <a:cubicBezTo>
                  <a:pt x="47038" y="36534"/>
                  <a:pt x="36534" y="47038"/>
                  <a:pt x="36534" y="60021"/>
                </a:cubicBezTo>
                <a:cubicBezTo>
                  <a:pt x="36534" y="64359"/>
                  <a:pt x="33044" y="67849"/>
                  <a:pt x="28705" y="67849"/>
                </a:cubicBezTo>
                <a:cubicBezTo>
                  <a:pt x="24367" y="67849"/>
                  <a:pt x="20877" y="64359"/>
                  <a:pt x="20877" y="60021"/>
                </a:cubicBezTo>
                <a:cubicBezTo>
                  <a:pt x="20877" y="38394"/>
                  <a:pt x="38394" y="20877"/>
                  <a:pt x="60021" y="20877"/>
                </a:cubicBezTo>
                <a:cubicBezTo>
                  <a:pt x="64359" y="20877"/>
                  <a:pt x="67849" y="24367"/>
                  <a:pt x="67849" y="28705"/>
                </a:cubicBezTo>
                <a:cubicBezTo>
                  <a:pt x="67849" y="33044"/>
                  <a:pt x="64359" y="36534"/>
                  <a:pt x="60021" y="36534"/>
                </a:cubicBezTo>
                <a:close/>
              </a:path>
            </a:pathLst>
          </a:custGeom>
          <a:solidFill>
            <a:srgbClr val="D4A373"/>
          </a:solidFill>
          <a:ln/>
        </p:spPr>
      </p:sp>
      <p:sp>
        <p:nvSpPr>
          <p:cNvPr id="27" name="Text 25"/>
          <p:cNvSpPr/>
          <p:nvPr/>
        </p:nvSpPr>
        <p:spPr>
          <a:xfrm>
            <a:off x="787138" y="4135155"/>
            <a:ext cx="5141848" cy="2338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15" b="1" dirty="0">
                <a:solidFill>
                  <a:srgbClr val="F0F2F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Example Detection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534444" y="4469182"/>
            <a:ext cx="5311036" cy="1720241"/>
          </a:xfrm>
          <a:prstGeom prst="roundRect">
            <a:avLst>
              <a:gd name="adj" fmla="val 3883"/>
            </a:avLst>
          </a:prstGeom>
          <a:solidFill>
            <a:srgbClr val="1A1D21">
              <a:alpha val="60000"/>
            </a:srgbClr>
          </a:solidFill>
          <a:ln/>
        </p:spPr>
      </p:sp>
      <p:sp>
        <p:nvSpPr>
          <p:cNvPr id="29" name="Shape 27"/>
          <p:cNvSpPr/>
          <p:nvPr/>
        </p:nvSpPr>
        <p:spPr>
          <a:xfrm>
            <a:off x="894776" y="4602793"/>
            <a:ext cx="300625" cy="300625"/>
          </a:xfrm>
          <a:custGeom>
            <a:avLst/>
            <a:gdLst/>
            <a:ahLst/>
            <a:cxnLst/>
            <a:rect l="l" t="t" r="r" b="b"/>
            <a:pathLst>
              <a:path w="300625" h="300625">
                <a:moveTo>
                  <a:pt x="150312" y="300625"/>
                </a:moveTo>
                <a:cubicBezTo>
                  <a:pt x="233272" y="300625"/>
                  <a:pt x="300625" y="233272"/>
                  <a:pt x="300625" y="150312"/>
                </a:cubicBezTo>
                <a:cubicBezTo>
                  <a:pt x="300625" y="67353"/>
                  <a:pt x="233272" y="0"/>
                  <a:pt x="150312" y="0"/>
                </a:cubicBezTo>
                <a:cubicBezTo>
                  <a:pt x="67353" y="0"/>
                  <a:pt x="0" y="67353"/>
                  <a:pt x="0" y="150312"/>
                </a:cubicBezTo>
                <a:cubicBezTo>
                  <a:pt x="0" y="233272"/>
                  <a:pt x="67353" y="300625"/>
                  <a:pt x="150312" y="300625"/>
                </a:cubicBezTo>
                <a:close/>
                <a:moveTo>
                  <a:pt x="97116" y="189006"/>
                </a:moveTo>
                <a:cubicBezTo>
                  <a:pt x="109094" y="205446"/>
                  <a:pt x="128470" y="216074"/>
                  <a:pt x="150312" y="216074"/>
                </a:cubicBezTo>
                <a:cubicBezTo>
                  <a:pt x="172155" y="216074"/>
                  <a:pt x="191531" y="205446"/>
                  <a:pt x="203509" y="189006"/>
                </a:cubicBezTo>
                <a:cubicBezTo>
                  <a:pt x="208089" y="182723"/>
                  <a:pt x="216896" y="181314"/>
                  <a:pt x="223179" y="185894"/>
                </a:cubicBezTo>
                <a:cubicBezTo>
                  <a:pt x="229461" y="190474"/>
                  <a:pt x="230870" y="199281"/>
                  <a:pt x="226291" y="205564"/>
                </a:cubicBezTo>
                <a:cubicBezTo>
                  <a:pt x="209204" y="228991"/>
                  <a:pt x="181549" y="244258"/>
                  <a:pt x="150312" y="244258"/>
                </a:cubicBezTo>
                <a:cubicBezTo>
                  <a:pt x="119076" y="244258"/>
                  <a:pt x="91420" y="228991"/>
                  <a:pt x="74334" y="205564"/>
                </a:cubicBezTo>
                <a:cubicBezTo>
                  <a:pt x="69754" y="199281"/>
                  <a:pt x="71163" y="190474"/>
                  <a:pt x="77446" y="185894"/>
                </a:cubicBezTo>
                <a:cubicBezTo>
                  <a:pt x="83729" y="181314"/>
                  <a:pt x="92536" y="182723"/>
                  <a:pt x="97116" y="189006"/>
                </a:cubicBezTo>
                <a:close/>
                <a:moveTo>
                  <a:pt x="84551" y="122129"/>
                </a:moveTo>
                <a:cubicBezTo>
                  <a:pt x="84551" y="111759"/>
                  <a:pt x="92970" y="103340"/>
                  <a:pt x="103340" y="103340"/>
                </a:cubicBezTo>
                <a:cubicBezTo>
                  <a:pt x="113710" y="103340"/>
                  <a:pt x="122129" y="111759"/>
                  <a:pt x="122129" y="122129"/>
                </a:cubicBezTo>
                <a:cubicBezTo>
                  <a:pt x="122129" y="132499"/>
                  <a:pt x="113710" y="140918"/>
                  <a:pt x="103340" y="140918"/>
                </a:cubicBezTo>
                <a:cubicBezTo>
                  <a:pt x="92970" y="140918"/>
                  <a:pt x="84551" y="132499"/>
                  <a:pt x="84551" y="122129"/>
                </a:cubicBezTo>
                <a:close/>
                <a:moveTo>
                  <a:pt x="197285" y="103340"/>
                </a:moveTo>
                <a:cubicBezTo>
                  <a:pt x="207655" y="103340"/>
                  <a:pt x="216074" y="111759"/>
                  <a:pt x="216074" y="122129"/>
                </a:cubicBezTo>
                <a:cubicBezTo>
                  <a:pt x="216074" y="132499"/>
                  <a:pt x="207655" y="140918"/>
                  <a:pt x="197285" y="140918"/>
                </a:cubicBezTo>
                <a:cubicBezTo>
                  <a:pt x="186915" y="140918"/>
                  <a:pt x="178496" y="132499"/>
                  <a:pt x="178496" y="122129"/>
                </a:cubicBezTo>
                <a:cubicBezTo>
                  <a:pt x="178496" y="111759"/>
                  <a:pt x="186915" y="103340"/>
                  <a:pt x="197285" y="103340"/>
                </a:cubicBezTo>
                <a:close/>
              </a:path>
            </a:pathLst>
          </a:custGeom>
          <a:solidFill>
            <a:srgbClr val="D4A373"/>
          </a:solidFill>
          <a:ln/>
        </p:spPr>
      </p:sp>
      <p:sp>
        <p:nvSpPr>
          <p:cNvPr id="30" name="Text 28"/>
          <p:cNvSpPr/>
          <p:nvPr/>
        </p:nvSpPr>
        <p:spPr>
          <a:xfrm>
            <a:off x="634652" y="4970223"/>
            <a:ext cx="818367" cy="2004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052" b="1" dirty="0">
                <a:solidFill>
                  <a:srgbClr val="F0F2F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Smiling Face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638827" y="5170640"/>
            <a:ext cx="810016" cy="1670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921" dirty="0">
                <a:solidFill>
                  <a:srgbClr val="9A959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FER: Happy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3011674" y="4844963"/>
            <a:ext cx="219205" cy="250521"/>
          </a:xfrm>
          <a:custGeom>
            <a:avLst/>
            <a:gdLst/>
            <a:ahLst/>
            <a:cxnLst/>
            <a:rect l="l" t="t" r="r" b="b"/>
            <a:pathLst>
              <a:path w="219205" h="250521">
                <a:moveTo>
                  <a:pt x="185248" y="40025"/>
                </a:moveTo>
                <a:cubicBezTo>
                  <a:pt x="190043" y="32832"/>
                  <a:pt x="188086" y="23095"/>
                  <a:pt x="180893" y="18300"/>
                </a:cubicBezTo>
                <a:cubicBezTo>
                  <a:pt x="173701" y="13505"/>
                  <a:pt x="163964" y="15462"/>
                  <a:pt x="159169" y="22654"/>
                </a:cubicBezTo>
                <a:lnTo>
                  <a:pt x="132551" y="62630"/>
                </a:lnTo>
                <a:lnTo>
                  <a:pt x="15658" y="62630"/>
                </a:lnTo>
                <a:cubicBezTo>
                  <a:pt x="6997" y="62630"/>
                  <a:pt x="0" y="69627"/>
                  <a:pt x="0" y="78288"/>
                </a:cubicBezTo>
                <a:cubicBezTo>
                  <a:pt x="0" y="86948"/>
                  <a:pt x="6997" y="93945"/>
                  <a:pt x="15658" y="93945"/>
                </a:cubicBezTo>
                <a:lnTo>
                  <a:pt x="111658" y="93945"/>
                </a:lnTo>
                <a:lnTo>
                  <a:pt x="69921" y="156575"/>
                </a:lnTo>
                <a:lnTo>
                  <a:pt x="15658" y="156575"/>
                </a:lnTo>
                <a:cubicBezTo>
                  <a:pt x="6997" y="156575"/>
                  <a:pt x="0" y="163572"/>
                  <a:pt x="0" y="172233"/>
                </a:cubicBezTo>
                <a:cubicBezTo>
                  <a:pt x="0" y="180893"/>
                  <a:pt x="6997" y="187890"/>
                  <a:pt x="15658" y="187890"/>
                </a:cubicBezTo>
                <a:lnTo>
                  <a:pt x="49028" y="187890"/>
                </a:lnTo>
                <a:lnTo>
                  <a:pt x="33957" y="210496"/>
                </a:lnTo>
                <a:cubicBezTo>
                  <a:pt x="29162" y="217689"/>
                  <a:pt x="31119" y="227426"/>
                  <a:pt x="38312" y="232221"/>
                </a:cubicBezTo>
                <a:cubicBezTo>
                  <a:pt x="45505" y="237016"/>
                  <a:pt x="55242" y="235059"/>
                  <a:pt x="60037" y="227866"/>
                </a:cubicBezTo>
                <a:lnTo>
                  <a:pt x="86655" y="187890"/>
                </a:lnTo>
                <a:lnTo>
                  <a:pt x="203548" y="187890"/>
                </a:lnTo>
                <a:cubicBezTo>
                  <a:pt x="212209" y="187890"/>
                  <a:pt x="219205" y="180893"/>
                  <a:pt x="219205" y="172233"/>
                </a:cubicBezTo>
                <a:cubicBezTo>
                  <a:pt x="219205" y="163572"/>
                  <a:pt x="212209" y="156575"/>
                  <a:pt x="203548" y="156575"/>
                </a:cubicBezTo>
                <a:lnTo>
                  <a:pt x="107548" y="156575"/>
                </a:lnTo>
                <a:lnTo>
                  <a:pt x="149285" y="93945"/>
                </a:lnTo>
                <a:lnTo>
                  <a:pt x="203548" y="93945"/>
                </a:lnTo>
                <a:cubicBezTo>
                  <a:pt x="212209" y="93945"/>
                  <a:pt x="219205" y="86948"/>
                  <a:pt x="219205" y="78288"/>
                </a:cubicBezTo>
                <a:cubicBezTo>
                  <a:pt x="219205" y="69627"/>
                  <a:pt x="212209" y="62630"/>
                  <a:pt x="203548" y="62630"/>
                </a:cubicBezTo>
                <a:lnTo>
                  <a:pt x="170178" y="62630"/>
                </a:lnTo>
                <a:lnTo>
                  <a:pt x="185248" y="40025"/>
                </a:lnTo>
                <a:close/>
              </a:path>
            </a:pathLst>
          </a:custGeom>
          <a:solidFill>
            <a:srgbClr val="FB2C36"/>
          </a:solidFill>
          <a:ln/>
        </p:spPr>
      </p:sp>
      <p:sp>
        <p:nvSpPr>
          <p:cNvPr id="33" name="Shape 31"/>
          <p:cNvSpPr/>
          <p:nvPr/>
        </p:nvSpPr>
        <p:spPr>
          <a:xfrm>
            <a:off x="5112707" y="4602793"/>
            <a:ext cx="300625" cy="300625"/>
          </a:xfrm>
          <a:custGeom>
            <a:avLst/>
            <a:gdLst/>
            <a:ahLst/>
            <a:cxnLst/>
            <a:rect l="l" t="t" r="r" b="b"/>
            <a:pathLst>
              <a:path w="300625" h="300625">
                <a:moveTo>
                  <a:pt x="0" y="150312"/>
                </a:moveTo>
                <a:cubicBezTo>
                  <a:pt x="0" y="67353"/>
                  <a:pt x="67353" y="0"/>
                  <a:pt x="150312" y="0"/>
                </a:cubicBezTo>
                <a:cubicBezTo>
                  <a:pt x="233272" y="0"/>
                  <a:pt x="300625" y="67353"/>
                  <a:pt x="300625" y="150312"/>
                </a:cubicBezTo>
                <a:cubicBezTo>
                  <a:pt x="300625" y="233272"/>
                  <a:pt x="233272" y="300625"/>
                  <a:pt x="150312" y="300625"/>
                </a:cubicBezTo>
                <a:cubicBezTo>
                  <a:pt x="67353" y="300625"/>
                  <a:pt x="0" y="233272"/>
                  <a:pt x="0" y="150312"/>
                </a:cubicBezTo>
                <a:close/>
                <a:moveTo>
                  <a:pt x="150312" y="216074"/>
                </a:moveTo>
                <a:cubicBezTo>
                  <a:pt x="164463" y="216074"/>
                  <a:pt x="176969" y="223002"/>
                  <a:pt x="184661" y="233689"/>
                </a:cubicBezTo>
                <a:cubicBezTo>
                  <a:pt x="189182" y="240030"/>
                  <a:pt x="197990" y="241439"/>
                  <a:pt x="204331" y="236918"/>
                </a:cubicBezTo>
                <a:cubicBezTo>
                  <a:pt x="210672" y="232397"/>
                  <a:pt x="212081" y="223590"/>
                  <a:pt x="207560" y="217248"/>
                </a:cubicBezTo>
                <a:cubicBezTo>
                  <a:pt x="194819" y="199516"/>
                  <a:pt x="173916" y="187890"/>
                  <a:pt x="150312" y="187890"/>
                </a:cubicBezTo>
                <a:cubicBezTo>
                  <a:pt x="126709" y="187890"/>
                  <a:pt x="105865" y="199516"/>
                  <a:pt x="93064" y="217248"/>
                </a:cubicBezTo>
                <a:cubicBezTo>
                  <a:pt x="88543" y="223590"/>
                  <a:pt x="89953" y="232397"/>
                  <a:pt x="96294" y="236918"/>
                </a:cubicBezTo>
                <a:cubicBezTo>
                  <a:pt x="102635" y="241439"/>
                  <a:pt x="111443" y="240030"/>
                  <a:pt x="115964" y="233689"/>
                </a:cubicBezTo>
                <a:cubicBezTo>
                  <a:pt x="123655" y="223002"/>
                  <a:pt x="136162" y="216074"/>
                  <a:pt x="150312" y="216074"/>
                </a:cubicBezTo>
                <a:close/>
                <a:moveTo>
                  <a:pt x="103340" y="159707"/>
                </a:moveTo>
                <a:cubicBezTo>
                  <a:pt x="113732" y="159707"/>
                  <a:pt x="122129" y="151310"/>
                  <a:pt x="122129" y="140918"/>
                </a:cubicBezTo>
                <a:lnTo>
                  <a:pt x="122129" y="140742"/>
                </a:lnTo>
                <a:lnTo>
                  <a:pt x="127824" y="142621"/>
                </a:lnTo>
                <a:cubicBezTo>
                  <a:pt x="133989" y="144676"/>
                  <a:pt x="140624" y="141329"/>
                  <a:pt x="142679" y="135222"/>
                </a:cubicBezTo>
                <a:cubicBezTo>
                  <a:pt x="144734" y="129116"/>
                  <a:pt x="141388" y="122422"/>
                  <a:pt x="135281" y="120367"/>
                </a:cubicBezTo>
                <a:lnTo>
                  <a:pt x="78914" y="101578"/>
                </a:lnTo>
                <a:cubicBezTo>
                  <a:pt x="72749" y="99523"/>
                  <a:pt x="66114" y="102870"/>
                  <a:pt x="64059" y="108976"/>
                </a:cubicBezTo>
                <a:cubicBezTo>
                  <a:pt x="62004" y="115083"/>
                  <a:pt x="65351" y="121776"/>
                  <a:pt x="71457" y="123832"/>
                </a:cubicBezTo>
                <a:lnTo>
                  <a:pt x="88426" y="129468"/>
                </a:lnTo>
                <a:cubicBezTo>
                  <a:pt x="86019" y="132639"/>
                  <a:pt x="84551" y="136573"/>
                  <a:pt x="84551" y="140859"/>
                </a:cubicBezTo>
                <a:cubicBezTo>
                  <a:pt x="84551" y="151252"/>
                  <a:pt x="92947" y="159648"/>
                  <a:pt x="103340" y="159648"/>
                </a:cubicBezTo>
                <a:close/>
                <a:moveTo>
                  <a:pt x="216074" y="140918"/>
                </a:moveTo>
                <a:cubicBezTo>
                  <a:pt x="216074" y="136632"/>
                  <a:pt x="214665" y="132698"/>
                  <a:pt x="212199" y="129527"/>
                </a:cubicBezTo>
                <a:lnTo>
                  <a:pt x="229168" y="123890"/>
                </a:lnTo>
                <a:cubicBezTo>
                  <a:pt x="235333" y="121835"/>
                  <a:pt x="238621" y="115200"/>
                  <a:pt x="236566" y="109035"/>
                </a:cubicBezTo>
                <a:cubicBezTo>
                  <a:pt x="234511" y="102870"/>
                  <a:pt x="227876" y="99582"/>
                  <a:pt x="221711" y="101637"/>
                </a:cubicBezTo>
                <a:lnTo>
                  <a:pt x="165344" y="120426"/>
                </a:lnTo>
                <a:cubicBezTo>
                  <a:pt x="159178" y="122481"/>
                  <a:pt x="155890" y="129116"/>
                  <a:pt x="157945" y="135281"/>
                </a:cubicBezTo>
                <a:cubicBezTo>
                  <a:pt x="160000" y="141446"/>
                  <a:pt x="166635" y="144734"/>
                  <a:pt x="172800" y="142679"/>
                </a:cubicBezTo>
                <a:lnTo>
                  <a:pt x="178496" y="140800"/>
                </a:lnTo>
                <a:lnTo>
                  <a:pt x="178496" y="140977"/>
                </a:lnTo>
                <a:cubicBezTo>
                  <a:pt x="178496" y="151369"/>
                  <a:pt x="186892" y="159766"/>
                  <a:pt x="197285" y="159766"/>
                </a:cubicBezTo>
                <a:cubicBezTo>
                  <a:pt x="207678" y="159766"/>
                  <a:pt x="216074" y="151369"/>
                  <a:pt x="216074" y="140977"/>
                </a:cubicBezTo>
                <a:close/>
              </a:path>
            </a:pathLst>
          </a:custGeom>
          <a:solidFill>
            <a:srgbClr val="FB2C36"/>
          </a:solidFill>
          <a:ln/>
        </p:spPr>
      </p:sp>
      <p:sp>
        <p:nvSpPr>
          <p:cNvPr id="34" name="Text 32"/>
          <p:cNvSpPr/>
          <p:nvPr/>
        </p:nvSpPr>
        <p:spPr>
          <a:xfrm>
            <a:off x="4782750" y="4970223"/>
            <a:ext cx="960329" cy="2004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052" b="1" dirty="0">
                <a:solidFill>
                  <a:srgbClr val="F0F2F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Angry Words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4786926" y="5170640"/>
            <a:ext cx="951978" cy="1670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921" dirty="0">
                <a:solidFill>
                  <a:srgbClr val="9A959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VADER: Negative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671395" y="5441202"/>
            <a:ext cx="5033793" cy="607930"/>
          </a:xfrm>
          <a:prstGeom prst="roundRect">
            <a:avLst>
              <a:gd name="adj" fmla="val 10989"/>
            </a:avLst>
          </a:prstGeom>
          <a:solidFill>
            <a:srgbClr val="FB2C36">
              <a:alpha val="20000"/>
            </a:srgbClr>
          </a:solidFill>
          <a:ln w="10160">
            <a:solidFill>
              <a:srgbClr val="FB2C36">
                <a:alpha val="40000"/>
              </a:srgbClr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737366" y="5544753"/>
            <a:ext cx="4901852" cy="2338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184" b="1" dirty="0">
                <a:solidFill>
                  <a:srgbClr val="FF646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⚠ High Inconsistency Score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745716" y="5778572"/>
            <a:ext cx="4885151" cy="1670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921" dirty="0">
                <a:solidFill>
                  <a:srgbClr val="9A959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Potential DeepFake Detected</a:t>
            </a:r>
            <a:endParaRPr lang="en-US" sz="1600" dirty="0"/>
          </a:p>
        </p:txBody>
      </p:sp>
      <p:sp>
        <p:nvSpPr>
          <p:cNvPr id="39" name="Shape 37"/>
          <p:cNvSpPr/>
          <p:nvPr/>
        </p:nvSpPr>
        <p:spPr>
          <a:xfrm>
            <a:off x="6180968" y="1172436"/>
            <a:ext cx="5668445" cy="3179941"/>
          </a:xfrm>
          <a:prstGeom prst="roundRect">
            <a:avLst>
              <a:gd name="adj" fmla="val 2101"/>
            </a:avLst>
          </a:prstGeom>
          <a:solidFill>
            <a:srgbClr val="5F737C">
              <a:alpha val="20000"/>
            </a:srgbClr>
          </a:solidFill>
          <a:ln w="10160">
            <a:solidFill>
              <a:srgbClr val="5F737C">
                <a:alpha val="40000"/>
              </a:srgbClr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309569" y="1342793"/>
            <a:ext cx="5411244" cy="2338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315" b="1" dirty="0">
                <a:solidFill>
                  <a:srgbClr val="F0F2F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ECF Module Architecture</a:t>
            </a:r>
            <a:endParaRPr lang="en-US" sz="1600" dirty="0"/>
          </a:p>
        </p:txBody>
      </p:sp>
      <p:pic>
        <p:nvPicPr>
          <p:cNvPr id="41" name="Image 0" descr="https://kimi-img.moonshot.cn/pub/slides/26-06-04-23:56:50-d8gq0gmuvalhfjg3r69g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351322" y="1676820"/>
            <a:ext cx="4576175" cy="2338192"/>
          </a:xfrm>
          <a:prstGeom prst="roundRect">
            <a:avLst>
              <a:gd name="adj" fmla="val 0"/>
            </a:avLst>
          </a:prstGeom>
        </p:spPr>
      </p:pic>
      <p:sp>
        <p:nvSpPr>
          <p:cNvPr id="42" name="Shape 39"/>
          <p:cNvSpPr/>
          <p:nvPr/>
        </p:nvSpPr>
        <p:spPr>
          <a:xfrm>
            <a:off x="6184309" y="4495904"/>
            <a:ext cx="5666775" cy="1850512"/>
          </a:xfrm>
          <a:prstGeom prst="roundRect">
            <a:avLst>
              <a:gd name="adj" fmla="val 3610"/>
            </a:avLst>
          </a:prstGeom>
          <a:gradFill rotWithShape="1" flip="none">
            <a:gsLst>
              <a:gs pos="0">
                <a:srgbClr val="D4A373">
                  <a:alpha val="20000"/>
                </a:srgbClr>
              </a:gs>
              <a:gs pos="100000">
                <a:srgbClr val="5F737C">
                  <a:alpha val="10000"/>
                </a:srgbClr>
              </a:gs>
            </a:gsLst>
            <a:lin ang="2700000" scaled="1"/>
          </a:gradFill>
          <a:ln w="20320">
            <a:solidFill>
              <a:srgbClr val="D4A373">
                <a:alpha val="50196"/>
              </a:srgbClr>
            </a:solidFill>
            <a:prstDash val="solid"/>
          </a:ln>
        </p:spPr>
      </p:sp>
      <p:sp>
        <p:nvSpPr>
          <p:cNvPr id="43" name="Shape 40"/>
          <p:cNvSpPr/>
          <p:nvPr/>
        </p:nvSpPr>
        <p:spPr>
          <a:xfrm>
            <a:off x="6368441" y="4696322"/>
            <a:ext cx="187890" cy="167014"/>
          </a:xfrm>
          <a:custGeom>
            <a:avLst/>
            <a:gdLst/>
            <a:ahLst/>
            <a:cxnLst/>
            <a:rect l="l" t="t" r="r" b="b"/>
            <a:pathLst>
              <a:path w="187890" h="167014">
                <a:moveTo>
                  <a:pt x="100958" y="-6165"/>
                </a:moveTo>
                <a:cubicBezTo>
                  <a:pt x="99621" y="-8775"/>
                  <a:pt x="96914" y="-10438"/>
                  <a:pt x="93978" y="-10438"/>
                </a:cubicBezTo>
                <a:cubicBezTo>
                  <a:pt x="91042" y="-10438"/>
                  <a:pt x="88335" y="-8775"/>
                  <a:pt x="86997" y="-6165"/>
                </a:cubicBezTo>
                <a:lnTo>
                  <a:pt x="62989" y="40873"/>
                </a:lnTo>
                <a:lnTo>
                  <a:pt x="10830" y="49158"/>
                </a:lnTo>
                <a:cubicBezTo>
                  <a:pt x="7927" y="49615"/>
                  <a:pt x="5513" y="51670"/>
                  <a:pt x="4599" y="54475"/>
                </a:cubicBezTo>
                <a:cubicBezTo>
                  <a:pt x="3686" y="57280"/>
                  <a:pt x="4436" y="60347"/>
                  <a:pt x="6491" y="62434"/>
                </a:cubicBezTo>
                <a:lnTo>
                  <a:pt x="43808" y="99784"/>
                </a:lnTo>
                <a:lnTo>
                  <a:pt x="35588" y="151943"/>
                </a:lnTo>
                <a:cubicBezTo>
                  <a:pt x="35132" y="154846"/>
                  <a:pt x="36339" y="157782"/>
                  <a:pt x="38720" y="159511"/>
                </a:cubicBezTo>
                <a:cubicBezTo>
                  <a:pt x="41101" y="161240"/>
                  <a:pt x="44233" y="161501"/>
                  <a:pt x="46875" y="160164"/>
                </a:cubicBezTo>
                <a:lnTo>
                  <a:pt x="93978" y="136221"/>
                </a:lnTo>
                <a:lnTo>
                  <a:pt x="141048" y="160164"/>
                </a:lnTo>
                <a:cubicBezTo>
                  <a:pt x="143658" y="161501"/>
                  <a:pt x="146822" y="161240"/>
                  <a:pt x="149203" y="159511"/>
                </a:cubicBezTo>
                <a:cubicBezTo>
                  <a:pt x="151585" y="157782"/>
                  <a:pt x="152791" y="154879"/>
                  <a:pt x="152335" y="151943"/>
                </a:cubicBezTo>
                <a:lnTo>
                  <a:pt x="144082" y="99784"/>
                </a:lnTo>
                <a:lnTo>
                  <a:pt x="181399" y="62434"/>
                </a:lnTo>
                <a:cubicBezTo>
                  <a:pt x="183487" y="60347"/>
                  <a:pt x="184204" y="57280"/>
                  <a:pt x="183291" y="54475"/>
                </a:cubicBezTo>
                <a:cubicBezTo>
                  <a:pt x="182378" y="51670"/>
                  <a:pt x="179996" y="49615"/>
                  <a:pt x="177061" y="49158"/>
                </a:cubicBezTo>
                <a:lnTo>
                  <a:pt x="124934" y="40873"/>
                </a:lnTo>
                <a:lnTo>
                  <a:pt x="100958" y="-6165"/>
                </a:lnTo>
                <a:close/>
              </a:path>
            </a:pathLst>
          </a:custGeom>
          <a:solidFill>
            <a:srgbClr val="D4A373"/>
          </a:solidFill>
          <a:ln/>
        </p:spPr>
      </p:sp>
      <p:sp>
        <p:nvSpPr>
          <p:cNvPr id="44" name="Text 41"/>
          <p:cNvSpPr/>
          <p:nvPr/>
        </p:nvSpPr>
        <p:spPr>
          <a:xfrm>
            <a:off x="6610697" y="4669599"/>
            <a:ext cx="5150199" cy="2338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15" b="1" dirty="0">
                <a:solidFill>
                  <a:srgbClr val="D4A37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Why It's Unique</a:t>
            </a:r>
            <a:endParaRPr lang="en-US" sz="1600" dirty="0"/>
          </a:p>
        </p:txBody>
      </p:sp>
      <p:sp>
        <p:nvSpPr>
          <p:cNvPr id="45" name="Text 42"/>
          <p:cNvSpPr/>
          <p:nvPr/>
        </p:nvSpPr>
        <p:spPr>
          <a:xfrm>
            <a:off x="6358003" y="5003626"/>
            <a:ext cx="5386192" cy="4342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52" dirty="0">
                <a:solidFill>
                  <a:srgbClr val="F0F2F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DeepFakes synthesize </a:t>
            </a:r>
            <a:pPr>
              <a:lnSpc>
                <a:spcPct val="140000"/>
              </a:lnSpc>
            </a:pPr>
            <a:r>
              <a:rPr lang="en-US" sz="1052" b="1" dirty="0">
                <a:solidFill>
                  <a:srgbClr val="F0F2F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video and audio separately</a:t>
            </a:r>
            <a:pPr>
              <a:lnSpc>
                <a:spcPct val="140000"/>
              </a:lnSpc>
            </a:pPr>
            <a:r>
              <a:rPr lang="en-US" sz="1052" dirty="0">
                <a:solidFill>
                  <a:srgbClr val="F0F2F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, causing emotional mismatches that standard detectors miss.</a:t>
            </a:r>
            <a:endParaRPr lang="en-US" sz="1600" dirty="0"/>
          </a:p>
        </p:txBody>
      </p:sp>
      <p:sp>
        <p:nvSpPr>
          <p:cNvPr id="46" name="Shape 43"/>
          <p:cNvSpPr/>
          <p:nvPr/>
        </p:nvSpPr>
        <p:spPr>
          <a:xfrm>
            <a:off x="6374704" y="5563122"/>
            <a:ext cx="116910" cy="116910"/>
          </a:xfrm>
          <a:custGeom>
            <a:avLst/>
            <a:gdLst/>
            <a:ahLst/>
            <a:cxnLst/>
            <a:rect l="l" t="t" r="r" b="b"/>
            <a:pathLst>
              <a:path w="116910" h="116910">
                <a:moveTo>
                  <a:pt x="58455" y="116910"/>
                </a:moveTo>
                <a:cubicBezTo>
                  <a:pt x="90717" y="116910"/>
                  <a:pt x="116910" y="90717"/>
                  <a:pt x="116910" y="58455"/>
                </a:cubicBezTo>
                <a:cubicBezTo>
                  <a:pt x="116910" y="26193"/>
                  <a:pt x="90717" y="0"/>
                  <a:pt x="58455" y="0"/>
                </a:cubicBezTo>
                <a:cubicBezTo>
                  <a:pt x="26193" y="0"/>
                  <a:pt x="0" y="26193"/>
                  <a:pt x="0" y="58455"/>
                </a:cubicBezTo>
                <a:cubicBezTo>
                  <a:pt x="0" y="90717"/>
                  <a:pt x="26193" y="116910"/>
                  <a:pt x="58455" y="116910"/>
                </a:cubicBezTo>
                <a:close/>
                <a:moveTo>
                  <a:pt x="77727" y="48568"/>
                </a:moveTo>
                <a:lnTo>
                  <a:pt x="59459" y="77795"/>
                </a:lnTo>
                <a:cubicBezTo>
                  <a:pt x="58500" y="79325"/>
                  <a:pt x="56856" y="80284"/>
                  <a:pt x="55053" y="80375"/>
                </a:cubicBezTo>
                <a:cubicBezTo>
                  <a:pt x="53249" y="80467"/>
                  <a:pt x="51513" y="79645"/>
                  <a:pt x="50440" y="78183"/>
                </a:cubicBezTo>
                <a:lnTo>
                  <a:pt x="39480" y="63570"/>
                </a:lnTo>
                <a:cubicBezTo>
                  <a:pt x="37653" y="61149"/>
                  <a:pt x="38155" y="57724"/>
                  <a:pt x="40576" y="55897"/>
                </a:cubicBezTo>
                <a:cubicBezTo>
                  <a:pt x="42996" y="54071"/>
                  <a:pt x="46421" y="54573"/>
                  <a:pt x="48248" y="56993"/>
                </a:cubicBezTo>
                <a:lnTo>
                  <a:pt x="54413" y="65214"/>
                </a:lnTo>
                <a:lnTo>
                  <a:pt x="68433" y="42768"/>
                </a:lnTo>
                <a:cubicBezTo>
                  <a:pt x="70032" y="40211"/>
                  <a:pt x="73411" y="39411"/>
                  <a:pt x="75991" y="41033"/>
                </a:cubicBezTo>
                <a:cubicBezTo>
                  <a:pt x="78571" y="42654"/>
                  <a:pt x="79348" y="46010"/>
                  <a:pt x="77727" y="48591"/>
                </a:cubicBezTo>
                <a:close/>
              </a:path>
            </a:pathLst>
          </a:custGeom>
          <a:solidFill>
            <a:srgbClr val="D4A373"/>
          </a:solidFill>
          <a:ln/>
        </p:spPr>
      </p:sp>
      <p:sp>
        <p:nvSpPr>
          <p:cNvPr id="47" name="Text 44"/>
          <p:cNvSpPr/>
          <p:nvPr/>
        </p:nvSpPr>
        <p:spPr>
          <a:xfrm>
            <a:off x="6570945" y="5538070"/>
            <a:ext cx="1853852" cy="1670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21" dirty="0">
                <a:solidFill>
                  <a:srgbClr val="9A959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First behavioral forensics approach</a:t>
            </a:r>
            <a:endParaRPr lang="en-US" sz="1600" dirty="0"/>
          </a:p>
        </p:txBody>
      </p:sp>
      <p:sp>
        <p:nvSpPr>
          <p:cNvPr id="48" name="Shape 45"/>
          <p:cNvSpPr/>
          <p:nvPr/>
        </p:nvSpPr>
        <p:spPr>
          <a:xfrm>
            <a:off x="6374704" y="5796941"/>
            <a:ext cx="116910" cy="116910"/>
          </a:xfrm>
          <a:custGeom>
            <a:avLst/>
            <a:gdLst/>
            <a:ahLst/>
            <a:cxnLst/>
            <a:rect l="l" t="t" r="r" b="b"/>
            <a:pathLst>
              <a:path w="116910" h="116910">
                <a:moveTo>
                  <a:pt x="58455" y="116910"/>
                </a:moveTo>
                <a:cubicBezTo>
                  <a:pt x="90717" y="116910"/>
                  <a:pt x="116910" y="90717"/>
                  <a:pt x="116910" y="58455"/>
                </a:cubicBezTo>
                <a:cubicBezTo>
                  <a:pt x="116910" y="26193"/>
                  <a:pt x="90717" y="0"/>
                  <a:pt x="58455" y="0"/>
                </a:cubicBezTo>
                <a:cubicBezTo>
                  <a:pt x="26193" y="0"/>
                  <a:pt x="0" y="26193"/>
                  <a:pt x="0" y="58455"/>
                </a:cubicBezTo>
                <a:cubicBezTo>
                  <a:pt x="0" y="90717"/>
                  <a:pt x="26193" y="116910"/>
                  <a:pt x="58455" y="116910"/>
                </a:cubicBezTo>
                <a:close/>
                <a:moveTo>
                  <a:pt x="77727" y="48568"/>
                </a:moveTo>
                <a:lnTo>
                  <a:pt x="59459" y="77795"/>
                </a:lnTo>
                <a:cubicBezTo>
                  <a:pt x="58500" y="79325"/>
                  <a:pt x="56856" y="80284"/>
                  <a:pt x="55053" y="80375"/>
                </a:cubicBezTo>
                <a:cubicBezTo>
                  <a:pt x="53249" y="80467"/>
                  <a:pt x="51513" y="79645"/>
                  <a:pt x="50440" y="78183"/>
                </a:cubicBezTo>
                <a:lnTo>
                  <a:pt x="39480" y="63570"/>
                </a:lnTo>
                <a:cubicBezTo>
                  <a:pt x="37653" y="61149"/>
                  <a:pt x="38155" y="57724"/>
                  <a:pt x="40576" y="55897"/>
                </a:cubicBezTo>
                <a:cubicBezTo>
                  <a:pt x="42996" y="54071"/>
                  <a:pt x="46421" y="54573"/>
                  <a:pt x="48248" y="56993"/>
                </a:cubicBezTo>
                <a:lnTo>
                  <a:pt x="54413" y="65214"/>
                </a:lnTo>
                <a:lnTo>
                  <a:pt x="68433" y="42768"/>
                </a:lnTo>
                <a:cubicBezTo>
                  <a:pt x="70032" y="40211"/>
                  <a:pt x="73411" y="39411"/>
                  <a:pt x="75991" y="41033"/>
                </a:cubicBezTo>
                <a:cubicBezTo>
                  <a:pt x="78571" y="42654"/>
                  <a:pt x="79348" y="46010"/>
                  <a:pt x="77727" y="48591"/>
                </a:cubicBezTo>
                <a:close/>
              </a:path>
            </a:pathLst>
          </a:custGeom>
          <a:solidFill>
            <a:srgbClr val="D4A373"/>
          </a:solidFill>
          <a:ln/>
        </p:spPr>
      </p:sp>
      <p:sp>
        <p:nvSpPr>
          <p:cNvPr id="49" name="Text 46"/>
          <p:cNvSpPr/>
          <p:nvPr/>
        </p:nvSpPr>
        <p:spPr>
          <a:xfrm>
            <a:off x="6570945" y="5771889"/>
            <a:ext cx="2196230" cy="1670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21" dirty="0">
                <a:solidFill>
                  <a:srgbClr val="9A959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Detects sophisticated AI-generated fakes</a:t>
            </a:r>
            <a:endParaRPr lang="en-US" sz="1600" dirty="0"/>
          </a:p>
        </p:txBody>
      </p:sp>
      <p:sp>
        <p:nvSpPr>
          <p:cNvPr id="50" name="Shape 47"/>
          <p:cNvSpPr/>
          <p:nvPr/>
        </p:nvSpPr>
        <p:spPr>
          <a:xfrm>
            <a:off x="6374704" y="6030760"/>
            <a:ext cx="116910" cy="116910"/>
          </a:xfrm>
          <a:custGeom>
            <a:avLst/>
            <a:gdLst/>
            <a:ahLst/>
            <a:cxnLst/>
            <a:rect l="l" t="t" r="r" b="b"/>
            <a:pathLst>
              <a:path w="116910" h="116910">
                <a:moveTo>
                  <a:pt x="58455" y="116910"/>
                </a:moveTo>
                <a:cubicBezTo>
                  <a:pt x="90717" y="116910"/>
                  <a:pt x="116910" y="90717"/>
                  <a:pt x="116910" y="58455"/>
                </a:cubicBezTo>
                <a:cubicBezTo>
                  <a:pt x="116910" y="26193"/>
                  <a:pt x="90717" y="0"/>
                  <a:pt x="58455" y="0"/>
                </a:cubicBezTo>
                <a:cubicBezTo>
                  <a:pt x="26193" y="0"/>
                  <a:pt x="0" y="26193"/>
                  <a:pt x="0" y="58455"/>
                </a:cubicBezTo>
                <a:cubicBezTo>
                  <a:pt x="0" y="90717"/>
                  <a:pt x="26193" y="116910"/>
                  <a:pt x="58455" y="116910"/>
                </a:cubicBezTo>
                <a:close/>
                <a:moveTo>
                  <a:pt x="77727" y="48568"/>
                </a:moveTo>
                <a:lnTo>
                  <a:pt x="59459" y="77795"/>
                </a:lnTo>
                <a:cubicBezTo>
                  <a:pt x="58500" y="79325"/>
                  <a:pt x="56856" y="80284"/>
                  <a:pt x="55053" y="80375"/>
                </a:cubicBezTo>
                <a:cubicBezTo>
                  <a:pt x="53249" y="80467"/>
                  <a:pt x="51513" y="79645"/>
                  <a:pt x="50440" y="78183"/>
                </a:cubicBezTo>
                <a:lnTo>
                  <a:pt x="39480" y="63570"/>
                </a:lnTo>
                <a:cubicBezTo>
                  <a:pt x="37653" y="61149"/>
                  <a:pt x="38155" y="57724"/>
                  <a:pt x="40576" y="55897"/>
                </a:cubicBezTo>
                <a:cubicBezTo>
                  <a:pt x="42996" y="54071"/>
                  <a:pt x="46421" y="54573"/>
                  <a:pt x="48248" y="56993"/>
                </a:cubicBezTo>
                <a:lnTo>
                  <a:pt x="54413" y="65214"/>
                </a:lnTo>
                <a:lnTo>
                  <a:pt x="68433" y="42768"/>
                </a:lnTo>
                <a:cubicBezTo>
                  <a:pt x="70032" y="40211"/>
                  <a:pt x="73411" y="39411"/>
                  <a:pt x="75991" y="41033"/>
                </a:cubicBezTo>
                <a:cubicBezTo>
                  <a:pt x="78571" y="42654"/>
                  <a:pt x="79348" y="46010"/>
                  <a:pt x="77727" y="48591"/>
                </a:cubicBezTo>
                <a:close/>
              </a:path>
            </a:pathLst>
          </a:custGeom>
          <a:solidFill>
            <a:srgbClr val="D4A373"/>
          </a:solidFill>
          <a:ln/>
        </p:spPr>
      </p:sp>
      <p:sp>
        <p:nvSpPr>
          <p:cNvPr id="51" name="Text 48"/>
          <p:cNvSpPr/>
          <p:nvPr/>
        </p:nvSpPr>
        <p:spPr>
          <a:xfrm>
            <a:off x="6570945" y="6005708"/>
            <a:ext cx="2096022" cy="1670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21" dirty="0">
                <a:solidFill>
                  <a:srgbClr val="9A959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Complements visual detection methods</a:t>
            </a:r>
            <a:endParaRPr lang="en-US" sz="1600" dirty="0"/>
          </a:p>
        </p:txBody>
      </p:sp>
      <p:sp>
        <p:nvSpPr>
          <p:cNvPr id="52" name="Shape 49"/>
          <p:cNvSpPr/>
          <p:nvPr/>
        </p:nvSpPr>
        <p:spPr>
          <a:xfrm>
            <a:off x="350729" y="6453306"/>
            <a:ext cx="11507244" cy="400833"/>
          </a:xfrm>
          <a:custGeom>
            <a:avLst/>
            <a:gdLst/>
            <a:ahLst/>
            <a:cxnLst/>
            <a:rect l="l" t="t" r="r" b="b"/>
            <a:pathLst>
              <a:path w="11507244" h="400833">
                <a:moveTo>
                  <a:pt x="33401" y="0"/>
                </a:moveTo>
                <a:lnTo>
                  <a:pt x="11440414" y="0"/>
                </a:lnTo>
                <a:cubicBezTo>
                  <a:pt x="11477308" y="0"/>
                  <a:pt x="11507216" y="29908"/>
                  <a:pt x="11507216" y="66802"/>
                </a:cubicBezTo>
                <a:lnTo>
                  <a:pt x="11507216" y="334010"/>
                </a:lnTo>
                <a:cubicBezTo>
                  <a:pt x="11507216" y="370904"/>
                  <a:pt x="11477308" y="400812"/>
                  <a:pt x="11440414" y="400812"/>
                </a:cubicBezTo>
                <a:lnTo>
                  <a:pt x="33401" y="400812"/>
                </a:lnTo>
                <a:cubicBezTo>
                  <a:pt x="14966" y="400812"/>
                  <a:pt x="0" y="385846"/>
                  <a:pt x="0" y="367411"/>
                </a:cubicBezTo>
                <a:lnTo>
                  <a:pt x="0" y="33401"/>
                </a:lnTo>
                <a:cubicBezTo>
                  <a:pt x="0" y="14954"/>
                  <a:pt x="14954" y="0"/>
                  <a:pt x="33401" y="0"/>
                </a:cubicBezTo>
                <a:close/>
              </a:path>
            </a:pathLst>
          </a:custGeom>
          <a:solidFill>
            <a:srgbClr val="5F737C">
              <a:alpha val="20000"/>
            </a:srgbClr>
          </a:solidFill>
          <a:ln/>
        </p:spPr>
      </p:sp>
      <p:sp>
        <p:nvSpPr>
          <p:cNvPr id="53" name="Shape 50"/>
          <p:cNvSpPr/>
          <p:nvPr/>
        </p:nvSpPr>
        <p:spPr>
          <a:xfrm>
            <a:off x="350729" y="6453306"/>
            <a:ext cx="33403" cy="400833"/>
          </a:xfrm>
          <a:custGeom>
            <a:avLst/>
            <a:gdLst/>
            <a:ahLst/>
            <a:cxnLst/>
            <a:rect l="l" t="t" r="r" b="b"/>
            <a:pathLst>
              <a:path w="33403" h="400833">
                <a:moveTo>
                  <a:pt x="33401" y="0"/>
                </a:moveTo>
                <a:lnTo>
                  <a:pt x="33401" y="0"/>
                </a:lnTo>
                <a:lnTo>
                  <a:pt x="33401" y="400812"/>
                </a:lnTo>
                <a:lnTo>
                  <a:pt x="33401" y="400812"/>
                </a:lnTo>
                <a:cubicBezTo>
                  <a:pt x="14966" y="400812"/>
                  <a:pt x="0" y="385846"/>
                  <a:pt x="0" y="367411"/>
                </a:cubicBezTo>
                <a:lnTo>
                  <a:pt x="0" y="33401"/>
                </a:lnTo>
                <a:cubicBezTo>
                  <a:pt x="0" y="14954"/>
                  <a:pt x="14954" y="0"/>
                  <a:pt x="33401" y="0"/>
                </a:cubicBezTo>
                <a:close/>
              </a:path>
            </a:pathLst>
          </a:custGeom>
          <a:solidFill>
            <a:srgbClr val="D4A373"/>
          </a:solidFill>
          <a:ln/>
        </p:spPr>
      </p:sp>
      <p:sp>
        <p:nvSpPr>
          <p:cNvPr id="54" name="Shape 51"/>
          <p:cNvSpPr/>
          <p:nvPr/>
        </p:nvSpPr>
        <p:spPr>
          <a:xfrm>
            <a:off x="484340" y="6580238"/>
            <a:ext cx="133611" cy="133611"/>
          </a:xfrm>
          <a:custGeom>
            <a:avLst/>
            <a:gdLst/>
            <a:ahLst/>
            <a:cxnLst/>
            <a:rect l="l" t="t" r="r" b="b"/>
            <a:pathLst>
              <a:path w="133611" h="133611">
                <a:moveTo>
                  <a:pt x="66805" y="133611"/>
                </a:moveTo>
                <a:cubicBezTo>
                  <a:pt x="103676" y="133611"/>
                  <a:pt x="133611" y="103676"/>
                  <a:pt x="133611" y="66805"/>
                </a:cubicBezTo>
                <a:cubicBezTo>
                  <a:pt x="133611" y="29935"/>
                  <a:pt x="103676" y="0"/>
                  <a:pt x="66805" y="0"/>
                </a:cubicBezTo>
                <a:cubicBezTo>
                  <a:pt x="29935" y="0"/>
                  <a:pt x="0" y="29935"/>
                  <a:pt x="0" y="66805"/>
                </a:cubicBezTo>
                <a:cubicBezTo>
                  <a:pt x="0" y="103676"/>
                  <a:pt x="29935" y="133611"/>
                  <a:pt x="66805" y="133611"/>
                </a:cubicBezTo>
                <a:close/>
                <a:moveTo>
                  <a:pt x="58455" y="41753"/>
                </a:moveTo>
                <a:cubicBezTo>
                  <a:pt x="58455" y="37145"/>
                  <a:pt x="62197" y="33403"/>
                  <a:pt x="66805" y="33403"/>
                </a:cubicBezTo>
                <a:cubicBezTo>
                  <a:pt x="71414" y="33403"/>
                  <a:pt x="75156" y="37145"/>
                  <a:pt x="75156" y="41753"/>
                </a:cubicBezTo>
                <a:cubicBezTo>
                  <a:pt x="75156" y="46362"/>
                  <a:pt x="71414" y="50104"/>
                  <a:pt x="66805" y="50104"/>
                </a:cubicBezTo>
                <a:cubicBezTo>
                  <a:pt x="62197" y="50104"/>
                  <a:pt x="58455" y="46362"/>
                  <a:pt x="58455" y="41753"/>
                </a:cubicBezTo>
                <a:close/>
                <a:moveTo>
                  <a:pt x="56367" y="58455"/>
                </a:moveTo>
                <a:lnTo>
                  <a:pt x="68893" y="58455"/>
                </a:lnTo>
                <a:cubicBezTo>
                  <a:pt x="72364" y="58455"/>
                  <a:pt x="75156" y="61247"/>
                  <a:pt x="75156" y="64718"/>
                </a:cubicBezTo>
                <a:lnTo>
                  <a:pt x="75156" y="87682"/>
                </a:lnTo>
                <a:lnTo>
                  <a:pt x="77244" y="87682"/>
                </a:lnTo>
                <a:cubicBezTo>
                  <a:pt x="80715" y="87682"/>
                  <a:pt x="83507" y="90474"/>
                  <a:pt x="83507" y="93945"/>
                </a:cubicBezTo>
                <a:cubicBezTo>
                  <a:pt x="83507" y="97416"/>
                  <a:pt x="80715" y="100208"/>
                  <a:pt x="77244" y="100208"/>
                </a:cubicBezTo>
                <a:lnTo>
                  <a:pt x="56367" y="100208"/>
                </a:lnTo>
                <a:cubicBezTo>
                  <a:pt x="52896" y="100208"/>
                  <a:pt x="50104" y="97416"/>
                  <a:pt x="50104" y="93945"/>
                </a:cubicBezTo>
                <a:cubicBezTo>
                  <a:pt x="50104" y="90474"/>
                  <a:pt x="52896" y="87682"/>
                  <a:pt x="56367" y="87682"/>
                </a:cubicBezTo>
                <a:lnTo>
                  <a:pt x="62630" y="87682"/>
                </a:lnTo>
                <a:lnTo>
                  <a:pt x="62630" y="70981"/>
                </a:lnTo>
                <a:lnTo>
                  <a:pt x="56367" y="70981"/>
                </a:lnTo>
                <a:cubicBezTo>
                  <a:pt x="52896" y="70981"/>
                  <a:pt x="50104" y="68189"/>
                  <a:pt x="50104" y="64718"/>
                </a:cubicBezTo>
                <a:cubicBezTo>
                  <a:pt x="50104" y="61247"/>
                  <a:pt x="52896" y="58455"/>
                  <a:pt x="56367" y="58455"/>
                </a:cubicBezTo>
                <a:close/>
              </a:path>
            </a:pathLst>
          </a:custGeom>
          <a:solidFill>
            <a:srgbClr val="D4A373"/>
          </a:solidFill>
          <a:ln/>
        </p:spPr>
      </p:sp>
      <p:sp>
        <p:nvSpPr>
          <p:cNvPr id="55" name="Text 52"/>
          <p:cNvSpPr/>
          <p:nvPr/>
        </p:nvSpPr>
        <p:spPr>
          <a:xfrm>
            <a:off x="678579" y="6553514"/>
            <a:ext cx="11145991" cy="2004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52" b="1" dirty="0">
                <a:solidFill>
                  <a:srgbClr val="F0F2F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Innovation:</a:t>
            </a:r>
            <a:pPr>
              <a:lnSpc>
                <a:spcPct val="130000"/>
              </a:lnSpc>
            </a:pPr>
            <a:r>
              <a:rPr lang="en-US" sz="1052" dirty="0">
                <a:solidFill>
                  <a:srgbClr val="F0F2F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ECF represents a paradigm shift from pixel-level analysis to behavioral forensics, addressing the fundamental vulnerability in current detection systems.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A1D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17500" y="317500"/>
            <a:ext cx="63500" cy="381000"/>
          </a:xfrm>
          <a:prstGeom prst="roundRect">
            <a:avLst>
              <a:gd name="adj" fmla="val 0"/>
            </a:avLst>
          </a:prstGeom>
          <a:solidFill>
            <a:srgbClr val="D4A373"/>
          </a:solidFill>
          <a:ln/>
        </p:spPr>
      </p:sp>
      <p:sp>
        <p:nvSpPr>
          <p:cNvPr id="3" name="Text 1"/>
          <p:cNvSpPr/>
          <p:nvPr/>
        </p:nvSpPr>
        <p:spPr>
          <a:xfrm>
            <a:off x="476250" y="317500"/>
            <a:ext cx="32067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000" b="1" dirty="0">
                <a:solidFill>
                  <a:srgbClr val="F0F2F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Technology Stack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476250" y="762000"/>
            <a:ext cx="11477625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50" dirty="0">
                <a:solidFill>
                  <a:srgbClr val="9A959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Comprehensive Technology Ecosystem for DeepFake Detection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33375" y="1111250"/>
            <a:ext cx="3754438" cy="2087563"/>
          </a:xfrm>
          <a:custGeom>
            <a:avLst/>
            <a:gdLst/>
            <a:ahLst/>
            <a:cxnLst/>
            <a:rect l="l" t="t" r="r" b="b"/>
            <a:pathLst>
              <a:path w="3754438" h="2087563">
                <a:moveTo>
                  <a:pt x="31750" y="0"/>
                </a:moveTo>
                <a:lnTo>
                  <a:pt x="3690874" y="0"/>
                </a:lnTo>
                <a:cubicBezTo>
                  <a:pt x="3707737" y="-34"/>
                  <a:pt x="3723921" y="6642"/>
                  <a:pt x="3735857" y="18554"/>
                </a:cubicBezTo>
                <a:cubicBezTo>
                  <a:pt x="3747793" y="30466"/>
                  <a:pt x="3754501" y="46637"/>
                  <a:pt x="3754501" y="63500"/>
                </a:cubicBezTo>
                <a:lnTo>
                  <a:pt x="3754501" y="2023999"/>
                </a:lnTo>
                <a:cubicBezTo>
                  <a:pt x="3754535" y="2040884"/>
                  <a:pt x="3747842" y="2057088"/>
                  <a:pt x="3735902" y="2069027"/>
                </a:cubicBezTo>
                <a:cubicBezTo>
                  <a:pt x="3723963" y="2080967"/>
                  <a:pt x="3707759" y="2087660"/>
                  <a:pt x="3690874" y="2087626"/>
                </a:cubicBezTo>
                <a:lnTo>
                  <a:pt x="31750" y="2087626"/>
                </a:lnTo>
                <a:cubicBezTo>
                  <a:pt x="14227" y="2087626"/>
                  <a:pt x="0" y="2073399"/>
                  <a:pt x="0" y="2055876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gradFill rotWithShape="1" flip="none">
            <a:gsLst>
              <a:gs pos="0">
                <a:srgbClr val="5F737C">
                  <a:alpha val="30000"/>
                </a:srgbClr>
              </a:gs>
              <a:gs pos="100000">
                <a:srgbClr val="4A5C6A">
                  <a:alpha val="20000"/>
                </a:srgbClr>
              </a:gs>
            </a:gsLst>
            <a:lin ang="2700000" scaled="1"/>
          </a:gradFill>
          <a:ln/>
        </p:spPr>
      </p:sp>
      <p:sp>
        <p:nvSpPr>
          <p:cNvPr id="6" name="Shape 4"/>
          <p:cNvSpPr/>
          <p:nvPr/>
        </p:nvSpPr>
        <p:spPr>
          <a:xfrm>
            <a:off x="333375" y="1111250"/>
            <a:ext cx="31750" cy="2087563"/>
          </a:xfrm>
          <a:custGeom>
            <a:avLst/>
            <a:gdLst/>
            <a:ahLst/>
            <a:cxnLst/>
            <a:rect l="l" t="t" r="r" b="b"/>
            <a:pathLst>
              <a:path w="31750" h="2087563">
                <a:moveTo>
                  <a:pt x="31750" y="0"/>
                </a:moveTo>
                <a:lnTo>
                  <a:pt x="31750" y="0"/>
                </a:lnTo>
                <a:lnTo>
                  <a:pt x="31750" y="2087626"/>
                </a:lnTo>
                <a:lnTo>
                  <a:pt x="31750" y="2087626"/>
                </a:lnTo>
                <a:cubicBezTo>
                  <a:pt x="14227" y="2087626"/>
                  <a:pt x="0" y="2073399"/>
                  <a:pt x="0" y="2055876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D4A373"/>
          </a:solidFill>
          <a:ln/>
        </p:spPr>
      </p:sp>
      <p:sp>
        <p:nvSpPr>
          <p:cNvPr id="7" name="Shape 5"/>
          <p:cNvSpPr/>
          <p:nvPr/>
        </p:nvSpPr>
        <p:spPr>
          <a:xfrm>
            <a:off x="524867" y="1277841"/>
            <a:ext cx="267891" cy="238125"/>
          </a:xfrm>
          <a:custGeom>
            <a:avLst/>
            <a:gdLst/>
            <a:ahLst/>
            <a:cxnLst/>
            <a:rect l="l" t="t" r="r" b="b"/>
            <a:pathLst>
              <a:path w="267891" h="238125">
                <a:moveTo>
                  <a:pt x="167804" y="558"/>
                </a:moveTo>
                <a:cubicBezTo>
                  <a:pt x="159897" y="-1721"/>
                  <a:pt x="151665" y="2884"/>
                  <a:pt x="149386" y="10790"/>
                </a:cubicBezTo>
                <a:lnTo>
                  <a:pt x="89855" y="219149"/>
                </a:lnTo>
                <a:cubicBezTo>
                  <a:pt x="87576" y="227056"/>
                  <a:pt x="92180" y="235288"/>
                  <a:pt x="100087" y="237567"/>
                </a:cubicBezTo>
                <a:cubicBezTo>
                  <a:pt x="107993" y="239846"/>
                  <a:pt x="116225" y="235241"/>
                  <a:pt x="118504" y="227335"/>
                </a:cubicBezTo>
                <a:lnTo>
                  <a:pt x="178036" y="18976"/>
                </a:lnTo>
                <a:cubicBezTo>
                  <a:pt x="180315" y="11069"/>
                  <a:pt x="175710" y="2837"/>
                  <a:pt x="167804" y="558"/>
                </a:cubicBezTo>
                <a:close/>
                <a:moveTo>
                  <a:pt x="197848" y="63857"/>
                </a:moveTo>
                <a:cubicBezTo>
                  <a:pt x="192035" y="69670"/>
                  <a:pt x="192035" y="79111"/>
                  <a:pt x="197848" y="84925"/>
                </a:cubicBezTo>
                <a:lnTo>
                  <a:pt x="231986" y="119062"/>
                </a:lnTo>
                <a:lnTo>
                  <a:pt x="197848" y="153200"/>
                </a:lnTo>
                <a:cubicBezTo>
                  <a:pt x="192035" y="159014"/>
                  <a:pt x="192035" y="168455"/>
                  <a:pt x="197848" y="174268"/>
                </a:cubicBezTo>
                <a:cubicBezTo>
                  <a:pt x="203662" y="180082"/>
                  <a:pt x="213103" y="180082"/>
                  <a:pt x="218917" y="174268"/>
                </a:cubicBezTo>
                <a:lnTo>
                  <a:pt x="263565" y="129620"/>
                </a:lnTo>
                <a:cubicBezTo>
                  <a:pt x="269379" y="123806"/>
                  <a:pt x="269379" y="114365"/>
                  <a:pt x="263565" y="108552"/>
                </a:cubicBezTo>
                <a:lnTo>
                  <a:pt x="218917" y="63903"/>
                </a:lnTo>
                <a:cubicBezTo>
                  <a:pt x="213103" y="58089"/>
                  <a:pt x="203662" y="58089"/>
                  <a:pt x="197848" y="63903"/>
                </a:cubicBezTo>
                <a:close/>
                <a:moveTo>
                  <a:pt x="70089" y="63857"/>
                </a:moveTo>
                <a:cubicBezTo>
                  <a:pt x="64275" y="58043"/>
                  <a:pt x="54834" y="58043"/>
                  <a:pt x="49020" y="63857"/>
                </a:cubicBezTo>
                <a:lnTo>
                  <a:pt x="4372" y="108505"/>
                </a:lnTo>
                <a:cubicBezTo>
                  <a:pt x="-1442" y="114319"/>
                  <a:pt x="-1442" y="123760"/>
                  <a:pt x="4372" y="129573"/>
                </a:cubicBezTo>
                <a:lnTo>
                  <a:pt x="49020" y="174222"/>
                </a:lnTo>
                <a:cubicBezTo>
                  <a:pt x="54834" y="180036"/>
                  <a:pt x="64275" y="180036"/>
                  <a:pt x="70089" y="174222"/>
                </a:cubicBezTo>
                <a:cubicBezTo>
                  <a:pt x="75902" y="168408"/>
                  <a:pt x="75902" y="158967"/>
                  <a:pt x="70089" y="153153"/>
                </a:cubicBezTo>
                <a:lnTo>
                  <a:pt x="35951" y="119062"/>
                </a:lnTo>
                <a:lnTo>
                  <a:pt x="70042" y="84925"/>
                </a:lnTo>
                <a:cubicBezTo>
                  <a:pt x="75856" y="79111"/>
                  <a:pt x="75856" y="69670"/>
                  <a:pt x="70042" y="63857"/>
                </a:cubicBezTo>
                <a:close/>
              </a:path>
            </a:pathLst>
          </a:custGeom>
          <a:solidFill>
            <a:srgbClr val="D4A373"/>
          </a:solidFill>
          <a:ln/>
        </p:spPr>
      </p:sp>
      <p:sp>
        <p:nvSpPr>
          <p:cNvPr id="8" name="Text 6"/>
          <p:cNvSpPr/>
          <p:nvPr/>
        </p:nvSpPr>
        <p:spPr>
          <a:xfrm>
            <a:off x="900906" y="1270000"/>
            <a:ext cx="1373188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500" b="1" dirty="0">
                <a:solidFill>
                  <a:srgbClr val="F0F2F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Core Language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08000" y="1650903"/>
            <a:ext cx="3421063" cy="635000"/>
          </a:xfrm>
          <a:prstGeom prst="roundRect">
            <a:avLst>
              <a:gd name="adj" fmla="val 10000"/>
            </a:avLst>
          </a:prstGeom>
          <a:solidFill>
            <a:srgbClr val="1A1D21">
              <a:alpha val="60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688578" y="1825528"/>
            <a:ext cx="250031" cy="285750"/>
          </a:xfrm>
          <a:custGeom>
            <a:avLst/>
            <a:gdLst/>
            <a:ahLst/>
            <a:cxnLst/>
            <a:rect l="l" t="t" r="r" b="b"/>
            <a:pathLst>
              <a:path w="250031" h="285750">
                <a:moveTo>
                  <a:pt x="245455" y="111900"/>
                </a:moveTo>
                <a:cubicBezTo>
                  <a:pt x="241157" y="94655"/>
                  <a:pt x="233009" y="81651"/>
                  <a:pt x="215652" y="81651"/>
                </a:cubicBezTo>
                <a:lnTo>
                  <a:pt x="193272" y="81651"/>
                </a:lnTo>
                <a:lnTo>
                  <a:pt x="193272" y="108105"/>
                </a:lnTo>
                <a:cubicBezTo>
                  <a:pt x="193272" y="128643"/>
                  <a:pt x="175859" y="145945"/>
                  <a:pt x="155990" y="145945"/>
                </a:cubicBezTo>
                <a:lnTo>
                  <a:pt x="96385" y="145945"/>
                </a:lnTo>
                <a:cubicBezTo>
                  <a:pt x="80088" y="145945"/>
                  <a:pt x="66582" y="159897"/>
                  <a:pt x="66582" y="176250"/>
                </a:cubicBezTo>
                <a:lnTo>
                  <a:pt x="66582" y="233065"/>
                </a:lnTo>
                <a:cubicBezTo>
                  <a:pt x="66582" y="249250"/>
                  <a:pt x="80646" y="258738"/>
                  <a:pt x="96385" y="263370"/>
                </a:cubicBezTo>
                <a:cubicBezTo>
                  <a:pt x="115249" y="268895"/>
                  <a:pt x="133387" y="269900"/>
                  <a:pt x="155990" y="263370"/>
                </a:cubicBezTo>
                <a:cubicBezTo>
                  <a:pt x="171004" y="259017"/>
                  <a:pt x="185793" y="250254"/>
                  <a:pt x="185793" y="233065"/>
                </a:cubicBezTo>
                <a:lnTo>
                  <a:pt x="185793" y="210350"/>
                </a:lnTo>
                <a:lnTo>
                  <a:pt x="126243" y="210350"/>
                </a:lnTo>
                <a:lnTo>
                  <a:pt x="126243" y="202760"/>
                </a:lnTo>
                <a:lnTo>
                  <a:pt x="215652" y="202760"/>
                </a:lnTo>
                <a:cubicBezTo>
                  <a:pt x="233009" y="202760"/>
                  <a:pt x="239427" y="190649"/>
                  <a:pt x="245455" y="172510"/>
                </a:cubicBezTo>
                <a:cubicBezTo>
                  <a:pt x="251706" y="153814"/>
                  <a:pt x="251427" y="135843"/>
                  <a:pt x="245455" y="111900"/>
                </a:cubicBezTo>
                <a:close/>
                <a:moveTo>
                  <a:pt x="159730" y="248190"/>
                </a:moveTo>
                <a:cubicBezTo>
                  <a:pt x="155482" y="248487"/>
                  <a:pt x="151423" y="246390"/>
                  <a:pt x="149209" y="242753"/>
                </a:cubicBezTo>
                <a:cubicBezTo>
                  <a:pt x="146994" y="239116"/>
                  <a:pt x="146994" y="234548"/>
                  <a:pt x="149209" y="230911"/>
                </a:cubicBezTo>
                <a:cubicBezTo>
                  <a:pt x="151423" y="227274"/>
                  <a:pt x="155482" y="225177"/>
                  <a:pt x="159730" y="225475"/>
                </a:cubicBezTo>
                <a:cubicBezTo>
                  <a:pt x="163977" y="225177"/>
                  <a:pt x="168036" y="227274"/>
                  <a:pt x="170251" y="230911"/>
                </a:cubicBezTo>
                <a:cubicBezTo>
                  <a:pt x="172465" y="234548"/>
                  <a:pt x="172465" y="239116"/>
                  <a:pt x="170251" y="242753"/>
                </a:cubicBezTo>
                <a:cubicBezTo>
                  <a:pt x="168036" y="246390"/>
                  <a:pt x="163977" y="248487"/>
                  <a:pt x="159730" y="248190"/>
                </a:cubicBezTo>
                <a:close/>
                <a:moveTo>
                  <a:pt x="93650" y="138466"/>
                </a:moveTo>
                <a:lnTo>
                  <a:pt x="153256" y="138466"/>
                </a:lnTo>
                <a:cubicBezTo>
                  <a:pt x="169831" y="138466"/>
                  <a:pt x="183059" y="124792"/>
                  <a:pt x="183059" y="108161"/>
                </a:cubicBezTo>
                <a:lnTo>
                  <a:pt x="183059" y="51290"/>
                </a:lnTo>
                <a:cubicBezTo>
                  <a:pt x="183059" y="35105"/>
                  <a:pt x="169441" y="22994"/>
                  <a:pt x="153256" y="20259"/>
                </a:cubicBezTo>
                <a:cubicBezTo>
                  <a:pt x="133276" y="16966"/>
                  <a:pt x="111565" y="17134"/>
                  <a:pt x="93650" y="20315"/>
                </a:cubicBezTo>
                <a:cubicBezTo>
                  <a:pt x="68424" y="24780"/>
                  <a:pt x="63847" y="34100"/>
                  <a:pt x="63847" y="51346"/>
                </a:cubicBezTo>
                <a:lnTo>
                  <a:pt x="63847" y="74061"/>
                </a:lnTo>
                <a:lnTo>
                  <a:pt x="123509" y="74061"/>
                </a:lnTo>
                <a:lnTo>
                  <a:pt x="123509" y="81651"/>
                </a:lnTo>
                <a:lnTo>
                  <a:pt x="41467" y="81651"/>
                </a:lnTo>
                <a:cubicBezTo>
                  <a:pt x="24110" y="81651"/>
                  <a:pt x="8930" y="92087"/>
                  <a:pt x="4186" y="111900"/>
                </a:cubicBezTo>
                <a:cubicBezTo>
                  <a:pt x="-1284" y="134615"/>
                  <a:pt x="-1507" y="148791"/>
                  <a:pt x="4186" y="172510"/>
                </a:cubicBezTo>
                <a:cubicBezTo>
                  <a:pt x="8427" y="190147"/>
                  <a:pt x="18529" y="202760"/>
                  <a:pt x="35886" y="202760"/>
                </a:cubicBezTo>
                <a:lnTo>
                  <a:pt x="56369" y="202760"/>
                </a:lnTo>
                <a:lnTo>
                  <a:pt x="56369" y="175524"/>
                </a:lnTo>
                <a:cubicBezTo>
                  <a:pt x="56369" y="155823"/>
                  <a:pt x="73391" y="138466"/>
                  <a:pt x="93650" y="138466"/>
                </a:cubicBezTo>
                <a:close/>
                <a:moveTo>
                  <a:pt x="89967" y="36109"/>
                </a:moveTo>
                <a:cubicBezTo>
                  <a:pt x="96250" y="36109"/>
                  <a:pt x="101352" y="41211"/>
                  <a:pt x="101352" y="47495"/>
                </a:cubicBezTo>
                <a:cubicBezTo>
                  <a:pt x="101352" y="53779"/>
                  <a:pt x="96250" y="58880"/>
                  <a:pt x="89967" y="58880"/>
                </a:cubicBezTo>
                <a:cubicBezTo>
                  <a:pt x="83683" y="58880"/>
                  <a:pt x="78581" y="53779"/>
                  <a:pt x="78581" y="47495"/>
                </a:cubicBezTo>
                <a:cubicBezTo>
                  <a:pt x="78581" y="41211"/>
                  <a:pt x="83683" y="36109"/>
                  <a:pt x="89967" y="36109"/>
                </a:cubicBezTo>
                <a:close/>
              </a:path>
            </a:pathLst>
          </a:custGeom>
          <a:solidFill>
            <a:srgbClr val="D4A373"/>
          </a:solidFill>
          <a:ln/>
        </p:spPr>
      </p:sp>
      <p:sp>
        <p:nvSpPr>
          <p:cNvPr id="11" name="Text 9"/>
          <p:cNvSpPr/>
          <p:nvPr/>
        </p:nvSpPr>
        <p:spPr>
          <a:xfrm>
            <a:off x="1087438" y="1777903"/>
            <a:ext cx="1595438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50" b="1" dirty="0">
                <a:solidFill>
                  <a:srgbClr val="F0F2F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Python 3.10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087438" y="2000153"/>
            <a:ext cx="1571625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9A959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Primary development language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530820" y="2436716"/>
            <a:ext cx="97234" cy="111125"/>
          </a:xfrm>
          <a:custGeom>
            <a:avLst/>
            <a:gdLst/>
            <a:ahLst/>
            <a:cxnLst/>
            <a:rect l="l" t="t" r="r" b="b"/>
            <a:pathLst>
              <a:path w="97234" h="111125">
                <a:moveTo>
                  <a:pt x="94369" y="15215"/>
                </a:moveTo>
                <a:cubicBezTo>
                  <a:pt x="97473" y="17472"/>
                  <a:pt x="98168" y="21813"/>
                  <a:pt x="95910" y="24916"/>
                </a:cubicBezTo>
                <a:lnTo>
                  <a:pt x="40348" y="101315"/>
                </a:lnTo>
                <a:cubicBezTo>
                  <a:pt x="39154" y="102964"/>
                  <a:pt x="37309" y="103984"/>
                  <a:pt x="35269" y="104158"/>
                </a:cubicBezTo>
                <a:cubicBezTo>
                  <a:pt x="33229" y="104332"/>
                  <a:pt x="31254" y="103572"/>
                  <a:pt x="29821" y="102140"/>
                </a:cubicBezTo>
                <a:lnTo>
                  <a:pt x="2040" y="74358"/>
                </a:lnTo>
                <a:cubicBezTo>
                  <a:pt x="-673" y="71645"/>
                  <a:pt x="-673" y="67239"/>
                  <a:pt x="2040" y="64526"/>
                </a:cubicBezTo>
                <a:cubicBezTo>
                  <a:pt x="4753" y="61813"/>
                  <a:pt x="9159" y="61813"/>
                  <a:pt x="11872" y="64526"/>
                </a:cubicBezTo>
                <a:lnTo>
                  <a:pt x="33902" y="86556"/>
                </a:lnTo>
                <a:lnTo>
                  <a:pt x="84689" y="16734"/>
                </a:lnTo>
                <a:cubicBezTo>
                  <a:pt x="86947" y="13630"/>
                  <a:pt x="91287" y="12936"/>
                  <a:pt x="94391" y="15193"/>
                </a:cubicBezTo>
                <a:close/>
              </a:path>
            </a:pathLst>
          </a:custGeom>
          <a:solidFill>
            <a:srgbClr val="D4A373"/>
          </a:solidFill>
          <a:ln/>
        </p:spPr>
      </p:sp>
      <p:sp>
        <p:nvSpPr>
          <p:cNvPr id="14" name="Text 12"/>
          <p:cNvSpPr/>
          <p:nvPr/>
        </p:nvSpPr>
        <p:spPr>
          <a:xfrm>
            <a:off x="710406" y="2412903"/>
            <a:ext cx="1158875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9A959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Rich AI/ML ecosystem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530820" y="2658966"/>
            <a:ext cx="97234" cy="111125"/>
          </a:xfrm>
          <a:custGeom>
            <a:avLst/>
            <a:gdLst/>
            <a:ahLst/>
            <a:cxnLst/>
            <a:rect l="l" t="t" r="r" b="b"/>
            <a:pathLst>
              <a:path w="97234" h="111125">
                <a:moveTo>
                  <a:pt x="94369" y="15215"/>
                </a:moveTo>
                <a:cubicBezTo>
                  <a:pt x="97473" y="17472"/>
                  <a:pt x="98168" y="21813"/>
                  <a:pt x="95910" y="24916"/>
                </a:cubicBezTo>
                <a:lnTo>
                  <a:pt x="40348" y="101315"/>
                </a:lnTo>
                <a:cubicBezTo>
                  <a:pt x="39154" y="102964"/>
                  <a:pt x="37309" y="103984"/>
                  <a:pt x="35269" y="104158"/>
                </a:cubicBezTo>
                <a:cubicBezTo>
                  <a:pt x="33229" y="104332"/>
                  <a:pt x="31254" y="103572"/>
                  <a:pt x="29821" y="102140"/>
                </a:cubicBezTo>
                <a:lnTo>
                  <a:pt x="2040" y="74358"/>
                </a:lnTo>
                <a:cubicBezTo>
                  <a:pt x="-673" y="71645"/>
                  <a:pt x="-673" y="67239"/>
                  <a:pt x="2040" y="64526"/>
                </a:cubicBezTo>
                <a:cubicBezTo>
                  <a:pt x="4753" y="61813"/>
                  <a:pt x="9159" y="61813"/>
                  <a:pt x="11872" y="64526"/>
                </a:cubicBezTo>
                <a:lnTo>
                  <a:pt x="33902" y="86556"/>
                </a:lnTo>
                <a:lnTo>
                  <a:pt x="84689" y="16734"/>
                </a:lnTo>
                <a:cubicBezTo>
                  <a:pt x="86947" y="13630"/>
                  <a:pt x="91287" y="12936"/>
                  <a:pt x="94391" y="15193"/>
                </a:cubicBezTo>
                <a:close/>
              </a:path>
            </a:pathLst>
          </a:custGeom>
          <a:solidFill>
            <a:srgbClr val="D4A373"/>
          </a:solidFill>
          <a:ln/>
        </p:spPr>
      </p:sp>
      <p:sp>
        <p:nvSpPr>
          <p:cNvPr id="16" name="Text 14"/>
          <p:cNvSpPr/>
          <p:nvPr/>
        </p:nvSpPr>
        <p:spPr>
          <a:xfrm>
            <a:off x="710406" y="2635153"/>
            <a:ext cx="944563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9A959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Extensive libraries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530820" y="2881216"/>
            <a:ext cx="97234" cy="111125"/>
          </a:xfrm>
          <a:custGeom>
            <a:avLst/>
            <a:gdLst/>
            <a:ahLst/>
            <a:cxnLst/>
            <a:rect l="l" t="t" r="r" b="b"/>
            <a:pathLst>
              <a:path w="97234" h="111125">
                <a:moveTo>
                  <a:pt x="94369" y="15215"/>
                </a:moveTo>
                <a:cubicBezTo>
                  <a:pt x="97473" y="17472"/>
                  <a:pt x="98168" y="21813"/>
                  <a:pt x="95910" y="24916"/>
                </a:cubicBezTo>
                <a:lnTo>
                  <a:pt x="40348" y="101315"/>
                </a:lnTo>
                <a:cubicBezTo>
                  <a:pt x="39154" y="102964"/>
                  <a:pt x="37309" y="103984"/>
                  <a:pt x="35269" y="104158"/>
                </a:cubicBezTo>
                <a:cubicBezTo>
                  <a:pt x="33229" y="104332"/>
                  <a:pt x="31254" y="103572"/>
                  <a:pt x="29821" y="102140"/>
                </a:cubicBezTo>
                <a:lnTo>
                  <a:pt x="2040" y="74358"/>
                </a:lnTo>
                <a:cubicBezTo>
                  <a:pt x="-673" y="71645"/>
                  <a:pt x="-673" y="67239"/>
                  <a:pt x="2040" y="64526"/>
                </a:cubicBezTo>
                <a:cubicBezTo>
                  <a:pt x="4753" y="61813"/>
                  <a:pt x="9159" y="61813"/>
                  <a:pt x="11872" y="64526"/>
                </a:cubicBezTo>
                <a:lnTo>
                  <a:pt x="33902" y="86556"/>
                </a:lnTo>
                <a:lnTo>
                  <a:pt x="84689" y="16734"/>
                </a:lnTo>
                <a:cubicBezTo>
                  <a:pt x="86947" y="13630"/>
                  <a:pt x="91287" y="12936"/>
                  <a:pt x="94391" y="15193"/>
                </a:cubicBezTo>
                <a:close/>
              </a:path>
            </a:pathLst>
          </a:custGeom>
          <a:solidFill>
            <a:srgbClr val="D4A373"/>
          </a:solidFill>
          <a:ln/>
        </p:spPr>
      </p:sp>
      <p:sp>
        <p:nvSpPr>
          <p:cNvPr id="18" name="Text 16"/>
          <p:cNvSpPr/>
          <p:nvPr/>
        </p:nvSpPr>
        <p:spPr>
          <a:xfrm>
            <a:off x="710406" y="2857403"/>
            <a:ext cx="1365250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9A959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Strong community support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4228009" y="1111250"/>
            <a:ext cx="3754438" cy="2087563"/>
          </a:xfrm>
          <a:custGeom>
            <a:avLst/>
            <a:gdLst/>
            <a:ahLst/>
            <a:cxnLst/>
            <a:rect l="l" t="t" r="r" b="b"/>
            <a:pathLst>
              <a:path w="3754438" h="2087563">
                <a:moveTo>
                  <a:pt x="31750" y="0"/>
                </a:moveTo>
                <a:lnTo>
                  <a:pt x="3690874" y="0"/>
                </a:lnTo>
                <a:cubicBezTo>
                  <a:pt x="3707737" y="-34"/>
                  <a:pt x="3723921" y="6642"/>
                  <a:pt x="3735857" y="18554"/>
                </a:cubicBezTo>
                <a:cubicBezTo>
                  <a:pt x="3747793" y="30466"/>
                  <a:pt x="3754501" y="46637"/>
                  <a:pt x="3754501" y="63500"/>
                </a:cubicBezTo>
                <a:lnTo>
                  <a:pt x="3754501" y="2023999"/>
                </a:lnTo>
                <a:cubicBezTo>
                  <a:pt x="3754535" y="2040884"/>
                  <a:pt x="3747842" y="2057088"/>
                  <a:pt x="3735902" y="2069027"/>
                </a:cubicBezTo>
                <a:cubicBezTo>
                  <a:pt x="3723963" y="2080967"/>
                  <a:pt x="3707759" y="2087660"/>
                  <a:pt x="3690874" y="2087626"/>
                </a:cubicBezTo>
                <a:lnTo>
                  <a:pt x="31750" y="2087626"/>
                </a:lnTo>
                <a:cubicBezTo>
                  <a:pt x="14227" y="2087626"/>
                  <a:pt x="0" y="2073399"/>
                  <a:pt x="0" y="2055876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gradFill rotWithShape="1" flip="none">
            <a:gsLst>
              <a:gs pos="0">
                <a:srgbClr val="5F737C">
                  <a:alpha val="30000"/>
                </a:srgbClr>
              </a:gs>
              <a:gs pos="100000">
                <a:srgbClr val="4A5C6A">
                  <a:alpha val="20000"/>
                </a:srgbClr>
              </a:gs>
            </a:gsLst>
            <a:lin ang="2700000" scaled="1"/>
          </a:gradFill>
          <a:ln/>
        </p:spPr>
      </p:sp>
      <p:sp>
        <p:nvSpPr>
          <p:cNvPr id="20" name="Shape 18"/>
          <p:cNvSpPr/>
          <p:nvPr/>
        </p:nvSpPr>
        <p:spPr>
          <a:xfrm>
            <a:off x="4228009" y="1111250"/>
            <a:ext cx="31750" cy="2087563"/>
          </a:xfrm>
          <a:custGeom>
            <a:avLst/>
            <a:gdLst/>
            <a:ahLst/>
            <a:cxnLst/>
            <a:rect l="l" t="t" r="r" b="b"/>
            <a:pathLst>
              <a:path w="31750" h="2087563">
                <a:moveTo>
                  <a:pt x="31750" y="0"/>
                </a:moveTo>
                <a:lnTo>
                  <a:pt x="31750" y="0"/>
                </a:lnTo>
                <a:lnTo>
                  <a:pt x="31750" y="2087626"/>
                </a:lnTo>
                <a:lnTo>
                  <a:pt x="31750" y="2087626"/>
                </a:lnTo>
                <a:cubicBezTo>
                  <a:pt x="14227" y="2087626"/>
                  <a:pt x="0" y="2073399"/>
                  <a:pt x="0" y="2055876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5F737C"/>
          </a:solidFill>
          <a:ln/>
        </p:spPr>
      </p:sp>
      <p:sp>
        <p:nvSpPr>
          <p:cNvPr id="21" name="Shape 19"/>
          <p:cNvSpPr/>
          <p:nvPr/>
        </p:nvSpPr>
        <p:spPr>
          <a:xfrm>
            <a:off x="4434384" y="1277841"/>
            <a:ext cx="238125" cy="238125"/>
          </a:xfrm>
          <a:custGeom>
            <a:avLst/>
            <a:gdLst/>
            <a:ahLst/>
            <a:cxnLst/>
            <a:rect l="l" t="t" r="r" b="b"/>
            <a:pathLst>
              <a:path w="238125" h="238125">
                <a:moveTo>
                  <a:pt x="55811" y="26045"/>
                </a:moveTo>
                <a:cubicBezTo>
                  <a:pt x="55811" y="11674"/>
                  <a:pt x="67484" y="0"/>
                  <a:pt x="81855" y="0"/>
                </a:cubicBezTo>
                <a:lnTo>
                  <a:pt x="93018" y="0"/>
                </a:lnTo>
                <a:cubicBezTo>
                  <a:pt x="101250" y="0"/>
                  <a:pt x="107900" y="6651"/>
                  <a:pt x="107900" y="14883"/>
                </a:cubicBezTo>
                <a:lnTo>
                  <a:pt x="107900" y="223242"/>
                </a:lnTo>
                <a:cubicBezTo>
                  <a:pt x="107900" y="231474"/>
                  <a:pt x="101250" y="238125"/>
                  <a:pt x="93018" y="238125"/>
                </a:cubicBezTo>
                <a:lnTo>
                  <a:pt x="78135" y="238125"/>
                </a:lnTo>
                <a:cubicBezTo>
                  <a:pt x="64275" y="238125"/>
                  <a:pt x="52601" y="228637"/>
                  <a:pt x="49299" y="215801"/>
                </a:cubicBezTo>
                <a:cubicBezTo>
                  <a:pt x="48974" y="215801"/>
                  <a:pt x="48695" y="215801"/>
                  <a:pt x="48369" y="215801"/>
                </a:cubicBezTo>
                <a:cubicBezTo>
                  <a:pt x="27812" y="215801"/>
                  <a:pt x="11162" y="199151"/>
                  <a:pt x="11162" y="178594"/>
                </a:cubicBezTo>
                <a:cubicBezTo>
                  <a:pt x="11162" y="170222"/>
                  <a:pt x="13953" y="162502"/>
                  <a:pt x="18604" y="156270"/>
                </a:cubicBezTo>
                <a:cubicBezTo>
                  <a:pt x="9581" y="149479"/>
                  <a:pt x="3721" y="138689"/>
                  <a:pt x="3721" y="126504"/>
                </a:cubicBezTo>
                <a:cubicBezTo>
                  <a:pt x="3721" y="112133"/>
                  <a:pt x="11906" y="99622"/>
                  <a:pt x="23813" y="93436"/>
                </a:cubicBezTo>
                <a:cubicBezTo>
                  <a:pt x="20510" y="87855"/>
                  <a:pt x="18604" y="81344"/>
                  <a:pt x="18604" y="74414"/>
                </a:cubicBezTo>
                <a:cubicBezTo>
                  <a:pt x="18604" y="53857"/>
                  <a:pt x="35254" y="37207"/>
                  <a:pt x="55811" y="37207"/>
                </a:cubicBezTo>
                <a:lnTo>
                  <a:pt x="55811" y="26045"/>
                </a:lnTo>
                <a:close/>
                <a:moveTo>
                  <a:pt x="182314" y="26045"/>
                </a:moveTo>
                <a:lnTo>
                  <a:pt x="182314" y="37207"/>
                </a:lnTo>
                <a:cubicBezTo>
                  <a:pt x="202871" y="37207"/>
                  <a:pt x="219521" y="53857"/>
                  <a:pt x="219521" y="74414"/>
                </a:cubicBezTo>
                <a:cubicBezTo>
                  <a:pt x="219521" y="81390"/>
                  <a:pt x="217615" y="87902"/>
                  <a:pt x="214313" y="93436"/>
                </a:cubicBezTo>
                <a:cubicBezTo>
                  <a:pt x="226265" y="99622"/>
                  <a:pt x="234404" y="112086"/>
                  <a:pt x="234404" y="126504"/>
                </a:cubicBezTo>
                <a:cubicBezTo>
                  <a:pt x="234404" y="138689"/>
                  <a:pt x="228544" y="149479"/>
                  <a:pt x="219521" y="156270"/>
                </a:cubicBezTo>
                <a:cubicBezTo>
                  <a:pt x="224172" y="162502"/>
                  <a:pt x="226963" y="170222"/>
                  <a:pt x="226963" y="178594"/>
                </a:cubicBezTo>
                <a:cubicBezTo>
                  <a:pt x="226963" y="199151"/>
                  <a:pt x="210313" y="215801"/>
                  <a:pt x="189756" y="215801"/>
                </a:cubicBezTo>
                <a:cubicBezTo>
                  <a:pt x="189430" y="215801"/>
                  <a:pt x="189151" y="215801"/>
                  <a:pt x="188826" y="215801"/>
                </a:cubicBezTo>
                <a:cubicBezTo>
                  <a:pt x="185524" y="228637"/>
                  <a:pt x="173850" y="238125"/>
                  <a:pt x="159990" y="238125"/>
                </a:cubicBezTo>
                <a:lnTo>
                  <a:pt x="145107" y="238125"/>
                </a:lnTo>
                <a:cubicBezTo>
                  <a:pt x="136875" y="238125"/>
                  <a:pt x="130225" y="231474"/>
                  <a:pt x="130225" y="223242"/>
                </a:cubicBezTo>
                <a:lnTo>
                  <a:pt x="130225" y="14883"/>
                </a:lnTo>
                <a:cubicBezTo>
                  <a:pt x="130225" y="6651"/>
                  <a:pt x="136875" y="0"/>
                  <a:pt x="145107" y="0"/>
                </a:cubicBezTo>
                <a:lnTo>
                  <a:pt x="156270" y="0"/>
                </a:lnTo>
                <a:cubicBezTo>
                  <a:pt x="170641" y="0"/>
                  <a:pt x="182314" y="11674"/>
                  <a:pt x="182314" y="26045"/>
                </a:cubicBezTo>
                <a:close/>
              </a:path>
            </a:pathLst>
          </a:custGeom>
          <a:solidFill>
            <a:srgbClr val="5F737C"/>
          </a:solidFill>
          <a:ln/>
        </p:spPr>
      </p:sp>
      <p:sp>
        <p:nvSpPr>
          <p:cNvPr id="22" name="Text 20"/>
          <p:cNvSpPr/>
          <p:nvPr/>
        </p:nvSpPr>
        <p:spPr>
          <a:xfrm>
            <a:off x="4795540" y="1270000"/>
            <a:ext cx="1254125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500" b="1" dirty="0">
                <a:solidFill>
                  <a:srgbClr val="F0F2F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AI Framework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4402634" y="1650903"/>
            <a:ext cx="3421063" cy="635000"/>
          </a:xfrm>
          <a:prstGeom prst="roundRect">
            <a:avLst>
              <a:gd name="adj" fmla="val 10000"/>
            </a:avLst>
          </a:prstGeom>
          <a:solidFill>
            <a:srgbClr val="1A1D21">
              <a:alpha val="60000"/>
            </a:srgbClr>
          </a:solidFill>
          <a:ln/>
        </p:spPr>
      </p:sp>
      <p:sp>
        <p:nvSpPr>
          <p:cNvPr id="24" name="Shape 22"/>
          <p:cNvSpPr/>
          <p:nvPr/>
        </p:nvSpPr>
        <p:spPr>
          <a:xfrm>
            <a:off x="4583212" y="1825528"/>
            <a:ext cx="250031" cy="285750"/>
          </a:xfrm>
          <a:custGeom>
            <a:avLst/>
            <a:gdLst/>
            <a:ahLst/>
            <a:cxnLst/>
            <a:rect l="l" t="t" r="r" b="b"/>
            <a:pathLst>
              <a:path w="250031" h="285750">
                <a:moveTo>
                  <a:pt x="89576" y="-14734"/>
                </a:moveTo>
                <a:cubicBezTo>
                  <a:pt x="94766" y="-19087"/>
                  <a:pt x="102412" y="-18920"/>
                  <a:pt x="107379" y="-14232"/>
                </a:cubicBezTo>
                <a:cubicBezTo>
                  <a:pt x="114244" y="-7758"/>
                  <a:pt x="120383" y="-614"/>
                  <a:pt x="126299" y="6641"/>
                </a:cubicBezTo>
                <a:cubicBezTo>
                  <a:pt x="133834" y="15850"/>
                  <a:pt x="142875" y="28017"/>
                  <a:pt x="151581" y="42472"/>
                </a:cubicBezTo>
                <a:cubicBezTo>
                  <a:pt x="154484" y="38677"/>
                  <a:pt x="157163" y="35328"/>
                  <a:pt x="159507" y="32482"/>
                </a:cubicBezTo>
                <a:cubicBezTo>
                  <a:pt x="160120" y="31756"/>
                  <a:pt x="160734" y="30975"/>
                  <a:pt x="161348" y="30194"/>
                </a:cubicBezTo>
                <a:cubicBezTo>
                  <a:pt x="165757" y="24724"/>
                  <a:pt x="171227" y="17859"/>
                  <a:pt x="178538" y="17859"/>
                </a:cubicBezTo>
                <a:cubicBezTo>
                  <a:pt x="186017" y="17859"/>
                  <a:pt x="191263" y="24501"/>
                  <a:pt x="195728" y="30194"/>
                </a:cubicBezTo>
                <a:cubicBezTo>
                  <a:pt x="196453" y="31142"/>
                  <a:pt x="197179" y="32035"/>
                  <a:pt x="197904" y="32872"/>
                </a:cubicBezTo>
                <a:cubicBezTo>
                  <a:pt x="203653" y="39793"/>
                  <a:pt x="211299" y="49783"/>
                  <a:pt x="218945" y="62117"/>
                </a:cubicBezTo>
                <a:cubicBezTo>
                  <a:pt x="234125" y="86618"/>
                  <a:pt x="249975" y="121500"/>
                  <a:pt x="249975" y="160679"/>
                </a:cubicBezTo>
                <a:cubicBezTo>
                  <a:pt x="249975" y="229716"/>
                  <a:pt x="193997" y="285694"/>
                  <a:pt x="124960" y="285694"/>
                </a:cubicBezTo>
                <a:cubicBezTo>
                  <a:pt x="55922" y="285694"/>
                  <a:pt x="0" y="229772"/>
                  <a:pt x="0" y="160734"/>
                </a:cubicBezTo>
                <a:cubicBezTo>
                  <a:pt x="0" y="109891"/>
                  <a:pt x="22938" y="65856"/>
                  <a:pt x="44927" y="35161"/>
                </a:cubicBezTo>
                <a:cubicBezTo>
                  <a:pt x="56034" y="19701"/>
                  <a:pt x="67084" y="7311"/>
                  <a:pt x="75400" y="-1172"/>
                </a:cubicBezTo>
                <a:cubicBezTo>
                  <a:pt x="79977" y="-5860"/>
                  <a:pt x="84609" y="-10492"/>
                  <a:pt x="89632" y="-14678"/>
                </a:cubicBezTo>
                <a:close/>
                <a:moveTo>
                  <a:pt x="125964" y="232172"/>
                </a:moveTo>
                <a:cubicBezTo>
                  <a:pt x="140084" y="232172"/>
                  <a:pt x="152586" y="228265"/>
                  <a:pt x="164362" y="220452"/>
                </a:cubicBezTo>
                <a:cubicBezTo>
                  <a:pt x="187858" y="204043"/>
                  <a:pt x="194165" y="171227"/>
                  <a:pt x="180045" y="145442"/>
                </a:cubicBezTo>
                <a:cubicBezTo>
                  <a:pt x="177533" y="140419"/>
                  <a:pt x="171115" y="140084"/>
                  <a:pt x="167487" y="144326"/>
                </a:cubicBezTo>
                <a:lnTo>
                  <a:pt x="153423" y="160679"/>
                </a:lnTo>
                <a:cubicBezTo>
                  <a:pt x="149740" y="164920"/>
                  <a:pt x="143098" y="164809"/>
                  <a:pt x="139638" y="160400"/>
                </a:cubicBezTo>
                <a:cubicBezTo>
                  <a:pt x="129983" y="148065"/>
                  <a:pt x="112235" y="125574"/>
                  <a:pt x="103194" y="114077"/>
                </a:cubicBezTo>
                <a:cubicBezTo>
                  <a:pt x="100180" y="110226"/>
                  <a:pt x="94710" y="109612"/>
                  <a:pt x="91194" y="113016"/>
                </a:cubicBezTo>
                <a:cubicBezTo>
                  <a:pt x="80981" y="122951"/>
                  <a:pt x="62452" y="144717"/>
                  <a:pt x="62452" y="171227"/>
                </a:cubicBezTo>
                <a:cubicBezTo>
                  <a:pt x="62452" y="209513"/>
                  <a:pt x="90692" y="232172"/>
                  <a:pt x="125909" y="232172"/>
                </a:cubicBezTo>
                <a:close/>
              </a:path>
            </a:pathLst>
          </a:custGeom>
          <a:solidFill>
            <a:srgbClr val="5F737C"/>
          </a:solidFill>
          <a:ln/>
        </p:spPr>
      </p:sp>
      <p:sp>
        <p:nvSpPr>
          <p:cNvPr id="25" name="Text 23"/>
          <p:cNvSpPr/>
          <p:nvPr/>
        </p:nvSpPr>
        <p:spPr>
          <a:xfrm>
            <a:off x="4982071" y="1777903"/>
            <a:ext cx="1309688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50" b="1" dirty="0">
                <a:solidFill>
                  <a:srgbClr val="F0F2F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PyTorch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4982071" y="2000153"/>
            <a:ext cx="1285875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9A959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Deep learning framework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4425454" y="2436716"/>
            <a:ext cx="97234" cy="111125"/>
          </a:xfrm>
          <a:custGeom>
            <a:avLst/>
            <a:gdLst/>
            <a:ahLst/>
            <a:cxnLst/>
            <a:rect l="l" t="t" r="r" b="b"/>
            <a:pathLst>
              <a:path w="97234" h="111125">
                <a:moveTo>
                  <a:pt x="94369" y="15215"/>
                </a:moveTo>
                <a:cubicBezTo>
                  <a:pt x="97473" y="17472"/>
                  <a:pt x="98168" y="21813"/>
                  <a:pt x="95910" y="24916"/>
                </a:cubicBezTo>
                <a:lnTo>
                  <a:pt x="40348" y="101315"/>
                </a:lnTo>
                <a:cubicBezTo>
                  <a:pt x="39154" y="102964"/>
                  <a:pt x="37309" y="103984"/>
                  <a:pt x="35269" y="104158"/>
                </a:cubicBezTo>
                <a:cubicBezTo>
                  <a:pt x="33229" y="104332"/>
                  <a:pt x="31254" y="103572"/>
                  <a:pt x="29821" y="102140"/>
                </a:cubicBezTo>
                <a:lnTo>
                  <a:pt x="2040" y="74358"/>
                </a:lnTo>
                <a:cubicBezTo>
                  <a:pt x="-673" y="71645"/>
                  <a:pt x="-673" y="67239"/>
                  <a:pt x="2040" y="64526"/>
                </a:cubicBezTo>
                <a:cubicBezTo>
                  <a:pt x="4753" y="61813"/>
                  <a:pt x="9159" y="61813"/>
                  <a:pt x="11872" y="64526"/>
                </a:cubicBezTo>
                <a:lnTo>
                  <a:pt x="33902" y="86556"/>
                </a:lnTo>
                <a:lnTo>
                  <a:pt x="84689" y="16734"/>
                </a:lnTo>
                <a:cubicBezTo>
                  <a:pt x="86947" y="13630"/>
                  <a:pt x="91287" y="12936"/>
                  <a:pt x="94391" y="15193"/>
                </a:cubicBezTo>
                <a:close/>
              </a:path>
            </a:pathLst>
          </a:custGeom>
          <a:solidFill>
            <a:srgbClr val="5F737C"/>
          </a:solidFill>
          <a:ln/>
        </p:spPr>
      </p:sp>
      <p:sp>
        <p:nvSpPr>
          <p:cNvPr id="28" name="Text 26"/>
          <p:cNvSpPr/>
          <p:nvPr/>
        </p:nvSpPr>
        <p:spPr>
          <a:xfrm>
            <a:off x="4605040" y="2412903"/>
            <a:ext cx="1492250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9A959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Dynamic computation graphs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4425454" y="2658966"/>
            <a:ext cx="97234" cy="111125"/>
          </a:xfrm>
          <a:custGeom>
            <a:avLst/>
            <a:gdLst/>
            <a:ahLst/>
            <a:cxnLst/>
            <a:rect l="l" t="t" r="r" b="b"/>
            <a:pathLst>
              <a:path w="97234" h="111125">
                <a:moveTo>
                  <a:pt x="94369" y="15215"/>
                </a:moveTo>
                <a:cubicBezTo>
                  <a:pt x="97473" y="17472"/>
                  <a:pt x="98168" y="21813"/>
                  <a:pt x="95910" y="24916"/>
                </a:cubicBezTo>
                <a:lnTo>
                  <a:pt x="40348" y="101315"/>
                </a:lnTo>
                <a:cubicBezTo>
                  <a:pt x="39154" y="102964"/>
                  <a:pt x="37309" y="103984"/>
                  <a:pt x="35269" y="104158"/>
                </a:cubicBezTo>
                <a:cubicBezTo>
                  <a:pt x="33229" y="104332"/>
                  <a:pt x="31254" y="103572"/>
                  <a:pt x="29821" y="102140"/>
                </a:cubicBezTo>
                <a:lnTo>
                  <a:pt x="2040" y="74358"/>
                </a:lnTo>
                <a:cubicBezTo>
                  <a:pt x="-673" y="71645"/>
                  <a:pt x="-673" y="67239"/>
                  <a:pt x="2040" y="64526"/>
                </a:cubicBezTo>
                <a:cubicBezTo>
                  <a:pt x="4753" y="61813"/>
                  <a:pt x="9159" y="61813"/>
                  <a:pt x="11872" y="64526"/>
                </a:cubicBezTo>
                <a:lnTo>
                  <a:pt x="33902" y="86556"/>
                </a:lnTo>
                <a:lnTo>
                  <a:pt x="84689" y="16734"/>
                </a:lnTo>
                <a:cubicBezTo>
                  <a:pt x="86947" y="13630"/>
                  <a:pt x="91287" y="12936"/>
                  <a:pt x="94391" y="15193"/>
                </a:cubicBezTo>
                <a:close/>
              </a:path>
            </a:pathLst>
          </a:custGeom>
          <a:solidFill>
            <a:srgbClr val="5F737C"/>
          </a:solidFill>
          <a:ln/>
        </p:spPr>
      </p:sp>
      <p:sp>
        <p:nvSpPr>
          <p:cNvPr id="30" name="Text 28"/>
          <p:cNvSpPr/>
          <p:nvPr/>
        </p:nvSpPr>
        <p:spPr>
          <a:xfrm>
            <a:off x="4605040" y="2635153"/>
            <a:ext cx="1317625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9A959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Excellent debugging tools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4425454" y="2881216"/>
            <a:ext cx="97234" cy="111125"/>
          </a:xfrm>
          <a:custGeom>
            <a:avLst/>
            <a:gdLst/>
            <a:ahLst/>
            <a:cxnLst/>
            <a:rect l="l" t="t" r="r" b="b"/>
            <a:pathLst>
              <a:path w="97234" h="111125">
                <a:moveTo>
                  <a:pt x="94369" y="15215"/>
                </a:moveTo>
                <a:cubicBezTo>
                  <a:pt x="97473" y="17472"/>
                  <a:pt x="98168" y="21813"/>
                  <a:pt x="95910" y="24916"/>
                </a:cubicBezTo>
                <a:lnTo>
                  <a:pt x="40348" y="101315"/>
                </a:lnTo>
                <a:cubicBezTo>
                  <a:pt x="39154" y="102964"/>
                  <a:pt x="37309" y="103984"/>
                  <a:pt x="35269" y="104158"/>
                </a:cubicBezTo>
                <a:cubicBezTo>
                  <a:pt x="33229" y="104332"/>
                  <a:pt x="31254" y="103572"/>
                  <a:pt x="29821" y="102140"/>
                </a:cubicBezTo>
                <a:lnTo>
                  <a:pt x="2040" y="74358"/>
                </a:lnTo>
                <a:cubicBezTo>
                  <a:pt x="-673" y="71645"/>
                  <a:pt x="-673" y="67239"/>
                  <a:pt x="2040" y="64526"/>
                </a:cubicBezTo>
                <a:cubicBezTo>
                  <a:pt x="4753" y="61813"/>
                  <a:pt x="9159" y="61813"/>
                  <a:pt x="11872" y="64526"/>
                </a:cubicBezTo>
                <a:lnTo>
                  <a:pt x="33902" y="86556"/>
                </a:lnTo>
                <a:lnTo>
                  <a:pt x="84689" y="16734"/>
                </a:lnTo>
                <a:cubicBezTo>
                  <a:pt x="86947" y="13630"/>
                  <a:pt x="91287" y="12936"/>
                  <a:pt x="94391" y="15193"/>
                </a:cubicBezTo>
                <a:close/>
              </a:path>
            </a:pathLst>
          </a:custGeom>
          <a:solidFill>
            <a:srgbClr val="5F737C"/>
          </a:solidFill>
          <a:ln/>
        </p:spPr>
      </p:sp>
      <p:sp>
        <p:nvSpPr>
          <p:cNvPr id="32" name="Text 30"/>
          <p:cNvSpPr/>
          <p:nvPr/>
        </p:nvSpPr>
        <p:spPr>
          <a:xfrm>
            <a:off x="4605040" y="2857403"/>
            <a:ext cx="1412875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9A959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Strong research community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8113117" y="1117600"/>
            <a:ext cx="3751263" cy="2076450"/>
          </a:xfrm>
          <a:prstGeom prst="roundRect">
            <a:avLst>
              <a:gd name="adj" fmla="val 3058"/>
            </a:avLst>
          </a:prstGeom>
          <a:gradFill rotWithShape="1" flip="none">
            <a:gsLst>
              <a:gs pos="0">
                <a:srgbClr val="D4A373">
                  <a:alpha val="20000"/>
                </a:srgbClr>
              </a:gs>
              <a:gs pos="100000">
                <a:srgbClr val="5F737C">
                  <a:alpha val="10000"/>
                </a:srgbClr>
              </a:gs>
            </a:gsLst>
            <a:lin ang="2700000" scaled="1"/>
          </a:gradFill>
          <a:ln w="20320">
            <a:solidFill>
              <a:srgbClr val="D4A373">
                <a:alpha val="60000"/>
              </a:srgbClr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8309968" y="1290538"/>
            <a:ext cx="238125" cy="238125"/>
          </a:xfrm>
          <a:custGeom>
            <a:avLst/>
            <a:gdLst/>
            <a:ahLst/>
            <a:cxnLst/>
            <a:rect l="l" t="t" r="r" b="b"/>
            <a:pathLst>
              <a:path w="238125" h="238125">
                <a:moveTo>
                  <a:pt x="108133" y="2418"/>
                </a:moveTo>
                <a:cubicBezTo>
                  <a:pt x="115063" y="-791"/>
                  <a:pt x="123062" y="-791"/>
                  <a:pt x="129992" y="2418"/>
                </a:cubicBezTo>
                <a:lnTo>
                  <a:pt x="231660" y="49392"/>
                </a:lnTo>
                <a:cubicBezTo>
                  <a:pt x="235614" y="51206"/>
                  <a:pt x="238125" y="55159"/>
                  <a:pt x="238125" y="59531"/>
                </a:cubicBezTo>
                <a:cubicBezTo>
                  <a:pt x="238125" y="63903"/>
                  <a:pt x="235614" y="67856"/>
                  <a:pt x="231660" y="69670"/>
                </a:cubicBezTo>
                <a:lnTo>
                  <a:pt x="129992" y="116644"/>
                </a:lnTo>
                <a:cubicBezTo>
                  <a:pt x="123062" y="119853"/>
                  <a:pt x="115063" y="119853"/>
                  <a:pt x="108133" y="116644"/>
                </a:cubicBezTo>
                <a:lnTo>
                  <a:pt x="6465" y="69670"/>
                </a:lnTo>
                <a:cubicBezTo>
                  <a:pt x="2511" y="67810"/>
                  <a:pt x="0" y="63857"/>
                  <a:pt x="0" y="59531"/>
                </a:cubicBezTo>
                <a:cubicBezTo>
                  <a:pt x="0" y="55206"/>
                  <a:pt x="2511" y="51206"/>
                  <a:pt x="6465" y="49392"/>
                </a:cubicBezTo>
                <a:lnTo>
                  <a:pt x="108133" y="2418"/>
                </a:lnTo>
                <a:close/>
                <a:moveTo>
                  <a:pt x="22371" y="101575"/>
                </a:moveTo>
                <a:lnTo>
                  <a:pt x="98785" y="136875"/>
                </a:lnTo>
                <a:cubicBezTo>
                  <a:pt x="111668" y="142828"/>
                  <a:pt x="126504" y="142828"/>
                  <a:pt x="139387" y="136875"/>
                </a:cubicBezTo>
                <a:lnTo>
                  <a:pt x="215801" y="101575"/>
                </a:lnTo>
                <a:lnTo>
                  <a:pt x="231660" y="108924"/>
                </a:lnTo>
                <a:cubicBezTo>
                  <a:pt x="235614" y="110737"/>
                  <a:pt x="238125" y="114691"/>
                  <a:pt x="238125" y="119062"/>
                </a:cubicBezTo>
                <a:cubicBezTo>
                  <a:pt x="238125" y="123434"/>
                  <a:pt x="235614" y="127388"/>
                  <a:pt x="231660" y="129201"/>
                </a:cubicBezTo>
                <a:lnTo>
                  <a:pt x="129992" y="176175"/>
                </a:lnTo>
                <a:cubicBezTo>
                  <a:pt x="123062" y="179384"/>
                  <a:pt x="115063" y="179384"/>
                  <a:pt x="108133" y="176175"/>
                </a:cubicBezTo>
                <a:lnTo>
                  <a:pt x="6465" y="129201"/>
                </a:lnTo>
                <a:cubicBezTo>
                  <a:pt x="2511" y="127341"/>
                  <a:pt x="0" y="123388"/>
                  <a:pt x="0" y="119062"/>
                </a:cubicBezTo>
                <a:cubicBezTo>
                  <a:pt x="0" y="114737"/>
                  <a:pt x="2511" y="110737"/>
                  <a:pt x="6465" y="108924"/>
                </a:cubicBezTo>
                <a:lnTo>
                  <a:pt x="22324" y="101575"/>
                </a:lnTo>
                <a:close/>
                <a:moveTo>
                  <a:pt x="6465" y="168455"/>
                </a:moveTo>
                <a:lnTo>
                  <a:pt x="22324" y="161106"/>
                </a:lnTo>
                <a:lnTo>
                  <a:pt x="98738" y="196407"/>
                </a:lnTo>
                <a:cubicBezTo>
                  <a:pt x="111621" y="202360"/>
                  <a:pt x="126457" y="202360"/>
                  <a:pt x="139340" y="196407"/>
                </a:cubicBezTo>
                <a:lnTo>
                  <a:pt x="215754" y="161106"/>
                </a:lnTo>
                <a:lnTo>
                  <a:pt x="231614" y="168455"/>
                </a:lnTo>
                <a:cubicBezTo>
                  <a:pt x="235567" y="170269"/>
                  <a:pt x="238078" y="174222"/>
                  <a:pt x="238078" y="178594"/>
                </a:cubicBezTo>
                <a:cubicBezTo>
                  <a:pt x="238078" y="182966"/>
                  <a:pt x="235567" y="186919"/>
                  <a:pt x="231614" y="188733"/>
                </a:cubicBezTo>
                <a:lnTo>
                  <a:pt x="129946" y="235707"/>
                </a:lnTo>
                <a:cubicBezTo>
                  <a:pt x="123016" y="238916"/>
                  <a:pt x="115016" y="238916"/>
                  <a:pt x="108086" y="235707"/>
                </a:cubicBezTo>
                <a:lnTo>
                  <a:pt x="6465" y="188733"/>
                </a:lnTo>
                <a:cubicBezTo>
                  <a:pt x="2511" y="186872"/>
                  <a:pt x="0" y="182919"/>
                  <a:pt x="0" y="178594"/>
                </a:cubicBezTo>
                <a:cubicBezTo>
                  <a:pt x="0" y="174268"/>
                  <a:pt x="2511" y="170269"/>
                  <a:pt x="6465" y="168455"/>
                </a:cubicBezTo>
                <a:close/>
              </a:path>
            </a:pathLst>
          </a:custGeom>
          <a:solidFill>
            <a:srgbClr val="D4A373"/>
          </a:solidFill>
          <a:ln/>
        </p:spPr>
      </p:sp>
      <p:sp>
        <p:nvSpPr>
          <p:cNvPr id="35" name="Text 33"/>
          <p:cNvSpPr/>
          <p:nvPr/>
        </p:nvSpPr>
        <p:spPr>
          <a:xfrm>
            <a:off x="8671124" y="1282701"/>
            <a:ext cx="10795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500" b="1" dirty="0">
                <a:solidFill>
                  <a:srgbClr val="D4A37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CNN Model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8278218" y="1663600"/>
            <a:ext cx="3421063" cy="635000"/>
          </a:xfrm>
          <a:prstGeom prst="roundRect">
            <a:avLst>
              <a:gd name="adj" fmla="val 10000"/>
            </a:avLst>
          </a:prstGeom>
          <a:solidFill>
            <a:srgbClr val="1A1D21">
              <a:alpha val="60000"/>
            </a:srgbClr>
          </a:solidFill>
          <a:ln/>
        </p:spPr>
      </p:sp>
      <p:sp>
        <p:nvSpPr>
          <p:cNvPr id="37" name="Shape 35"/>
          <p:cNvSpPr/>
          <p:nvPr/>
        </p:nvSpPr>
        <p:spPr>
          <a:xfrm>
            <a:off x="8423077" y="1838225"/>
            <a:ext cx="321469" cy="285750"/>
          </a:xfrm>
          <a:custGeom>
            <a:avLst/>
            <a:gdLst/>
            <a:ahLst/>
            <a:cxnLst/>
            <a:rect l="l" t="t" r="r" b="b"/>
            <a:pathLst>
              <a:path w="321469" h="285750">
                <a:moveTo>
                  <a:pt x="138410" y="49113"/>
                </a:moveTo>
                <a:lnTo>
                  <a:pt x="183059" y="49113"/>
                </a:lnTo>
                <a:lnTo>
                  <a:pt x="183059" y="75902"/>
                </a:lnTo>
                <a:lnTo>
                  <a:pt x="138410" y="75902"/>
                </a:lnTo>
                <a:lnTo>
                  <a:pt x="138410" y="49113"/>
                </a:lnTo>
                <a:close/>
                <a:moveTo>
                  <a:pt x="133945" y="17859"/>
                </a:moveTo>
                <a:cubicBezTo>
                  <a:pt x="119156" y="17859"/>
                  <a:pt x="107156" y="29859"/>
                  <a:pt x="107156" y="44648"/>
                </a:cubicBezTo>
                <a:lnTo>
                  <a:pt x="107156" y="80367"/>
                </a:lnTo>
                <a:cubicBezTo>
                  <a:pt x="107156" y="95157"/>
                  <a:pt x="119156" y="107156"/>
                  <a:pt x="133945" y="107156"/>
                </a:cubicBezTo>
                <a:lnTo>
                  <a:pt x="142875" y="107156"/>
                </a:lnTo>
                <a:lnTo>
                  <a:pt x="142875" y="125016"/>
                </a:lnTo>
                <a:lnTo>
                  <a:pt x="17859" y="125016"/>
                </a:lnTo>
                <a:cubicBezTo>
                  <a:pt x="7981" y="125016"/>
                  <a:pt x="0" y="132997"/>
                  <a:pt x="0" y="142875"/>
                </a:cubicBezTo>
                <a:cubicBezTo>
                  <a:pt x="0" y="152753"/>
                  <a:pt x="7981" y="160734"/>
                  <a:pt x="17859" y="160734"/>
                </a:cubicBezTo>
                <a:lnTo>
                  <a:pt x="71438" y="160734"/>
                </a:lnTo>
                <a:lnTo>
                  <a:pt x="71438" y="178594"/>
                </a:lnTo>
                <a:lnTo>
                  <a:pt x="62508" y="178594"/>
                </a:lnTo>
                <a:cubicBezTo>
                  <a:pt x="47718" y="178594"/>
                  <a:pt x="35719" y="190593"/>
                  <a:pt x="35719" y="205383"/>
                </a:cubicBezTo>
                <a:lnTo>
                  <a:pt x="35719" y="241102"/>
                </a:lnTo>
                <a:cubicBezTo>
                  <a:pt x="35719" y="255891"/>
                  <a:pt x="47718" y="267891"/>
                  <a:pt x="62508" y="267891"/>
                </a:cubicBezTo>
                <a:lnTo>
                  <a:pt x="116086" y="267891"/>
                </a:lnTo>
                <a:cubicBezTo>
                  <a:pt x="130876" y="267891"/>
                  <a:pt x="142875" y="255891"/>
                  <a:pt x="142875" y="241102"/>
                </a:cubicBezTo>
                <a:lnTo>
                  <a:pt x="142875" y="205383"/>
                </a:lnTo>
                <a:cubicBezTo>
                  <a:pt x="142875" y="190593"/>
                  <a:pt x="130876" y="178594"/>
                  <a:pt x="116086" y="178594"/>
                </a:cubicBezTo>
                <a:lnTo>
                  <a:pt x="107156" y="178594"/>
                </a:lnTo>
                <a:lnTo>
                  <a:pt x="107156" y="160734"/>
                </a:lnTo>
                <a:lnTo>
                  <a:pt x="214313" y="160734"/>
                </a:lnTo>
                <a:lnTo>
                  <a:pt x="214313" y="178594"/>
                </a:lnTo>
                <a:lnTo>
                  <a:pt x="205383" y="178594"/>
                </a:lnTo>
                <a:cubicBezTo>
                  <a:pt x="190593" y="178594"/>
                  <a:pt x="178594" y="190593"/>
                  <a:pt x="178594" y="205383"/>
                </a:cubicBezTo>
                <a:lnTo>
                  <a:pt x="178594" y="241102"/>
                </a:lnTo>
                <a:cubicBezTo>
                  <a:pt x="178594" y="255891"/>
                  <a:pt x="190593" y="267891"/>
                  <a:pt x="205383" y="267891"/>
                </a:cubicBezTo>
                <a:lnTo>
                  <a:pt x="258961" y="267891"/>
                </a:lnTo>
                <a:cubicBezTo>
                  <a:pt x="273751" y="267891"/>
                  <a:pt x="285750" y="255891"/>
                  <a:pt x="285750" y="241102"/>
                </a:cubicBezTo>
                <a:lnTo>
                  <a:pt x="285750" y="205383"/>
                </a:lnTo>
                <a:cubicBezTo>
                  <a:pt x="285750" y="190593"/>
                  <a:pt x="273751" y="178594"/>
                  <a:pt x="258961" y="178594"/>
                </a:cubicBezTo>
                <a:lnTo>
                  <a:pt x="250031" y="178594"/>
                </a:lnTo>
                <a:lnTo>
                  <a:pt x="250031" y="160734"/>
                </a:lnTo>
                <a:lnTo>
                  <a:pt x="303609" y="160734"/>
                </a:lnTo>
                <a:cubicBezTo>
                  <a:pt x="313488" y="160734"/>
                  <a:pt x="321469" y="152753"/>
                  <a:pt x="321469" y="142875"/>
                </a:cubicBezTo>
                <a:cubicBezTo>
                  <a:pt x="321469" y="132997"/>
                  <a:pt x="313488" y="125016"/>
                  <a:pt x="303609" y="125016"/>
                </a:cubicBezTo>
                <a:lnTo>
                  <a:pt x="178594" y="125016"/>
                </a:lnTo>
                <a:lnTo>
                  <a:pt x="178594" y="107156"/>
                </a:lnTo>
                <a:lnTo>
                  <a:pt x="187523" y="107156"/>
                </a:lnTo>
                <a:cubicBezTo>
                  <a:pt x="202313" y="107156"/>
                  <a:pt x="214313" y="95157"/>
                  <a:pt x="214313" y="80367"/>
                </a:cubicBezTo>
                <a:lnTo>
                  <a:pt x="214313" y="44648"/>
                </a:lnTo>
                <a:cubicBezTo>
                  <a:pt x="214313" y="29859"/>
                  <a:pt x="202313" y="17859"/>
                  <a:pt x="187523" y="17859"/>
                </a:cubicBezTo>
                <a:lnTo>
                  <a:pt x="133945" y="17859"/>
                </a:lnTo>
                <a:close/>
                <a:moveTo>
                  <a:pt x="250031" y="209848"/>
                </a:moveTo>
                <a:lnTo>
                  <a:pt x="254496" y="209848"/>
                </a:lnTo>
                <a:lnTo>
                  <a:pt x="254496" y="236637"/>
                </a:lnTo>
                <a:lnTo>
                  <a:pt x="209848" y="236637"/>
                </a:lnTo>
                <a:lnTo>
                  <a:pt x="209848" y="209848"/>
                </a:lnTo>
                <a:lnTo>
                  <a:pt x="250031" y="209848"/>
                </a:lnTo>
                <a:close/>
                <a:moveTo>
                  <a:pt x="107156" y="209848"/>
                </a:moveTo>
                <a:lnTo>
                  <a:pt x="111621" y="209848"/>
                </a:lnTo>
                <a:lnTo>
                  <a:pt x="111621" y="236637"/>
                </a:lnTo>
                <a:lnTo>
                  <a:pt x="66973" y="236637"/>
                </a:lnTo>
                <a:lnTo>
                  <a:pt x="66973" y="209848"/>
                </a:lnTo>
                <a:lnTo>
                  <a:pt x="107156" y="209848"/>
                </a:lnTo>
                <a:close/>
              </a:path>
            </a:pathLst>
          </a:custGeom>
          <a:solidFill>
            <a:srgbClr val="D4A373"/>
          </a:solidFill>
          <a:ln/>
        </p:spPr>
      </p:sp>
      <p:sp>
        <p:nvSpPr>
          <p:cNvPr id="38" name="Text 36"/>
          <p:cNvSpPr/>
          <p:nvPr/>
        </p:nvSpPr>
        <p:spPr>
          <a:xfrm>
            <a:off x="8857655" y="1790600"/>
            <a:ext cx="1190625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50" b="1" dirty="0">
                <a:solidFill>
                  <a:srgbClr val="F0F2F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EfficientNet-B0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8857655" y="2012850"/>
            <a:ext cx="1166813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9A959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via timm library</a:t>
            </a:r>
            <a:endParaRPr lang="en-US" sz="1600" dirty="0"/>
          </a:p>
        </p:txBody>
      </p:sp>
      <p:sp>
        <p:nvSpPr>
          <p:cNvPr id="40" name="Shape 38"/>
          <p:cNvSpPr/>
          <p:nvPr/>
        </p:nvSpPr>
        <p:spPr>
          <a:xfrm>
            <a:off x="8301038" y="2449413"/>
            <a:ext cx="97234" cy="111125"/>
          </a:xfrm>
          <a:custGeom>
            <a:avLst/>
            <a:gdLst/>
            <a:ahLst/>
            <a:cxnLst/>
            <a:rect l="l" t="t" r="r" b="b"/>
            <a:pathLst>
              <a:path w="97234" h="111125">
                <a:moveTo>
                  <a:pt x="94369" y="15215"/>
                </a:moveTo>
                <a:cubicBezTo>
                  <a:pt x="97473" y="17472"/>
                  <a:pt x="98168" y="21813"/>
                  <a:pt x="95910" y="24916"/>
                </a:cubicBezTo>
                <a:lnTo>
                  <a:pt x="40348" y="101315"/>
                </a:lnTo>
                <a:cubicBezTo>
                  <a:pt x="39154" y="102964"/>
                  <a:pt x="37309" y="103984"/>
                  <a:pt x="35269" y="104158"/>
                </a:cubicBezTo>
                <a:cubicBezTo>
                  <a:pt x="33229" y="104332"/>
                  <a:pt x="31254" y="103572"/>
                  <a:pt x="29821" y="102140"/>
                </a:cubicBezTo>
                <a:lnTo>
                  <a:pt x="2040" y="74358"/>
                </a:lnTo>
                <a:cubicBezTo>
                  <a:pt x="-673" y="71645"/>
                  <a:pt x="-673" y="67239"/>
                  <a:pt x="2040" y="64526"/>
                </a:cubicBezTo>
                <a:cubicBezTo>
                  <a:pt x="4753" y="61813"/>
                  <a:pt x="9159" y="61813"/>
                  <a:pt x="11872" y="64526"/>
                </a:cubicBezTo>
                <a:lnTo>
                  <a:pt x="33902" y="86556"/>
                </a:lnTo>
                <a:lnTo>
                  <a:pt x="84689" y="16734"/>
                </a:lnTo>
                <a:cubicBezTo>
                  <a:pt x="86947" y="13630"/>
                  <a:pt x="91287" y="12936"/>
                  <a:pt x="94391" y="15193"/>
                </a:cubicBezTo>
                <a:close/>
              </a:path>
            </a:pathLst>
          </a:custGeom>
          <a:solidFill>
            <a:srgbClr val="D4A373"/>
          </a:solidFill>
          <a:ln/>
        </p:spPr>
      </p:sp>
      <p:sp>
        <p:nvSpPr>
          <p:cNvPr id="41" name="Text 39"/>
          <p:cNvSpPr/>
          <p:nvPr/>
        </p:nvSpPr>
        <p:spPr>
          <a:xfrm>
            <a:off x="8480624" y="2425600"/>
            <a:ext cx="1603375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9A959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Compound scaling optimization</a:t>
            </a:r>
            <a:endParaRPr lang="en-US" sz="1600" dirty="0"/>
          </a:p>
        </p:txBody>
      </p:sp>
      <p:sp>
        <p:nvSpPr>
          <p:cNvPr id="42" name="Shape 40"/>
          <p:cNvSpPr/>
          <p:nvPr/>
        </p:nvSpPr>
        <p:spPr>
          <a:xfrm>
            <a:off x="8301038" y="2671663"/>
            <a:ext cx="97234" cy="111125"/>
          </a:xfrm>
          <a:custGeom>
            <a:avLst/>
            <a:gdLst/>
            <a:ahLst/>
            <a:cxnLst/>
            <a:rect l="l" t="t" r="r" b="b"/>
            <a:pathLst>
              <a:path w="97234" h="111125">
                <a:moveTo>
                  <a:pt x="94369" y="15215"/>
                </a:moveTo>
                <a:cubicBezTo>
                  <a:pt x="97473" y="17472"/>
                  <a:pt x="98168" y="21813"/>
                  <a:pt x="95910" y="24916"/>
                </a:cubicBezTo>
                <a:lnTo>
                  <a:pt x="40348" y="101315"/>
                </a:lnTo>
                <a:cubicBezTo>
                  <a:pt x="39154" y="102964"/>
                  <a:pt x="37309" y="103984"/>
                  <a:pt x="35269" y="104158"/>
                </a:cubicBezTo>
                <a:cubicBezTo>
                  <a:pt x="33229" y="104332"/>
                  <a:pt x="31254" y="103572"/>
                  <a:pt x="29821" y="102140"/>
                </a:cubicBezTo>
                <a:lnTo>
                  <a:pt x="2040" y="74358"/>
                </a:lnTo>
                <a:cubicBezTo>
                  <a:pt x="-673" y="71645"/>
                  <a:pt x="-673" y="67239"/>
                  <a:pt x="2040" y="64526"/>
                </a:cubicBezTo>
                <a:cubicBezTo>
                  <a:pt x="4753" y="61813"/>
                  <a:pt x="9159" y="61813"/>
                  <a:pt x="11872" y="64526"/>
                </a:cubicBezTo>
                <a:lnTo>
                  <a:pt x="33902" y="86556"/>
                </a:lnTo>
                <a:lnTo>
                  <a:pt x="84689" y="16734"/>
                </a:lnTo>
                <a:cubicBezTo>
                  <a:pt x="86947" y="13630"/>
                  <a:pt x="91287" y="12936"/>
                  <a:pt x="94391" y="15193"/>
                </a:cubicBezTo>
                <a:close/>
              </a:path>
            </a:pathLst>
          </a:custGeom>
          <a:solidFill>
            <a:srgbClr val="D4A373"/>
          </a:solidFill>
          <a:ln/>
        </p:spPr>
      </p:sp>
      <p:sp>
        <p:nvSpPr>
          <p:cNvPr id="43" name="Text 41"/>
          <p:cNvSpPr/>
          <p:nvPr/>
        </p:nvSpPr>
        <p:spPr>
          <a:xfrm>
            <a:off x="8480624" y="2647850"/>
            <a:ext cx="1254125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9A959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Pre-trained on ImageNet</a:t>
            </a:r>
            <a:endParaRPr lang="en-US" sz="1600" dirty="0"/>
          </a:p>
        </p:txBody>
      </p:sp>
      <p:sp>
        <p:nvSpPr>
          <p:cNvPr id="44" name="Shape 42"/>
          <p:cNvSpPr/>
          <p:nvPr/>
        </p:nvSpPr>
        <p:spPr>
          <a:xfrm>
            <a:off x="8301038" y="2893913"/>
            <a:ext cx="97234" cy="111125"/>
          </a:xfrm>
          <a:custGeom>
            <a:avLst/>
            <a:gdLst/>
            <a:ahLst/>
            <a:cxnLst/>
            <a:rect l="l" t="t" r="r" b="b"/>
            <a:pathLst>
              <a:path w="97234" h="111125">
                <a:moveTo>
                  <a:pt x="94369" y="15215"/>
                </a:moveTo>
                <a:cubicBezTo>
                  <a:pt x="97473" y="17472"/>
                  <a:pt x="98168" y="21813"/>
                  <a:pt x="95910" y="24916"/>
                </a:cubicBezTo>
                <a:lnTo>
                  <a:pt x="40348" y="101315"/>
                </a:lnTo>
                <a:cubicBezTo>
                  <a:pt x="39154" y="102964"/>
                  <a:pt x="37309" y="103984"/>
                  <a:pt x="35269" y="104158"/>
                </a:cubicBezTo>
                <a:cubicBezTo>
                  <a:pt x="33229" y="104332"/>
                  <a:pt x="31254" y="103572"/>
                  <a:pt x="29821" y="102140"/>
                </a:cubicBezTo>
                <a:lnTo>
                  <a:pt x="2040" y="74358"/>
                </a:lnTo>
                <a:cubicBezTo>
                  <a:pt x="-673" y="71645"/>
                  <a:pt x="-673" y="67239"/>
                  <a:pt x="2040" y="64526"/>
                </a:cubicBezTo>
                <a:cubicBezTo>
                  <a:pt x="4753" y="61813"/>
                  <a:pt x="9159" y="61813"/>
                  <a:pt x="11872" y="64526"/>
                </a:cubicBezTo>
                <a:lnTo>
                  <a:pt x="33902" y="86556"/>
                </a:lnTo>
                <a:lnTo>
                  <a:pt x="84689" y="16734"/>
                </a:lnTo>
                <a:cubicBezTo>
                  <a:pt x="86947" y="13630"/>
                  <a:pt x="91287" y="12936"/>
                  <a:pt x="94391" y="15193"/>
                </a:cubicBezTo>
                <a:close/>
              </a:path>
            </a:pathLst>
          </a:custGeom>
          <a:solidFill>
            <a:srgbClr val="D4A373"/>
          </a:solidFill>
          <a:ln/>
        </p:spPr>
      </p:sp>
      <p:sp>
        <p:nvSpPr>
          <p:cNvPr id="45" name="Text 43"/>
          <p:cNvSpPr/>
          <p:nvPr/>
        </p:nvSpPr>
        <p:spPr>
          <a:xfrm>
            <a:off x="8480624" y="2870100"/>
            <a:ext cx="1309688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9A959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State-of-the-art accuracy</a:t>
            </a:r>
            <a:endParaRPr lang="en-US" sz="1600" dirty="0"/>
          </a:p>
        </p:txBody>
      </p:sp>
      <p:sp>
        <p:nvSpPr>
          <p:cNvPr id="46" name="Shape 44"/>
          <p:cNvSpPr/>
          <p:nvPr/>
        </p:nvSpPr>
        <p:spPr>
          <a:xfrm>
            <a:off x="333375" y="3327301"/>
            <a:ext cx="3754438" cy="1698625"/>
          </a:xfrm>
          <a:custGeom>
            <a:avLst/>
            <a:gdLst/>
            <a:ahLst/>
            <a:cxnLst/>
            <a:rect l="l" t="t" r="r" b="b"/>
            <a:pathLst>
              <a:path w="3754438" h="1698625">
                <a:moveTo>
                  <a:pt x="31750" y="0"/>
                </a:moveTo>
                <a:lnTo>
                  <a:pt x="3691001" y="0"/>
                </a:lnTo>
                <a:cubicBezTo>
                  <a:pt x="3726048" y="0"/>
                  <a:pt x="3754501" y="28453"/>
                  <a:pt x="3754501" y="63500"/>
                </a:cubicBezTo>
                <a:lnTo>
                  <a:pt x="3754501" y="1635125"/>
                </a:lnTo>
                <a:cubicBezTo>
                  <a:pt x="3754501" y="1670172"/>
                  <a:pt x="3726048" y="1698625"/>
                  <a:pt x="3691001" y="1698625"/>
                </a:cubicBezTo>
                <a:lnTo>
                  <a:pt x="31750" y="1698625"/>
                </a:lnTo>
                <a:cubicBezTo>
                  <a:pt x="14227" y="1698625"/>
                  <a:pt x="0" y="1684398"/>
                  <a:pt x="0" y="1666875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gradFill rotWithShape="1" flip="none">
            <a:gsLst>
              <a:gs pos="0">
                <a:srgbClr val="5F737C">
                  <a:alpha val="30000"/>
                </a:srgbClr>
              </a:gs>
              <a:gs pos="100000">
                <a:srgbClr val="4A5C6A">
                  <a:alpha val="20000"/>
                </a:srgbClr>
              </a:gs>
            </a:gsLst>
            <a:lin ang="2700000" scaled="1"/>
          </a:gradFill>
          <a:ln/>
        </p:spPr>
      </p:sp>
      <p:sp>
        <p:nvSpPr>
          <p:cNvPr id="47" name="Shape 45"/>
          <p:cNvSpPr/>
          <p:nvPr/>
        </p:nvSpPr>
        <p:spPr>
          <a:xfrm>
            <a:off x="333375" y="3327301"/>
            <a:ext cx="31750" cy="1698625"/>
          </a:xfrm>
          <a:custGeom>
            <a:avLst/>
            <a:gdLst/>
            <a:ahLst/>
            <a:cxnLst/>
            <a:rect l="l" t="t" r="r" b="b"/>
            <a:pathLst>
              <a:path w="31750" h="1698625">
                <a:moveTo>
                  <a:pt x="31750" y="0"/>
                </a:moveTo>
                <a:lnTo>
                  <a:pt x="31750" y="0"/>
                </a:lnTo>
                <a:lnTo>
                  <a:pt x="31750" y="1698625"/>
                </a:lnTo>
                <a:lnTo>
                  <a:pt x="31750" y="1698625"/>
                </a:lnTo>
                <a:cubicBezTo>
                  <a:pt x="14227" y="1698625"/>
                  <a:pt x="0" y="1684398"/>
                  <a:pt x="0" y="1666875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5F737C"/>
          </a:solidFill>
          <a:ln/>
        </p:spPr>
      </p:sp>
      <p:sp>
        <p:nvSpPr>
          <p:cNvPr id="48" name="Shape 46"/>
          <p:cNvSpPr/>
          <p:nvPr/>
        </p:nvSpPr>
        <p:spPr>
          <a:xfrm>
            <a:off x="539750" y="3486051"/>
            <a:ext cx="238125" cy="238125"/>
          </a:xfrm>
          <a:custGeom>
            <a:avLst/>
            <a:gdLst/>
            <a:ahLst/>
            <a:cxnLst/>
            <a:rect l="l" t="t" r="r" b="b"/>
            <a:pathLst>
              <a:path w="238125" h="238125">
                <a:moveTo>
                  <a:pt x="119062" y="238125"/>
                </a:moveTo>
                <a:cubicBezTo>
                  <a:pt x="184775" y="238125"/>
                  <a:pt x="238125" y="184775"/>
                  <a:pt x="238125" y="119062"/>
                </a:cubicBezTo>
                <a:cubicBezTo>
                  <a:pt x="238125" y="53350"/>
                  <a:pt x="184775" y="0"/>
                  <a:pt x="119062" y="0"/>
                </a:cubicBezTo>
                <a:cubicBezTo>
                  <a:pt x="53350" y="0"/>
                  <a:pt x="0" y="53350"/>
                  <a:pt x="0" y="119062"/>
                </a:cubicBezTo>
                <a:cubicBezTo>
                  <a:pt x="0" y="184775"/>
                  <a:pt x="53350" y="238125"/>
                  <a:pt x="119062" y="238125"/>
                </a:cubicBezTo>
                <a:close/>
                <a:moveTo>
                  <a:pt x="76926" y="149712"/>
                </a:moveTo>
                <a:cubicBezTo>
                  <a:pt x="86413" y="162734"/>
                  <a:pt x="101761" y="171152"/>
                  <a:pt x="119062" y="171152"/>
                </a:cubicBezTo>
                <a:cubicBezTo>
                  <a:pt x="136364" y="171152"/>
                  <a:pt x="151712" y="162734"/>
                  <a:pt x="161199" y="149712"/>
                </a:cubicBezTo>
                <a:cubicBezTo>
                  <a:pt x="164827" y="144735"/>
                  <a:pt x="171803" y="143619"/>
                  <a:pt x="176780" y="147247"/>
                </a:cubicBezTo>
                <a:cubicBezTo>
                  <a:pt x="181756" y="150875"/>
                  <a:pt x="182873" y="157851"/>
                  <a:pt x="179245" y="162827"/>
                </a:cubicBezTo>
                <a:cubicBezTo>
                  <a:pt x="165711" y="181384"/>
                  <a:pt x="143805" y="193477"/>
                  <a:pt x="119062" y="193477"/>
                </a:cubicBezTo>
                <a:cubicBezTo>
                  <a:pt x="94320" y="193477"/>
                  <a:pt x="72414" y="181384"/>
                  <a:pt x="58880" y="162827"/>
                </a:cubicBezTo>
                <a:cubicBezTo>
                  <a:pt x="55252" y="157851"/>
                  <a:pt x="56369" y="150875"/>
                  <a:pt x="61345" y="147247"/>
                </a:cubicBezTo>
                <a:cubicBezTo>
                  <a:pt x="66322" y="143619"/>
                  <a:pt x="73298" y="144735"/>
                  <a:pt x="76926" y="149712"/>
                </a:cubicBezTo>
                <a:close/>
                <a:moveTo>
                  <a:pt x="66973" y="96738"/>
                </a:moveTo>
                <a:cubicBezTo>
                  <a:pt x="66973" y="88524"/>
                  <a:pt x="73641" y="81855"/>
                  <a:pt x="81855" y="81855"/>
                </a:cubicBezTo>
                <a:cubicBezTo>
                  <a:pt x="90070" y="81855"/>
                  <a:pt x="96738" y="88524"/>
                  <a:pt x="96738" y="96738"/>
                </a:cubicBezTo>
                <a:cubicBezTo>
                  <a:pt x="96738" y="104952"/>
                  <a:pt x="90070" y="111621"/>
                  <a:pt x="81855" y="111621"/>
                </a:cubicBezTo>
                <a:cubicBezTo>
                  <a:pt x="73641" y="111621"/>
                  <a:pt x="66973" y="104952"/>
                  <a:pt x="66973" y="96738"/>
                </a:cubicBezTo>
                <a:close/>
                <a:moveTo>
                  <a:pt x="156270" y="81855"/>
                </a:moveTo>
                <a:cubicBezTo>
                  <a:pt x="164484" y="81855"/>
                  <a:pt x="171152" y="88524"/>
                  <a:pt x="171152" y="96738"/>
                </a:cubicBezTo>
                <a:cubicBezTo>
                  <a:pt x="171152" y="104952"/>
                  <a:pt x="164484" y="111621"/>
                  <a:pt x="156270" y="111621"/>
                </a:cubicBezTo>
                <a:cubicBezTo>
                  <a:pt x="148055" y="111621"/>
                  <a:pt x="141387" y="104952"/>
                  <a:pt x="141387" y="96738"/>
                </a:cubicBezTo>
                <a:cubicBezTo>
                  <a:pt x="141387" y="88524"/>
                  <a:pt x="148055" y="81855"/>
                  <a:pt x="156270" y="81855"/>
                </a:cubicBezTo>
                <a:close/>
              </a:path>
            </a:pathLst>
          </a:custGeom>
          <a:solidFill>
            <a:srgbClr val="5F737C"/>
          </a:solidFill>
          <a:ln/>
        </p:spPr>
      </p:sp>
      <p:sp>
        <p:nvSpPr>
          <p:cNvPr id="49" name="Text 47"/>
          <p:cNvSpPr/>
          <p:nvPr/>
        </p:nvSpPr>
        <p:spPr>
          <a:xfrm>
            <a:off x="900906" y="3493988"/>
            <a:ext cx="1135063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50" b="1" dirty="0">
                <a:solidFill>
                  <a:srgbClr val="F0F2F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Face Detection</a:t>
            </a:r>
            <a:endParaRPr lang="en-US" sz="1600" dirty="0"/>
          </a:p>
        </p:txBody>
      </p:sp>
      <p:sp>
        <p:nvSpPr>
          <p:cNvPr id="50" name="Shape 48"/>
          <p:cNvSpPr/>
          <p:nvPr/>
        </p:nvSpPr>
        <p:spPr>
          <a:xfrm>
            <a:off x="508000" y="3851176"/>
            <a:ext cx="3421063" cy="571500"/>
          </a:xfrm>
          <a:prstGeom prst="roundRect">
            <a:avLst>
              <a:gd name="adj" fmla="val 11111"/>
            </a:avLst>
          </a:prstGeom>
          <a:solidFill>
            <a:srgbClr val="1A1D21">
              <a:alpha val="60000"/>
            </a:srgbClr>
          </a:solidFill>
          <a:ln/>
        </p:spPr>
      </p:sp>
      <p:sp>
        <p:nvSpPr>
          <p:cNvPr id="51" name="Text 49"/>
          <p:cNvSpPr/>
          <p:nvPr/>
        </p:nvSpPr>
        <p:spPr>
          <a:xfrm>
            <a:off x="603250" y="3946426"/>
            <a:ext cx="3302000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5" b="1" dirty="0">
                <a:solidFill>
                  <a:srgbClr val="F0F2F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MTCNN</a:t>
            </a:r>
            <a:endParaRPr lang="en-US" sz="1600" dirty="0"/>
          </a:p>
        </p:txBody>
      </p:sp>
      <p:sp>
        <p:nvSpPr>
          <p:cNvPr id="52" name="Text 50"/>
          <p:cNvSpPr/>
          <p:nvPr/>
        </p:nvSpPr>
        <p:spPr>
          <a:xfrm>
            <a:off x="603250" y="4168676"/>
            <a:ext cx="3286125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9A959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Multi-task Cascaded CNN</a:t>
            </a:r>
            <a:endParaRPr lang="en-US" sz="1600" dirty="0"/>
          </a:p>
        </p:txBody>
      </p:sp>
      <p:sp>
        <p:nvSpPr>
          <p:cNvPr id="53" name="Shape 51"/>
          <p:cNvSpPr/>
          <p:nvPr/>
        </p:nvSpPr>
        <p:spPr>
          <a:xfrm>
            <a:off x="530820" y="4541738"/>
            <a:ext cx="97234" cy="111125"/>
          </a:xfrm>
          <a:custGeom>
            <a:avLst/>
            <a:gdLst/>
            <a:ahLst/>
            <a:cxnLst/>
            <a:rect l="l" t="t" r="r" b="b"/>
            <a:pathLst>
              <a:path w="97234" h="111125">
                <a:moveTo>
                  <a:pt x="94369" y="15215"/>
                </a:moveTo>
                <a:cubicBezTo>
                  <a:pt x="97473" y="17472"/>
                  <a:pt x="98168" y="21813"/>
                  <a:pt x="95910" y="24916"/>
                </a:cubicBezTo>
                <a:lnTo>
                  <a:pt x="40348" y="101315"/>
                </a:lnTo>
                <a:cubicBezTo>
                  <a:pt x="39154" y="102964"/>
                  <a:pt x="37309" y="103984"/>
                  <a:pt x="35269" y="104158"/>
                </a:cubicBezTo>
                <a:cubicBezTo>
                  <a:pt x="33229" y="104332"/>
                  <a:pt x="31254" y="103572"/>
                  <a:pt x="29821" y="102140"/>
                </a:cubicBezTo>
                <a:lnTo>
                  <a:pt x="2040" y="74358"/>
                </a:lnTo>
                <a:cubicBezTo>
                  <a:pt x="-673" y="71645"/>
                  <a:pt x="-673" y="67239"/>
                  <a:pt x="2040" y="64526"/>
                </a:cubicBezTo>
                <a:cubicBezTo>
                  <a:pt x="4753" y="61813"/>
                  <a:pt x="9159" y="61813"/>
                  <a:pt x="11872" y="64526"/>
                </a:cubicBezTo>
                <a:lnTo>
                  <a:pt x="33902" y="86556"/>
                </a:lnTo>
                <a:lnTo>
                  <a:pt x="84689" y="16734"/>
                </a:lnTo>
                <a:cubicBezTo>
                  <a:pt x="86947" y="13630"/>
                  <a:pt x="91287" y="12936"/>
                  <a:pt x="94391" y="15193"/>
                </a:cubicBezTo>
                <a:close/>
              </a:path>
            </a:pathLst>
          </a:custGeom>
          <a:solidFill>
            <a:srgbClr val="5F737C"/>
          </a:solidFill>
          <a:ln/>
        </p:spPr>
      </p:sp>
      <p:sp>
        <p:nvSpPr>
          <p:cNvPr id="54" name="Text 52"/>
          <p:cNvSpPr/>
          <p:nvPr/>
        </p:nvSpPr>
        <p:spPr>
          <a:xfrm>
            <a:off x="710406" y="4517926"/>
            <a:ext cx="1016000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9A959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Real-time detection</a:t>
            </a:r>
            <a:endParaRPr lang="en-US" sz="1600" dirty="0"/>
          </a:p>
        </p:txBody>
      </p:sp>
      <p:sp>
        <p:nvSpPr>
          <p:cNvPr id="55" name="Shape 53"/>
          <p:cNvSpPr/>
          <p:nvPr/>
        </p:nvSpPr>
        <p:spPr>
          <a:xfrm>
            <a:off x="530820" y="4732238"/>
            <a:ext cx="97234" cy="111125"/>
          </a:xfrm>
          <a:custGeom>
            <a:avLst/>
            <a:gdLst/>
            <a:ahLst/>
            <a:cxnLst/>
            <a:rect l="l" t="t" r="r" b="b"/>
            <a:pathLst>
              <a:path w="97234" h="111125">
                <a:moveTo>
                  <a:pt x="94369" y="15215"/>
                </a:moveTo>
                <a:cubicBezTo>
                  <a:pt x="97473" y="17472"/>
                  <a:pt x="98168" y="21813"/>
                  <a:pt x="95910" y="24916"/>
                </a:cubicBezTo>
                <a:lnTo>
                  <a:pt x="40348" y="101315"/>
                </a:lnTo>
                <a:cubicBezTo>
                  <a:pt x="39154" y="102964"/>
                  <a:pt x="37309" y="103984"/>
                  <a:pt x="35269" y="104158"/>
                </a:cubicBezTo>
                <a:cubicBezTo>
                  <a:pt x="33229" y="104332"/>
                  <a:pt x="31254" y="103572"/>
                  <a:pt x="29821" y="102140"/>
                </a:cubicBezTo>
                <a:lnTo>
                  <a:pt x="2040" y="74358"/>
                </a:lnTo>
                <a:cubicBezTo>
                  <a:pt x="-673" y="71645"/>
                  <a:pt x="-673" y="67239"/>
                  <a:pt x="2040" y="64526"/>
                </a:cubicBezTo>
                <a:cubicBezTo>
                  <a:pt x="4753" y="61813"/>
                  <a:pt x="9159" y="61813"/>
                  <a:pt x="11872" y="64526"/>
                </a:cubicBezTo>
                <a:lnTo>
                  <a:pt x="33902" y="86556"/>
                </a:lnTo>
                <a:lnTo>
                  <a:pt x="84689" y="16734"/>
                </a:lnTo>
                <a:cubicBezTo>
                  <a:pt x="86947" y="13630"/>
                  <a:pt x="91287" y="12936"/>
                  <a:pt x="94391" y="15193"/>
                </a:cubicBezTo>
                <a:close/>
              </a:path>
            </a:pathLst>
          </a:custGeom>
          <a:solidFill>
            <a:srgbClr val="5F737C"/>
          </a:solidFill>
          <a:ln/>
        </p:spPr>
      </p:sp>
      <p:sp>
        <p:nvSpPr>
          <p:cNvPr id="56" name="Text 54"/>
          <p:cNvSpPr/>
          <p:nvPr/>
        </p:nvSpPr>
        <p:spPr>
          <a:xfrm>
            <a:off x="710406" y="4708426"/>
            <a:ext cx="754063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9A959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High accuracy</a:t>
            </a:r>
            <a:endParaRPr lang="en-US" sz="1600" dirty="0"/>
          </a:p>
        </p:txBody>
      </p:sp>
      <p:sp>
        <p:nvSpPr>
          <p:cNvPr id="57" name="Shape 55"/>
          <p:cNvSpPr/>
          <p:nvPr/>
        </p:nvSpPr>
        <p:spPr>
          <a:xfrm>
            <a:off x="4228009" y="3327301"/>
            <a:ext cx="3754438" cy="1698625"/>
          </a:xfrm>
          <a:custGeom>
            <a:avLst/>
            <a:gdLst/>
            <a:ahLst/>
            <a:cxnLst/>
            <a:rect l="l" t="t" r="r" b="b"/>
            <a:pathLst>
              <a:path w="3754438" h="1698625">
                <a:moveTo>
                  <a:pt x="31750" y="0"/>
                </a:moveTo>
                <a:lnTo>
                  <a:pt x="3691001" y="0"/>
                </a:lnTo>
                <a:cubicBezTo>
                  <a:pt x="3726048" y="0"/>
                  <a:pt x="3754501" y="28453"/>
                  <a:pt x="3754501" y="63500"/>
                </a:cubicBezTo>
                <a:lnTo>
                  <a:pt x="3754501" y="1635125"/>
                </a:lnTo>
                <a:cubicBezTo>
                  <a:pt x="3754501" y="1670172"/>
                  <a:pt x="3726048" y="1698625"/>
                  <a:pt x="3691001" y="1698625"/>
                </a:cubicBezTo>
                <a:lnTo>
                  <a:pt x="31750" y="1698625"/>
                </a:lnTo>
                <a:cubicBezTo>
                  <a:pt x="14227" y="1698625"/>
                  <a:pt x="0" y="1684398"/>
                  <a:pt x="0" y="1666875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gradFill rotWithShape="1" flip="none">
            <a:gsLst>
              <a:gs pos="0">
                <a:srgbClr val="5F737C">
                  <a:alpha val="30000"/>
                </a:srgbClr>
              </a:gs>
              <a:gs pos="100000">
                <a:srgbClr val="4A5C6A">
                  <a:alpha val="20000"/>
                </a:srgbClr>
              </a:gs>
            </a:gsLst>
            <a:lin ang="2700000" scaled="1"/>
          </a:gradFill>
          <a:ln/>
        </p:spPr>
      </p:sp>
      <p:sp>
        <p:nvSpPr>
          <p:cNvPr id="58" name="Shape 56"/>
          <p:cNvSpPr/>
          <p:nvPr/>
        </p:nvSpPr>
        <p:spPr>
          <a:xfrm>
            <a:off x="4228009" y="3327301"/>
            <a:ext cx="31750" cy="1698625"/>
          </a:xfrm>
          <a:custGeom>
            <a:avLst/>
            <a:gdLst/>
            <a:ahLst/>
            <a:cxnLst/>
            <a:rect l="l" t="t" r="r" b="b"/>
            <a:pathLst>
              <a:path w="31750" h="1698625">
                <a:moveTo>
                  <a:pt x="31750" y="0"/>
                </a:moveTo>
                <a:lnTo>
                  <a:pt x="31750" y="0"/>
                </a:lnTo>
                <a:lnTo>
                  <a:pt x="31750" y="1698625"/>
                </a:lnTo>
                <a:lnTo>
                  <a:pt x="31750" y="1698625"/>
                </a:lnTo>
                <a:cubicBezTo>
                  <a:pt x="14227" y="1698625"/>
                  <a:pt x="0" y="1684398"/>
                  <a:pt x="0" y="1666875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5F737C"/>
          </a:solidFill>
          <a:ln/>
        </p:spPr>
      </p:sp>
      <p:sp>
        <p:nvSpPr>
          <p:cNvPr id="59" name="Shape 57"/>
          <p:cNvSpPr/>
          <p:nvPr/>
        </p:nvSpPr>
        <p:spPr>
          <a:xfrm>
            <a:off x="4434384" y="3486051"/>
            <a:ext cx="238125" cy="238125"/>
          </a:xfrm>
          <a:custGeom>
            <a:avLst/>
            <a:gdLst/>
            <a:ahLst/>
            <a:cxnLst/>
            <a:rect l="l" t="t" r="r" b="b"/>
            <a:pathLst>
              <a:path w="238125" h="238125">
                <a:moveTo>
                  <a:pt x="119062" y="50183"/>
                </a:moveTo>
                <a:lnTo>
                  <a:pt x="112086" y="40509"/>
                </a:lnTo>
                <a:cubicBezTo>
                  <a:pt x="100459" y="24417"/>
                  <a:pt x="81809" y="14883"/>
                  <a:pt x="61903" y="14883"/>
                </a:cubicBezTo>
                <a:cubicBezTo>
                  <a:pt x="27719" y="14883"/>
                  <a:pt x="0" y="42602"/>
                  <a:pt x="0" y="76786"/>
                </a:cubicBezTo>
                <a:lnTo>
                  <a:pt x="0" y="77995"/>
                </a:lnTo>
                <a:cubicBezTo>
                  <a:pt x="0" y="88971"/>
                  <a:pt x="2884" y="100319"/>
                  <a:pt x="7720" y="111621"/>
                </a:cubicBezTo>
                <a:lnTo>
                  <a:pt x="57020" y="111621"/>
                </a:lnTo>
                <a:cubicBezTo>
                  <a:pt x="58508" y="111621"/>
                  <a:pt x="59857" y="110737"/>
                  <a:pt x="60461" y="109342"/>
                </a:cubicBezTo>
                <a:lnTo>
                  <a:pt x="75251" y="73856"/>
                </a:lnTo>
                <a:cubicBezTo>
                  <a:pt x="76972" y="69763"/>
                  <a:pt x="80972" y="67066"/>
                  <a:pt x="85390" y="66973"/>
                </a:cubicBezTo>
                <a:cubicBezTo>
                  <a:pt x="89808" y="66880"/>
                  <a:pt x="93901" y="69484"/>
                  <a:pt x="95715" y="73530"/>
                </a:cubicBezTo>
                <a:lnTo>
                  <a:pt x="119574" y="126504"/>
                </a:lnTo>
                <a:lnTo>
                  <a:pt x="138829" y="87995"/>
                </a:lnTo>
                <a:cubicBezTo>
                  <a:pt x="140736" y="84227"/>
                  <a:pt x="144596" y="81809"/>
                  <a:pt x="148828" y="81809"/>
                </a:cubicBezTo>
                <a:cubicBezTo>
                  <a:pt x="153060" y="81809"/>
                  <a:pt x="156921" y="84181"/>
                  <a:pt x="158828" y="87995"/>
                </a:cubicBezTo>
                <a:lnTo>
                  <a:pt x="169618" y="109528"/>
                </a:lnTo>
                <a:cubicBezTo>
                  <a:pt x="170269" y="110784"/>
                  <a:pt x="171524" y="111575"/>
                  <a:pt x="172966" y="111575"/>
                </a:cubicBezTo>
                <a:lnTo>
                  <a:pt x="230451" y="111575"/>
                </a:lnTo>
                <a:cubicBezTo>
                  <a:pt x="235334" y="100273"/>
                  <a:pt x="238172" y="88925"/>
                  <a:pt x="238172" y="77949"/>
                </a:cubicBezTo>
                <a:lnTo>
                  <a:pt x="238172" y="76740"/>
                </a:lnTo>
                <a:cubicBezTo>
                  <a:pt x="238125" y="42602"/>
                  <a:pt x="210406" y="14883"/>
                  <a:pt x="176222" y="14883"/>
                </a:cubicBezTo>
                <a:cubicBezTo>
                  <a:pt x="156363" y="14883"/>
                  <a:pt x="137666" y="24417"/>
                  <a:pt x="126039" y="40509"/>
                </a:cubicBezTo>
                <a:lnTo>
                  <a:pt x="119062" y="50136"/>
                </a:lnTo>
                <a:close/>
                <a:moveTo>
                  <a:pt x="218405" y="133945"/>
                </a:moveTo>
                <a:lnTo>
                  <a:pt x="172920" y="133945"/>
                </a:lnTo>
                <a:cubicBezTo>
                  <a:pt x="163060" y="133945"/>
                  <a:pt x="154037" y="128364"/>
                  <a:pt x="149619" y="119528"/>
                </a:cubicBezTo>
                <a:lnTo>
                  <a:pt x="148828" y="117946"/>
                </a:lnTo>
                <a:lnTo>
                  <a:pt x="129062" y="157525"/>
                </a:lnTo>
                <a:cubicBezTo>
                  <a:pt x="127155" y="161385"/>
                  <a:pt x="123155" y="163804"/>
                  <a:pt x="118830" y="163711"/>
                </a:cubicBezTo>
                <a:cubicBezTo>
                  <a:pt x="114505" y="163618"/>
                  <a:pt x="110644" y="161060"/>
                  <a:pt x="108877" y="157153"/>
                </a:cubicBezTo>
                <a:lnTo>
                  <a:pt x="85948" y="106226"/>
                </a:lnTo>
                <a:lnTo>
                  <a:pt x="81065" y="117946"/>
                </a:lnTo>
                <a:cubicBezTo>
                  <a:pt x="77019" y="127667"/>
                  <a:pt x="67531" y="133992"/>
                  <a:pt x="57020" y="133992"/>
                </a:cubicBezTo>
                <a:lnTo>
                  <a:pt x="19720" y="133992"/>
                </a:lnTo>
                <a:cubicBezTo>
                  <a:pt x="41672" y="168315"/>
                  <a:pt x="76926" y="199895"/>
                  <a:pt x="98971" y="216731"/>
                </a:cubicBezTo>
                <a:cubicBezTo>
                  <a:pt x="104738" y="221103"/>
                  <a:pt x="111807" y="223289"/>
                  <a:pt x="119016" y="223289"/>
                </a:cubicBezTo>
                <a:cubicBezTo>
                  <a:pt x="126225" y="223289"/>
                  <a:pt x="133341" y="221149"/>
                  <a:pt x="139061" y="216731"/>
                </a:cubicBezTo>
                <a:cubicBezTo>
                  <a:pt x="161199" y="199848"/>
                  <a:pt x="196453" y="168269"/>
                  <a:pt x="218405" y="133945"/>
                </a:cubicBezTo>
                <a:close/>
              </a:path>
            </a:pathLst>
          </a:custGeom>
          <a:solidFill>
            <a:srgbClr val="5F737C"/>
          </a:solidFill>
          <a:ln/>
        </p:spPr>
      </p:sp>
      <p:sp>
        <p:nvSpPr>
          <p:cNvPr id="60" name="Text 58"/>
          <p:cNvSpPr/>
          <p:nvPr/>
        </p:nvSpPr>
        <p:spPr>
          <a:xfrm>
            <a:off x="4795540" y="3493988"/>
            <a:ext cx="666750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50" b="1" dirty="0">
                <a:solidFill>
                  <a:srgbClr val="F0F2F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Emotion</a:t>
            </a:r>
            <a:endParaRPr lang="en-US" sz="1600" dirty="0"/>
          </a:p>
        </p:txBody>
      </p:sp>
      <p:sp>
        <p:nvSpPr>
          <p:cNvPr id="61" name="Shape 59"/>
          <p:cNvSpPr/>
          <p:nvPr/>
        </p:nvSpPr>
        <p:spPr>
          <a:xfrm>
            <a:off x="4402634" y="3851176"/>
            <a:ext cx="3421063" cy="571500"/>
          </a:xfrm>
          <a:prstGeom prst="roundRect">
            <a:avLst>
              <a:gd name="adj" fmla="val 11111"/>
            </a:avLst>
          </a:prstGeom>
          <a:solidFill>
            <a:srgbClr val="1A1D21">
              <a:alpha val="60000"/>
            </a:srgbClr>
          </a:solidFill>
          <a:ln/>
        </p:spPr>
      </p:sp>
      <p:sp>
        <p:nvSpPr>
          <p:cNvPr id="62" name="Text 60"/>
          <p:cNvSpPr/>
          <p:nvPr/>
        </p:nvSpPr>
        <p:spPr>
          <a:xfrm>
            <a:off x="4497884" y="3946426"/>
            <a:ext cx="3302000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5" b="1" dirty="0">
                <a:solidFill>
                  <a:srgbClr val="F0F2F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FER</a:t>
            </a:r>
            <a:endParaRPr lang="en-US" sz="1600" dirty="0"/>
          </a:p>
        </p:txBody>
      </p:sp>
      <p:sp>
        <p:nvSpPr>
          <p:cNvPr id="63" name="Text 61"/>
          <p:cNvSpPr/>
          <p:nvPr/>
        </p:nvSpPr>
        <p:spPr>
          <a:xfrm>
            <a:off x="4497884" y="4168676"/>
            <a:ext cx="3286125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9A959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TensorFlow/Keras backend</a:t>
            </a:r>
            <a:endParaRPr lang="en-US" sz="1600" dirty="0"/>
          </a:p>
        </p:txBody>
      </p:sp>
      <p:sp>
        <p:nvSpPr>
          <p:cNvPr id="64" name="Shape 62"/>
          <p:cNvSpPr/>
          <p:nvPr/>
        </p:nvSpPr>
        <p:spPr>
          <a:xfrm>
            <a:off x="4425454" y="4541738"/>
            <a:ext cx="97234" cy="111125"/>
          </a:xfrm>
          <a:custGeom>
            <a:avLst/>
            <a:gdLst/>
            <a:ahLst/>
            <a:cxnLst/>
            <a:rect l="l" t="t" r="r" b="b"/>
            <a:pathLst>
              <a:path w="97234" h="111125">
                <a:moveTo>
                  <a:pt x="94369" y="15215"/>
                </a:moveTo>
                <a:cubicBezTo>
                  <a:pt x="97473" y="17472"/>
                  <a:pt x="98168" y="21813"/>
                  <a:pt x="95910" y="24916"/>
                </a:cubicBezTo>
                <a:lnTo>
                  <a:pt x="40348" y="101315"/>
                </a:lnTo>
                <a:cubicBezTo>
                  <a:pt x="39154" y="102964"/>
                  <a:pt x="37309" y="103984"/>
                  <a:pt x="35269" y="104158"/>
                </a:cubicBezTo>
                <a:cubicBezTo>
                  <a:pt x="33229" y="104332"/>
                  <a:pt x="31254" y="103572"/>
                  <a:pt x="29821" y="102140"/>
                </a:cubicBezTo>
                <a:lnTo>
                  <a:pt x="2040" y="74358"/>
                </a:lnTo>
                <a:cubicBezTo>
                  <a:pt x="-673" y="71645"/>
                  <a:pt x="-673" y="67239"/>
                  <a:pt x="2040" y="64526"/>
                </a:cubicBezTo>
                <a:cubicBezTo>
                  <a:pt x="4753" y="61813"/>
                  <a:pt x="9159" y="61813"/>
                  <a:pt x="11872" y="64526"/>
                </a:cubicBezTo>
                <a:lnTo>
                  <a:pt x="33902" y="86556"/>
                </a:lnTo>
                <a:lnTo>
                  <a:pt x="84689" y="16734"/>
                </a:lnTo>
                <a:cubicBezTo>
                  <a:pt x="86947" y="13630"/>
                  <a:pt x="91287" y="12936"/>
                  <a:pt x="94391" y="15193"/>
                </a:cubicBezTo>
                <a:close/>
              </a:path>
            </a:pathLst>
          </a:custGeom>
          <a:solidFill>
            <a:srgbClr val="5F737C"/>
          </a:solidFill>
          <a:ln/>
        </p:spPr>
      </p:sp>
      <p:sp>
        <p:nvSpPr>
          <p:cNvPr id="65" name="Text 63"/>
          <p:cNvSpPr/>
          <p:nvPr/>
        </p:nvSpPr>
        <p:spPr>
          <a:xfrm>
            <a:off x="4605040" y="4517926"/>
            <a:ext cx="920750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9A959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7 emotion classes</a:t>
            </a:r>
            <a:endParaRPr lang="en-US" sz="1600" dirty="0"/>
          </a:p>
        </p:txBody>
      </p:sp>
      <p:sp>
        <p:nvSpPr>
          <p:cNvPr id="66" name="Shape 64"/>
          <p:cNvSpPr/>
          <p:nvPr/>
        </p:nvSpPr>
        <p:spPr>
          <a:xfrm>
            <a:off x="4425454" y="4732238"/>
            <a:ext cx="97234" cy="111125"/>
          </a:xfrm>
          <a:custGeom>
            <a:avLst/>
            <a:gdLst/>
            <a:ahLst/>
            <a:cxnLst/>
            <a:rect l="l" t="t" r="r" b="b"/>
            <a:pathLst>
              <a:path w="97234" h="111125">
                <a:moveTo>
                  <a:pt x="94369" y="15215"/>
                </a:moveTo>
                <a:cubicBezTo>
                  <a:pt x="97473" y="17472"/>
                  <a:pt x="98168" y="21813"/>
                  <a:pt x="95910" y="24916"/>
                </a:cubicBezTo>
                <a:lnTo>
                  <a:pt x="40348" y="101315"/>
                </a:lnTo>
                <a:cubicBezTo>
                  <a:pt x="39154" y="102964"/>
                  <a:pt x="37309" y="103984"/>
                  <a:pt x="35269" y="104158"/>
                </a:cubicBezTo>
                <a:cubicBezTo>
                  <a:pt x="33229" y="104332"/>
                  <a:pt x="31254" y="103572"/>
                  <a:pt x="29821" y="102140"/>
                </a:cubicBezTo>
                <a:lnTo>
                  <a:pt x="2040" y="74358"/>
                </a:lnTo>
                <a:cubicBezTo>
                  <a:pt x="-673" y="71645"/>
                  <a:pt x="-673" y="67239"/>
                  <a:pt x="2040" y="64526"/>
                </a:cubicBezTo>
                <a:cubicBezTo>
                  <a:pt x="4753" y="61813"/>
                  <a:pt x="9159" y="61813"/>
                  <a:pt x="11872" y="64526"/>
                </a:cubicBezTo>
                <a:lnTo>
                  <a:pt x="33902" y="86556"/>
                </a:lnTo>
                <a:lnTo>
                  <a:pt x="84689" y="16734"/>
                </a:lnTo>
                <a:cubicBezTo>
                  <a:pt x="86947" y="13630"/>
                  <a:pt x="91287" y="12936"/>
                  <a:pt x="94391" y="15193"/>
                </a:cubicBezTo>
                <a:close/>
              </a:path>
            </a:pathLst>
          </a:custGeom>
          <a:solidFill>
            <a:srgbClr val="5F737C"/>
          </a:solidFill>
          <a:ln/>
        </p:spPr>
      </p:sp>
      <p:sp>
        <p:nvSpPr>
          <p:cNvPr id="67" name="Text 65"/>
          <p:cNvSpPr/>
          <p:nvPr/>
        </p:nvSpPr>
        <p:spPr>
          <a:xfrm>
            <a:off x="4605040" y="4708426"/>
            <a:ext cx="944563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9A959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Real-time analysis</a:t>
            </a:r>
            <a:endParaRPr lang="en-US" sz="1600" dirty="0"/>
          </a:p>
        </p:txBody>
      </p:sp>
      <p:sp>
        <p:nvSpPr>
          <p:cNvPr id="68" name="Shape 66"/>
          <p:cNvSpPr/>
          <p:nvPr/>
        </p:nvSpPr>
        <p:spPr>
          <a:xfrm>
            <a:off x="8122642" y="3327301"/>
            <a:ext cx="3754438" cy="1698625"/>
          </a:xfrm>
          <a:custGeom>
            <a:avLst/>
            <a:gdLst/>
            <a:ahLst/>
            <a:cxnLst/>
            <a:rect l="l" t="t" r="r" b="b"/>
            <a:pathLst>
              <a:path w="3754438" h="1698625">
                <a:moveTo>
                  <a:pt x="31750" y="0"/>
                </a:moveTo>
                <a:lnTo>
                  <a:pt x="3691001" y="0"/>
                </a:lnTo>
                <a:cubicBezTo>
                  <a:pt x="3726048" y="0"/>
                  <a:pt x="3754501" y="28453"/>
                  <a:pt x="3754501" y="63500"/>
                </a:cubicBezTo>
                <a:lnTo>
                  <a:pt x="3754501" y="1635125"/>
                </a:lnTo>
                <a:cubicBezTo>
                  <a:pt x="3754501" y="1670172"/>
                  <a:pt x="3726048" y="1698625"/>
                  <a:pt x="3691001" y="1698625"/>
                </a:cubicBezTo>
                <a:lnTo>
                  <a:pt x="31750" y="1698625"/>
                </a:lnTo>
                <a:cubicBezTo>
                  <a:pt x="14227" y="1698625"/>
                  <a:pt x="0" y="1684398"/>
                  <a:pt x="0" y="1666875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gradFill rotWithShape="1" flip="none">
            <a:gsLst>
              <a:gs pos="0">
                <a:srgbClr val="5F737C">
                  <a:alpha val="30000"/>
                </a:srgbClr>
              </a:gs>
              <a:gs pos="100000">
                <a:srgbClr val="4A5C6A">
                  <a:alpha val="20000"/>
                </a:srgbClr>
              </a:gs>
            </a:gsLst>
            <a:lin ang="2700000" scaled="1"/>
          </a:gradFill>
          <a:ln/>
        </p:spPr>
      </p:sp>
      <p:sp>
        <p:nvSpPr>
          <p:cNvPr id="69" name="Shape 67"/>
          <p:cNvSpPr/>
          <p:nvPr/>
        </p:nvSpPr>
        <p:spPr>
          <a:xfrm>
            <a:off x="8122642" y="3327301"/>
            <a:ext cx="31750" cy="1698625"/>
          </a:xfrm>
          <a:custGeom>
            <a:avLst/>
            <a:gdLst/>
            <a:ahLst/>
            <a:cxnLst/>
            <a:rect l="l" t="t" r="r" b="b"/>
            <a:pathLst>
              <a:path w="31750" h="1698625">
                <a:moveTo>
                  <a:pt x="31750" y="0"/>
                </a:moveTo>
                <a:lnTo>
                  <a:pt x="31750" y="0"/>
                </a:lnTo>
                <a:lnTo>
                  <a:pt x="31750" y="1698625"/>
                </a:lnTo>
                <a:lnTo>
                  <a:pt x="31750" y="1698625"/>
                </a:lnTo>
                <a:cubicBezTo>
                  <a:pt x="14227" y="1698625"/>
                  <a:pt x="0" y="1684398"/>
                  <a:pt x="0" y="1666875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5F737C"/>
          </a:solidFill>
          <a:ln/>
        </p:spPr>
      </p:sp>
      <p:sp>
        <p:nvSpPr>
          <p:cNvPr id="70" name="Shape 68"/>
          <p:cNvSpPr/>
          <p:nvPr/>
        </p:nvSpPr>
        <p:spPr>
          <a:xfrm>
            <a:off x="8358783" y="3486051"/>
            <a:ext cx="178594" cy="238125"/>
          </a:xfrm>
          <a:custGeom>
            <a:avLst/>
            <a:gdLst/>
            <a:ahLst/>
            <a:cxnLst/>
            <a:rect l="l" t="t" r="r" b="b"/>
            <a:pathLst>
              <a:path w="178594" h="238125">
                <a:moveTo>
                  <a:pt x="89297" y="0"/>
                </a:moveTo>
                <a:cubicBezTo>
                  <a:pt x="64647" y="0"/>
                  <a:pt x="44648" y="19999"/>
                  <a:pt x="44648" y="44648"/>
                </a:cubicBezTo>
                <a:lnTo>
                  <a:pt x="44648" y="104180"/>
                </a:lnTo>
                <a:cubicBezTo>
                  <a:pt x="44648" y="128829"/>
                  <a:pt x="64647" y="148828"/>
                  <a:pt x="89297" y="148828"/>
                </a:cubicBezTo>
                <a:cubicBezTo>
                  <a:pt x="113947" y="148828"/>
                  <a:pt x="133945" y="128829"/>
                  <a:pt x="133945" y="104180"/>
                </a:cubicBezTo>
                <a:lnTo>
                  <a:pt x="133945" y="44648"/>
                </a:lnTo>
                <a:cubicBezTo>
                  <a:pt x="133945" y="19999"/>
                  <a:pt x="113947" y="0"/>
                  <a:pt x="89297" y="0"/>
                </a:cubicBezTo>
                <a:close/>
                <a:moveTo>
                  <a:pt x="22324" y="85576"/>
                </a:moveTo>
                <a:cubicBezTo>
                  <a:pt x="22324" y="79391"/>
                  <a:pt x="17348" y="74414"/>
                  <a:pt x="11162" y="74414"/>
                </a:cubicBezTo>
                <a:cubicBezTo>
                  <a:pt x="4976" y="74414"/>
                  <a:pt x="0" y="79391"/>
                  <a:pt x="0" y="85576"/>
                </a:cubicBezTo>
                <a:lnTo>
                  <a:pt x="0" y="104180"/>
                </a:lnTo>
                <a:cubicBezTo>
                  <a:pt x="0" y="149712"/>
                  <a:pt x="34091" y="187291"/>
                  <a:pt x="78135" y="192779"/>
                </a:cubicBezTo>
                <a:lnTo>
                  <a:pt x="78135" y="215801"/>
                </a:lnTo>
                <a:lnTo>
                  <a:pt x="55811" y="215801"/>
                </a:lnTo>
                <a:cubicBezTo>
                  <a:pt x="49625" y="215801"/>
                  <a:pt x="44648" y="220777"/>
                  <a:pt x="44648" y="226963"/>
                </a:cubicBezTo>
                <a:cubicBezTo>
                  <a:pt x="44648" y="233149"/>
                  <a:pt x="49625" y="238125"/>
                  <a:pt x="55811" y="238125"/>
                </a:cubicBezTo>
                <a:lnTo>
                  <a:pt x="122783" y="238125"/>
                </a:lnTo>
                <a:cubicBezTo>
                  <a:pt x="128969" y="238125"/>
                  <a:pt x="133945" y="233149"/>
                  <a:pt x="133945" y="226963"/>
                </a:cubicBezTo>
                <a:cubicBezTo>
                  <a:pt x="133945" y="220777"/>
                  <a:pt x="128969" y="215801"/>
                  <a:pt x="122783" y="215801"/>
                </a:cubicBezTo>
                <a:lnTo>
                  <a:pt x="100459" y="215801"/>
                </a:lnTo>
                <a:lnTo>
                  <a:pt x="100459" y="192779"/>
                </a:lnTo>
                <a:cubicBezTo>
                  <a:pt x="144503" y="187291"/>
                  <a:pt x="178594" y="149712"/>
                  <a:pt x="178594" y="104180"/>
                </a:cubicBezTo>
                <a:lnTo>
                  <a:pt x="178594" y="85576"/>
                </a:lnTo>
                <a:cubicBezTo>
                  <a:pt x="178594" y="79391"/>
                  <a:pt x="173617" y="74414"/>
                  <a:pt x="167432" y="74414"/>
                </a:cubicBezTo>
                <a:cubicBezTo>
                  <a:pt x="161246" y="74414"/>
                  <a:pt x="156270" y="79391"/>
                  <a:pt x="156270" y="85576"/>
                </a:cubicBezTo>
                <a:lnTo>
                  <a:pt x="156270" y="104180"/>
                </a:lnTo>
                <a:cubicBezTo>
                  <a:pt x="156270" y="141154"/>
                  <a:pt x="126271" y="171152"/>
                  <a:pt x="89297" y="171152"/>
                </a:cubicBezTo>
                <a:cubicBezTo>
                  <a:pt x="52322" y="171152"/>
                  <a:pt x="22324" y="141154"/>
                  <a:pt x="22324" y="104180"/>
                </a:cubicBezTo>
                <a:lnTo>
                  <a:pt x="22324" y="85576"/>
                </a:lnTo>
                <a:close/>
              </a:path>
            </a:pathLst>
          </a:custGeom>
          <a:solidFill>
            <a:srgbClr val="5F737C"/>
          </a:solidFill>
          <a:ln/>
        </p:spPr>
      </p:sp>
      <p:sp>
        <p:nvSpPr>
          <p:cNvPr id="71" name="Text 69"/>
          <p:cNvSpPr/>
          <p:nvPr/>
        </p:nvSpPr>
        <p:spPr>
          <a:xfrm>
            <a:off x="8690174" y="3493988"/>
            <a:ext cx="611188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50" b="1" dirty="0">
                <a:solidFill>
                  <a:srgbClr val="F0F2F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Speech</a:t>
            </a:r>
            <a:endParaRPr lang="en-US" sz="1600" dirty="0"/>
          </a:p>
        </p:txBody>
      </p:sp>
      <p:sp>
        <p:nvSpPr>
          <p:cNvPr id="72" name="Shape 70"/>
          <p:cNvSpPr/>
          <p:nvPr/>
        </p:nvSpPr>
        <p:spPr>
          <a:xfrm>
            <a:off x="8297268" y="3851176"/>
            <a:ext cx="3421063" cy="571500"/>
          </a:xfrm>
          <a:prstGeom prst="roundRect">
            <a:avLst>
              <a:gd name="adj" fmla="val 11111"/>
            </a:avLst>
          </a:prstGeom>
          <a:solidFill>
            <a:srgbClr val="1A1D21">
              <a:alpha val="60000"/>
            </a:srgbClr>
          </a:solidFill>
          <a:ln/>
        </p:spPr>
      </p:sp>
      <p:sp>
        <p:nvSpPr>
          <p:cNvPr id="73" name="Text 71"/>
          <p:cNvSpPr/>
          <p:nvPr/>
        </p:nvSpPr>
        <p:spPr>
          <a:xfrm>
            <a:off x="8392518" y="3946426"/>
            <a:ext cx="3302000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5" b="1" dirty="0">
                <a:solidFill>
                  <a:srgbClr val="F0F2F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OpenAI Whisper</a:t>
            </a:r>
            <a:endParaRPr lang="en-US" sz="1600" dirty="0"/>
          </a:p>
        </p:txBody>
      </p:sp>
      <p:sp>
        <p:nvSpPr>
          <p:cNvPr id="74" name="Text 72"/>
          <p:cNvSpPr/>
          <p:nvPr/>
        </p:nvSpPr>
        <p:spPr>
          <a:xfrm>
            <a:off x="8392518" y="4168676"/>
            <a:ext cx="3286125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9A959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Automatic speech recognition</a:t>
            </a:r>
            <a:endParaRPr lang="en-US" sz="1600" dirty="0"/>
          </a:p>
        </p:txBody>
      </p:sp>
      <p:sp>
        <p:nvSpPr>
          <p:cNvPr id="75" name="Shape 73"/>
          <p:cNvSpPr/>
          <p:nvPr/>
        </p:nvSpPr>
        <p:spPr>
          <a:xfrm>
            <a:off x="8320088" y="4541738"/>
            <a:ext cx="97234" cy="111125"/>
          </a:xfrm>
          <a:custGeom>
            <a:avLst/>
            <a:gdLst/>
            <a:ahLst/>
            <a:cxnLst/>
            <a:rect l="l" t="t" r="r" b="b"/>
            <a:pathLst>
              <a:path w="97234" h="111125">
                <a:moveTo>
                  <a:pt x="94369" y="15215"/>
                </a:moveTo>
                <a:cubicBezTo>
                  <a:pt x="97473" y="17472"/>
                  <a:pt x="98168" y="21813"/>
                  <a:pt x="95910" y="24916"/>
                </a:cubicBezTo>
                <a:lnTo>
                  <a:pt x="40348" y="101315"/>
                </a:lnTo>
                <a:cubicBezTo>
                  <a:pt x="39154" y="102964"/>
                  <a:pt x="37309" y="103984"/>
                  <a:pt x="35269" y="104158"/>
                </a:cubicBezTo>
                <a:cubicBezTo>
                  <a:pt x="33229" y="104332"/>
                  <a:pt x="31254" y="103572"/>
                  <a:pt x="29821" y="102140"/>
                </a:cubicBezTo>
                <a:lnTo>
                  <a:pt x="2040" y="74358"/>
                </a:lnTo>
                <a:cubicBezTo>
                  <a:pt x="-673" y="71645"/>
                  <a:pt x="-673" y="67239"/>
                  <a:pt x="2040" y="64526"/>
                </a:cubicBezTo>
                <a:cubicBezTo>
                  <a:pt x="4753" y="61813"/>
                  <a:pt x="9159" y="61813"/>
                  <a:pt x="11872" y="64526"/>
                </a:cubicBezTo>
                <a:lnTo>
                  <a:pt x="33902" y="86556"/>
                </a:lnTo>
                <a:lnTo>
                  <a:pt x="84689" y="16734"/>
                </a:lnTo>
                <a:cubicBezTo>
                  <a:pt x="86947" y="13630"/>
                  <a:pt x="91287" y="12936"/>
                  <a:pt x="94391" y="15193"/>
                </a:cubicBezTo>
                <a:close/>
              </a:path>
            </a:pathLst>
          </a:custGeom>
          <a:solidFill>
            <a:srgbClr val="5F737C"/>
          </a:solidFill>
          <a:ln/>
        </p:spPr>
      </p:sp>
      <p:sp>
        <p:nvSpPr>
          <p:cNvPr id="76" name="Text 74"/>
          <p:cNvSpPr/>
          <p:nvPr/>
        </p:nvSpPr>
        <p:spPr>
          <a:xfrm>
            <a:off x="8499674" y="4517926"/>
            <a:ext cx="1206500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9A959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Multi-language support</a:t>
            </a:r>
            <a:endParaRPr lang="en-US" sz="1600" dirty="0"/>
          </a:p>
        </p:txBody>
      </p:sp>
      <p:sp>
        <p:nvSpPr>
          <p:cNvPr id="77" name="Shape 75"/>
          <p:cNvSpPr/>
          <p:nvPr/>
        </p:nvSpPr>
        <p:spPr>
          <a:xfrm>
            <a:off x="8320088" y="4732238"/>
            <a:ext cx="97234" cy="111125"/>
          </a:xfrm>
          <a:custGeom>
            <a:avLst/>
            <a:gdLst/>
            <a:ahLst/>
            <a:cxnLst/>
            <a:rect l="l" t="t" r="r" b="b"/>
            <a:pathLst>
              <a:path w="97234" h="111125">
                <a:moveTo>
                  <a:pt x="94369" y="15215"/>
                </a:moveTo>
                <a:cubicBezTo>
                  <a:pt x="97473" y="17472"/>
                  <a:pt x="98168" y="21813"/>
                  <a:pt x="95910" y="24916"/>
                </a:cubicBezTo>
                <a:lnTo>
                  <a:pt x="40348" y="101315"/>
                </a:lnTo>
                <a:cubicBezTo>
                  <a:pt x="39154" y="102964"/>
                  <a:pt x="37309" y="103984"/>
                  <a:pt x="35269" y="104158"/>
                </a:cubicBezTo>
                <a:cubicBezTo>
                  <a:pt x="33229" y="104332"/>
                  <a:pt x="31254" y="103572"/>
                  <a:pt x="29821" y="102140"/>
                </a:cubicBezTo>
                <a:lnTo>
                  <a:pt x="2040" y="74358"/>
                </a:lnTo>
                <a:cubicBezTo>
                  <a:pt x="-673" y="71645"/>
                  <a:pt x="-673" y="67239"/>
                  <a:pt x="2040" y="64526"/>
                </a:cubicBezTo>
                <a:cubicBezTo>
                  <a:pt x="4753" y="61813"/>
                  <a:pt x="9159" y="61813"/>
                  <a:pt x="11872" y="64526"/>
                </a:cubicBezTo>
                <a:lnTo>
                  <a:pt x="33902" y="86556"/>
                </a:lnTo>
                <a:lnTo>
                  <a:pt x="84689" y="16734"/>
                </a:lnTo>
                <a:cubicBezTo>
                  <a:pt x="86947" y="13630"/>
                  <a:pt x="91287" y="12936"/>
                  <a:pt x="94391" y="15193"/>
                </a:cubicBezTo>
                <a:close/>
              </a:path>
            </a:pathLst>
          </a:custGeom>
          <a:solidFill>
            <a:srgbClr val="5F737C"/>
          </a:solidFill>
          <a:ln/>
        </p:spPr>
      </p:sp>
      <p:sp>
        <p:nvSpPr>
          <p:cNvPr id="78" name="Text 76"/>
          <p:cNvSpPr/>
          <p:nvPr/>
        </p:nvSpPr>
        <p:spPr>
          <a:xfrm>
            <a:off x="8499674" y="4708426"/>
            <a:ext cx="809625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9A959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Robust to noise</a:t>
            </a:r>
            <a:endParaRPr lang="en-US" sz="1600" dirty="0"/>
          </a:p>
        </p:txBody>
      </p:sp>
      <p:sp>
        <p:nvSpPr>
          <p:cNvPr id="79" name="Shape 77"/>
          <p:cNvSpPr/>
          <p:nvPr/>
        </p:nvSpPr>
        <p:spPr>
          <a:xfrm>
            <a:off x="333375" y="5152926"/>
            <a:ext cx="3754438" cy="1722438"/>
          </a:xfrm>
          <a:custGeom>
            <a:avLst/>
            <a:gdLst/>
            <a:ahLst/>
            <a:cxnLst/>
            <a:rect l="l" t="t" r="r" b="b"/>
            <a:pathLst>
              <a:path w="3754438" h="1722438">
                <a:moveTo>
                  <a:pt x="31750" y="0"/>
                </a:moveTo>
                <a:lnTo>
                  <a:pt x="3690874" y="0"/>
                </a:lnTo>
                <a:cubicBezTo>
                  <a:pt x="3707737" y="-34"/>
                  <a:pt x="3723921" y="6642"/>
                  <a:pt x="3735857" y="18554"/>
                </a:cubicBezTo>
                <a:cubicBezTo>
                  <a:pt x="3747793" y="30466"/>
                  <a:pt x="3754501" y="46637"/>
                  <a:pt x="3754501" y="63500"/>
                </a:cubicBezTo>
                <a:lnTo>
                  <a:pt x="3754501" y="1658874"/>
                </a:lnTo>
                <a:cubicBezTo>
                  <a:pt x="3754535" y="1675759"/>
                  <a:pt x="3747842" y="1691963"/>
                  <a:pt x="3735902" y="1703902"/>
                </a:cubicBezTo>
                <a:cubicBezTo>
                  <a:pt x="3723963" y="1715842"/>
                  <a:pt x="3707759" y="1722535"/>
                  <a:pt x="3690874" y="1722501"/>
                </a:cubicBezTo>
                <a:lnTo>
                  <a:pt x="31750" y="1722501"/>
                </a:lnTo>
                <a:cubicBezTo>
                  <a:pt x="14227" y="1722501"/>
                  <a:pt x="0" y="1708274"/>
                  <a:pt x="0" y="1690751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gradFill rotWithShape="1" flip="none">
            <a:gsLst>
              <a:gs pos="0">
                <a:srgbClr val="5F737C">
                  <a:alpha val="30000"/>
                </a:srgbClr>
              </a:gs>
              <a:gs pos="100000">
                <a:srgbClr val="4A5C6A">
                  <a:alpha val="20000"/>
                </a:srgbClr>
              </a:gs>
            </a:gsLst>
            <a:lin ang="2700000" scaled="1"/>
          </a:gradFill>
          <a:ln/>
        </p:spPr>
      </p:sp>
      <p:sp>
        <p:nvSpPr>
          <p:cNvPr id="80" name="Shape 78"/>
          <p:cNvSpPr/>
          <p:nvPr/>
        </p:nvSpPr>
        <p:spPr>
          <a:xfrm>
            <a:off x="333375" y="5152926"/>
            <a:ext cx="31750" cy="1722438"/>
          </a:xfrm>
          <a:custGeom>
            <a:avLst/>
            <a:gdLst/>
            <a:ahLst/>
            <a:cxnLst/>
            <a:rect l="l" t="t" r="r" b="b"/>
            <a:pathLst>
              <a:path w="31750" h="1722438">
                <a:moveTo>
                  <a:pt x="31750" y="0"/>
                </a:moveTo>
                <a:lnTo>
                  <a:pt x="31750" y="0"/>
                </a:lnTo>
                <a:lnTo>
                  <a:pt x="31750" y="1722501"/>
                </a:lnTo>
                <a:lnTo>
                  <a:pt x="31750" y="1722501"/>
                </a:lnTo>
                <a:cubicBezTo>
                  <a:pt x="14227" y="1722501"/>
                  <a:pt x="0" y="1708274"/>
                  <a:pt x="0" y="1690751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5F737C"/>
          </a:solidFill>
          <a:ln/>
        </p:spPr>
      </p:sp>
      <p:sp>
        <p:nvSpPr>
          <p:cNvPr id="81" name="Shape 79"/>
          <p:cNvSpPr/>
          <p:nvPr/>
        </p:nvSpPr>
        <p:spPr>
          <a:xfrm>
            <a:off x="539750" y="5311676"/>
            <a:ext cx="238125" cy="238125"/>
          </a:xfrm>
          <a:custGeom>
            <a:avLst/>
            <a:gdLst/>
            <a:ahLst/>
            <a:cxnLst/>
            <a:rect l="l" t="t" r="r" b="b"/>
            <a:pathLst>
              <a:path w="238125" h="238125">
                <a:moveTo>
                  <a:pt x="14883" y="14883"/>
                </a:moveTo>
                <a:cubicBezTo>
                  <a:pt x="23115" y="14883"/>
                  <a:pt x="29766" y="21534"/>
                  <a:pt x="29766" y="29766"/>
                </a:cubicBezTo>
                <a:lnTo>
                  <a:pt x="29766" y="186035"/>
                </a:lnTo>
                <a:cubicBezTo>
                  <a:pt x="29766" y="190128"/>
                  <a:pt x="33114" y="193477"/>
                  <a:pt x="37207" y="193477"/>
                </a:cubicBezTo>
                <a:lnTo>
                  <a:pt x="223242" y="193477"/>
                </a:lnTo>
                <a:cubicBezTo>
                  <a:pt x="231474" y="193477"/>
                  <a:pt x="238125" y="200127"/>
                  <a:pt x="238125" y="208359"/>
                </a:cubicBezTo>
                <a:cubicBezTo>
                  <a:pt x="238125" y="216591"/>
                  <a:pt x="231474" y="223242"/>
                  <a:pt x="223242" y="223242"/>
                </a:cubicBezTo>
                <a:lnTo>
                  <a:pt x="37207" y="223242"/>
                </a:lnTo>
                <a:cubicBezTo>
                  <a:pt x="16650" y="223242"/>
                  <a:pt x="0" y="206592"/>
                  <a:pt x="0" y="186035"/>
                </a:cubicBezTo>
                <a:lnTo>
                  <a:pt x="0" y="29766"/>
                </a:lnTo>
                <a:cubicBezTo>
                  <a:pt x="0" y="21534"/>
                  <a:pt x="6651" y="14883"/>
                  <a:pt x="14883" y="14883"/>
                </a:cubicBezTo>
                <a:close/>
                <a:moveTo>
                  <a:pt x="59531" y="44648"/>
                </a:moveTo>
                <a:cubicBezTo>
                  <a:pt x="59531" y="36416"/>
                  <a:pt x="66182" y="29766"/>
                  <a:pt x="74414" y="29766"/>
                </a:cubicBezTo>
                <a:lnTo>
                  <a:pt x="163711" y="29766"/>
                </a:lnTo>
                <a:cubicBezTo>
                  <a:pt x="171943" y="29766"/>
                  <a:pt x="178594" y="36416"/>
                  <a:pt x="178594" y="44648"/>
                </a:cubicBezTo>
                <a:cubicBezTo>
                  <a:pt x="178594" y="52880"/>
                  <a:pt x="171943" y="59531"/>
                  <a:pt x="163711" y="59531"/>
                </a:cubicBezTo>
                <a:lnTo>
                  <a:pt x="74414" y="59531"/>
                </a:lnTo>
                <a:cubicBezTo>
                  <a:pt x="66182" y="59531"/>
                  <a:pt x="59531" y="52880"/>
                  <a:pt x="59531" y="44648"/>
                </a:cubicBezTo>
                <a:close/>
                <a:moveTo>
                  <a:pt x="74414" y="81855"/>
                </a:moveTo>
                <a:lnTo>
                  <a:pt x="133945" y="81855"/>
                </a:lnTo>
                <a:cubicBezTo>
                  <a:pt x="142177" y="81855"/>
                  <a:pt x="148828" y="88506"/>
                  <a:pt x="148828" y="96738"/>
                </a:cubicBezTo>
                <a:cubicBezTo>
                  <a:pt x="148828" y="104970"/>
                  <a:pt x="142177" y="111621"/>
                  <a:pt x="133945" y="111621"/>
                </a:cubicBezTo>
                <a:lnTo>
                  <a:pt x="74414" y="111621"/>
                </a:lnTo>
                <a:cubicBezTo>
                  <a:pt x="66182" y="111621"/>
                  <a:pt x="59531" y="104970"/>
                  <a:pt x="59531" y="96738"/>
                </a:cubicBezTo>
                <a:cubicBezTo>
                  <a:pt x="59531" y="88506"/>
                  <a:pt x="66182" y="81855"/>
                  <a:pt x="74414" y="81855"/>
                </a:cubicBezTo>
                <a:close/>
                <a:moveTo>
                  <a:pt x="74414" y="133945"/>
                </a:moveTo>
                <a:lnTo>
                  <a:pt x="193477" y="133945"/>
                </a:lnTo>
                <a:cubicBezTo>
                  <a:pt x="201709" y="133945"/>
                  <a:pt x="208359" y="140596"/>
                  <a:pt x="208359" y="148828"/>
                </a:cubicBezTo>
                <a:cubicBezTo>
                  <a:pt x="208359" y="157060"/>
                  <a:pt x="201709" y="163711"/>
                  <a:pt x="193477" y="163711"/>
                </a:cubicBezTo>
                <a:lnTo>
                  <a:pt x="74414" y="163711"/>
                </a:lnTo>
                <a:cubicBezTo>
                  <a:pt x="66182" y="163711"/>
                  <a:pt x="59531" y="157060"/>
                  <a:pt x="59531" y="148828"/>
                </a:cubicBezTo>
                <a:cubicBezTo>
                  <a:pt x="59531" y="140596"/>
                  <a:pt x="66182" y="133945"/>
                  <a:pt x="74414" y="133945"/>
                </a:cubicBezTo>
                <a:close/>
              </a:path>
            </a:pathLst>
          </a:custGeom>
          <a:solidFill>
            <a:srgbClr val="5F737C"/>
          </a:solidFill>
          <a:ln/>
        </p:spPr>
      </p:sp>
      <p:sp>
        <p:nvSpPr>
          <p:cNvPr id="82" name="Text 80"/>
          <p:cNvSpPr/>
          <p:nvPr/>
        </p:nvSpPr>
        <p:spPr>
          <a:xfrm>
            <a:off x="900906" y="5319613"/>
            <a:ext cx="801688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50" b="1" dirty="0">
                <a:solidFill>
                  <a:srgbClr val="F0F2F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Sentiment</a:t>
            </a:r>
            <a:endParaRPr lang="en-US" sz="1600" dirty="0"/>
          </a:p>
        </p:txBody>
      </p:sp>
      <p:sp>
        <p:nvSpPr>
          <p:cNvPr id="83" name="Shape 81"/>
          <p:cNvSpPr/>
          <p:nvPr/>
        </p:nvSpPr>
        <p:spPr>
          <a:xfrm>
            <a:off x="508000" y="5676801"/>
            <a:ext cx="3421063" cy="571500"/>
          </a:xfrm>
          <a:prstGeom prst="roundRect">
            <a:avLst>
              <a:gd name="adj" fmla="val 11111"/>
            </a:avLst>
          </a:prstGeom>
          <a:solidFill>
            <a:srgbClr val="1A1D21">
              <a:alpha val="60000"/>
            </a:srgbClr>
          </a:solidFill>
          <a:ln/>
        </p:spPr>
      </p:sp>
      <p:sp>
        <p:nvSpPr>
          <p:cNvPr id="84" name="Text 82"/>
          <p:cNvSpPr/>
          <p:nvPr/>
        </p:nvSpPr>
        <p:spPr>
          <a:xfrm>
            <a:off x="603250" y="5772051"/>
            <a:ext cx="3302000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5" b="1" dirty="0">
                <a:solidFill>
                  <a:srgbClr val="F0F2F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VADER</a:t>
            </a:r>
            <a:endParaRPr lang="en-US" sz="1600" dirty="0"/>
          </a:p>
        </p:txBody>
      </p:sp>
      <p:sp>
        <p:nvSpPr>
          <p:cNvPr id="85" name="Text 83"/>
          <p:cNvSpPr/>
          <p:nvPr/>
        </p:nvSpPr>
        <p:spPr>
          <a:xfrm>
            <a:off x="603250" y="5994301"/>
            <a:ext cx="3286125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9A959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Valence Aware Dictionary</a:t>
            </a:r>
            <a:endParaRPr lang="en-US" sz="1600" dirty="0"/>
          </a:p>
        </p:txBody>
      </p:sp>
      <p:sp>
        <p:nvSpPr>
          <p:cNvPr id="86" name="Shape 84"/>
          <p:cNvSpPr/>
          <p:nvPr/>
        </p:nvSpPr>
        <p:spPr>
          <a:xfrm>
            <a:off x="530820" y="6367363"/>
            <a:ext cx="97234" cy="111125"/>
          </a:xfrm>
          <a:custGeom>
            <a:avLst/>
            <a:gdLst/>
            <a:ahLst/>
            <a:cxnLst/>
            <a:rect l="l" t="t" r="r" b="b"/>
            <a:pathLst>
              <a:path w="97234" h="111125">
                <a:moveTo>
                  <a:pt x="94369" y="15215"/>
                </a:moveTo>
                <a:cubicBezTo>
                  <a:pt x="97473" y="17472"/>
                  <a:pt x="98168" y="21813"/>
                  <a:pt x="95910" y="24916"/>
                </a:cubicBezTo>
                <a:lnTo>
                  <a:pt x="40348" y="101315"/>
                </a:lnTo>
                <a:cubicBezTo>
                  <a:pt x="39154" y="102964"/>
                  <a:pt x="37309" y="103984"/>
                  <a:pt x="35269" y="104158"/>
                </a:cubicBezTo>
                <a:cubicBezTo>
                  <a:pt x="33229" y="104332"/>
                  <a:pt x="31254" y="103572"/>
                  <a:pt x="29821" y="102140"/>
                </a:cubicBezTo>
                <a:lnTo>
                  <a:pt x="2040" y="74358"/>
                </a:lnTo>
                <a:cubicBezTo>
                  <a:pt x="-673" y="71645"/>
                  <a:pt x="-673" y="67239"/>
                  <a:pt x="2040" y="64526"/>
                </a:cubicBezTo>
                <a:cubicBezTo>
                  <a:pt x="4753" y="61813"/>
                  <a:pt x="9159" y="61813"/>
                  <a:pt x="11872" y="64526"/>
                </a:cubicBezTo>
                <a:lnTo>
                  <a:pt x="33902" y="86556"/>
                </a:lnTo>
                <a:lnTo>
                  <a:pt x="84689" y="16734"/>
                </a:lnTo>
                <a:cubicBezTo>
                  <a:pt x="86947" y="13630"/>
                  <a:pt x="91287" y="12936"/>
                  <a:pt x="94391" y="15193"/>
                </a:cubicBezTo>
                <a:close/>
              </a:path>
            </a:pathLst>
          </a:custGeom>
          <a:solidFill>
            <a:srgbClr val="5F737C"/>
          </a:solidFill>
          <a:ln/>
        </p:spPr>
      </p:sp>
      <p:sp>
        <p:nvSpPr>
          <p:cNvPr id="87" name="Text 85"/>
          <p:cNvSpPr/>
          <p:nvPr/>
        </p:nvSpPr>
        <p:spPr>
          <a:xfrm>
            <a:off x="710406" y="6343551"/>
            <a:ext cx="1182688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9A959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Social media optimized</a:t>
            </a:r>
            <a:endParaRPr lang="en-US" sz="1600" dirty="0"/>
          </a:p>
        </p:txBody>
      </p:sp>
      <p:sp>
        <p:nvSpPr>
          <p:cNvPr id="88" name="Shape 86"/>
          <p:cNvSpPr/>
          <p:nvPr/>
        </p:nvSpPr>
        <p:spPr>
          <a:xfrm>
            <a:off x="530820" y="6557863"/>
            <a:ext cx="97234" cy="111125"/>
          </a:xfrm>
          <a:custGeom>
            <a:avLst/>
            <a:gdLst/>
            <a:ahLst/>
            <a:cxnLst/>
            <a:rect l="l" t="t" r="r" b="b"/>
            <a:pathLst>
              <a:path w="97234" h="111125">
                <a:moveTo>
                  <a:pt x="94369" y="15215"/>
                </a:moveTo>
                <a:cubicBezTo>
                  <a:pt x="97473" y="17472"/>
                  <a:pt x="98168" y="21813"/>
                  <a:pt x="95910" y="24916"/>
                </a:cubicBezTo>
                <a:lnTo>
                  <a:pt x="40348" y="101315"/>
                </a:lnTo>
                <a:cubicBezTo>
                  <a:pt x="39154" y="102964"/>
                  <a:pt x="37309" y="103984"/>
                  <a:pt x="35269" y="104158"/>
                </a:cubicBezTo>
                <a:cubicBezTo>
                  <a:pt x="33229" y="104332"/>
                  <a:pt x="31254" y="103572"/>
                  <a:pt x="29821" y="102140"/>
                </a:cubicBezTo>
                <a:lnTo>
                  <a:pt x="2040" y="74358"/>
                </a:lnTo>
                <a:cubicBezTo>
                  <a:pt x="-673" y="71645"/>
                  <a:pt x="-673" y="67239"/>
                  <a:pt x="2040" y="64526"/>
                </a:cubicBezTo>
                <a:cubicBezTo>
                  <a:pt x="4753" y="61813"/>
                  <a:pt x="9159" y="61813"/>
                  <a:pt x="11872" y="64526"/>
                </a:cubicBezTo>
                <a:lnTo>
                  <a:pt x="33902" y="86556"/>
                </a:lnTo>
                <a:lnTo>
                  <a:pt x="84689" y="16734"/>
                </a:lnTo>
                <a:cubicBezTo>
                  <a:pt x="86947" y="13630"/>
                  <a:pt x="91287" y="12936"/>
                  <a:pt x="94391" y="15193"/>
                </a:cubicBezTo>
                <a:close/>
              </a:path>
            </a:pathLst>
          </a:custGeom>
          <a:solidFill>
            <a:srgbClr val="5F737C"/>
          </a:solidFill>
          <a:ln/>
        </p:spPr>
      </p:sp>
      <p:sp>
        <p:nvSpPr>
          <p:cNvPr id="89" name="Text 87"/>
          <p:cNvSpPr/>
          <p:nvPr/>
        </p:nvSpPr>
        <p:spPr>
          <a:xfrm>
            <a:off x="710406" y="6534051"/>
            <a:ext cx="912813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9A959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Real-time scoring</a:t>
            </a:r>
            <a:endParaRPr lang="en-US" sz="1600" dirty="0"/>
          </a:p>
        </p:txBody>
      </p:sp>
      <p:sp>
        <p:nvSpPr>
          <p:cNvPr id="90" name="Shape 88"/>
          <p:cNvSpPr/>
          <p:nvPr/>
        </p:nvSpPr>
        <p:spPr>
          <a:xfrm>
            <a:off x="4228009" y="5152926"/>
            <a:ext cx="3754438" cy="1722438"/>
          </a:xfrm>
          <a:custGeom>
            <a:avLst/>
            <a:gdLst/>
            <a:ahLst/>
            <a:cxnLst/>
            <a:rect l="l" t="t" r="r" b="b"/>
            <a:pathLst>
              <a:path w="3754438" h="1722438">
                <a:moveTo>
                  <a:pt x="31750" y="0"/>
                </a:moveTo>
                <a:lnTo>
                  <a:pt x="3690874" y="0"/>
                </a:lnTo>
                <a:cubicBezTo>
                  <a:pt x="3707737" y="-34"/>
                  <a:pt x="3723921" y="6642"/>
                  <a:pt x="3735857" y="18554"/>
                </a:cubicBezTo>
                <a:cubicBezTo>
                  <a:pt x="3747793" y="30466"/>
                  <a:pt x="3754501" y="46637"/>
                  <a:pt x="3754501" y="63500"/>
                </a:cubicBezTo>
                <a:lnTo>
                  <a:pt x="3754501" y="1658874"/>
                </a:lnTo>
                <a:cubicBezTo>
                  <a:pt x="3754535" y="1675759"/>
                  <a:pt x="3747842" y="1691963"/>
                  <a:pt x="3735902" y="1703902"/>
                </a:cubicBezTo>
                <a:cubicBezTo>
                  <a:pt x="3723963" y="1715842"/>
                  <a:pt x="3707759" y="1722535"/>
                  <a:pt x="3690874" y="1722501"/>
                </a:cubicBezTo>
                <a:lnTo>
                  <a:pt x="31750" y="1722501"/>
                </a:lnTo>
                <a:cubicBezTo>
                  <a:pt x="14227" y="1722501"/>
                  <a:pt x="0" y="1708274"/>
                  <a:pt x="0" y="1690751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gradFill rotWithShape="1" flip="none">
            <a:gsLst>
              <a:gs pos="0">
                <a:srgbClr val="5F737C">
                  <a:alpha val="30000"/>
                </a:srgbClr>
              </a:gs>
              <a:gs pos="100000">
                <a:srgbClr val="4A5C6A">
                  <a:alpha val="20000"/>
                </a:srgbClr>
              </a:gs>
            </a:gsLst>
            <a:lin ang="2700000" scaled="1"/>
          </a:gradFill>
          <a:ln/>
        </p:spPr>
      </p:sp>
      <p:sp>
        <p:nvSpPr>
          <p:cNvPr id="91" name="Shape 89"/>
          <p:cNvSpPr/>
          <p:nvPr/>
        </p:nvSpPr>
        <p:spPr>
          <a:xfrm>
            <a:off x="4228009" y="5152926"/>
            <a:ext cx="31750" cy="1722438"/>
          </a:xfrm>
          <a:custGeom>
            <a:avLst/>
            <a:gdLst/>
            <a:ahLst/>
            <a:cxnLst/>
            <a:rect l="l" t="t" r="r" b="b"/>
            <a:pathLst>
              <a:path w="31750" h="1722438">
                <a:moveTo>
                  <a:pt x="31750" y="0"/>
                </a:moveTo>
                <a:lnTo>
                  <a:pt x="31750" y="0"/>
                </a:lnTo>
                <a:lnTo>
                  <a:pt x="31750" y="1722501"/>
                </a:lnTo>
                <a:lnTo>
                  <a:pt x="31750" y="1722501"/>
                </a:lnTo>
                <a:cubicBezTo>
                  <a:pt x="14227" y="1722501"/>
                  <a:pt x="0" y="1708274"/>
                  <a:pt x="0" y="1690751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5F737C"/>
          </a:solidFill>
          <a:ln/>
        </p:spPr>
      </p:sp>
      <p:sp>
        <p:nvSpPr>
          <p:cNvPr id="92" name="Shape 90"/>
          <p:cNvSpPr/>
          <p:nvPr/>
        </p:nvSpPr>
        <p:spPr>
          <a:xfrm>
            <a:off x="4419501" y="5311676"/>
            <a:ext cx="267891" cy="238125"/>
          </a:xfrm>
          <a:custGeom>
            <a:avLst/>
            <a:gdLst/>
            <a:ahLst/>
            <a:cxnLst/>
            <a:rect l="l" t="t" r="r" b="b"/>
            <a:pathLst>
              <a:path w="267891" h="238125">
                <a:moveTo>
                  <a:pt x="133945" y="14883"/>
                </a:moveTo>
                <a:cubicBezTo>
                  <a:pt x="96366" y="14883"/>
                  <a:pt x="66275" y="31998"/>
                  <a:pt x="44369" y="52369"/>
                </a:cubicBezTo>
                <a:cubicBezTo>
                  <a:pt x="22603" y="72600"/>
                  <a:pt x="8046" y="96738"/>
                  <a:pt x="1116" y="113342"/>
                </a:cubicBezTo>
                <a:cubicBezTo>
                  <a:pt x="-419" y="117016"/>
                  <a:pt x="-419" y="121109"/>
                  <a:pt x="1116" y="124783"/>
                </a:cubicBezTo>
                <a:cubicBezTo>
                  <a:pt x="8046" y="141387"/>
                  <a:pt x="22603" y="165571"/>
                  <a:pt x="44369" y="185756"/>
                </a:cubicBezTo>
                <a:cubicBezTo>
                  <a:pt x="66275" y="206080"/>
                  <a:pt x="96366" y="223242"/>
                  <a:pt x="133945" y="223242"/>
                </a:cubicBezTo>
                <a:cubicBezTo>
                  <a:pt x="171524" y="223242"/>
                  <a:pt x="201616" y="206127"/>
                  <a:pt x="223521" y="185756"/>
                </a:cubicBezTo>
                <a:cubicBezTo>
                  <a:pt x="245287" y="165525"/>
                  <a:pt x="259845" y="141387"/>
                  <a:pt x="266774" y="124783"/>
                </a:cubicBezTo>
                <a:cubicBezTo>
                  <a:pt x="268309" y="121109"/>
                  <a:pt x="268309" y="117016"/>
                  <a:pt x="266774" y="113342"/>
                </a:cubicBezTo>
                <a:cubicBezTo>
                  <a:pt x="259845" y="96738"/>
                  <a:pt x="245287" y="72554"/>
                  <a:pt x="223521" y="52369"/>
                </a:cubicBezTo>
                <a:cubicBezTo>
                  <a:pt x="201616" y="32045"/>
                  <a:pt x="171524" y="14883"/>
                  <a:pt x="133945" y="14883"/>
                </a:cubicBezTo>
                <a:close/>
                <a:moveTo>
                  <a:pt x="66973" y="119062"/>
                </a:moveTo>
                <a:cubicBezTo>
                  <a:pt x="66973" y="82099"/>
                  <a:pt x="96982" y="52090"/>
                  <a:pt x="133945" y="52090"/>
                </a:cubicBezTo>
                <a:cubicBezTo>
                  <a:pt x="170909" y="52090"/>
                  <a:pt x="200918" y="82099"/>
                  <a:pt x="200918" y="119062"/>
                </a:cubicBezTo>
                <a:cubicBezTo>
                  <a:pt x="200918" y="156026"/>
                  <a:pt x="170909" y="186035"/>
                  <a:pt x="133945" y="186035"/>
                </a:cubicBezTo>
                <a:cubicBezTo>
                  <a:pt x="96982" y="186035"/>
                  <a:pt x="66973" y="156026"/>
                  <a:pt x="66973" y="119062"/>
                </a:cubicBezTo>
                <a:close/>
                <a:moveTo>
                  <a:pt x="133945" y="89297"/>
                </a:moveTo>
                <a:cubicBezTo>
                  <a:pt x="133945" y="105714"/>
                  <a:pt x="120597" y="119062"/>
                  <a:pt x="104180" y="119062"/>
                </a:cubicBezTo>
                <a:cubicBezTo>
                  <a:pt x="98831" y="119062"/>
                  <a:pt x="93808" y="117667"/>
                  <a:pt x="89436" y="115156"/>
                </a:cubicBezTo>
                <a:cubicBezTo>
                  <a:pt x="88971" y="120225"/>
                  <a:pt x="89390" y="125434"/>
                  <a:pt x="90785" y="130597"/>
                </a:cubicBezTo>
                <a:cubicBezTo>
                  <a:pt x="97157" y="154409"/>
                  <a:pt x="121667" y="168548"/>
                  <a:pt x="145479" y="162176"/>
                </a:cubicBezTo>
                <a:cubicBezTo>
                  <a:pt x="169292" y="155804"/>
                  <a:pt x="183431" y="131294"/>
                  <a:pt x="177059" y="107482"/>
                </a:cubicBezTo>
                <a:cubicBezTo>
                  <a:pt x="171385" y="86227"/>
                  <a:pt x="151247" y="72693"/>
                  <a:pt x="130039" y="74554"/>
                </a:cubicBezTo>
                <a:cubicBezTo>
                  <a:pt x="132504" y="78879"/>
                  <a:pt x="133945" y="83902"/>
                  <a:pt x="133945" y="89297"/>
                </a:cubicBezTo>
                <a:close/>
              </a:path>
            </a:pathLst>
          </a:custGeom>
          <a:solidFill>
            <a:srgbClr val="5F737C"/>
          </a:solidFill>
          <a:ln/>
        </p:spPr>
      </p:sp>
      <p:sp>
        <p:nvSpPr>
          <p:cNvPr id="93" name="Text 91"/>
          <p:cNvSpPr/>
          <p:nvPr/>
        </p:nvSpPr>
        <p:spPr>
          <a:xfrm>
            <a:off x="4795540" y="5319613"/>
            <a:ext cx="1008063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50" b="1" dirty="0">
                <a:solidFill>
                  <a:srgbClr val="F0F2F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Explainability</a:t>
            </a:r>
            <a:endParaRPr lang="en-US" sz="1600" dirty="0"/>
          </a:p>
        </p:txBody>
      </p:sp>
      <p:sp>
        <p:nvSpPr>
          <p:cNvPr id="94" name="Shape 92"/>
          <p:cNvSpPr/>
          <p:nvPr/>
        </p:nvSpPr>
        <p:spPr>
          <a:xfrm>
            <a:off x="4402634" y="5676801"/>
            <a:ext cx="3421063" cy="571500"/>
          </a:xfrm>
          <a:prstGeom prst="roundRect">
            <a:avLst>
              <a:gd name="adj" fmla="val 11111"/>
            </a:avLst>
          </a:prstGeom>
          <a:solidFill>
            <a:srgbClr val="1A1D21">
              <a:alpha val="60000"/>
            </a:srgbClr>
          </a:solidFill>
          <a:ln/>
        </p:spPr>
      </p:sp>
      <p:sp>
        <p:nvSpPr>
          <p:cNvPr id="95" name="Text 93"/>
          <p:cNvSpPr/>
          <p:nvPr/>
        </p:nvSpPr>
        <p:spPr>
          <a:xfrm>
            <a:off x="4497884" y="5772051"/>
            <a:ext cx="3302000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5" b="1" dirty="0">
                <a:solidFill>
                  <a:srgbClr val="F0F2F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Native Grad-CAM</a:t>
            </a:r>
            <a:endParaRPr lang="en-US" sz="1600" dirty="0"/>
          </a:p>
        </p:txBody>
      </p:sp>
      <p:sp>
        <p:nvSpPr>
          <p:cNvPr id="96" name="Text 94"/>
          <p:cNvSpPr/>
          <p:nvPr/>
        </p:nvSpPr>
        <p:spPr>
          <a:xfrm>
            <a:off x="4497884" y="5994301"/>
            <a:ext cx="3286125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9A959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Class activation mapping</a:t>
            </a:r>
            <a:endParaRPr lang="en-US" sz="1600" dirty="0"/>
          </a:p>
        </p:txBody>
      </p:sp>
      <p:sp>
        <p:nvSpPr>
          <p:cNvPr id="97" name="Shape 95"/>
          <p:cNvSpPr/>
          <p:nvPr/>
        </p:nvSpPr>
        <p:spPr>
          <a:xfrm>
            <a:off x="4425454" y="6367363"/>
            <a:ext cx="97234" cy="111125"/>
          </a:xfrm>
          <a:custGeom>
            <a:avLst/>
            <a:gdLst/>
            <a:ahLst/>
            <a:cxnLst/>
            <a:rect l="l" t="t" r="r" b="b"/>
            <a:pathLst>
              <a:path w="97234" h="111125">
                <a:moveTo>
                  <a:pt x="94369" y="15215"/>
                </a:moveTo>
                <a:cubicBezTo>
                  <a:pt x="97473" y="17472"/>
                  <a:pt x="98168" y="21813"/>
                  <a:pt x="95910" y="24916"/>
                </a:cubicBezTo>
                <a:lnTo>
                  <a:pt x="40348" y="101315"/>
                </a:lnTo>
                <a:cubicBezTo>
                  <a:pt x="39154" y="102964"/>
                  <a:pt x="37309" y="103984"/>
                  <a:pt x="35269" y="104158"/>
                </a:cubicBezTo>
                <a:cubicBezTo>
                  <a:pt x="33229" y="104332"/>
                  <a:pt x="31254" y="103572"/>
                  <a:pt x="29821" y="102140"/>
                </a:cubicBezTo>
                <a:lnTo>
                  <a:pt x="2040" y="74358"/>
                </a:lnTo>
                <a:cubicBezTo>
                  <a:pt x="-673" y="71645"/>
                  <a:pt x="-673" y="67239"/>
                  <a:pt x="2040" y="64526"/>
                </a:cubicBezTo>
                <a:cubicBezTo>
                  <a:pt x="4753" y="61813"/>
                  <a:pt x="9159" y="61813"/>
                  <a:pt x="11872" y="64526"/>
                </a:cubicBezTo>
                <a:lnTo>
                  <a:pt x="33902" y="86556"/>
                </a:lnTo>
                <a:lnTo>
                  <a:pt x="84689" y="16734"/>
                </a:lnTo>
                <a:cubicBezTo>
                  <a:pt x="86947" y="13630"/>
                  <a:pt x="91287" y="12936"/>
                  <a:pt x="94391" y="15193"/>
                </a:cubicBezTo>
                <a:close/>
              </a:path>
            </a:pathLst>
          </a:custGeom>
          <a:solidFill>
            <a:srgbClr val="5F737C"/>
          </a:solidFill>
          <a:ln/>
        </p:spPr>
      </p:sp>
      <p:sp>
        <p:nvSpPr>
          <p:cNvPr id="98" name="Text 96"/>
          <p:cNvSpPr/>
          <p:nvPr/>
        </p:nvSpPr>
        <p:spPr>
          <a:xfrm>
            <a:off x="4605040" y="6343551"/>
            <a:ext cx="1135063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9A959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Heatmap visualization</a:t>
            </a:r>
            <a:endParaRPr lang="en-US" sz="1600" dirty="0"/>
          </a:p>
        </p:txBody>
      </p:sp>
      <p:sp>
        <p:nvSpPr>
          <p:cNvPr id="99" name="Shape 97"/>
          <p:cNvSpPr/>
          <p:nvPr/>
        </p:nvSpPr>
        <p:spPr>
          <a:xfrm>
            <a:off x="4425454" y="6557863"/>
            <a:ext cx="97234" cy="111125"/>
          </a:xfrm>
          <a:custGeom>
            <a:avLst/>
            <a:gdLst/>
            <a:ahLst/>
            <a:cxnLst/>
            <a:rect l="l" t="t" r="r" b="b"/>
            <a:pathLst>
              <a:path w="97234" h="111125">
                <a:moveTo>
                  <a:pt x="94369" y="15215"/>
                </a:moveTo>
                <a:cubicBezTo>
                  <a:pt x="97473" y="17472"/>
                  <a:pt x="98168" y="21813"/>
                  <a:pt x="95910" y="24916"/>
                </a:cubicBezTo>
                <a:lnTo>
                  <a:pt x="40348" y="101315"/>
                </a:lnTo>
                <a:cubicBezTo>
                  <a:pt x="39154" y="102964"/>
                  <a:pt x="37309" y="103984"/>
                  <a:pt x="35269" y="104158"/>
                </a:cubicBezTo>
                <a:cubicBezTo>
                  <a:pt x="33229" y="104332"/>
                  <a:pt x="31254" y="103572"/>
                  <a:pt x="29821" y="102140"/>
                </a:cubicBezTo>
                <a:lnTo>
                  <a:pt x="2040" y="74358"/>
                </a:lnTo>
                <a:cubicBezTo>
                  <a:pt x="-673" y="71645"/>
                  <a:pt x="-673" y="67239"/>
                  <a:pt x="2040" y="64526"/>
                </a:cubicBezTo>
                <a:cubicBezTo>
                  <a:pt x="4753" y="61813"/>
                  <a:pt x="9159" y="61813"/>
                  <a:pt x="11872" y="64526"/>
                </a:cubicBezTo>
                <a:lnTo>
                  <a:pt x="33902" y="86556"/>
                </a:lnTo>
                <a:lnTo>
                  <a:pt x="84689" y="16734"/>
                </a:lnTo>
                <a:cubicBezTo>
                  <a:pt x="86947" y="13630"/>
                  <a:pt x="91287" y="12936"/>
                  <a:pt x="94391" y="15193"/>
                </a:cubicBezTo>
                <a:close/>
              </a:path>
            </a:pathLst>
          </a:custGeom>
          <a:solidFill>
            <a:srgbClr val="5F737C"/>
          </a:solidFill>
          <a:ln/>
        </p:spPr>
      </p:sp>
      <p:sp>
        <p:nvSpPr>
          <p:cNvPr id="100" name="Text 98"/>
          <p:cNvSpPr/>
          <p:nvPr/>
        </p:nvSpPr>
        <p:spPr>
          <a:xfrm>
            <a:off x="4605040" y="6534051"/>
            <a:ext cx="1103313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9A959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Model interpretability</a:t>
            </a:r>
            <a:endParaRPr lang="en-US" sz="1600" dirty="0"/>
          </a:p>
        </p:txBody>
      </p:sp>
      <p:sp>
        <p:nvSpPr>
          <p:cNvPr id="101" name="Shape 99"/>
          <p:cNvSpPr/>
          <p:nvPr/>
        </p:nvSpPr>
        <p:spPr>
          <a:xfrm>
            <a:off x="8113117" y="5159276"/>
            <a:ext cx="3751263" cy="1711325"/>
          </a:xfrm>
          <a:prstGeom prst="roundRect">
            <a:avLst>
              <a:gd name="adj" fmla="val 3711"/>
            </a:avLst>
          </a:prstGeom>
          <a:gradFill rotWithShape="1" flip="none">
            <a:gsLst>
              <a:gs pos="0">
                <a:srgbClr val="D4A373">
                  <a:alpha val="20000"/>
                </a:srgbClr>
              </a:gs>
              <a:gs pos="100000">
                <a:srgbClr val="5F737C">
                  <a:alpha val="10000"/>
                </a:srgbClr>
              </a:gs>
            </a:gsLst>
            <a:lin ang="2700000" scaled="1"/>
          </a:gradFill>
          <a:ln w="20320">
            <a:solidFill>
              <a:srgbClr val="D4A373">
                <a:alpha val="60000"/>
              </a:srgbClr>
            </a:solidFill>
            <a:prstDash val="solid"/>
          </a:ln>
        </p:spPr>
      </p:sp>
      <p:sp>
        <p:nvSpPr>
          <p:cNvPr id="102" name="Shape 100"/>
          <p:cNvSpPr/>
          <p:nvPr/>
        </p:nvSpPr>
        <p:spPr>
          <a:xfrm>
            <a:off x="8309968" y="5324377"/>
            <a:ext cx="238125" cy="238125"/>
          </a:xfrm>
          <a:custGeom>
            <a:avLst/>
            <a:gdLst/>
            <a:ahLst/>
            <a:cxnLst/>
            <a:rect l="l" t="t" r="r" b="b"/>
            <a:pathLst>
              <a:path w="238125" h="238125">
                <a:moveTo>
                  <a:pt x="29766" y="14883"/>
                </a:moveTo>
                <a:cubicBezTo>
                  <a:pt x="13348" y="14883"/>
                  <a:pt x="0" y="28231"/>
                  <a:pt x="0" y="44648"/>
                </a:cubicBezTo>
                <a:lnTo>
                  <a:pt x="0" y="163711"/>
                </a:lnTo>
                <a:cubicBezTo>
                  <a:pt x="0" y="180129"/>
                  <a:pt x="13348" y="193477"/>
                  <a:pt x="29766" y="193477"/>
                </a:cubicBezTo>
                <a:lnTo>
                  <a:pt x="96738" y="193477"/>
                </a:lnTo>
                <a:lnTo>
                  <a:pt x="89297" y="215801"/>
                </a:lnTo>
                <a:lnTo>
                  <a:pt x="55811" y="215801"/>
                </a:lnTo>
                <a:cubicBezTo>
                  <a:pt x="49625" y="215801"/>
                  <a:pt x="44648" y="220777"/>
                  <a:pt x="44648" y="226963"/>
                </a:cubicBezTo>
                <a:cubicBezTo>
                  <a:pt x="44648" y="233149"/>
                  <a:pt x="49625" y="238125"/>
                  <a:pt x="55811" y="238125"/>
                </a:cubicBezTo>
                <a:lnTo>
                  <a:pt x="182314" y="238125"/>
                </a:lnTo>
                <a:cubicBezTo>
                  <a:pt x="188500" y="238125"/>
                  <a:pt x="193477" y="233149"/>
                  <a:pt x="193477" y="226963"/>
                </a:cubicBezTo>
                <a:cubicBezTo>
                  <a:pt x="193477" y="220777"/>
                  <a:pt x="188500" y="215801"/>
                  <a:pt x="182314" y="215801"/>
                </a:cubicBezTo>
                <a:lnTo>
                  <a:pt x="148828" y="215801"/>
                </a:lnTo>
                <a:lnTo>
                  <a:pt x="141387" y="193477"/>
                </a:lnTo>
                <a:lnTo>
                  <a:pt x="208359" y="193477"/>
                </a:lnTo>
                <a:cubicBezTo>
                  <a:pt x="224777" y="193477"/>
                  <a:pt x="238125" y="180129"/>
                  <a:pt x="238125" y="163711"/>
                </a:cubicBezTo>
                <a:lnTo>
                  <a:pt x="238125" y="44648"/>
                </a:lnTo>
                <a:cubicBezTo>
                  <a:pt x="238125" y="28231"/>
                  <a:pt x="224777" y="14883"/>
                  <a:pt x="208359" y="14883"/>
                </a:cubicBezTo>
                <a:lnTo>
                  <a:pt x="29766" y="14883"/>
                </a:lnTo>
                <a:close/>
                <a:moveTo>
                  <a:pt x="44648" y="44648"/>
                </a:moveTo>
                <a:lnTo>
                  <a:pt x="193477" y="44648"/>
                </a:lnTo>
                <a:cubicBezTo>
                  <a:pt x="201709" y="44648"/>
                  <a:pt x="208359" y="51299"/>
                  <a:pt x="208359" y="59531"/>
                </a:cubicBezTo>
                <a:lnTo>
                  <a:pt x="208359" y="133945"/>
                </a:lnTo>
                <a:cubicBezTo>
                  <a:pt x="208359" y="142177"/>
                  <a:pt x="201709" y="148828"/>
                  <a:pt x="193477" y="148828"/>
                </a:cubicBezTo>
                <a:lnTo>
                  <a:pt x="44648" y="148828"/>
                </a:lnTo>
                <a:cubicBezTo>
                  <a:pt x="36416" y="148828"/>
                  <a:pt x="29766" y="142177"/>
                  <a:pt x="29766" y="133945"/>
                </a:cubicBezTo>
                <a:lnTo>
                  <a:pt x="29766" y="59531"/>
                </a:lnTo>
                <a:cubicBezTo>
                  <a:pt x="29766" y="51299"/>
                  <a:pt x="36416" y="44648"/>
                  <a:pt x="44648" y="44648"/>
                </a:cubicBezTo>
                <a:close/>
              </a:path>
            </a:pathLst>
          </a:custGeom>
          <a:solidFill>
            <a:srgbClr val="D4A373"/>
          </a:solidFill>
          <a:ln/>
        </p:spPr>
      </p:sp>
      <p:sp>
        <p:nvSpPr>
          <p:cNvPr id="103" name="Text 101"/>
          <p:cNvSpPr/>
          <p:nvPr/>
        </p:nvSpPr>
        <p:spPr>
          <a:xfrm>
            <a:off x="8671124" y="5332314"/>
            <a:ext cx="706438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50" b="1" dirty="0">
                <a:solidFill>
                  <a:srgbClr val="D4A37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Interface</a:t>
            </a:r>
            <a:endParaRPr lang="en-US" sz="1600" dirty="0"/>
          </a:p>
        </p:txBody>
      </p:sp>
      <p:sp>
        <p:nvSpPr>
          <p:cNvPr id="104" name="Shape 102"/>
          <p:cNvSpPr/>
          <p:nvPr/>
        </p:nvSpPr>
        <p:spPr>
          <a:xfrm>
            <a:off x="8278218" y="5689502"/>
            <a:ext cx="3421063" cy="571500"/>
          </a:xfrm>
          <a:prstGeom prst="roundRect">
            <a:avLst>
              <a:gd name="adj" fmla="val 11111"/>
            </a:avLst>
          </a:prstGeom>
          <a:solidFill>
            <a:srgbClr val="1A1D21">
              <a:alpha val="60000"/>
            </a:srgbClr>
          </a:solidFill>
          <a:ln/>
        </p:spPr>
      </p:sp>
      <p:sp>
        <p:nvSpPr>
          <p:cNvPr id="105" name="Text 103"/>
          <p:cNvSpPr/>
          <p:nvPr/>
        </p:nvSpPr>
        <p:spPr>
          <a:xfrm>
            <a:off x="8373468" y="5784752"/>
            <a:ext cx="3302000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5" b="1" dirty="0">
                <a:solidFill>
                  <a:srgbClr val="F0F2F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Streamlit</a:t>
            </a:r>
            <a:endParaRPr lang="en-US" sz="1600" dirty="0"/>
          </a:p>
        </p:txBody>
      </p:sp>
      <p:sp>
        <p:nvSpPr>
          <p:cNvPr id="106" name="Text 104"/>
          <p:cNvSpPr/>
          <p:nvPr/>
        </p:nvSpPr>
        <p:spPr>
          <a:xfrm>
            <a:off x="8373468" y="6007002"/>
            <a:ext cx="3286125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9A959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Interactive web application</a:t>
            </a:r>
            <a:endParaRPr lang="en-US" sz="1600" dirty="0"/>
          </a:p>
        </p:txBody>
      </p:sp>
      <p:sp>
        <p:nvSpPr>
          <p:cNvPr id="107" name="Shape 105"/>
          <p:cNvSpPr/>
          <p:nvPr/>
        </p:nvSpPr>
        <p:spPr>
          <a:xfrm>
            <a:off x="8301038" y="6380064"/>
            <a:ext cx="97234" cy="111125"/>
          </a:xfrm>
          <a:custGeom>
            <a:avLst/>
            <a:gdLst/>
            <a:ahLst/>
            <a:cxnLst/>
            <a:rect l="l" t="t" r="r" b="b"/>
            <a:pathLst>
              <a:path w="97234" h="111125">
                <a:moveTo>
                  <a:pt x="94369" y="15215"/>
                </a:moveTo>
                <a:cubicBezTo>
                  <a:pt x="97473" y="17472"/>
                  <a:pt x="98168" y="21813"/>
                  <a:pt x="95910" y="24916"/>
                </a:cubicBezTo>
                <a:lnTo>
                  <a:pt x="40348" y="101315"/>
                </a:lnTo>
                <a:cubicBezTo>
                  <a:pt x="39154" y="102964"/>
                  <a:pt x="37309" y="103984"/>
                  <a:pt x="35269" y="104158"/>
                </a:cubicBezTo>
                <a:cubicBezTo>
                  <a:pt x="33229" y="104332"/>
                  <a:pt x="31254" y="103572"/>
                  <a:pt x="29821" y="102140"/>
                </a:cubicBezTo>
                <a:lnTo>
                  <a:pt x="2040" y="74358"/>
                </a:lnTo>
                <a:cubicBezTo>
                  <a:pt x="-673" y="71645"/>
                  <a:pt x="-673" y="67239"/>
                  <a:pt x="2040" y="64526"/>
                </a:cubicBezTo>
                <a:cubicBezTo>
                  <a:pt x="4753" y="61813"/>
                  <a:pt x="9159" y="61813"/>
                  <a:pt x="11872" y="64526"/>
                </a:cubicBezTo>
                <a:lnTo>
                  <a:pt x="33902" y="86556"/>
                </a:lnTo>
                <a:lnTo>
                  <a:pt x="84689" y="16734"/>
                </a:lnTo>
                <a:cubicBezTo>
                  <a:pt x="86947" y="13630"/>
                  <a:pt x="91287" y="12936"/>
                  <a:pt x="94391" y="15193"/>
                </a:cubicBezTo>
                <a:close/>
              </a:path>
            </a:pathLst>
          </a:custGeom>
          <a:solidFill>
            <a:srgbClr val="D4A373"/>
          </a:solidFill>
          <a:ln/>
        </p:spPr>
      </p:sp>
      <p:sp>
        <p:nvSpPr>
          <p:cNvPr id="108" name="Text 106"/>
          <p:cNvSpPr/>
          <p:nvPr/>
        </p:nvSpPr>
        <p:spPr>
          <a:xfrm>
            <a:off x="8480624" y="6356252"/>
            <a:ext cx="1000125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9A959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Rapid development</a:t>
            </a:r>
            <a:endParaRPr lang="en-US" sz="1600" dirty="0"/>
          </a:p>
        </p:txBody>
      </p:sp>
      <p:sp>
        <p:nvSpPr>
          <p:cNvPr id="109" name="Shape 107"/>
          <p:cNvSpPr/>
          <p:nvPr/>
        </p:nvSpPr>
        <p:spPr>
          <a:xfrm>
            <a:off x="8301038" y="6570564"/>
            <a:ext cx="97234" cy="111125"/>
          </a:xfrm>
          <a:custGeom>
            <a:avLst/>
            <a:gdLst/>
            <a:ahLst/>
            <a:cxnLst/>
            <a:rect l="l" t="t" r="r" b="b"/>
            <a:pathLst>
              <a:path w="97234" h="111125">
                <a:moveTo>
                  <a:pt x="94369" y="15215"/>
                </a:moveTo>
                <a:cubicBezTo>
                  <a:pt x="97473" y="17472"/>
                  <a:pt x="98168" y="21813"/>
                  <a:pt x="95910" y="24916"/>
                </a:cubicBezTo>
                <a:lnTo>
                  <a:pt x="40348" y="101315"/>
                </a:lnTo>
                <a:cubicBezTo>
                  <a:pt x="39154" y="102964"/>
                  <a:pt x="37309" y="103984"/>
                  <a:pt x="35269" y="104158"/>
                </a:cubicBezTo>
                <a:cubicBezTo>
                  <a:pt x="33229" y="104332"/>
                  <a:pt x="31254" y="103572"/>
                  <a:pt x="29821" y="102140"/>
                </a:cubicBezTo>
                <a:lnTo>
                  <a:pt x="2040" y="74358"/>
                </a:lnTo>
                <a:cubicBezTo>
                  <a:pt x="-673" y="71645"/>
                  <a:pt x="-673" y="67239"/>
                  <a:pt x="2040" y="64526"/>
                </a:cubicBezTo>
                <a:cubicBezTo>
                  <a:pt x="4753" y="61813"/>
                  <a:pt x="9159" y="61813"/>
                  <a:pt x="11872" y="64526"/>
                </a:cubicBezTo>
                <a:lnTo>
                  <a:pt x="33902" y="86556"/>
                </a:lnTo>
                <a:lnTo>
                  <a:pt x="84689" y="16734"/>
                </a:lnTo>
                <a:cubicBezTo>
                  <a:pt x="86947" y="13630"/>
                  <a:pt x="91287" y="12936"/>
                  <a:pt x="94391" y="15193"/>
                </a:cubicBezTo>
                <a:close/>
              </a:path>
            </a:pathLst>
          </a:custGeom>
          <a:solidFill>
            <a:srgbClr val="D4A373"/>
          </a:solidFill>
          <a:ln/>
        </p:spPr>
      </p:sp>
      <p:sp>
        <p:nvSpPr>
          <p:cNvPr id="110" name="Text 108"/>
          <p:cNvSpPr/>
          <p:nvPr/>
        </p:nvSpPr>
        <p:spPr>
          <a:xfrm>
            <a:off x="8480624" y="6546752"/>
            <a:ext cx="1079500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9A959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Real-time interaction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A1D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39610" y="339610"/>
            <a:ext cx="67922" cy="407532"/>
          </a:xfrm>
          <a:prstGeom prst="roundRect">
            <a:avLst>
              <a:gd name="adj" fmla="val 0"/>
            </a:avLst>
          </a:prstGeom>
          <a:solidFill>
            <a:srgbClr val="D4A373"/>
          </a:solidFill>
          <a:ln/>
        </p:spPr>
      </p:sp>
      <p:sp>
        <p:nvSpPr>
          <p:cNvPr id="3" name="Text 1"/>
          <p:cNvSpPr/>
          <p:nvPr/>
        </p:nvSpPr>
        <p:spPr>
          <a:xfrm>
            <a:off x="509415" y="339610"/>
            <a:ext cx="3073471" cy="4075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209" b="1" dirty="0">
                <a:solidFill>
                  <a:srgbClr val="F0F2F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Results &amp; Demo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509415" y="815064"/>
            <a:ext cx="11427877" cy="23772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37" dirty="0">
                <a:solidFill>
                  <a:srgbClr val="9A959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Performance Metrics and System Demonstration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46402" y="1195427"/>
            <a:ext cx="5659601" cy="1915401"/>
          </a:xfrm>
          <a:prstGeom prst="roundRect">
            <a:avLst>
              <a:gd name="adj" fmla="val 3546"/>
            </a:avLst>
          </a:prstGeom>
          <a:gradFill rotWithShape="1" flip="none">
            <a:gsLst>
              <a:gs pos="0">
                <a:srgbClr val="D4A373">
                  <a:alpha val="30000"/>
                </a:srgbClr>
              </a:gs>
              <a:gs pos="100000">
                <a:srgbClr val="5F737C">
                  <a:alpha val="20000"/>
                </a:srgbClr>
              </a:gs>
            </a:gsLst>
            <a:lin ang="2700000" scaled="1"/>
          </a:gradFill>
          <a:ln w="20320">
            <a:solidFill>
              <a:srgbClr val="D4A373">
                <a:alpha val="6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56960" y="1380408"/>
            <a:ext cx="254708" cy="254708"/>
          </a:xfrm>
          <a:custGeom>
            <a:avLst/>
            <a:gdLst/>
            <a:ahLst/>
            <a:cxnLst/>
            <a:rect l="l" t="t" r="r" b="b"/>
            <a:pathLst>
              <a:path w="254708" h="254708">
                <a:moveTo>
                  <a:pt x="71786" y="0"/>
                </a:moveTo>
                <a:lnTo>
                  <a:pt x="183220" y="0"/>
                </a:lnTo>
                <a:cubicBezTo>
                  <a:pt x="196403" y="0"/>
                  <a:pt x="207149" y="10845"/>
                  <a:pt x="206651" y="23978"/>
                </a:cubicBezTo>
                <a:cubicBezTo>
                  <a:pt x="206552" y="26615"/>
                  <a:pt x="206452" y="29252"/>
                  <a:pt x="206303" y="31838"/>
                </a:cubicBezTo>
                <a:lnTo>
                  <a:pt x="230978" y="31838"/>
                </a:lnTo>
                <a:cubicBezTo>
                  <a:pt x="243962" y="31838"/>
                  <a:pt x="255404" y="42584"/>
                  <a:pt x="254409" y="56613"/>
                </a:cubicBezTo>
                <a:cubicBezTo>
                  <a:pt x="250678" y="108201"/>
                  <a:pt x="224312" y="136557"/>
                  <a:pt x="195707" y="151382"/>
                </a:cubicBezTo>
                <a:cubicBezTo>
                  <a:pt x="187847" y="155461"/>
                  <a:pt x="179837" y="158496"/>
                  <a:pt x="172226" y="160734"/>
                </a:cubicBezTo>
                <a:cubicBezTo>
                  <a:pt x="162177" y="174962"/>
                  <a:pt x="151730" y="182474"/>
                  <a:pt x="143422" y="186504"/>
                </a:cubicBezTo>
                <a:lnTo>
                  <a:pt x="143422" y="222869"/>
                </a:lnTo>
                <a:lnTo>
                  <a:pt x="175261" y="222869"/>
                </a:lnTo>
                <a:cubicBezTo>
                  <a:pt x="184066" y="222869"/>
                  <a:pt x="191180" y="229983"/>
                  <a:pt x="191180" y="238788"/>
                </a:cubicBezTo>
                <a:cubicBezTo>
                  <a:pt x="191180" y="247594"/>
                  <a:pt x="184066" y="254708"/>
                  <a:pt x="175261" y="254708"/>
                </a:cubicBezTo>
                <a:lnTo>
                  <a:pt x="79745" y="254708"/>
                </a:lnTo>
                <a:cubicBezTo>
                  <a:pt x="70940" y="254708"/>
                  <a:pt x="63826" y="247594"/>
                  <a:pt x="63826" y="238788"/>
                </a:cubicBezTo>
                <a:cubicBezTo>
                  <a:pt x="63826" y="229983"/>
                  <a:pt x="70940" y="222869"/>
                  <a:pt x="79745" y="222869"/>
                </a:cubicBezTo>
                <a:lnTo>
                  <a:pt x="111584" y="222869"/>
                </a:lnTo>
                <a:lnTo>
                  <a:pt x="111584" y="186504"/>
                </a:lnTo>
                <a:cubicBezTo>
                  <a:pt x="103624" y="182673"/>
                  <a:pt x="93724" y="175559"/>
                  <a:pt x="84073" y="162476"/>
                </a:cubicBezTo>
                <a:cubicBezTo>
                  <a:pt x="74920" y="160088"/>
                  <a:pt x="64970" y="156456"/>
                  <a:pt x="55270" y="150984"/>
                </a:cubicBezTo>
                <a:cubicBezTo>
                  <a:pt x="28356" y="135910"/>
                  <a:pt x="4079" y="107504"/>
                  <a:pt x="597" y="56513"/>
                </a:cubicBezTo>
                <a:cubicBezTo>
                  <a:pt x="-348" y="42534"/>
                  <a:pt x="11044" y="31789"/>
                  <a:pt x="24028" y="31789"/>
                </a:cubicBezTo>
                <a:lnTo>
                  <a:pt x="48703" y="31789"/>
                </a:lnTo>
                <a:cubicBezTo>
                  <a:pt x="48554" y="29202"/>
                  <a:pt x="48454" y="26615"/>
                  <a:pt x="48355" y="23929"/>
                </a:cubicBezTo>
                <a:cubicBezTo>
                  <a:pt x="47857" y="10745"/>
                  <a:pt x="58603" y="-50"/>
                  <a:pt x="71786" y="-50"/>
                </a:cubicBezTo>
                <a:close/>
                <a:moveTo>
                  <a:pt x="50494" y="55717"/>
                </a:moveTo>
                <a:lnTo>
                  <a:pt x="24426" y="55717"/>
                </a:lnTo>
                <a:cubicBezTo>
                  <a:pt x="27510" y="97853"/>
                  <a:pt x="46862" y="118946"/>
                  <a:pt x="66811" y="130140"/>
                </a:cubicBezTo>
                <a:cubicBezTo>
                  <a:pt x="59647" y="111584"/>
                  <a:pt x="53727" y="87357"/>
                  <a:pt x="50494" y="55717"/>
                </a:cubicBezTo>
                <a:close/>
                <a:moveTo>
                  <a:pt x="189041" y="127752"/>
                </a:moveTo>
                <a:cubicBezTo>
                  <a:pt x="209189" y="115912"/>
                  <a:pt x="227396" y="94869"/>
                  <a:pt x="230480" y="55717"/>
                </a:cubicBezTo>
                <a:lnTo>
                  <a:pt x="204462" y="55717"/>
                </a:lnTo>
                <a:cubicBezTo>
                  <a:pt x="201378" y="86014"/>
                  <a:pt x="195806" y="109544"/>
                  <a:pt x="189041" y="127752"/>
                </a:cubicBezTo>
                <a:close/>
              </a:path>
            </a:pathLst>
          </a:custGeom>
          <a:solidFill>
            <a:srgbClr val="D4A373"/>
          </a:solidFill>
          <a:ln/>
        </p:spPr>
      </p:sp>
      <p:sp>
        <p:nvSpPr>
          <p:cNvPr id="7" name="Text 5"/>
          <p:cNvSpPr/>
          <p:nvPr/>
        </p:nvSpPr>
        <p:spPr>
          <a:xfrm>
            <a:off x="943267" y="1372025"/>
            <a:ext cx="1876345" cy="271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604" b="1" dirty="0">
                <a:solidFill>
                  <a:srgbClr val="F0F2F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Model Performance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522999" y="1779450"/>
            <a:ext cx="2589526" cy="1154674"/>
          </a:xfrm>
          <a:prstGeom prst="roundRect">
            <a:avLst>
              <a:gd name="adj" fmla="val 5882"/>
            </a:avLst>
          </a:prstGeom>
          <a:solidFill>
            <a:srgbClr val="1A1D21">
              <a:alpha val="60000"/>
            </a:srgbClr>
          </a:solidFill>
          <a:ln/>
        </p:spPr>
      </p:sp>
      <p:sp>
        <p:nvSpPr>
          <p:cNvPr id="9" name="Text 7"/>
          <p:cNvSpPr/>
          <p:nvPr/>
        </p:nvSpPr>
        <p:spPr>
          <a:xfrm>
            <a:off x="629128" y="1915294"/>
            <a:ext cx="2377270" cy="1698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936" dirty="0">
                <a:solidFill>
                  <a:srgbClr val="9A959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Test Accuracy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556960" y="2153021"/>
            <a:ext cx="2521604" cy="4075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80000"/>
              </a:lnSpc>
            </a:pPr>
            <a:r>
              <a:rPr lang="en-US" sz="3209" b="1" dirty="0">
                <a:solidFill>
                  <a:srgbClr val="D4A37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~80%+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29128" y="2628475"/>
            <a:ext cx="2377270" cy="1698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936" dirty="0">
                <a:solidFill>
                  <a:srgbClr val="9A959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On test datasets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3244125" y="1779450"/>
            <a:ext cx="2589526" cy="1154674"/>
          </a:xfrm>
          <a:prstGeom prst="roundRect">
            <a:avLst>
              <a:gd name="adj" fmla="val 5882"/>
            </a:avLst>
          </a:prstGeom>
          <a:solidFill>
            <a:srgbClr val="1A1D21">
              <a:alpha val="60000"/>
            </a:srgbClr>
          </a:solidFill>
          <a:ln/>
        </p:spPr>
      </p:sp>
      <p:sp>
        <p:nvSpPr>
          <p:cNvPr id="13" name="Text 11"/>
          <p:cNvSpPr/>
          <p:nvPr/>
        </p:nvSpPr>
        <p:spPr>
          <a:xfrm>
            <a:off x="3350253" y="1915294"/>
            <a:ext cx="2377270" cy="1698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936" dirty="0">
                <a:solidFill>
                  <a:srgbClr val="9A959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Visual Detection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3303557" y="2153021"/>
            <a:ext cx="2470663" cy="3396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90000"/>
              </a:lnSpc>
            </a:pPr>
            <a:r>
              <a:rPr lang="en-US" sz="2407" b="1" dirty="0">
                <a:solidFill>
                  <a:srgbClr val="5F737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✓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3350253" y="2560553"/>
            <a:ext cx="2377270" cy="1698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936" dirty="0">
                <a:solidFill>
                  <a:srgbClr val="9A959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Artifacts detected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356591" y="3253358"/>
            <a:ext cx="5654507" cy="1528245"/>
          </a:xfrm>
          <a:custGeom>
            <a:avLst/>
            <a:gdLst/>
            <a:ahLst/>
            <a:cxnLst/>
            <a:rect l="l" t="t" r="r" b="b"/>
            <a:pathLst>
              <a:path w="5654507" h="1528245">
                <a:moveTo>
                  <a:pt x="33909" y="0"/>
                </a:moveTo>
                <a:lnTo>
                  <a:pt x="5586603" y="0"/>
                </a:lnTo>
                <a:cubicBezTo>
                  <a:pt x="5624128" y="0"/>
                  <a:pt x="5654548" y="30420"/>
                  <a:pt x="5654548" y="67945"/>
                </a:cubicBezTo>
                <a:lnTo>
                  <a:pt x="5654548" y="1460373"/>
                </a:lnTo>
                <a:cubicBezTo>
                  <a:pt x="5654478" y="1497848"/>
                  <a:pt x="5624078" y="1528191"/>
                  <a:pt x="5586603" y="1528191"/>
                </a:cubicBezTo>
                <a:lnTo>
                  <a:pt x="33909" y="1528191"/>
                </a:lnTo>
                <a:cubicBezTo>
                  <a:pt x="15182" y="1528191"/>
                  <a:pt x="0" y="1513009"/>
                  <a:pt x="0" y="1494282"/>
                </a:cubicBezTo>
                <a:lnTo>
                  <a:pt x="0" y="33909"/>
                </a:lnTo>
                <a:cubicBezTo>
                  <a:pt x="0" y="15194"/>
                  <a:pt x="15194" y="0"/>
                  <a:pt x="33909" y="0"/>
                </a:cubicBezTo>
                <a:close/>
              </a:path>
            </a:pathLst>
          </a:custGeom>
          <a:gradFill rotWithShape="1" flip="none">
            <a:gsLst>
              <a:gs pos="0">
                <a:srgbClr val="5F737C">
                  <a:alpha val="30000"/>
                </a:srgbClr>
              </a:gs>
              <a:gs pos="100000">
                <a:srgbClr val="4A5C6A">
                  <a:alpha val="20000"/>
                </a:srgbClr>
              </a:gs>
            </a:gsLst>
            <a:lin ang="2700000" scaled="1"/>
          </a:gradFill>
          <a:ln/>
        </p:spPr>
      </p:sp>
      <p:sp>
        <p:nvSpPr>
          <p:cNvPr id="17" name="Shape 15"/>
          <p:cNvSpPr/>
          <p:nvPr/>
        </p:nvSpPr>
        <p:spPr>
          <a:xfrm>
            <a:off x="356591" y="3253358"/>
            <a:ext cx="33961" cy="1528245"/>
          </a:xfrm>
          <a:custGeom>
            <a:avLst/>
            <a:gdLst/>
            <a:ahLst/>
            <a:cxnLst/>
            <a:rect l="l" t="t" r="r" b="b"/>
            <a:pathLst>
              <a:path w="33961" h="1528245">
                <a:moveTo>
                  <a:pt x="33909" y="0"/>
                </a:moveTo>
                <a:lnTo>
                  <a:pt x="33909" y="0"/>
                </a:lnTo>
                <a:lnTo>
                  <a:pt x="33909" y="1528191"/>
                </a:lnTo>
                <a:lnTo>
                  <a:pt x="33909" y="1528191"/>
                </a:lnTo>
                <a:cubicBezTo>
                  <a:pt x="15182" y="1528191"/>
                  <a:pt x="0" y="1513009"/>
                  <a:pt x="0" y="1494282"/>
                </a:cubicBezTo>
                <a:lnTo>
                  <a:pt x="0" y="33909"/>
                </a:lnTo>
                <a:cubicBezTo>
                  <a:pt x="0" y="15194"/>
                  <a:pt x="15194" y="0"/>
                  <a:pt x="33909" y="0"/>
                </a:cubicBezTo>
                <a:close/>
              </a:path>
            </a:pathLst>
          </a:custGeom>
          <a:solidFill>
            <a:srgbClr val="D4A373"/>
          </a:solidFill>
          <a:ln/>
        </p:spPr>
      </p:sp>
      <p:sp>
        <p:nvSpPr>
          <p:cNvPr id="18" name="Shape 16"/>
          <p:cNvSpPr/>
          <p:nvPr/>
        </p:nvSpPr>
        <p:spPr>
          <a:xfrm>
            <a:off x="564602" y="3450333"/>
            <a:ext cx="169805" cy="169805"/>
          </a:xfrm>
          <a:custGeom>
            <a:avLst/>
            <a:gdLst/>
            <a:ahLst/>
            <a:cxnLst/>
            <a:rect l="l" t="t" r="r" b="b"/>
            <a:pathLst>
              <a:path w="169805" h="169805">
                <a:moveTo>
                  <a:pt x="84903" y="169805"/>
                </a:moveTo>
                <a:cubicBezTo>
                  <a:pt x="131761" y="169805"/>
                  <a:pt x="169805" y="131761"/>
                  <a:pt x="169805" y="84903"/>
                </a:cubicBezTo>
                <a:cubicBezTo>
                  <a:pt x="169805" y="38044"/>
                  <a:pt x="131761" y="0"/>
                  <a:pt x="84903" y="0"/>
                </a:cubicBezTo>
                <a:cubicBezTo>
                  <a:pt x="38044" y="0"/>
                  <a:pt x="0" y="38044"/>
                  <a:pt x="0" y="84903"/>
                </a:cubicBezTo>
                <a:cubicBezTo>
                  <a:pt x="0" y="131761"/>
                  <a:pt x="38044" y="169805"/>
                  <a:pt x="84903" y="169805"/>
                </a:cubicBezTo>
                <a:close/>
                <a:moveTo>
                  <a:pt x="112894" y="70542"/>
                </a:moveTo>
                <a:lnTo>
                  <a:pt x="86362" y="112993"/>
                </a:lnTo>
                <a:cubicBezTo>
                  <a:pt x="84969" y="115215"/>
                  <a:pt x="82581" y="116608"/>
                  <a:pt x="79961" y="116741"/>
                </a:cubicBezTo>
                <a:cubicBezTo>
                  <a:pt x="77341" y="116874"/>
                  <a:pt x="74820" y="115680"/>
                  <a:pt x="73262" y="113557"/>
                </a:cubicBezTo>
                <a:lnTo>
                  <a:pt x="57342" y="92331"/>
                </a:lnTo>
                <a:cubicBezTo>
                  <a:pt x="54689" y="88816"/>
                  <a:pt x="55419" y="83841"/>
                  <a:pt x="58934" y="81188"/>
                </a:cubicBezTo>
                <a:cubicBezTo>
                  <a:pt x="62450" y="78535"/>
                  <a:pt x="67425" y="79264"/>
                  <a:pt x="70078" y="82780"/>
                </a:cubicBezTo>
                <a:lnTo>
                  <a:pt x="79032" y="94719"/>
                </a:lnTo>
                <a:lnTo>
                  <a:pt x="99396" y="62118"/>
                </a:lnTo>
                <a:cubicBezTo>
                  <a:pt x="101717" y="58404"/>
                  <a:pt x="106626" y="57243"/>
                  <a:pt x="110373" y="59598"/>
                </a:cubicBezTo>
                <a:cubicBezTo>
                  <a:pt x="114121" y="61952"/>
                  <a:pt x="115249" y="66828"/>
                  <a:pt x="112894" y="70575"/>
                </a:cubicBezTo>
                <a:close/>
              </a:path>
            </a:pathLst>
          </a:custGeom>
          <a:solidFill>
            <a:srgbClr val="D4A373"/>
          </a:solidFill>
          <a:ln/>
        </p:spPr>
      </p:sp>
      <p:sp>
        <p:nvSpPr>
          <p:cNvPr id="19" name="Text 17"/>
          <p:cNvSpPr/>
          <p:nvPr/>
        </p:nvSpPr>
        <p:spPr>
          <a:xfrm>
            <a:off x="801040" y="3423163"/>
            <a:ext cx="5125155" cy="23772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37" b="1" dirty="0">
                <a:solidFill>
                  <a:srgbClr val="F0F2F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Successful Detections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575214" y="3796734"/>
            <a:ext cx="148579" cy="169805"/>
          </a:xfrm>
          <a:custGeom>
            <a:avLst/>
            <a:gdLst/>
            <a:ahLst/>
            <a:cxnLst/>
            <a:rect l="l" t="t" r="r" b="b"/>
            <a:pathLst>
              <a:path w="148579" h="169805">
                <a:moveTo>
                  <a:pt x="21226" y="10613"/>
                </a:moveTo>
                <a:cubicBezTo>
                  <a:pt x="9518" y="10613"/>
                  <a:pt x="0" y="20131"/>
                  <a:pt x="0" y="31838"/>
                </a:cubicBezTo>
                <a:lnTo>
                  <a:pt x="0" y="137967"/>
                </a:lnTo>
                <a:cubicBezTo>
                  <a:pt x="0" y="149674"/>
                  <a:pt x="9518" y="159192"/>
                  <a:pt x="21226" y="159192"/>
                </a:cubicBezTo>
                <a:lnTo>
                  <a:pt x="127354" y="159192"/>
                </a:lnTo>
                <a:cubicBezTo>
                  <a:pt x="139061" y="159192"/>
                  <a:pt x="148579" y="149674"/>
                  <a:pt x="148579" y="137967"/>
                </a:cubicBezTo>
                <a:lnTo>
                  <a:pt x="148579" y="31838"/>
                </a:lnTo>
                <a:cubicBezTo>
                  <a:pt x="148579" y="20131"/>
                  <a:pt x="139061" y="10613"/>
                  <a:pt x="127354" y="10613"/>
                </a:cubicBezTo>
                <a:lnTo>
                  <a:pt x="21226" y="10613"/>
                </a:lnTo>
                <a:close/>
                <a:moveTo>
                  <a:pt x="42451" y="37145"/>
                </a:moveTo>
                <a:cubicBezTo>
                  <a:pt x="51237" y="37145"/>
                  <a:pt x="58370" y="44278"/>
                  <a:pt x="58370" y="53064"/>
                </a:cubicBezTo>
                <a:cubicBezTo>
                  <a:pt x="58370" y="61850"/>
                  <a:pt x="51237" y="68983"/>
                  <a:pt x="42451" y="68983"/>
                </a:cubicBezTo>
                <a:cubicBezTo>
                  <a:pt x="33665" y="68983"/>
                  <a:pt x="26532" y="61850"/>
                  <a:pt x="26532" y="53064"/>
                </a:cubicBezTo>
                <a:cubicBezTo>
                  <a:pt x="26532" y="44278"/>
                  <a:pt x="33665" y="37145"/>
                  <a:pt x="42451" y="37145"/>
                </a:cubicBezTo>
                <a:close/>
                <a:moveTo>
                  <a:pt x="90209" y="74290"/>
                </a:moveTo>
                <a:cubicBezTo>
                  <a:pt x="92995" y="74290"/>
                  <a:pt x="95548" y="75749"/>
                  <a:pt x="97008" y="78104"/>
                </a:cubicBezTo>
                <a:lnTo>
                  <a:pt x="126193" y="125861"/>
                </a:lnTo>
                <a:cubicBezTo>
                  <a:pt x="127685" y="128316"/>
                  <a:pt x="127752" y="131400"/>
                  <a:pt x="126359" y="133920"/>
                </a:cubicBezTo>
                <a:cubicBezTo>
                  <a:pt x="124966" y="136441"/>
                  <a:pt x="122280" y="137967"/>
                  <a:pt x="119394" y="137967"/>
                </a:cubicBezTo>
                <a:lnTo>
                  <a:pt x="29185" y="137967"/>
                </a:lnTo>
                <a:cubicBezTo>
                  <a:pt x="26234" y="137967"/>
                  <a:pt x="23481" y="136308"/>
                  <a:pt x="22121" y="133688"/>
                </a:cubicBezTo>
                <a:cubicBezTo>
                  <a:pt x="20761" y="131068"/>
                  <a:pt x="20960" y="127884"/>
                  <a:pt x="22652" y="125463"/>
                </a:cubicBezTo>
                <a:lnTo>
                  <a:pt x="41224" y="98931"/>
                </a:lnTo>
                <a:cubicBezTo>
                  <a:pt x="42717" y="96809"/>
                  <a:pt x="45138" y="95548"/>
                  <a:pt x="47758" y="95548"/>
                </a:cubicBezTo>
                <a:cubicBezTo>
                  <a:pt x="50378" y="95548"/>
                  <a:pt x="52799" y="96809"/>
                  <a:pt x="54291" y="98931"/>
                </a:cubicBezTo>
                <a:lnTo>
                  <a:pt x="63047" y="111468"/>
                </a:lnTo>
                <a:lnTo>
                  <a:pt x="83410" y="78137"/>
                </a:lnTo>
                <a:cubicBezTo>
                  <a:pt x="84869" y="75782"/>
                  <a:pt x="87423" y="74323"/>
                  <a:pt x="90209" y="74323"/>
                </a:cubicBezTo>
                <a:close/>
              </a:path>
            </a:pathLst>
          </a:custGeom>
          <a:solidFill>
            <a:srgbClr val="D4A373"/>
          </a:solidFill>
          <a:ln/>
        </p:spPr>
      </p:sp>
      <p:sp>
        <p:nvSpPr>
          <p:cNvPr id="21" name="Text 19"/>
          <p:cNvSpPr/>
          <p:nvPr/>
        </p:nvSpPr>
        <p:spPr>
          <a:xfrm>
            <a:off x="857515" y="3762773"/>
            <a:ext cx="3285727" cy="2037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70" b="1" dirty="0">
                <a:solidFill>
                  <a:srgbClr val="F0F2F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Visual Artifacts in Images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857515" y="3966539"/>
            <a:ext cx="3277237" cy="1698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36" dirty="0">
                <a:solidFill>
                  <a:srgbClr val="9A959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Blending boundaries, texture inconsistencies, facial anomalies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553989" y="4272188"/>
            <a:ext cx="191031" cy="169805"/>
          </a:xfrm>
          <a:custGeom>
            <a:avLst/>
            <a:gdLst/>
            <a:ahLst/>
            <a:cxnLst/>
            <a:rect l="l" t="t" r="r" b="b"/>
            <a:pathLst>
              <a:path w="191031" h="169805">
                <a:moveTo>
                  <a:pt x="31838" y="21226"/>
                </a:moveTo>
                <a:cubicBezTo>
                  <a:pt x="20131" y="21226"/>
                  <a:pt x="10613" y="30744"/>
                  <a:pt x="10613" y="42451"/>
                </a:cubicBezTo>
                <a:lnTo>
                  <a:pt x="10613" y="127354"/>
                </a:lnTo>
                <a:cubicBezTo>
                  <a:pt x="10613" y="139061"/>
                  <a:pt x="20131" y="148579"/>
                  <a:pt x="31838" y="148579"/>
                </a:cubicBezTo>
                <a:lnTo>
                  <a:pt x="116741" y="148579"/>
                </a:lnTo>
                <a:cubicBezTo>
                  <a:pt x="128448" y="148579"/>
                  <a:pt x="137967" y="139061"/>
                  <a:pt x="137967" y="127354"/>
                </a:cubicBezTo>
                <a:lnTo>
                  <a:pt x="137967" y="42451"/>
                </a:lnTo>
                <a:cubicBezTo>
                  <a:pt x="137967" y="30744"/>
                  <a:pt x="128448" y="21226"/>
                  <a:pt x="116741" y="21226"/>
                </a:cubicBezTo>
                <a:lnTo>
                  <a:pt x="31838" y="21226"/>
                </a:lnTo>
                <a:close/>
                <a:moveTo>
                  <a:pt x="153886" y="111435"/>
                </a:moveTo>
                <a:lnTo>
                  <a:pt x="178262" y="130936"/>
                </a:lnTo>
                <a:cubicBezTo>
                  <a:pt x="179655" y="132063"/>
                  <a:pt x="181380" y="132660"/>
                  <a:pt x="183171" y="132660"/>
                </a:cubicBezTo>
                <a:cubicBezTo>
                  <a:pt x="187515" y="132660"/>
                  <a:pt x="191031" y="129145"/>
                  <a:pt x="191031" y="124800"/>
                </a:cubicBezTo>
                <a:lnTo>
                  <a:pt x="191031" y="45005"/>
                </a:lnTo>
                <a:cubicBezTo>
                  <a:pt x="191031" y="40660"/>
                  <a:pt x="187515" y="37145"/>
                  <a:pt x="183171" y="37145"/>
                </a:cubicBezTo>
                <a:cubicBezTo>
                  <a:pt x="181380" y="37145"/>
                  <a:pt x="179655" y="37742"/>
                  <a:pt x="178262" y="38869"/>
                </a:cubicBezTo>
                <a:lnTo>
                  <a:pt x="153886" y="58370"/>
                </a:lnTo>
                <a:lnTo>
                  <a:pt x="153886" y="111435"/>
                </a:lnTo>
                <a:close/>
              </a:path>
            </a:pathLst>
          </a:custGeom>
          <a:solidFill>
            <a:srgbClr val="D4A373"/>
          </a:solidFill>
          <a:ln/>
        </p:spPr>
      </p:sp>
      <p:sp>
        <p:nvSpPr>
          <p:cNvPr id="24" name="Text 22"/>
          <p:cNvSpPr/>
          <p:nvPr/>
        </p:nvSpPr>
        <p:spPr>
          <a:xfrm>
            <a:off x="857515" y="4238227"/>
            <a:ext cx="2572546" cy="2037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70" b="1" dirty="0">
                <a:solidFill>
                  <a:srgbClr val="F0F2F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Cross-Modal Consistency in Videos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857515" y="4441993"/>
            <a:ext cx="2564056" cy="1698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36" dirty="0">
                <a:solidFill>
                  <a:srgbClr val="9A959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Emotion-sentiment mismatches via ECF module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346402" y="4924239"/>
            <a:ext cx="5659601" cy="1134297"/>
          </a:xfrm>
          <a:prstGeom prst="roundRect">
            <a:avLst>
              <a:gd name="adj" fmla="val 5988"/>
            </a:avLst>
          </a:prstGeom>
          <a:gradFill rotWithShape="1" flip="none">
            <a:gsLst>
              <a:gs pos="0">
                <a:srgbClr val="D4A373">
                  <a:alpha val="20000"/>
                </a:srgbClr>
              </a:gs>
              <a:gs pos="100000">
                <a:srgbClr val="5F737C">
                  <a:alpha val="10000"/>
                </a:srgbClr>
              </a:gs>
            </a:gsLst>
            <a:lin ang="2700000" scaled="1"/>
          </a:gradFill>
          <a:ln w="20320">
            <a:solidFill>
              <a:srgbClr val="D4A373">
                <a:alpha val="50196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44225" y="5128008"/>
            <a:ext cx="169805" cy="169805"/>
          </a:xfrm>
          <a:custGeom>
            <a:avLst/>
            <a:gdLst/>
            <a:ahLst/>
            <a:cxnLst/>
            <a:rect l="l" t="t" r="r" b="b"/>
            <a:pathLst>
              <a:path w="169805" h="169805">
                <a:moveTo>
                  <a:pt x="21226" y="10613"/>
                </a:moveTo>
                <a:cubicBezTo>
                  <a:pt x="9518" y="10613"/>
                  <a:pt x="0" y="20131"/>
                  <a:pt x="0" y="31838"/>
                </a:cubicBezTo>
                <a:lnTo>
                  <a:pt x="0" y="116741"/>
                </a:lnTo>
                <a:cubicBezTo>
                  <a:pt x="0" y="128448"/>
                  <a:pt x="9518" y="137967"/>
                  <a:pt x="21226" y="137967"/>
                </a:cubicBezTo>
                <a:lnTo>
                  <a:pt x="68983" y="137967"/>
                </a:lnTo>
                <a:lnTo>
                  <a:pt x="63677" y="153886"/>
                </a:lnTo>
                <a:lnTo>
                  <a:pt x="39798" y="153886"/>
                </a:lnTo>
                <a:cubicBezTo>
                  <a:pt x="35387" y="153886"/>
                  <a:pt x="31838" y="157434"/>
                  <a:pt x="31838" y="161845"/>
                </a:cubicBezTo>
                <a:cubicBezTo>
                  <a:pt x="31838" y="166256"/>
                  <a:pt x="35387" y="169805"/>
                  <a:pt x="39798" y="169805"/>
                </a:cubicBezTo>
                <a:lnTo>
                  <a:pt x="130007" y="169805"/>
                </a:lnTo>
                <a:cubicBezTo>
                  <a:pt x="134418" y="169805"/>
                  <a:pt x="137967" y="166256"/>
                  <a:pt x="137967" y="161845"/>
                </a:cubicBezTo>
                <a:cubicBezTo>
                  <a:pt x="137967" y="157434"/>
                  <a:pt x="134418" y="153886"/>
                  <a:pt x="130007" y="153886"/>
                </a:cubicBezTo>
                <a:lnTo>
                  <a:pt x="106128" y="153886"/>
                </a:lnTo>
                <a:lnTo>
                  <a:pt x="100822" y="137967"/>
                </a:lnTo>
                <a:lnTo>
                  <a:pt x="148579" y="137967"/>
                </a:lnTo>
                <a:cubicBezTo>
                  <a:pt x="160287" y="137967"/>
                  <a:pt x="169805" y="128448"/>
                  <a:pt x="169805" y="116741"/>
                </a:cubicBezTo>
                <a:lnTo>
                  <a:pt x="169805" y="31838"/>
                </a:lnTo>
                <a:cubicBezTo>
                  <a:pt x="169805" y="20131"/>
                  <a:pt x="160287" y="10613"/>
                  <a:pt x="148579" y="10613"/>
                </a:cubicBezTo>
                <a:lnTo>
                  <a:pt x="21226" y="10613"/>
                </a:lnTo>
                <a:close/>
                <a:moveTo>
                  <a:pt x="31838" y="31838"/>
                </a:moveTo>
                <a:lnTo>
                  <a:pt x="137967" y="31838"/>
                </a:lnTo>
                <a:cubicBezTo>
                  <a:pt x="143837" y="31838"/>
                  <a:pt x="148579" y="36581"/>
                  <a:pt x="148579" y="42451"/>
                </a:cubicBezTo>
                <a:lnTo>
                  <a:pt x="148579" y="95515"/>
                </a:lnTo>
                <a:cubicBezTo>
                  <a:pt x="148579" y="101386"/>
                  <a:pt x="143837" y="106128"/>
                  <a:pt x="137967" y="106128"/>
                </a:cubicBezTo>
                <a:lnTo>
                  <a:pt x="31838" y="106128"/>
                </a:lnTo>
                <a:cubicBezTo>
                  <a:pt x="25968" y="106128"/>
                  <a:pt x="21226" y="101386"/>
                  <a:pt x="21226" y="95515"/>
                </a:cubicBezTo>
                <a:lnTo>
                  <a:pt x="21226" y="42451"/>
                </a:lnTo>
                <a:cubicBezTo>
                  <a:pt x="21226" y="36581"/>
                  <a:pt x="25968" y="31838"/>
                  <a:pt x="31838" y="31838"/>
                </a:cubicBezTo>
                <a:close/>
              </a:path>
            </a:pathLst>
          </a:custGeom>
          <a:solidFill>
            <a:srgbClr val="D4A373"/>
          </a:solidFill>
          <a:ln/>
        </p:spPr>
      </p:sp>
      <p:sp>
        <p:nvSpPr>
          <p:cNvPr id="28" name="Text 26"/>
          <p:cNvSpPr/>
          <p:nvPr/>
        </p:nvSpPr>
        <p:spPr>
          <a:xfrm>
            <a:off x="780663" y="5100837"/>
            <a:ext cx="5133645" cy="23772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37" b="1" dirty="0">
                <a:solidFill>
                  <a:srgbClr val="F0F2F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Streamlit App Features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547409" y="5465918"/>
            <a:ext cx="104006" cy="118864"/>
          </a:xfrm>
          <a:custGeom>
            <a:avLst/>
            <a:gdLst/>
            <a:ahLst/>
            <a:cxnLst/>
            <a:rect l="l" t="t" r="r" b="b"/>
            <a:pathLst>
              <a:path w="104006" h="118864">
                <a:moveTo>
                  <a:pt x="59432" y="25375"/>
                </a:moveTo>
                <a:lnTo>
                  <a:pt x="59432" y="74290"/>
                </a:lnTo>
                <a:cubicBezTo>
                  <a:pt x="59432" y="78399"/>
                  <a:pt x="56112" y="81719"/>
                  <a:pt x="52003" y="81719"/>
                </a:cubicBezTo>
                <a:cubicBezTo>
                  <a:pt x="47894" y="81719"/>
                  <a:pt x="44574" y="78399"/>
                  <a:pt x="44574" y="74290"/>
                </a:cubicBezTo>
                <a:lnTo>
                  <a:pt x="44574" y="25375"/>
                </a:lnTo>
                <a:lnTo>
                  <a:pt x="34963" y="34986"/>
                </a:lnTo>
                <a:cubicBezTo>
                  <a:pt x="32061" y="37888"/>
                  <a:pt x="27348" y="37888"/>
                  <a:pt x="24446" y="34986"/>
                </a:cubicBezTo>
                <a:cubicBezTo>
                  <a:pt x="21544" y="32084"/>
                  <a:pt x="21544" y="27371"/>
                  <a:pt x="24446" y="24469"/>
                </a:cubicBezTo>
                <a:lnTo>
                  <a:pt x="46733" y="2182"/>
                </a:lnTo>
                <a:cubicBezTo>
                  <a:pt x="49635" y="-720"/>
                  <a:pt x="54348" y="-720"/>
                  <a:pt x="57249" y="2182"/>
                </a:cubicBezTo>
                <a:lnTo>
                  <a:pt x="79536" y="24469"/>
                </a:lnTo>
                <a:cubicBezTo>
                  <a:pt x="82438" y="27371"/>
                  <a:pt x="82438" y="32084"/>
                  <a:pt x="79536" y="34986"/>
                </a:cubicBezTo>
                <a:cubicBezTo>
                  <a:pt x="76634" y="37888"/>
                  <a:pt x="71922" y="37888"/>
                  <a:pt x="69020" y="34986"/>
                </a:cubicBezTo>
                <a:lnTo>
                  <a:pt x="59432" y="25375"/>
                </a:lnTo>
                <a:close/>
                <a:moveTo>
                  <a:pt x="52003" y="92862"/>
                </a:moveTo>
                <a:cubicBezTo>
                  <a:pt x="62264" y="92862"/>
                  <a:pt x="70575" y="84551"/>
                  <a:pt x="70575" y="74290"/>
                </a:cubicBezTo>
                <a:lnTo>
                  <a:pt x="89148" y="74290"/>
                </a:lnTo>
                <a:cubicBezTo>
                  <a:pt x="97343" y="74290"/>
                  <a:pt x="104006" y="80953"/>
                  <a:pt x="104006" y="89148"/>
                </a:cubicBezTo>
                <a:lnTo>
                  <a:pt x="104006" y="96577"/>
                </a:lnTo>
                <a:cubicBezTo>
                  <a:pt x="104006" y="104772"/>
                  <a:pt x="97343" y="111435"/>
                  <a:pt x="89148" y="111435"/>
                </a:cubicBezTo>
                <a:lnTo>
                  <a:pt x="14858" y="111435"/>
                </a:lnTo>
                <a:cubicBezTo>
                  <a:pt x="6663" y="111435"/>
                  <a:pt x="0" y="104772"/>
                  <a:pt x="0" y="96577"/>
                </a:cubicBezTo>
                <a:lnTo>
                  <a:pt x="0" y="89148"/>
                </a:lnTo>
                <a:cubicBezTo>
                  <a:pt x="0" y="80953"/>
                  <a:pt x="6663" y="74290"/>
                  <a:pt x="14858" y="74290"/>
                </a:cubicBezTo>
                <a:lnTo>
                  <a:pt x="33430" y="74290"/>
                </a:lnTo>
                <a:cubicBezTo>
                  <a:pt x="33430" y="84551"/>
                  <a:pt x="41742" y="92862"/>
                  <a:pt x="52003" y="92862"/>
                </a:cubicBezTo>
                <a:close/>
                <a:moveTo>
                  <a:pt x="85433" y="98434"/>
                </a:moveTo>
                <a:cubicBezTo>
                  <a:pt x="88508" y="98434"/>
                  <a:pt x="91005" y="95937"/>
                  <a:pt x="91005" y="92862"/>
                </a:cubicBezTo>
                <a:cubicBezTo>
                  <a:pt x="91005" y="89787"/>
                  <a:pt x="88508" y="87290"/>
                  <a:pt x="85433" y="87290"/>
                </a:cubicBezTo>
                <a:cubicBezTo>
                  <a:pt x="82358" y="87290"/>
                  <a:pt x="79861" y="89787"/>
                  <a:pt x="79861" y="92862"/>
                </a:cubicBezTo>
                <a:cubicBezTo>
                  <a:pt x="79861" y="95937"/>
                  <a:pt x="82358" y="98434"/>
                  <a:pt x="85433" y="98434"/>
                </a:cubicBezTo>
                <a:close/>
              </a:path>
            </a:pathLst>
          </a:custGeom>
          <a:solidFill>
            <a:srgbClr val="D4A373"/>
          </a:solidFill>
          <a:ln/>
        </p:spPr>
      </p:sp>
      <p:sp>
        <p:nvSpPr>
          <p:cNvPr id="30" name="Text 28"/>
          <p:cNvSpPr/>
          <p:nvPr/>
        </p:nvSpPr>
        <p:spPr>
          <a:xfrm>
            <a:off x="739501" y="5440447"/>
            <a:ext cx="1112223" cy="1698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36" dirty="0">
                <a:solidFill>
                  <a:srgbClr val="F0F2F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Image/Video upload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3251554" y="5465918"/>
            <a:ext cx="104006" cy="118864"/>
          </a:xfrm>
          <a:custGeom>
            <a:avLst/>
            <a:gdLst/>
            <a:ahLst/>
            <a:cxnLst/>
            <a:rect l="l" t="t" r="r" b="b"/>
            <a:pathLst>
              <a:path w="104006" h="118864">
                <a:moveTo>
                  <a:pt x="37261" y="-6129"/>
                </a:moveTo>
                <a:cubicBezTo>
                  <a:pt x="39420" y="-7940"/>
                  <a:pt x="42600" y="-7870"/>
                  <a:pt x="44667" y="-5920"/>
                </a:cubicBezTo>
                <a:cubicBezTo>
                  <a:pt x="47522" y="-3227"/>
                  <a:pt x="50076" y="-255"/>
                  <a:pt x="52537" y="2763"/>
                </a:cubicBezTo>
                <a:cubicBezTo>
                  <a:pt x="55671" y="6593"/>
                  <a:pt x="59432" y="11654"/>
                  <a:pt x="63053" y="17667"/>
                </a:cubicBezTo>
                <a:cubicBezTo>
                  <a:pt x="64261" y="16088"/>
                  <a:pt x="65375" y="14695"/>
                  <a:pt x="66350" y="13511"/>
                </a:cubicBezTo>
                <a:cubicBezTo>
                  <a:pt x="66605" y="13210"/>
                  <a:pt x="66861" y="12885"/>
                  <a:pt x="67116" y="12560"/>
                </a:cubicBezTo>
                <a:cubicBezTo>
                  <a:pt x="68950" y="10284"/>
                  <a:pt x="71225" y="7429"/>
                  <a:pt x="74266" y="7429"/>
                </a:cubicBezTo>
                <a:cubicBezTo>
                  <a:pt x="77377" y="7429"/>
                  <a:pt x="79560" y="10192"/>
                  <a:pt x="81417" y="12560"/>
                </a:cubicBezTo>
                <a:cubicBezTo>
                  <a:pt x="81719" y="12954"/>
                  <a:pt x="82020" y="13326"/>
                  <a:pt x="82322" y="13674"/>
                </a:cubicBezTo>
                <a:cubicBezTo>
                  <a:pt x="84713" y="16553"/>
                  <a:pt x="87894" y="20708"/>
                  <a:pt x="91075" y="25839"/>
                </a:cubicBezTo>
                <a:cubicBezTo>
                  <a:pt x="97389" y="36031"/>
                  <a:pt x="103982" y="50540"/>
                  <a:pt x="103982" y="66838"/>
                </a:cubicBezTo>
                <a:cubicBezTo>
                  <a:pt x="103982" y="95555"/>
                  <a:pt x="80697" y="118840"/>
                  <a:pt x="51980" y="118840"/>
                </a:cubicBezTo>
                <a:cubicBezTo>
                  <a:pt x="23262" y="118840"/>
                  <a:pt x="0" y="95578"/>
                  <a:pt x="0" y="66861"/>
                </a:cubicBezTo>
                <a:cubicBezTo>
                  <a:pt x="0" y="45711"/>
                  <a:pt x="9542" y="27394"/>
                  <a:pt x="18689" y="14626"/>
                </a:cubicBezTo>
                <a:cubicBezTo>
                  <a:pt x="23308" y="8195"/>
                  <a:pt x="27905" y="3041"/>
                  <a:pt x="31364" y="-488"/>
                </a:cubicBezTo>
                <a:cubicBezTo>
                  <a:pt x="33268" y="-2438"/>
                  <a:pt x="35195" y="-4365"/>
                  <a:pt x="37284" y="-6106"/>
                </a:cubicBezTo>
                <a:close/>
                <a:moveTo>
                  <a:pt x="52397" y="96577"/>
                </a:moveTo>
                <a:cubicBezTo>
                  <a:pt x="58271" y="96577"/>
                  <a:pt x="63471" y="94952"/>
                  <a:pt x="68370" y="91701"/>
                </a:cubicBezTo>
                <a:cubicBezTo>
                  <a:pt x="78143" y="84876"/>
                  <a:pt x="80767" y="71225"/>
                  <a:pt x="74893" y="60500"/>
                </a:cubicBezTo>
                <a:cubicBezTo>
                  <a:pt x="73849" y="58410"/>
                  <a:pt x="71179" y="58271"/>
                  <a:pt x="69670" y="60035"/>
                </a:cubicBezTo>
                <a:lnTo>
                  <a:pt x="63819" y="66838"/>
                </a:lnTo>
                <a:cubicBezTo>
                  <a:pt x="62287" y="68602"/>
                  <a:pt x="59525" y="68555"/>
                  <a:pt x="58085" y="66721"/>
                </a:cubicBezTo>
                <a:cubicBezTo>
                  <a:pt x="54069" y="61591"/>
                  <a:pt x="46686" y="52235"/>
                  <a:pt x="42926" y="47453"/>
                </a:cubicBezTo>
                <a:cubicBezTo>
                  <a:pt x="41672" y="45851"/>
                  <a:pt x="39397" y="45595"/>
                  <a:pt x="37934" y="47011"/>
                </a:cubicBezTo>
                <a:cubicBezTo>
                  <a:pt x="33686" y="51144"/>
                  <a:pt x="25978" y="60198"/>
                  <a:pt x="25978" y="71225"/>
                </a:cubicBezTo>
                <a:cubicBezTo>
                  <a:pt x="25978" y="87151"/>
                  <a:pt x="37725" y="96577"/>
                  <a:pt x="52374" y="96577"/>
                </a:cubicBezTo>
                <a:close/>
              </a:path>
            </a:pathLst>
          </a:custGeom>
          <a:solidFill>
            <a:srgbClr val="D4A373"/>
          </a:solidFill>
          <a:ln/>
        </p:spPr>
      </p:sp>
      <p:sp>
        <p:nvSpPr>
          <p:cNvPr id="32" name="Text 30"/>
          <p:cNvSpPr/>
          <p:nvPr/>
        </p:nvSpPr>
        <p:spPr>
          <a:xfrm>
            <a:off x="3443646" y="5440447"/>
            <a:ext cx="1171655" cy="1698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36" dirty="0">
                <a:solidFill>
                  <a:srgbClr val="F0F2F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Grad-CAM heatmaps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539980" y="5737606"/>
            <a:ext cx="118864" cy="118864"/>
          </a:xfrm>
          <a:custGeom>
            <a:avLst/>
            <a:gdLst/>
            <a:ahLst/>
            <a:cxnLst/>
            <a:rect l="l" t="t" r="r" b="b"/>
            <a:pathLst>
              <a:path w="118864" h="118864">
                <a:moveTo>
                  <a:pt x="14858" y="14858"/>
                </a:moveTo>
                <a:cubicBezTo>
                  <a:pt x="14858" y="10749"/>
                  <a:pt x="11538" y="7429"/>
                  <a:pt x="7429" y="7429"/>
                </a:cubicBezTo>
                <a:cubicBezTo>
                  <a:pt x="3320" y="7429"/>
                  <a:pt x="0" y="10749"/>
                  <a:pt x="0" y="14858"/>
                </a:cubicBezTo>
                <a:lnTo>
                  <a:pt x="0" y="92862"/>
                </a:lnTo>
                <a:cubicBezTo>
                  <a:pt x="0" y="103123"/>
                  <a:pt x="8311" y="111435"/>
                  <a:pt x="18572" y="111435"/>
                </a:cubicBezTo>
                <a:lnTo>
                  <a:pt x="111435" y="111435"/>
                </a:lnTo>
                <a:cubicBezTo>
                  <a:pt x="115544" y="111435"/>
                  <a:pt x="118864" y="108115"/>
                  <a:pt x="118864" y="104006"/>
                </a:cubicBezTo>
                <a:cubicBezTo>
                  <a:pt x="118864" y="99896"/>
                  <a:pt x="115544" y="96577"/>
                  <a:pt x="111435" y="96577"/>
                </a:cubicBezTo>
                <a:lnTo>
                  <a:pt x="18572" y="96577"/>
                </a:lnTo>
                <a:cubicBezTo>
                  <a:pt x="16529" y="96577"/>
                  <a:pt x="14858" y="94905"/>
                  <a:pt x="14858" y="92862"/>
                </a:cubicBezTo>
                <a:lnTo>
                  <a:pt x="14858" y="14858"/>
                </a:lnTo>
                <a:close/>
                <a:moveTo>
                  <a:pt x="109252" y="34963"/>
                </a:moveTo>
                <a:cubicBezTo>
                  <a:pt x="112154" y="32061"/>
                  <a:pt x="112154" y="27348"/>
                  <a:pt x="109252" y="24446"/>
                </a:cubicBezTo>
                <a:cubicBezTo>
                  <a:pt x="106350" y="21544"/>
                  <a:pt x="101638" y="21544"/>
                  <a:pt x="98736" y="24446"/>
                </a:cubicBezTo>
                <a:lnTo>
                  <a:pt x="74290" y="48915"/>
                </a:lnTo>
                <a:lnTo>
                  <a:pt x="60964" y="35613"/>
                </a:lnTo>
                <a:cubicBezTo>
                  <a:pt x="58062" y="32711"/>
                  <a:pt x="53349" y="32711"/>
                  <a:pt x="50447" y="35613"/>
                </a:cubicBezTo>
                <a:lnTo>
                  <a:pt x="28160" y="57900"/>
                </a:lnTo>
                <a:cubicBezTo>
                  <a:pt x="25258" y="60801"/>
                  <a:pt x="25258" y="65514"/>
                  <a:pt x="28160" y="68416"/>
                </a:cubicBezTo>
                <a:cubicBezTo>
                  <a:pt x="31062" y="71318"/>
                  <a:pt x="35775" y="71318"/>
                  <a:pt x="38677" y="68416"/>
                </a:cubicBezTo>
                <a:lnTo>
                  <a:pt x="55717" y="51376"/>
                </a:lnTo>
                <a:lnTo>
                  <a:pt x="69043" y="64702"/>
                </a:lnTo>
                <a:cubicBezTo>
                  <a:pt x="71945" y="67604"/>
                  <a:pt x="76658" y="67604"/>
                  <a:pt x="79560" y="64702"/>
                </a:cubicBezTo>
                <a:lnTo>
                  <a:pt x="109275" y="34986"/>
                </a:lnTo>
                <a:close/>
              </a:path>
            </a:pathLst>
          </a:custGeom>
          <a:solidFill>
            <a:srgbClr val="D4A373"/>
          </a:solidFill>
          <a:ln/>
        </p:spPr>
      </p:sp>
      <p:sp>
        <p:nvSpPr>
          <p:cNvPr id="34" name="Text 32"/>
          <p:cNvSpPr/>
          <p:nvPr/>
        </p:nvSpPr>
        <p:spPr>
          <a:xfrm>
            <a:off x="739501" y="5712135"/>
            <a:ext cx="1044301" cy="1698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36" dirty="0">
                <a:solidFill>
                  <a:srgbClr val="F0F2F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Confidence scores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3258983" y="5737606"/>
            <a:ext cx="89148" cy="118864"/>
          </a:xfrm>
          <a:custGeom>
            <a:avLst/>
            <a:gdLst/>
            <a:ahLst/>
            <a:cxnLst/>
            <a:rect l="l" t="t" r="r" b="b"/>
            <a:pathLst>
              <a:path w="89148" h="118864">
                <a:moveTo>
                  <a:pt x="0" y="14858"/>
                </a:moveTo>
                <a:cubicBezTo>
                  <a:pt x="0" y="6663"/>
                  <a:pt x="6663" y="0"/>
                  <a:pt x="14858" y="0"/>
                </a:cubicBezTo>
                <a:lnTo>
                  <a:pt x="49565" y="0"/>
                </a:lnTo>
                <a:cubicBezTo>
                  <a:pt x="53512" y="0"/>
                  <a:pt x="57296" y="1555"/>
                  <a:pt x="60082" y="4341"/>
                </a:cubicBezTo>
                <a:lnTo>
                  <a:pt x="84806" y="29089"/>
                </a:lnTo>
                <a:cubicBezTo>
                  <a:pt x="87592" y="31875"/>
                  <a:pt x="89148" y="35659"/>
                  <a:pt x="89148" y="39606"/>
                </a:cubicBezTo>
                <a:lnTo>
                  <a:pt x="89148" y="104006"/>
                </a:lnTo>
                <a:cubicBezTo>
                  <a:pt x="89148" y="112201"/>
                  <a:pt x="82485" y="118864"/>
                  <a:pt x="74290" y="118864"/>
                </a:cubicBezTo>
                <a:lnTo>
                  <a:pt x="14858" y="118864"/>
                </a:lnTo>
                <a:cubicBezTo>
                  <a:pt x="6663" y="118864"/>
                  <a:pt x="0" y="112201"/>
                  <a:pt x="0" y="104006"/>
                </a:cubicBezTo>
                <a:lnTo>
                  <a:pt x="0" y="14858"/>
                </a:lnTo>
                <a:close/>
                <a:moveTo>
                  <a:pt x="48288" y="13581"/>
                </a:moveTo>
                <a:lnTo>
                  <a:pt x="48288" y="35288"/>
                </a:lnTo>
                <a:cubicBezTo>
                  <a:pt x="48288" y="38375"/>
                  <a:pt x="50772" y="40859"/>
                  <a:pt x="53860" y="40859"/>
                </a:cubicBezTo>
                <a:lnTo>
                  <a:pt x="75567" y="40859"/>
                </a:lnTo>
                <a:lnTo>
                  <a:pt x="48288" y="13581"/>
                </a:lnTo>
                <a:close/>
                <a:moveTo>
                  <a:pt x="27859" y="59432"/>
                </a:moveTo>
                <a:cubicBezTo>
                  <a:pt x="24771" y="59432"/>
                  <a:pt x="22287" y="61916"/>
                  <a:pt x="22287" y="65003"/>
                </a:cubicBezTo>
                <a:cubicBezTo>
                  <a:pt x="22287" y="68091"/>
                  <a:pt x="24771" y="70575"/>
                  <a:pt x="27859" y="70575"/>
                </a:cubicBezTo>
                <a:lnTo>
                  <a:pt x="61289" y="70575"/>
                </a:lnTo>
                <a:cubicBezTo>
                  <a:pt x="64377" y="70575"/>
                  <a:pt x="66861" y="68091"/>
                  <a:pt x="66861" y="65003"/>
                </a:cubicBezTo>
                <a:cubicBezTo>
                  <a:pt x="66861" y="61916"/>
                  <a:pt x="64377" y="59432"/>
                  <a:pt x="61289" y="59432"/>
                </a:cubicBezTo>
                <a:lnTo>
                  <a:pt x="27859" y="59432"/>
                </a:lnTo>
                <a:close/>
                <a:moveTo>
                  <a:pt x="27859" y="81719"/>
                </a:moveTo>
                <a:cubicBezTo>
                  <a:pt x="24771" y="81719"/>
                  <a:pt x="22287" y="84203"/>
                  <a:pt x="22287" y="87290"/>
                </a:cubicBezTo>
                <a:cubicBezTo>
                  <a:pt x="22287" y="90378"/>
                  <a:pt x="24771" y="92862"/>
                  <a:pt x="27859" y="92862"/>
                </a:cubicBezTo>
                <a:lnTo>
                  <a:pt x="61289" y="92862"/>
                </a:lnTo>
                <a:cubicBezTo>
                  <a:pt x="64377" y="92862"/>
                  <a:pt x="66861" y="90378"/>
                  <a:pt x="66861" y="87290"/>
                </a:cubicBezTo>
                <a:cubicBezTo>
                  <a:pt x="66861" y="84203"/>
                  <a:pt x="64377" y="81719"/>
                  <a:pt x="61289" y="81719"/>
                </a:cubicBezTo>
                <a:lnTo>
                  <a:pt x="27859" y="81719"/>
                </a:lnTo>
                <a:close/>
              </a:path>
            </a:pathLst>
          </a:custGeom>
          <a:solidFill>
            <a:srgbClr val="D4A373"/>
          </a:solidFill>
          <a:ln/>
        </p:spPr>
      </p:sp>
      <p:sp>
        <p:nvSpPr>
          <p:cNvPr id="36" name="Text 34"/>
          <p:cNvSpPr/>
          <p:nvPr/>
        </p:nvSpPr>
        <p:spPr>
          <a:xfrm>
            <a:off x="3443646" y="5712135"/>
            <a:ext cx="679220" cy="1698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36" dirty="0">
                <a:solidFill>
                  <a:srgbClr val="F0F2F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ECF reports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6186103" y="1192031"/>
            <a:ext cx="5669789" cy="2808575"/>
          </a:xfrm>
          <a:prstGeom prst="roundRect">
            <a:avLst>
              <a:gd name="adj" fmla="val 2418"/>
            </a:avLst>
          </a:prstGeom>
          <a:solidFill>
            <a:srgbClr val="5F737C">
              <a:alpha val="20000"/>
            </a:srgbClr>
          </a:solidFill>
          <a:ln w="10160">
            <a:solidFill>
              <a:srgbClr val="5F737C">
                <a:alpha val="40000"/>
              </a:srgbClr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316853" y="1365235"/>
            <a:ext cx="5408290" cy="23772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337" b="1" dirty="0">
                <a:solidFill>
                  <a:srgbClr val="F0F2F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Performance Overview</a:t>
            </a:r>
            <a:endParaRPr lang="en-US" sz="1600" dirty="0"/>
          </a:p>
        </p:txBody>
      </p:sp>
      <p:pic>
        <p:nvPicPr>
          <p:cNvPr id="39" name="Image 0" descr="https://kimi-img.moonshot.cn/pub/slides/26-06-04-23:56:52-d8gq0h0lrq4vtqjlkap0.png">    </p:cNvPr>
          <p:cNvPicPr>
            <a:picLocks noChangeAspect="1"/>
          </p:cNvPicPr>
          <p:nvPr/>
        </p:nvPicPr>
        <p:blipFill>
          <a:blip r:embed="rId1"/>
          <a:srcRect l="80" r="80" t="0" b="0"/>
          <a:stretch/>
        </p:blipFill>
        <p:spPr>
          <a:xfrm>
            <a:off x="6359304" y="1704845"/>
            <a:ext cx="4652657" cy="2122563"/>
          </a:xfrm>
          <a:prstGeom prst="roundRect">
            <a:avLst>
              <a:gd name="adj" fmla="val 0"/>
            </a:avLst>
          </a:prstGeom>
        </p:spPr>
      </p:pic>
      <p:sp>
        <p:nvSpPr>
          <p:cNvPr id="40" name="Shape 37"/>
          <p:cNvSpPr/>
          <p:nvPr/>
        </p:nvSpPr>
        <p:spPr>
          <a:xfrm>
            <a:off x="6199687" y="4139847"/>
            <a:ext cx="5654507" cy="2207465"/>
          </a:xfrm>
          <a:custGeom>
            <a:avLst/>
            <a:gdLst/>
            <a:ahLst/>
            <a:cxnLst/>
            <a:rect l="l" t="t" r="r" b="b"/>
            <a:pathLst>
              <a:path w="5654507" h="2207465">
                <a:moveTo>
                  <a:pt x="33909" y="0"/>
                </a:moveTo>
                <a:lnTo>
                  <a:pt x="5586603" y="0"/>
                </a:lnTo>
                <a:cubicBezTo>
                  <a:pt x="5624128" y="0"/>
                  <a:pt x="5654548" y="30420"/>
                  <a:pt x="5654548" y="67945"/>
                </a:cubicBezTo>
                <a:lnTo>
                  <a:pt x="5654548" y="2139569"/>
                </a:lnTo>
                <a:cubicBezTo>
                  <a:pt x="5654548" y="2177094"/>
                  <a:pt x="5624128" y="2207514"/>
                  <a:pt x="5586603" y="2207514"/>
                </a:cubicBezTo>
                <a:lnTo>
                  <a:pt x="33909" y="2207514"/>
                </a:lnTo>
                <a:cubicBezTo>
                  <a:pt x="24894" y="2207514"/>
                  <a:pt x="16250" y="2203924"/>
                  <a:pt x="9887" y="2197537"/>
                </a:cubicBezTo>
                <a:cubicBezTo>
                  <a:pt x="3524" y="2191151"/>
                  <a:pt x="-34" y="2182493"/>
                  <a:pt x="0" y="2173478"/>
                </a:cubicBezTo>
                <a:lnTo>
                  <a:pt x="0" y="33909"/>
                </a:lnTo>
                <a:cubicBezTo>
                  <a:pt x="0" y="15194"/>
                  <a:pt x="15194" y="0"/>
                  <a:pt x="33909" y="0"/>
                </a:cubicBezTo>
                <a:close/>
              </a:path>
            </a:pathLst>
          </a:custGeom>
          <a:gradFill rotWithShape="1" flip="none">
            <a:gsLst>
              <a:gs pos="0">
                <a:srgbClr val="5F737C">
                  <a:alpha val="30000"/>
                </a:srgbClr>
              </a:gs>
              <a:gs pos="100000">
                <a:srgbClr val="4A5C6A">
                  <a:alpha val="20000"/>
                </a:srgbClr>
              </a:gs>
            </a:gsLst>
            <a:lin ang="2700000" scaled="1"/>
          </a:gradFill>
          <a:ln/>
        </p:spPr>
      </p:sp>
      <p:sp>
        <p:nvSpPr>
          <p:cNvPr id="41" name="Shape 38"/>
          <p:cNvSpPr/>
          <p:nvPr/>
        </p:nvSpPr>
        <p:spPr>
          <a:xfrm>
            <a:off x="6199687" y="4139847"/>
            <a:ext cx="33961" cy="2207465"/>
          </a:xfrm>
          <a:custGeom>
            <a:avLst/>
            <a:gdLst/>
            <a:ahLst/>
            <a:cxnLst/>
            <a:rect l="l" t="t" r="r" b="b"/>
            <a:pathLst>
              <a:path w="33961" h="2207465">
                <a:moveTo>
                  <a:pt x="33909" y="0"/>
                </a:moveTo>
                <a:lnTo>
                  <a:pt x="33909" y="0"/>
                </a:lnTo>
                <a:lnTo>
                  <a:pt x="33909" y="2207514"/>
                </a:lnTo>
                <a:lnTo>
                  <a:pt x="33909" y="2207514"/>
                </a:lnTo>
                <a:cubicBezTo>
                  <a:pt x="24894" y="2207514"/>
                  <a:pt x="16250" y="2203924"/>
                  <a:pt x="9887" y="2197537"/>
                </a:cubicBezTo>
                <a:cubicBezTo>
                  <a:pt x="3524" y="2191151"/>
                  <a:pt x="-34" y="2182493"/>
                  <a:pt x="0" y="2173478"/>
                </a:cubicBezTo>
                <a:lnTo>
                  <a:pt x="0" y="33909"/>
                </a:lnTo>
                <a:cubicBezTo>
                  <a:pt x="0" y="15194"/>
                  <a:pt x="15194" y="0"/>
                  <a:pt x="33909" y="0"/>
                </a:cubicBezTo>
                <a:close/>
              </a:path>
            </a:pathLst>
          </a:custGeom>
          <a:solidFill>
            <a:srgbClr val="D4A373"/>
          </a:solidFill>
          <a:ln/>
        </p:spPr>
      </p:sp>
      <p:sp>
        <p:nvSpPr>
          <p:cNvPr id="42" name="Shape 39"/>
          <p:cNvSpPr/>
          <p:nvPr/>
        </p:nvSpPr>
        <p:spPr>
          <a:xfrm>
            <a:off x="6407699" y="4336823"/>
            <a:ext cx="169805" cy="169805"/>
          </a:xfrm>
          <a:custGeom>
            <a:avLst/>
            <a:gdLst/>
            <a:ahLst/>
            <a:cxnLst/>
            <a:rect l="l" t="t" r="r" b="b"/>
            <a:pathLst>
              <a:path w="169805" h="169805">
                <a:moveTo>
                  <a:pt x="42451" y="106128"/>
                </a:moveTo>
                <a:lnTo>
                  <a:pt x="8125" y="106128"/>
                </a:lnTo>
                <a:cubicBezTo>
                  <a:pt x="-133" y="106128"/>
                  <a:pt x="-5207" y="97140"/>
                  <a:pt x="-962" y="90043"/>
                </a:cubicBezTo>
                <a:lnTo>
                  <a:pt x="16583" y="60792"/>
                </a:lnTo>
                <a:cubicBezTo>
                  <a:pt x="19468" y="55983"/>
                  <a:pt x="24642" y="53064"/>
                  <a:pt x="30247" y="53064"/>
                </a:cubicBezTo>
                <a:lnTo>
                  <a:pt x="61753" y="53064"/>
                </a:lnTo>
                <a:cubicBezTo>
                  <a:pt x="86992" y="10314"/>
                  <a:pt x="124634" y="8159"/>
                  <a:pt x="149806" y="11840"/>
                </a:cubicBezTo>
                <a:cubicBezTo>
                  <a:pt x="154052" y="12470"/>
                  <a:pt x="157368" y="15787"/>
                  <a:pt x="157965" y="19999"/>
                </a:cubicBezTo>
                <a:cubicBezTo>
                  <a:pt x="161646" y="45171"/>
                  <a:pt x="159491" y="82813"/>
                  <a:pt x="116741" y="108052"/>
                </a:cubicBezTo>
                <a:lnTo>
                  <a:pt x="116741" y="139558"/>
                </a:lnTo>
                <a:cubicBezTo>
                  <a:pt x="116741" y="145163"/>
                  <a:pt x="113822" y="150337"/>
                  <a:pt x="109013" y="153222"/>
                </a:cubicBezTo>
                <a:lnTo>
                  <a:pt x="79762" y="170767"/>
                </a:lnTo>
                <a:cubicBezTo>
                  <a:pt x="72698" y="175012"/>
                  <a:pt x="63677" y="169905"/>
                  <a:pt x="63677" y="161680"/>
                </a:cubicBezTo>
                <a:lnTo>
                  <a:pt x="63677" y="127354"/>
                </a:lnTo>
                <a:cubicBezTo>
                  <a:pt x="63677" y="115647"/>
                  <a:pt x="54159" y="106128"/>
                  <a:pt x="42451" y="106128"/>
                </a:cubicBezTo>
                <a:lnTo>
                  <a:pt x="42418" y="106128"/>
                </a:lnTo>
                <a:close/>
                <a:moveTo>
                  <a:pt x="132660" y="53064"/>
                </a:moveTo>
                <a:cubicBezTo>
                  <a:pt x="132660" y="44278"/>
                  <a:pt x="125527" y="37145"/>
                  <a:pt x="116741" y="37145"/>
                </a:cubicBezTo>
                <a:cubicBezTo>
                  <a:pt x="107955" y="37145"/>
                  <a:pt x="100822" y="44278"/>
                  <a:pt x="100822" y="53064"/>
                </a:cubicBezTo>
                <a:cubicBezTo>
                  <a:pt x="100822" y="61850"/>
                  <a:pt x="107955" y="68983"/>
                  <a:pt x="116741" y="68983"/>
                </a:cubicBezTo>
                <a:cubicBezTo>
                  <a:pt x="125527" y="68983"/>
                  <a:pt x="132660" y="61850"/>
                  <a:pt x="132660" y="53064"/>
                </a:cubicBezTo>
                <a:close/>
              </a:path>
            </a:pathLst>
          </a:custGeom>
          <a:solidFill>
            <a:srgbClr val="D4A373"/>
          </a:solidFill>
          <a:ln/>
        </p:spPr>
      </p:sp>
      <p:sp>
        <p:nvSpPr>
          <p:cNvPr id="43" name="Text 40"/>
          <p:cNvSpPr/>
          <p:nvPr/>
        </p:nvSpPr>
        <p:spPr>
          <a:xfrm>
            <a:off x="6644137" y="4309652"/>
            <a:ext cx="5125155" cy="23772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37" b="1" dirty="0">
                <a:solidFill>
                  <a:srgbClr val="F0F2F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Demo Video</a:t>
            </a:r>
            <a:endParaRPr lang="en-US" sz="1600" dirty="0"/>
          </a:p>
        </p:txBody>
      </p:sp>
      <p:sp>
        <p:nvSpPr>
          <p:cNvPr id="44" name="Shape 41"/>
          <p:cNvSpPr/>
          <p:nvPr/>
        </p:nvSpPr>
        <p:spPr>
          <a:xfrm>
            <a:off x="6386473" y="4649262"/>
            <a:ext cx="5297916" cy="1528245"/>
          </a:xfrm>
          <a:prstGeom prst="roundRect">
            <a:avLst>
              <a:gd name="adj" fmla="val 4444"/>
            </a:avLst>
          </a:prstGeom>
          <a:solidFill>
            <a:srgbClr val="1A1D21">
              <a:alpha val="60000"/>
            </a:srgbClr>
          </a:solidFill>
          <a:ln/>
        </p:spPr>
      </p:sp>
      <p:sp>
        <p:nvSpPr>
          <p:cNvPr id="45" name="Shape 42"/>
          <p:cNvSpPr/>
          <p:nvPr/>
        </p:nvSpPr>
        <p:spPr>
          <a:xfrm>
            <a:off x="8781679" y="4853028"/>
            <a:ext cx="509415" cy="509415"/>
          </a:xfrm>
          <a:custGeom>
            <a:avLst/>
            <a:gdLst/>
            <a:ahLst/>
            <a:cxnLst/>
            <a:rect l="l" t="t" r="r" b="b"/>
            <a:pathLst>
              <a:path w="509415" h="509415">
                <a:moveTo>
                  <a:pt x="0" y="254708"/>
                </a:moveTo>
                <a:cubicBezTo>
                  <a:pt x="0" y="114131"/>
                  <a:pt x="114131" y="0"/>
                  <a:pt x="254708" y="0"/>
                </a:cubicBezTo>
                <a:cubicBezTo>
                  <a:pt x="395284" y="0"/>
                  <a:pt x="509415" y="114131"/>
                  <a:pt x="509415" y="254708"/>
                </a:cubicBezTo>
                <a:cubicBezTo>
                  <a:pt x="509415" y="395284"/>
                  <a:pt x="395284" y="509415"/>
                  <a:pt x="254708" y="509415"/>
                </a:cubicBezTo>
                <a:cubicBezTo>
                  <a:pt x="114131" y="509415"/>
                  <a:pt x="0" y="395284"/>
                  <a:pt x="0" y="254708"/>
                </a:cubicBezTo>
                <a:close/>
                <a:moveTo>
                  <a:pt x="187349" y="146357"/>
                </a:moveTo>
                <a:cubicBezTo>
                  <a:pt x="179788" y="150536"/>
                  <a:pt x="175111" y="158595"/>
                  <a:pt x="175111" y="167152"/>
                </a:cubicBezTo>
                <a:lnTo>
                  <a:pt x="175111" y="342263"/>
                </a:lnTo>
                <a:cubicBezTo>
                  <a:pt x="175111" y="350919"/>
                  <a:pt x="179788" y="358879"/>
                  <a:pt x="187349" y="363058"/>
                </a:cubicBezTo>
                <a:cubicBezTo>
                  <a:pt x="194911" y="367237"/>
                  <a:pt x="204065" y="367137"/>
                  <a:pt x="211527" y="362560"/>
                </a:cubicBezTo>
                <a:lnTo>
                  <a:pt x="354800" y="275005"/>
                </a:lnTo>
                <a:cubicBezTo>
                  <a:pt x="361864" y="270627"/>
                  <a:pt x="366242" y="262966"/>
                  <a:pt x="366242" y="254608"/>
                </a:cubicBezTo>
                <a:cubicBezTo>
                  <a:pt x="366242" y="246250"/>
                  <a:pt x="361864" y="238589"/>
                  <a:pt x="354800" y="234212"/>
                </a:cubicBezTo>
                <a:lnTo>
                  <a:pt x="211527" y="146656"/>
                </a:lnTo>
                <a:cubicBezTo>
                  <a:pt x="204164" y="142179"/>
                  <a:pt x="194911" y="141980"/>
                  <a:pt x="187349" y="146158"/>
                </a:cubicBezTo>
                <a:close/>
              </a:path>
            </a:pathLst>
          </a:custGeom>
          <a:solidFill>
            <a:srgbClr val="D4A373"/>
          </a:solidFill>
          <a:ln/>
        </p:spPr>
      </p:sp>
      <p:sp>
        <p:nvSpPr>
          <p:cNvPr id="46" name="Text 43"/>
          <p:cNvSpPr/>
          <p:nvPr/>
        </p:nvSpPr>
        <p:spPr>
          <a:xfrm>
            <a:off x="6552033" y="5498287"/>
            <a:ext cx="4966797" cy="23772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3" b="1" dirty="0">
                <a:solidFill>
                  <a:srgbClr val="F0F2F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Watch System Demo</a:t>
            </a:r>
            <a:endParaRPr lang="en-US" sz="1600" dirty="0"/>
          </a:p>
        </p:txBody>
      </p:sp>
      <p:sp>
        <p:nvSpPr>
          <p:cNvPr id="47" name="Text 44"/>
          <p:cNvSpPr/>
          <p:nvPr/>
        </p:nvSpPr>
        <p:spPr>
          <a:xfrm>
            <a:off x="6560523" y="5803936"/>
            <a:ext cx="4949816" cy="1698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936" dirty="0">
                <a:solidFill>
                  <a:srgbClr val="9A959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Complete walkthrough of detection capabilities</a:t>
            </a:r>
            <a:endParaRPr lang="en-US" sz="1600" dirty="0"/>
          </a:p>
        </p:txBody>
      </p:sp>
      <p:sp>
        <p:nvSpPr>
          <p:cNvPr id="48" name="Shape 45"/>
          <p:cNvSpPr/>
          <p:nvPr/>
        </p:nvSpPr>
        <p:spPr>
          <a:xfrm>
            <a:off x="356591" y="6449195"/>
            <a:ext cx="11495799" cy="407532"/>
          </a:xfrm>
          <a:custGeom>
            <a:avLst/>
            <a:gdLst/>
            <a:ahLst/>
            <a:cxnLst/>
            <a:rect l="l" t="t" r="r" b="b"/>
            <a:pathLst>
              <a:path w="11495799" h="407532">
                <a:moveTo>
                  <a:pt x="33909" y="0"/>
                </a:moveTo>
                <a:lnTo>
                  <a:pt x="11427841" y="0"/>
                </a:lnTo>
                <a:cubicBezTo>
                  <a:pt x="11465366" y="0"/>
                  <a:pt x="11495786" y="30420"/>
                  <a:pt x="11495786" y="67945"/>
                </a:cubicBezTo>
                <a:lnTo>
                  <a:pt x="11495786" y="339598"/>
                </a:lnTo>
                <a:cubicBezTo>
                  <a:pt x="11495786" y="377123"/>
                  <a:pt x="11465366" y="407543"/>
                  <a:pt x="11427841" y="407543"/>
                </a:cubicBezTo>
                <a:lnTo>
                  <a:pt x="33909" y="407543"/>
                </a:lnTo>
                <a:cubicBezTo>
                  <a:pt x="15182" y="407543"/>
                  <a:pt x="0" y="392361"/>
                  <a:pt x="0" y="373634"/>
                </a:cubicBezTo>
                <a:lnTo>
                  <a:pt x="0" y="33909"/>
                </a:lnTo>
                <a:cubicBezTo>
                  <a:pt x="0" y="15194"/>
                  <a:pt x="15194" y="0"/>
                  <a:pt x="33909" y="0"/>
                </a:cubicBezTo>
                <a:close/>
              </a:path>
            </a:pathLst>
          </a:custGeom>
          <a:solidFill>
            <a:srgbClr val="5F737C">
              <a:alpha val="20000"/>
            </a:srgbClr>
          </a:solidFill>
          <a:ln/>
        </p:spPr>
      </p:sp>
      <p:sp>
        <p:nvSpPr>
          <p:cNvPr id="49" name="Shape 46"/>
          <p:cNvSpPr/>
          <p:nvPr/>
        </p:nvSpPr>
        <p:spPr>
          <a:xfrm>
            <a:off x="356591" y="6449195"/>
            <a:ext cx="33961" cy="407532"/>
          </a:xfrm>
          <a:custGeom>
            <a:avLst/>
            <a:gdLst/>
            <a:ahLst/>
            <a:cxnLst/>
            <a:rect l="l" t="t" r="r" b="b"/>
            <a:pathLst>
              <a:path w="33961" h="407532">
                <a:moveTo>
                  <a:pt x="33909" y="0"/>
                </a:moveTo>
                <a:lnTo>
                  <a:pt x="33909" y="0"/>
                </a:lnTo>
                <a:lnTo>
                  <a:pt x="33909" y="407543"/>
                </a:lnTo>
                <a:lnTo>
                  <a:pt x="33909" y="407543"/>
                </a:lnTo>
                <a:cubicBezTo>
                  <a:pt x="15182" y="407543"/>
                  <a:pt x="0" y="392361"/>
                  <a:pt x="0" y="373634"/>
                </a:cubicBezTo>
                <a:lnTo>
                  <a:pt x="0" y="33909"/>
                </a:lnTo>
                <a:cubicBezTo>
                  <a:pt x="0" y="15194"/>
                  <a:pt x="15194" y="0"/>
                  <a:pt x="33909" y="0"/>
                </a:cubicBezTo>
                <a:close/>
              </a:path>
            </a:pathLst>
          </a:custGeom>
          <a:solidFill>
            <a:srgbClr val="D4A373"/>
          </a:solidFill>
          <a:ln/>
        </p:spPr>
      </p:sp>
      <p:sp>
        <p:nvSpPr>
          <p:cNvPr id="50" name="Shape 47"/>
          <p:cNvSpPr/>
          <p:nvPr/>
        </p:nvSpPr>
        <p:spPr>
          <a:xfrm>
            <a:off x="492435" y="6578245"/>
            <a:ext cx="135844" cy="135844"/>
          </a:xfrm>
          <a:custGeom>
            <a:avLst/>
            <a:gdLst/>
            <a:ahLst/>
            <a:cxnLst/>
            <a:rect l="l" t="t" r="r" b="b"/>
            <a:pathLst>
              <a:path w="135844" h="135844">
                <a:moveTo>
                  <a:pt x="67922" y="135844"/>
                </a:moveTo>
                <a:cubicBezTo>
                  <a:pt x="105409" y="135844"/>
                  <a:pt x="135844" y="105409"/>
                  <a:pt x="135844" y="67922"/>
                </a:cubicBezTo>
                <a:cubicBezTo>
                  <a:pt x="135844" y="30435"/>
                  <a:pt x="105409" y="0"/>
                  <a:pt x="67922" y="0"/>
                </a:cubicBezTo>
                <a:cubicBezTo>
                  <a:pt x="30435" y="0"/>
                  <a:pt x="0" y="30435"/>
                  <a:pt x="0" y="67922"/>
                </a:cubicBezTo>
                <a:cubicBezTo>
                  <a:pt x="0" y="105409"/>
                  <a:pt x="30435" y="135844"/>
                  <a:pt x="67922" y="135844"/>
                </a:cubicBezTo>
                <a:close/>
                <a:moveTo>
                  <a:pt x="59432" y="42451"/>
                </a:moveTo>
                <a:cubicBezTo>
                  <a:pt x="59432" y="37765"/>
                  <a:pt x="63236" y="33961"/>
                  <a:pt x="67922" y="33961"/>
                </a:cubicBezTo>
                <a:cubicBezTo>
                  <a:pt x="72608" y="33961"/>
                  <a:pt x="76412" y="37765"/>
                  <a:pt x="76412" y="42451"/>
                </a:cubicBezTo>
                <a:cubicBezTo>
                  <a:pt x="76412" y="47137"/>
                  <a:pt x="72608" y="50942"/>
                  <a:pt x="67922" y="50942"/>
                </a:cubicBezTo>
                <a:cubicBezTo>
                  <a:pt x="63236" y="50942"/>
                  <a:pt x="59432" y="47137"/>
                  <a:pt x="59432" y="42451"/>
                </a:cubicBezTo>
                <a:close/>
                <a:moveTo>
                  <a:pt x="57309" y="59432"/>
                </a:moveTo>
                <a:lnTo>
                  <a:pt x="70045" y="59432"/>
                </a:lnTo>
                <a:cubicBezTo>
                  <a:pt x="73573" y="59432"/>
                  <a:pt x="76412" y="62271"/>
                  <a:pt x="76412" y="65799"/>
                </a:cubicBezTo>
                <a:lnTo>
                  <a:pt x="76412" y="89148"/>
                </a:lnTo>
                <a:lnTo>
                  <a:pt x="78535" y="89148"/>
                </a:lnTo>
                <a:cubicBezTo>
                  <a:pt x="82064" y="89148"/>
                  <a:pt x="84903" y="91987"/>
                  <a:pt x="84903" y="95515"/>
                </a:cubicBezTo>
                <a:cubicBezTo>
                  <a:pt x="84903" y="99044"/>
                  <a:pt x="82064" y="101883"/>
                  <a:pt x="78535" y="101883"/>
                </a:cubicBezTo>
                <a:lnTo>
                  <a:pt x="57309" y="101883"/>
                </a:lnTo>
                <a:cubicBezTo>
                  <a:pt x="53780" y="101883"/>
                  <a:pt x="50942" y="99044"/>
                  <a:pt x="50942" y="95515"/>
                </a:cubicBezTo>
                <a:cubicBezTo>
                  <a:pt x="50942" y="91987"/>
                  <a:pt x="53780" y="89148"/>
                  <a:pt x="57309" y="89148"/>
                </a:cubicBezTo>
                <a:lnTo>
                  <a:pt x="63677" y="89148"/>
                </a:lnTo>
                <a:lnTo>
                  <a:pt x="63677" y="72167"/>
                </a:lnTo>
                <a:lnTo>
                  <a:pt x="57309" y="72167"/>
                </a:lnTo>
                <a:cubicBezTo>
                  <a:pt x="53780" y="72167"/>
                  <a:pt x="50942" y="69328"/>
                  <a:pt x="50942" y="65799"/>
                </a:cubicBezTo>
                <a:cubicBezTo>
                  <a:pt x="50942" y="62271"/>
                  <a:pt x="53780" y="59432"/>
                  <a:pt x="57309" y="59432"/>
                </a:cubicBezTo>
                <a:close/>
              </a:path>
            </a:pathLst>
          </a:custGeom>
          <a:solidFill>
            <a:srgbClr val="D4A373"/>
          </a:solidFill>
          <a:ln/>
        </p:spPr>
      </p:sp>
      <p:sp>
        <p:nvSpPr>
          <p:cNvPr id="51" name="Text 48"/>
          <p:cNvSpPr/>
          <p:nvPr/>
        </p:nvSpPr>
        <p:spPr>
          <a:xfrm>
            <a:off x="690667" y="6551082"/>
            <a:ext cx="11127762" cy="2037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70" b="1" dirty="0">
                <a:solidFill>
                  <a:srgbClr val="F0F2F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Note:</a:t>
            </a:r>
            <a:pPr>
              <a:lnSpc>
                <a:spcPct val="130000"/>
              </a:lnSpc>
            </a:pPr>
            <a:r>
              <a:rPr lang="en-US" sz="1070" dirty="0">
                <a:solidFill>
                  <a:srgbClr val="F0F2F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Screenshots of the Streamlit application showing image detection with Grad-CAM heatmap and video ECF report are available in the project documentation.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A1D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1000" y="381000"/>
            <a:ext cx="76200" cy="457200"/>
          </a:xfrm>
          <a:prstGeom prst="roundRect">
            <a:avLst>
              <a:gd name="adj" fmla="val 0"/>
            </a:avLst>
          </a:prstGeom>
          <a:solidFill>
            <a:srgbClr val="D4A373"/>
          </a:solidFill>
          <a:ln/>
        </p:spPr>
      </p:sp>
      <p:sp>
        <p:nvSpPr>
          <p:cNvPr id="3" name="Text 1"/>
          <p:cNvSpPr/>
          <p:nvPr/>
        </p:nvSpPr>
        <p:spPr>
          <a:xfrm>
            <a:off x="571500" y="381000"/>
            <a:ext cx="246697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600" b="1" dirty="0">
                <a:solidFill>
                  <a:srgbClr val="F0F2F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Limitations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571500" y="914400"/>
            <a:ext cx="113347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dirty="0">
                <a:solidFill>
                  <a:srgbClr val="9A959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Current Constraints and Areas for Improvement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400050" y="1333500"/>
            <a:ext cx="5600700" cy="1219200"/>
          </a:xfrm>
          <a:custGeom>
            <a:avLst/>
            <a:gdLst/>
            <a:ahLst/>
            <a:cxnLst/>
            <a:rect l="l" t="t" r="r" b="b"/>
            <a:pathLst>
              <a:path w="5600700" h="1219200">
                <a:moveTo>
                  <a:pt x="38100" y="0"/>
                </a:moveTo>
                <a:lnTo>
                  <a:pt x="5524500" y="0"/>
                </a:lnTo>
                <a:cubicBezTo>
                  <a:pt x="5566556" y="0"/>
                  <a:pt x="5600700" y="34144"/>
                  <a:pt x="5600700" y="76200"/>
                </a:cubicBezTo>
                <a:lnTo>
                  <a:pt x="5600700" y="1143000"/>
                </a:lnTo>
                <a:cubicBezTo>
                  <a:pt x="5600700" y="1185056"/>
                  <a:pt x="5566556" y="1219200"/>
                  <a:pt x="5524500" y="1219200"/>
                </a:cubicBezTo>
                <a:lnTo>
                  <a:pt x="38100" y="1219200"/>
                </a:lnTo>
                <a:cubicBezTo>
                  <a:pt x="17072" y="1219200"/>
                  <a:pt x="0" y="1202128"/>
                  <a:pt x="0" y="11811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gradFill rotWithShape="1" flip="none">
            <a:gsLst>
              <a:gs pos="0">
                <a:srgbClr val="5F737C">
                  <a:alpha val="30000"/>
                </a:srgbClr>
              </a:gs>
              <a:gs pos="100000">
                <a:srgbClr val="4A5C6A">
                  <a:alpha val="20000"/>
                </a:srgbClr>
              </a:gs>
            </a:gsLst>
            <a:lin ang="2700000" scaled="1"/>
          </a:gradFill>
          <a:ln/>
        </p:spPr>
      </p:sp>
      <p:sp>
        <p:nvSpPr>
          <p:cNvPr id="6" name="Shape 4"/>
          <p:cNvSpPr/>
          <p:nvPr/>
        </p:nvSpPr>
        <p:spPr>
          <a:xfrm>
            <a:off x="400050" y="1333500"/>
            <a:ext cx="38100" cy="1219200"/>
          </a:xfrm>
          <a:custGeom>
            <a:avLst/>
            <a:gdLst/>
            <a:ahLst/>
            <a:cxnLst/>
            <a:rect l="l" t="t" r="r" b="b"/>
            <a:pathLst>
              <a:path w="38100" h="1219200">
                <a:moveTo>
                  <a:pt x="38100" y="0"/>
                </a:moveTo>
                <a:lnTo>
                  <a:pt x="38100" y="0"/>
                </a:lnTo>
                <a:lnTo>
                  <a:pt x="38100" y="1219200"/>
                </a:lnTo>
                <a:lnTo>
                  <a:pt x="38100" y="1219200"/>
                </a:lnTo>
                <a:cubicBezTo>
                  <a:pt x="17072" y="1219200"/>
                  <a:pt x="0" y="1202128"/>
                  <a:pt x="0" y="11811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B2C36"/>
          </a:solidFill>
          <a:ln/>
        </p:spPr>
      </p:sp>
      <p:sp>
        <p:nvSpPr>
          <p:cNvPr id="7" name="Shape 5"/>
          <p:cNvSpPr/>
          <p:nvPr/>
        </p:nvSpPr>
        <p:spPr>
          <a:xfrm>
            <a:off x="609600" y="1524000"/>
            <a:ext cx="533400" cy="533400"/>
          </a:xfrm>
          <a:prstGeom prst="roundRect">
            <a:avLst>
              <a:gd name="adj" fmla="val 50000"/>
            </a:avLst>
          </a:prstGeom>
          <a:solidFill>
            <a:srgbClr val="FB2C36">
              <a:alpha val="20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747713" y="1676400"/>
            <a:ext cx="257175" cy="228600"/>
          </a:xfrm>
          <a:custGeom>
            <a:avLst/>
            <a:gdLst/>
            <a:ahLst/>
            <a:cxnLst/>
            <a:rect l="l" t="t" r="r" b="b"/>
            <a:pathLst>
              <a:path w="257175" h="228600">
                <a:moveTo>
                  <a:pt x="21431" y="157163"/>
                </a:moveTo>
                <a:lnTo>
                  <a:pt x="42863" y="157163"/>
                </a:lnTo>
                <a:lnTo>
                  <a:pt x="102736" y="210383"/>
                </a:lnTo>
                <a:cubicBezTo>
                  <a:pt x="105594" y="212928"/>
                  <a:pt x="109255" y="214313"/>
                  <a:pt x="113050" y="214313"/>
                </a:cubicBezTo>
                <a:cubicBezTo>
                  <a:pt x="121622" y="214313"/>
                  <a:pt x="128588" y="207347"/>
                  <a:pt x="128588" y="198775"/>
                </a:cubicBezTo>
                <a:lnTo>
                  <a:pt x="128588" y="29825"/>
                </a:lnTo>
                <a:cubicBezTo>
                  <a:pt x="128588" y="21253"/>
                  <a:pt x="121622" y="14288"/>
                  <a:pt x="113050" y="14288"/>
                </a:cubicBezTo>
                <a:cubicBezTo>
                  <a:pt x="109255" y="14288"/>
                  <a:pt x="105594" y="15672"/>
                  <a:pt x="102736" y="18217"/>
                </a:cubicBezTo>
                <a:lnTo>
                  <a:pt x="42863" y="71438"/>
                </a:lnTo>
                <a:lnTo>
                  <a:pt x="21431" y="71438"/>
                </a:lnTo>
                <a:cubicBezTo>
                  <a:pt x="9599" y="71438"/>
                  <a:pt x="0" y="81037"/>
                  <a:pt x="0" y="92869"/>
                </a:cubicBezTo>
                <a:lnTo>
                  <a:pt x="0" y="135731"/>
                </a:lnTo>
                <a:cubicBezTo>
                  <a:pt x="0" y="147563"/>
                  <a:pt x="9599" y="157163"/>
                  <a:pt x="21431" y="157163"/>
                </a:cubicBezTo>
                <a:close/>
                <a:moveTo>
                  <a:pt x="163860" y="78135"/>
                </a:moveTo>
                <a:cubicBezTo>
                  <a:pt x="159663" y="82332"/>
                  <a:pt x="159663" y="89118"/>
                  <a:pt x="163860" y="93271"/>
                </a:cubicBezTo>
                <a:lnTo>
                  <a:pt x="184845" y="114255"/>
                </a:lnTo>
                <a:lnTo>
                  <a:pt x="163860" y="135240"/>
                </a:lnTo>
                <a:cubicBezTo>
                  <a:pt x="159663" y="139437"/>
                  <a:pt x="159663" y="146224"/>
                  <a:pt x="163860" y="150376"/>
                </a:cubicBezTo>
                <a:cubicBezTo>
                  <a:pt x="168057" y="154528"/>
                  <a:pt x="174843" y="154573"/>
                  <a:pt x="178996" y="150376"/>
                </a:cubicBezTo>
                <a:lnTo>
                  <a:pt x="199980" y="129391"/>
                </a:lnTo>
                <a:lnTo>
                  <a:pt x="220965" y="150376"/>
                </a:lnTo>
                <a:cubicBezTo>
                  <a:pt x="225162" y="154573"/>
                  <a:pt x="231949" y="154573"/>
                  <a:pt x="236101" y="150376"/>
                </a:cubicBezTo>
                <a:cubicBezTo>
                  <a:pt x="240253" y="146179"/>
                  <a:pt x="240298" y="139392"/>
                  <a:pt x="236101" y="135240"/>
                </a:cubicBezTo>
                <a:lnTo>
                  <a:pt x="215116" y="114255"/>
                </a:lnTo>
                <a:lnTo>
                  <a:pt x="236101" y="93271"/>
                </a:lnTo>
                <a:cubicBezTo>
                  <a:pt x="240298" y="89074"/>
                  <a:pt x="240298" y="82287"/>
                  <a:pt x="236101" y="78135"/>
                </a:cubicBezTo>
                <a:cubicBezTo>
                  <a:pt x="231904" y="73982"/>
                  <a:pt x="225117" y="73938"/>
                  <a:pt x="220965" y="78135"/>
                </a:cubicBezTo>
                <a:lnTo>
                  <a:pt x="199980" y="99120"/>
                </a:lnTo>
                <a:lnTo>
                  <a:pt x="178996" y="78135"/>
                </a:lnTo>
                <a:cubicBezTo>
                  <a:pt x="174799" y="73938"/>
                  <a:pt x="168012" y="73938"/>
                  <a:pt x="163860" y="78135"/>
                </a:cubicBezTo>
                <a:close/>
              </a:path>
            </a:pathLst>
          </a:custGeom>
          <a:solidFill>
            <a:srgbClr val="FB2C36"/>
          </a:solidFill>
          <a:ln/>
        </p:spPr>
      </p:sp>
      <p:sp>
        <p:nvSpPr>
          <p:cNvPr id="9" name="Text 7"/>
          <p:cNvSpPr/>
          <p:nvPr/>
        </p:nvSpPr>
        <p:spPr>
          <a:xfrm>
            <a:off x="1295400" y="1524000"/>
            <a:ext cx="46101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F0F2F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Audio Dependency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295400" y="1866900"/>
            <a:ext cx="459105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F0F2F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ECF requires </a:t>
            </a:r>
            <a:pPr>
              <a:lnSpc>
                <a:spcPct val="140000"/>
              </a:lnSpc>
            </a:pPr>
            <a:r>
              <a:rPr lang="en-US" sz="1200" b="1" dirty="0">
                <a:solidFill>
                  <a:srgbClr val="F0F2F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clear audio</a:t>
            </a:r>
            <a:pPr>
              <a:lnSpc>
                <a:spcPct val="140000"/>
              </a:lnSpc>
            </a:pPr>
            <a:r>
              <a:rPr lang="en-US" sz="1200" dirty="0">
                <a:solidFill>
                  <a:srgbClr val="F0F2F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and fails on silent videos or those with heavy background noise.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400050" y="2705100"/>
            <a:ext cx="5600700" cy="1219200"/>
          </a:xfrm>
          <a:custGeom>
            <a:avLst/>
            <a:gdLst/>
            <a:ahLst/>
            <a:cxnLst/>
            <a:rect l="l" t="t" r="r" b="b"/>
            <a:pathLst>
              <a:path w="5600700" h="1219200">
                <a:moveTo>
                  <a:pt x="38100" y="0"/>
                </a:moveTo>
                <a:lnTo>
                  <a:pt x="5524500" y="0"/>
                </a:lnTo>
                <a:cubicBezTo>
                  <a:pt x="5566556" y="0"/>
                  <a:pt x="5600700" y="34144"/>
                  <a:pt x="5600700" y="76200"/>
                </a:cubicBezTo>
                <a:lnTo>
                  <a:pt x="5600700" y="1143000"/>
                </a:lnTo>
                <a:cubicBezTo>
                  <a:pt x="5600700" y="1185056"/>
                  <a:pt x="5566556" y="1219200"/>
                  <a:pt x="5524500" y="1219200"/>
                </a:cubicBezTo>
                <a:lnTo>
                  <a:pt x="38100" y="1219200"/>
                </a:lnTo>
                <a:cubicBezTo>
                  <a:pt x="17072" y="1219200"/>
                  <a:pt x="0" y="1202128"/>
                  <a:pt x="0" y="11811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gradFill rotWithShape="1" flip="none">
            <a:gsLst>
              <a:gs pos="0">
                <a:srgbClr val="5F737C">
                  <a:alpha val="30000"/>
                </a:srgbClr>
              </a:gs>
              <a:gs pos="100000">
                <a:srgbClr val="4A5C6A">
                  <a:alpha val="20000"/>
                </a:srgbClr>
              </a:gs>
            </a:gsLst>
            <a:lin ang="2700000" scaled="1"/>
          </a:gradFill>
          <a:ln/>
        </p:spPr>
      </p:sp>
      <p:sp>
        <p:nvSpPr>
          <p:cNvPr id="12" name="Shape 10"/>
          <p:cNvSpPr/>
          <p:nvPr/>
        </p:nvSpPr>
        <p:spPr>
          <a:xfrm>
            <a:off x="400050" y="2705100"/>
            <a:ext cx="38100" cy="1219200"/>
          </a:xfrm>
          <a:custGeom>
            <a:avLst/>
            <a:gdLst/>
            <a:ahLst/>
            <a:cxnLst/>
            <a:rect l="l" t="t" r="r" b="b"/>
            <a:pathLst>
              <a:path w="38100" h="1219200">
                <a:moveTo>
                  <a:pt x="38100" y="0"/>
                </a:moveTo>
                <a:lnTo>
                  <a:pt x="38100" y="0"/>
                </a:lnTo>
                <a:lnTo>
                  <a:pt x="38100" y="1219200"/>
                </a:lnTo>
                <a:lnTo>
                  <a:pt x="38100" y="1219200"/>
                </a:lnTo>
                <a:cubicBezTo>
                  <a:pt x="17072" y="1219200"/>
                  <a:pt x="0" y="1202128"/>
                  <a:pt x="0" y="11811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0B100"/>
          </a:solidFill>
          <a:ln/>
        </p:spPr>
      </p:sp>
      <p:sp>
        <p:nvSpPr>
          <p:cNvPr id="13" name="Shape 11"/>
          <p:cNvSpPr/>
          <p:nvPr/>
        </p:nvSpPr>
        <p:spPr>
          <a:xfrm>
            <a:off x="609600" y="2895600"/>
            <a:ext cx="533400" cy="533400"/>
          </a:xfrm>
          <a:prstGeom prst="roundRect">
            <a:avLst>
              <a:gd name="adj" fmla="val 50000"/>
            </a:avLst>
          </a:prstGeom>
          <a:solidFill>
            <a:srgbClr val="F0B100">
              <a:alpha val="200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747713" y="3048000"/>
            <a:ext cx="257175" cy="228600"/>
          </a:xfrm>
          <a:custGeom>
            <a:avLst/>
            <a:gdLst/>
            <a:ahLst/>
            <a:cxnLst/>
            <a:rect l="l" t="t" r="r" b="b"/>
            <a:pathLst>
              <a:path w="257175" h="228600">
                <a:moveTo>
                  <a:pt x="18306" y="-11117"/>
                </a:moveTo>
                <a:cubicBezTo>
                  <a:pt x="14109" y="-15314"/>
                  <a:pt x="7322" y="-15314"/>
                  <a:pt x="3170" y="-11117"/>
                </a:cubicBezTo>
                <a:cubicBezTo>
                  <a:pt x="-982" y="-6921"/>
                  <a:pt x="-1027" y="-134"/>
                  <a:pt x="3125" y="4063"/>
                </a:cubicBezTo>
                <a:lnTo>
                  <a:pt x="238869" y="239807"/>
                </a:lnTo>
                <a:cubicBezTo>
                  <a:pt x="243066" y="244004"/>
                  <a:pt x="249853" y="244004"/>
                  <a:pt x="254005" y="239807"/>
                </a:cubicBezTo>
                <a:cubicBezTo>
                  <a:pt x="258157" y="235610"/>
                  <a:pt x="258202" y="228823"/>
                  <a:pt x="254005" y="224671"/>
                </a:cubicBezTo>
                <a:lnTo>
                  <a:pt x="139080" y="109701"/>
                </a:lnTo>
                <a:cubicBezTo>
                  <a:pt x="163637" y="104835"/>
                  <a:pt x="182166" y="83135"/>
                  <a:pt x="182166" y="57150"/>
                </a:cubicBezTo>
                <a:cubicBezTo>
                  <a:pt x="182166" y="27548"/>
                  <a:pt x="158189" y="3572"/>
                  <a:pt x="128588" y="3572"/>
                </a:cubicBezTo>
                <a:cubicBezTo>
                  <a:pt x="102602" y="3572"/>
                  <a:pt x="80903" y="22101"/>
                  <a:pt x="76036" y="46658"/>
                </a:cubicBezTo>
                <a:lnTo>
                  <a:pt x="18306" y="-11117"/>
                </a:lnTo>
                <a:close/>
                <a:moveTo>
                  <a:pt x="105192" y="136356"/>
                </a:moveTo>
                <a:cubicBezTo>
                  <a:pt x="66035" y="141357"/>
                  <a:pt x="35719" y="174799"/>
                  <a:pt x="35719" y="215339"/>
                </a:cubicBezTo>
                <a:cubicBezTo>
                  <a:pt x="35719" y="222662"/>
                  <a:pt x="41657" y="228600"/>
                  <a:pt x="48979" y="228600"/>
                </a:cubicBezTo>
                <a:lnTo>
                  <a:pt x="197435" y="228600"/>
                </a:lnTo>
                <a:lnTo>
                  <a:pt x="105192" y="136356"/>
                </a:lnTo>
                <a:close/>
              </a:path>
            </a:pathLst>
          </a:custGeom>
          <a:solidFill>
            <a:srgbClr val="F0B100"/>
          </a:solidFill>
          <a:ln/>
        </p:spPr>
      </p:sp>
      <p:sp>
        <p:nvSpPr>
          <p:cNvPr id="15" name="Text 13"/>
          <p:cNvSpPr/>
          <p:nvPr/>
        </p:nvSpPr>
        <p:spPr>
          <a:xfrm>
            <a:off x="1295400" y="2895600"/>
            <a:ext cx="46101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F0F2F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Facial Occlusions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295400" y="3238500"/>
            <a:ext cx="459105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F0F2F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FER struggles with </a:t>
            </a:r>
            <a:pPr>
              <a:lnSpc>
                <a:spcPct val="140000"/>
              </a:lnSpc>
            </a:pPr>
            <a:r>
              <a:rPr lang="en-US" sz="1200" b="1" dirty="0">
                <a:solidFill>
                  <a:srgbClr val="F0F2F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extreme facial angles</a:t>
            </a:r>
            <a:pPr>
              <a:lnSpc>
                <a:spcPct val="140000"/>
              </a:lnSpc>
            </a:pPr>
            <a:r>
              <a:rPr lang="en-US" sz="1200" dirty="0">
                <a:solidFill>
                  <a:srgbClr val="F0F2F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or occlusions like masks and glasses.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400050" y="4076700"/>
            <a:ext cx="5600700" cy="1219200"/>
          </a:xfrm>
          <a:custGeom>
            <a:avLst/>
            <a:gdLst/>
            <a:ahLst/>
            <a:cxnLst/>
            <a:rect l="l" t="t" r="r" b="b"/>
            <a:pathLst>
              <a:path w="5600700" h="1219200">
                <a:moveTo>
                  <a:pt x="38100" y="0"/>
                </a:moveTo>
                <a:lnTo>
                  <a:pt x="5524500" y="0"/>
                </a:lnTo>
                <a:cubicBezTo>
                  <a:pt x="5566556" y="0"/>
                  <a:pt x="5600700" y="34144"/>
                  <a:pt x="5600700" y="76200"/>
                </a:cubicBezTo>
                <a:lnTo>
                  <a:pt x="5600700" y="1143000"/>
                </a:lnTo>
                <a:cubicBezTo>
                  <a:pt x="5600700" y="1185056"/>
                  <a:pt x="5566556" y="1219200"/>
                  <a:pt x="5524500" y="1219200"/>
                </a:cubicBezTo>
                <a:lnTo>
                  <a:pt x="38100" y="1219200"/>
                </a:lnTo>
                <a:cubicBezTo>
                  <a:pt x="17072" y="1219200"/>
                  <a:pt x="0" y="1202128"/>
                  <a:pt x="0" y="11811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gradFill rotWithShape="1" flip="none">
            <a:gsLst>
              <a:gs pos="0">
                <a:srgbClr val="5F737C">
                  <a:alpha val="30000"/>
                </a:srgbClr>
              </a:gs>
              <a:gs pos="100000">
                <a:srgbClr val="4A5C6A">
                  <a:alpha val="20000"/>
                </a:srgbClr>
              </a:gs>
            </a:gsLst>
            <a:lin ang="2700000" scaled="1"/>
          </a:gradFill>
          <a:ln/>
        </p:spPr>
      </p:sp>
      <p:sp>
        <p:nvSpPr>
          <p:cNvPr id="18" name="Shape 16"/>
          <p:cNvSpPr/>
          <p:nvPr/>
        </p:nvSpPr>
        <p:spPr>
          <a:xfrm>
            <a:off x="400050" y="4076700"/>
            <a:ext cx="38100" cy="1219200"/>
          </a:xfrm>
          <a:custGeom>
            <a:avLst/>
            <a:gdLst/>
            <a:ahLst/>
            <a:cxnLst/>
            <a:rect l="l" t="t" r="r" b="b"/>
            <a:pathLst>
              <a:path w="38100" h="1219200">
                <a:moveTo>
                  <a:pt x="38100" y="0"/>
                </a:moveTo>
                <a:lnTo>
                  <a:pt x="38100" y="0"/>
                </a:lnTo>
                <a:lnTo>
                  <a:pt x="38100" y="1219200"/>
                </a:lnTo>
                <a:lnTo>
                  <a:pt x="38100" y="1219200"/>
                </a:lnTo>
                <a:cubicBezTo>
                  <a:pt x="17072" y="1219200"/>
                  <a:pt x="0" y="1202128"/>
                  <a:pt x="0" y="11811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6900"/>
          </a:solidFill>
          <a:ln/>
        </p:spPr>
      </p:sp>
      <p:sp>
        <p:nvSpPr>
          <p:cNvPr id="19" name="Shape 17"/>
          <p:cNvSpPr/>
          <p:nvPr/>
        </p:nvSpPr>
        <p:spPr>
          <a:xfrm>
            <a:off x="609600" y="4267200"/>
            <a:ext cx="533400" cy="533400"/>
          </a:xfrm>
          <a:prstGeom prst="roundRect">
            <a:avLst>
              <a:gd name="adj" fmla="val 50000"/>
            </a:avLst>
          </a:prstGeom>
          <a:solidFill>
            <a:srgbClr val="FF6900">
              <a:alpha val="20000"/>
            </a:srgbClr>
          </a:solidFill>
          <a:ln/>
        </p:spPr>
      </p:sp>
      <p:sp>
        <p:nvSpPr>
          <p:cNvPr id="20" name="Shape 18"/>
          <p:cNvSpPr/>
          <p:nvPr/>
        </p:nvSpPr>
        <p:spPr>
          <a:xfrm>
            <a:off x="747713" y="4419600"/>
            <a:ext cx="257175" cy="228600"/>
          </a:xfrm>
          <a:custGeom>
            <a:avLst/>
            <a:gdLst/>
            <a:ahLst/>
            <a:cxnLst/>
            <a:rect l="l" t="t" r="r" b="b"/>
            <a:pathLst>
              <a:path w="257175" h="228600">
                <a:moveTo>
                  <a:pt x="-2232" y="52685"/>
                </a:moveTo>
                <a:lnTo>
                  <a:pt x="10492" y="124882"/>
                </a:lnTo>
                <a:cubicBezTo>
                  <a:pt x="16743" y="160377"/>
                  <a:pt x="44559" y="188193"/>
                  <a:pt x="80055" y="194444"/>
                </a:cubicBezTo>
                <a:lnTo>
                  <a:pt x="85725" y="195426"/>
                </a:lnTo>
                <a:cubicBezTo>
                  <a:pt x="78358" y="182657"/>
                  <a:pt x="73625" y="168325"/>
                  <a:pt x="72063" y="153233"/>
                </a:cubicBezTo>
                <a:lnTo>
                  <a:pt x="61302" y="155153"/>
                </a:lnTo>
                <a:cubicBezTo>
                  <a:pt x="56971" y="155912"/>
                  <a:pt x="52908" y="152564"/>
                  <a:pt x="53757" y="148233"/>
                </a:cubicBezTo>
                <a:cubicBezTo>
                  <a:pt x="55900" y="137205"/>
                  <a:pt x="62285" y="127427"/>
                  <a:pt x="71482" y="121042"/>
                </a:cubicBezTo>
                <a:lnTo>
                  <a:pt x="71482" y="87734"/>
                </a:lnTo>
                <a:cubicBezTo>
                  <a:pt x="70857" y="88091"/>
                  <a:pt x="70143" y="88315"/>
                  <a:pt x="69384" y="88449"/>
                </a:cubicBezTo>
                <a:lnTo>
                  <a:pt x="41255" y="93405"/>
                </a:lnTo>
                <a:cubicBezTo>
                  <a:pt x="37371" y="94074"/>
                  <a:pt x="33531" y="91440"/>
                  <a:pt x="34156" y="87556"/>
                </a:cubicBezTo>
                <a:cubicBezTo>
                  <a:pt x="35540" y="78804"/>
                  <a:pt x="42371" y="71482"/>
                  <a:pt x="51614" y="69830"/>
                </a:cubicBezTo>
                <a:cubicBezTo>
                  <a:pt x="59293" y="68491"/>
                  <a:pt x="66749" y="71393"/>
                  <a:pt x="71527" y="76885"/>
                </a:cubicBezTo>
                <a:lnTo>
                  <a:pt x="71527" y="66749"/>
                </a:lnTo>
                <a:cubicBezTo>
                  <a:pt x="71527" y="56704"/>
                  <a:pt x="74608" y="43354"/>
                  <a:pt x="85948" y="33977"/>
                </a:cubicBezTo>
                <a:cubicBezTo>
                  <a:pt x="97557" y="24378"/>
                  <a:pt x="116175" y="14377"/>
                  <a:pt x="141714" y="9778"/>
                </a:cubicBezTo>
                <a:cubicBezTo>
                  <a:pt x="128096" y="2500"/>
                  <a:pt x="103183" y="-4509"/>
                  <a:pt x="68580" y="1563"/>
                </a:cubicBezTo>
                <a:cubicBezTo>
                  <a:pt x="32727" y="7903"/>
                  <a:pt x="11430" y="23932"/>
                  <a:pt x="1563" y="35540"/>
                </a:cubicBezTo>
                <a:cubicBezTo>
                  <a:pt x="-2456" y="40228"/>
                  <a:pt x="-3259" y="46658"/>
                  <a:pt x="-2188" y="52730"/>
                </a:cubicBezTo>
                <a:close/>
                <a:moveTo>
                  <a:pt x="92869" y="61927"/>
                </a:moveTo>
                <a:lnTo>
                  <a:pt x="92869" y="139973"/>
                </a:lnTo>
                <a:cubicBezTo>
                  <a:pt x="92869" y="176004"/>
                  <a:pt x="115416" y="208240"/>
                  <a:pt x="149304" y="220519"/>
                </a:cubicBezTo>
                <a:lnTo>
                  <a:pt x="161672" y="225028"/>
                </a:lnTo>
                <a:cubicBezTo>
                  <a:pt x="167967" y="227305"/>
                  <a:pt x="174888" y="227305"/>
                  <a:pt x="181183" y="225028"/>
                </a:cubicBezTo>
                <a:lnTo>
                  <a:pt x="193596" y="220563"/>
                </a:lnTo>
                <a:cubicBezTo>
                  <a:pt x="227484" y="208240"/>
                  <a:pt x="250031" y="176049"/>
                  <a:pt x="250031" y="139973"/>
                </a:cubicBezTo>
                <a:lnTo>
                  <a:pt x="250031" y="61927"/>
                </a:lnTo>
                <a:cubicBezTo>
                  <a:pt x="250031" y="58847"/>
                  <a:pt x="249094" y="55766"/>
                  <a:pt x="246906" y="53623"/>
                </a:cubicBezTo>
                <a:cubicBezTo>
                  <a:pt x="236815" y="43577"/>
                  <a:pt x="211991" y="28620"/>
                  <a:pt x="171450" y="28620"/>
                </a:cubicBezTo>
                <a:cubicBezTo>
                  <a:pt x="130909" y="28620"/>
                  <a:pt x="106085" y="43622"/>
                  <a:pt x="95994" y="53623"/>
                </a:cubicBezTo>
                <a:cubicBezTo>
                  <a:pt x="93806" y="55811"/>
                  <a:pt x="92869" y="58847"/>
                  <a:pt x="92869" y="61927"/>
                </a:cubicBezTo>
                <a:close/>
                <a:moveTo>
                  <a:pt x="122381" y="145465"/>
                </a:moveTo>
                <a:cubicBezTo>
                  <a:pt x="121756" y="142339"/>
                  <a:pt x="125507" y="140553"/>
                  <a:pt x="128052" y="142518"/>
                </a:cubicBezTo>
                <a:cubicBezTo>
                  <a:pt x="140062" y="151715"/>
                  <a:pt x="155109" y="157207"/>
                  <a:pt x="171450" y="157207"/>
                </a:cubicBezTo>
                <a:cubicBezTo>
                  <a:pt x="187791" y="157207"/>
                  <a:pt x="202793" y="151715"/>
                  <a:pt x="214848" y="142518"/>
                </a:cubicBezTo>
                <a:cubicBezTo>
                  <a:pt x="217393" y="140553"/>
                  <a:pt x="221144" y="142339"/>
                  <a:pt x="220519" y="145465"/>
                </a:cubicBezTo>
                <a:cubicBezTo>
                  <a:pt x="216009" y="168414"/>
                  <a:pt x="195739" y="185782"/>
                  <a:pt x="171450" y="185782"/>
                </a:cubicBezTo>
                <a:cubicBezTo>
                  <a:pt x="147161" y="185782"/>
                  <a:pt x="126891" y="168459"/>
                  <a:pt x="122381" y="145465"/>
                </a:cubicBezTo>
                <a:close/>
                <a:moveTo>
                  <a:pt x="122605" y="100146"/>
                </a:moveTo>
                <a:cubicBezTo>
                  <a:pt x="125551" y="91753"/>
                  <a:pt x="133499" y="85725"/>
                  <a:pt x="142875" y="85725"/>
                </a:cubicBezTo>
                <a:cubicBezTo>
                  <a:pt x="152251" y="85725"/>
                  <a:pt x="160243" y="91753"/>
                  <a:pt x="163145" y="100146"/>
                </a:cubicBezTo>
                <a:cubicBezTo>
                  <a:pt x="164440" y="103897"/>
                  <a:pt x="161136" y="107156"/>
                  <a:pt x="157163" y="107156"/>
                </a:cubicBezTo>
                <a:lnTo>
                  <a:pt x="128588" y="107156"/>
                </a:lnTo>
                <a:cubicBezTo>
                  <a:pt x="124658" y="107156"/>
                  <a:pt x="121310" y="103852"/>
                  <a:pt x="122605" y="100146"/>
                </a:cubicBezTo>
                <a:close/>
                <a:moveTo>
                  <a:pt x="214313" y="107156"/>
                </a:moveTo>
                <a:lnTo>
                  <a:pt x="185738" y="107156"/>
                </a:lnTo>
                <a:cubicBezTo>
                  <a:pt x="181808" y="107156"/>
                  <a:pt x="178460" y="103852"/>
                  <a:pt x="179755" y="100146"/>
                </a:cubicBezTo>
                <a:cubicBezTo>
                  <a:pt x="182657" y="91753"/>
                  <a:pt x="190649" y="85725"/>
                  <a:pt x="200025" y="85725"/>
                </a:cubicBezTo>
                <a:cubicBezTo>
                  <a:pt x="209401" y="85725"/>
                  <a:pt x="217393" y="91753"/>
                  <a:pt x="220295" y="100146"/>
                </a:cubicBezTo>
                <a:cubicBezTo>
                  <a:pt x="221590" y="103897"/>
                  <a:pt x="218286" y="107156"/>
                  <a:pt x="214313" y="107156"/>
                </a:cubicBezTo>
                <a:close/>
              </a:path>
            </a:pathLst>
          </a:custGeom>
          <a:solidFill>
            <a:srgbClr val="FF6900"/>
          </a:solidFill>
          <a:ln/>
        </p:spPr>
      </p:sp>
      <p:sp>
        <p:nvSpPr>
          <p:cNvPr id="21" name="Text 19"/>
          <p:cNvSpPr/>
          <p:nvPr/>
        </p:nvSpPr>
        <p:spPr>
          <a:xfrm>
            <a:off x="1295400" y="4267200"/>
            <a:ext cx="46101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F0F2F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False Positives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295400" y="4610100"/>
            <a:ext cx="459105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F0F2F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Real emotional acting (e.g., </a:t>
            </a:r>
            <a:pPr>
              <a:lnSpc>
                <a:spcPct val="140000"/>
              </a:lnSpc>
            </a:pPr>
            <a:r>
              <a:rPr lang="en-US" sz="1200" b="1" dirty="0">
                <a:solidFill>
                  <a:srgbClr val="F0F2F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sarcasm</a:t>
            </a:r>
            <a:pPr>
              <a:lnSpc>
                <a:spcPct val="140000"/>
              </a:lnSpc>
            </a:pPr>
            <a:r>
              <a:rPr lang="en-US" sz="1200" dirty="0">
                <a:solidFill>
                  <a:srgbClr val="F0F2F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) can trigger false positives in the ECF module.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6210300" y="1333500"/>
            <a:ext cx="5600700" cy="1219200"/>
          </a:xfrm>
          <a:custGeom>
            <a:avLst/>
            <a:gdLst/>
            <a:ahLst/>
            <a:cxnLst/>
            <a:rect l="l" t="t" r="r" b="b"/>
            <a:pathLst>
              <a:path w="5600700" h="1219200">
                <a:moveTo>
                  <a:pt x="38100" y="0"/>
                </a:moveTo>
                <a:lnTo>
                  <a:pt x="5524500" y="0"/>
                </a:lnTo>
                <a:cubicBezTo>
                  <a:pt x="5566556" y="0"/>
                  <a:pt x="5600700" y="34144"/>
                  <a:pt x="5600700" y="76200"/>
                </a:cubicBezTo>
                <a:lnTo>
                  <a:pt x="5600700" y="1143000"/>
                </a:lnTo>
                <a:cubicBezTo>
                  <a:pt x="5600700" y="1185056"/>
                  <a:pt x="5566556" y="1219200"/>
                  <a:pt x="5524500" y="1219200"/>
                </a:cubicBezTo>
                <a:lnTo>
                  <a:pt x="38100" y="1219200"/>
                </a:lnTo>
                <a:cubicBezTo>
                  <a:pt x="17072" y="1219200"/>
                  <a:pt x="0" y="1202128"/>
                  <a:pt x="0" y="11811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gradFill rotWithShape="1" flip="none">
            <a:gsLst>
              <a:gs pos="0">
                <a:srgbClr val="5F737C">
                  <a:alpha val="30000"/>
                </a:srgbClr>
              </a:gs>
              <a:gs pos="100000">
                <a:srgbClr val="4A5C6A">
                  <a:alpha val="20000"/>
                </a:srgbClr>
              </a:gs>
            </a:gsLst>
            <a:lin ang="2700000" scaled="1"/>
          </a:gradFill>
          <a:ln/>
        </p:spPr>
      </p:sp>
      <p:sp>
        <p:nvSpPr>
          <p:cNvPr id="24" name="Shape 22"/>
          <p:cNvSpPr/>
          <p:nvPr/>
        </p:nvSpPr>
        <p:spPr>
          <a:xfrm>
            <a:off x="6210300" y="1333500"/>
            <a:ext cx="38100" cy="1219200"/>
          </a:xfrm>
          <a:custGeom>
            <a:avLst/>
            <a:gdLst/>
            <a:ahLst/>
            <a:cxnLst/>
            <a:rect l="l" t="t" r="r" b="b"/>
            <a:pathLst>
              <a:path w="38100" h="1219200">
                <a:moveTo>
                  <a:pt x="38100" y="0"/>
                </a:moveTo>
                <a:lnTo>
                  <a:pt x="38100" y="0"/>
                </a:lnTo>
                <a:lnTo>
                  <a:pt x="38100" y="1219200"/>
                </a:lnTo>
                <a:lnTo>
                  <a:pt x="38100" y="1219200"/>
                </a:lnTo>
                <a:cubicBezTo>
                  <a:pt x="17072" y="1219200"/>
                  <a:pt x="0" y="1202128"/>
                  <a:pt x="0" y="11811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2B7FFF"/>
          </a:solidFill>
          <a:ln/>
        </p:spPr>
      </p:sp>
      <p:sp>
        <p:nvSpPr>
          <p:cNvPr id="25" name="Shape 23"/>
          <p:cNvSpPr/>
          <p:nvPr/>
        </p:nvSpPr>
        <p:spPr>
          <a:xfrm>
            <a:off x="6419850" y="1524000"/>
            <a:ext cx="533400" cy="533400"/>
          </a:xfrm>
          <a:prstGeom prst="roundRect">
            <a:avLst>
              <a:gd name="adj" fmla="val 50000"/>
            </a:avLst>
          </a:prstGeom>
          <a:solidFill>
            <a:srgbClr val="2B7FFF">
              <a:alpha val="20000"/>
            </a:srgbClr>
          </a:solidFill>
          <a:ln/>
        </p:spPr>
      </p:sp>
      <p:sp>
        <p:nvSpPr>
          <p:cNvPr id="26" name="Shape 24"/>
          <p:cNvSpPr/>
          <p:nvPr/>
        </p:nvSpPr>
        <p:spPr>
          <a:xfrm>
            <a:off x="6572250" y="1676400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78581" y="10716"/>
                </a:moveTo>
                <a:cubicBezTo>
                  <a:pt x="78581" y="4777"/>
                  <a:pt x="73804" y="0"/>
                  <a:pt x="67866" y="0"/>
                </a:cubicBezTo>
                <a:cubicBezTo>
                  <a:pt x="61927" y="0"/>
                  <a:pt x="57150" y="4777"/>
                  <a:pt x="57150" y="10716"/>
                </a:cubicBezTo>
                <a:lnTo>
                  <a:pt x="57150" y="28575"/>
                </a:lnTo>
                <a:cubicBezTo>
                  <a:pt x="41389" y="28575"/>
                  <a:pt x="28575" y="41389"/>
                  <a:pt x="28575" y="57150"/>
                </a:cubicBezTo>
                <a:lnTo>
                  <a:pt x="10716" y="57150"/>
                </a:lnTo>
                <a:cubicBezTo>
                  <a:pt x="4777" y="57150"/>
                  <a:pt x="0" y="61927"/>
                  <a:pt x="0" y="67866"/>
                </a:cubicBezTo>
                <a:cubicBezTo>
                  <a:pt x="0" y="73804"/>
                  <a:pt x="4777" y="78581"/>
                  <a:pt x="10716" y="78581"/>
                </a:cubicBezTo>
                <a:lnTo>
                  <a:pt x="28575" y="78581"/>
                </a:lnTo>
                <a:lnTo>
                  <a:pt x="28575" y="103584"/>
                </a:lnTo>
                <a:lnTo>
                  <a:pt x="10716" y="103584"/>
                </a:lnTo>
                <a:cubicBezTo>
                  <a:pt x="4777" y="103584"/>
                  <a:pt x="0" y="108362"/>
                  <a:pt x="0" y="114300"/>
                </a:cubicBezTo>
                <a:cubicBezTo>
                  <a:pt x="0" y="120238"/>
                  <a:pt x="4777" y="125016"/>
                  <a:pt x="10716" y="125016"/>
                </a:cubicBezTo>
                <a:lnTo>
                  <a:pt x="28575" y="125016"/>
                </a:lnTo>
                <a:lnTo>
                  <a:pt x="28575" y="150019"/>
                </a:lnTo>
                <a:lnTo>
                  <a:pt x="10716" y="150019"/>
                </a:lnTo>
                <a:cubicBezTo>
                  <a:pt x="4777" y="150019"/>
                  <a:pt x="0" y="154796"/>
                  <a:pt x="0" y="160734"/>
                </a:cubicBezTo>
                <a:cubicBezTo>
                  <a:pt x="0" y="166673"/>
                  <a:pt x="4777" y="171450"/>
                  <a:pt x="10716" y="171450"/>
                </a:cubicBezTo>
                <a:lnTo>
                  <a:pt x="28575" y="171450"/>
                </a:lnTo>
                <a:cubicBezTo>
                  <a:pt x="28575" y="187211"/>
                  <a:pt x="41389" y="200025"/>
                  <a:pt x="57150" y="200025"/>
                </a:cubicBezTo>
                <a:lnTo>
                  <a:pt x="57150" y="217884"/>
                </a:lnTo>
                <a:cubicBezTo>
                  <a:pt x="57150" y="223823"/>
                  <a:pt x="61927" y="228600"/>
                  <a:pt x="67866" y="228600"/>
                </a:cubicBezTo>
                <a:cubicBezTo>
                  <a:pt x="73804" y="228600"/>
                  <a:pt x="78581" y="223823"/>
                  <a:pt x="78581" y="217884"/>
                </a:cubicBezTo>
                <a:lnTo>
                  <a:pt x="78581" y="200025"/>
                </a:lnTo>
                <a:lnTo>
                  <a:pt x="103584" y="200025"/>
                </a:lnTo>
                <a:lnTo>
                  <a:pt x="103584" y="217884"/>
                </a:lnTo>
                <a:cubicBezTo>
                  <a:pt x="103584" y="223823"/>
                  <a:pt x="108362" y="228600"/>
                  <a:pt x="114300" y="228600"/>
                </a:cubicBezTo>
                <a:cubicBezTo>
                  <a:pt x="120238" y="228600"/>
                  <a:pt x="125016" y="223823"/>
                  <a:pt x="125016" y="217884"/>
                </a:cubicBezTo>
                <a:lnTo>
                  <a:pt x="125016" y="200025"/>
                </a:lnTo>
                <a:lnTo>
                  <a:pt x="150019" y="200025"/>
                </a:lnTo>
                <a:lnTo>
                  <a:pt x="150019" y="217884"/>
                </a:lnTo>
                <a:cubicBezTo>
                  <a:pt x="150019" y="223823"/>
                  <a:pt x="154796" y="228600"/>
                  <a:pt x="160734" y="228600"/>
                </a:cubicBezTo>
                <a:cubicBezTo>
                  <a:pt x="166673" y="228600"/>
                  <a:pt x="171450" y="223823"/>
                  <a:pt x="171450" y="217884"/>
                </a:cubicBezTo>
                <a:lnTo>
                  <a:pt x="171450" y="200025"/>
                </a:lnTo>
                <a:cubicBezTo>
                  <a:pt x="187211" y="200025"/>
                  <a:pt x="200025" y="187211"/>
                  <a:pt x="200025" y="171450"/>
                </a:cubicBezTo>
                <a:lnTo>
                  <a:pt x="217884" y="171450"/>
                </a:lnTo>
                <a:cubicBezTo>
                  <a:pt x="223823" y="171450"/>
                  <a:pt x="228600" y="166673"/>
                  <a:pt x="228600" y="160734"/>
                </a:cubicBezTo>
                <a:cubicBezTo>
                  <a:pt x="228600" y="154796"/>
                  <a:pt x="223823" y="150019"/>
                  <a:pt x="217884" y="150019"/>
                </a:cubicBezTo>
                <a:lnTo>
                  <a:pt x="200025" y="150019"/>
                </a:lnTo>
                <a:lnTo>
                  <a:pt x="200025" y="125016"/>
                </a:lnTo>
                <a:lnTo>
                  <a:pt x="217884" y="125016"/>
                </a:lnTo>
                <a:cubicBezTo>
                  <a:pt x="223823" y="125016"/>
                  <a:pt x="228600" y="120238"/>
                  <a:pt x="228600" y="114300"/>
                </a:cubicBezTo>
                <a:cubicBezTo>
                  <a:pt x="228600" y="108362"/>
                  <a:pt x="223823" y="103584"/>
                  <a:pt x="217884" y="103584"/>
                </a:cubicBezTo>
                <a:lnTo>
                  <a:pt x="200025" y="103584"/>
                </a:lnTo>
                <a:lnTo>
                  <a:pt x="200025" y="78581"/>
                </a:lnTo>
                <a:lnTo>
                  <a:pt x="217884" y="78581"/>
                </a:lnTo>
                <a:cubicBezTo>
                  <a:pt x="223823" y="78581"/>
                  <a:pt x="228600" y="73804"/>
                  <a:pt x="228600" y="67866"/>
                </a:cubicBezTo>
                <a:cubicBezTo>
                  <a:pt x="228600" y="61927"/>
                  <a:pt x="223823" y="57150"/>
                  <a:pt x="217884" y="57150"/>
                </a:cubicBezTo>
                <a:lnTo>
                  <a:pt x="200025" y="57150"/>
                </a:lnTo>
                <a:cubicBezTo>
                  <a:pt x="200025" y="41389"/>
                  <a:pt x="187211" y="28575"/>
                  <a:pt x="171450" y="28575"/>
                </a:cubicBezTo>
                <a:lnTo>
                  <a:pt x="171450" y="10716"/>
                </a:lnTo>
                <a:cubicBezTo>
                  <a:pt x="171450" y="4777"/>
                  <a:pt x="166673" y="0"/>
                  <a:pt x="160734" y="0"/>
                </a:cubicBezTo>
                <a:cubicBezTo>
                  <a:pt x="154796" y="0"/>
                  <a:pt x="150019" y="4777"/>
                  <a:pt x="150019" y="10716"/>
                </a:cubicBezTo>
                <a:lnTo>
                  <a:pt x="150019" y="28575"/>
                </a:lnTo>
                <a:lnTo>
                  <a:pt x="125016" y="28575"/>
                </a:lnTo>
                <a:lnTo>
                  <a:pt x="125016" y="10716"/>
                </a:lnTo>
                <a:cubicBezTo>
                  <a:pt x="125016" y="4777"/>
                  <a:pt x="120238" y="0"/>
                  <a:pt x="114300" y="0"/>
                </a:cubicBezTo>
                <a:cubicBezTo>
                  <a:pt x="108362" y="0"/>
                  <a:pt x="103584" y="4777"/>
                  <a:pt x="103584" y="10716"/>
                </a:cubicBezTo>
                <a:lnTo>
                  <a:pt x="103584" y="28575"/>
                </a:lnTo>
                <a:lnTo>
                  <a:pt x="78581" y="28575"/>
                </a:lnTo>
                <a:lnTo>
                  <a:pt x="78581" y="10716"/>
                </a:lnTo>
                <a:close/>
                <a:moveTo>
                  <a:pt x="71438" y="57150"/>
                </a:moveTo>
                <a:lnTo>
                  <a:pt x="157163" y="57150"/>
                </a:lnTo>
                <a:cubicBezTo>
                  <a:pt x="165065" y="57150"/>
                  <a:pt x="171450" y="63535"/>
                  <a:pt x="171450" y="71438"/>
                </a:cubicBezTo>
                <a:lnTo>
                  <a:pt x="171450" y="157163"/>
                </a:lnTo>
                <a:cubicBezTo>
                  <a:pt x="171450" y="165065"/>
                  <a:pt x="165065" y="171450"/>
                  <a:pt x="157163" y="171450"/>
                </a:cubicBezTo>
                <a:lnTo>
                  <a:pt x="71438" y="171450"/>
                </a:lnTo>
                <a:cubicBezTo>
                  <a:pt x="63535" y="171450"/>
                  <a:pt x="57150" y="165065"/>
                  <a:pt x="57150" y="157163"/>
                </a:cubicBezTo>
                <a:lnTo>
                  <a:pt x="57150" y="71438"/>
                </a:lnTo>
                <a:cubicBezTo>
                  <a:pt x="57150" y="63535"/>
                  <a:pt x="63535" y="57150"/>
                  <a:pt x="71438" y="57150"/>
                </a:cubicBezTo>
                <a:close/>
                <a:moveTo>
                  <a:pt x="78581" y="78581"/>
                </a:moveTo>
                <a:lnTo>
                  <a:pt x="78581" y="150019"/>
                </a:lnTo>
                <a:lnTo>
                  <a:pt x="150019" y="150019"/>
                </a:lnTo>
                <a:lnTo>
                  <a:pt x="150019" y="78581"/>
                </a:lnTo>
                <a:lnTo>
                  <a:pt x="78581" y="78581"/>
                </a:lnTo>
                <a:close/>
              </a:path>
            </a:pathLst>
          </a:custGeom>
          <a:solidFill>
            <a:srgbClr val="2B7FFF"/>
          </a:solidFill>
          <a:ln/>
        </p:spPr>
      </p:sp>
      <p:sp>
        <p:nvSpPr>
          <p:cNvPr id="27" name="Text 25"/>
          <p:cNvSpPr/>
          <p:nvPr/>
        </p:nvSpPr>
        <p:spPr>
          <a:xfrm>
            <a:off x="7105650" y="1524000"/>
            <a:ext cx="46101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F0F2F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Processing Time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7105650" y="1866900"/>
            <a:ext cx="459105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F0F2F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Processing on </a:t>
            </a:r>
            <a:pPr>
              <a:lnSpc>
                <a:spcPct val="140000"/>
              </a:lnSpc>
            </a:pPr>
            <a:r>
              <a:rPr lang="en-US" sz="1200" b="1" dirty="0">
                <a:solidFill>
                  <a:srgbClr val="F0F2F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CPU is high</a:t>
            </a:r>
            <a:pPr>
              <a:lnSpc>
                <a:spcPct val="140000"/>
              </a:lnSpc>
            </a:pPr>
            <a:r>
              <a:rPr lang="en-US" sz="1200" dirty="0">
                <a:solidFill>
                  <a:srgbClr val="F0F2F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; GPU is recommended for real-time video analysis.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6198870" y="2712720"/>
            <a:ext cx="5606415" cy="3187065"/>
          </a:xfrm>
          <a:prstGeom prst="roundRect">
            <a:avLst>
              <a:gd name="adj" fmla="val 2391"/>
            </a:avLst>
          </a:prstGeom>
          <a:gradFill rotWithShape="1" flip="none">
            <a:gsLst>
              <a:gs pos="0">
                <a:srgbClr val="D4A373">
                  <a:alpha val="20000"/>
                </a:srgbClr>
              </a:gs>
              <a:gs pos="100000">
                <a:srgbClr val="5F737C">
                  <a:alpha val="10000"/>
                </a:srgbClr>
              </a:gs>
            </a:gsLst>
            <a:lin ang="2700000" scaled="1"/>
          </a:gradFill>
          <a:ln w="20320">
            <a:solidFill>
              <a:srgbClr val="D4A373">
                <a:alpha val="50196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444615" y="2941318"/>
            <a:ext cx="142875" cy="190500"/>
          </a:xfrm>
          <a:custGeom>
            <a:avLst/>
            <a:gdLst/>
            <a:ahLst/>
            <a:cxnLst/>
            <a:rect l="l" t="t" r="r" b="b"/>
            <a:pathLst>
              <a:path w="142875" h="190500">
                <a:moveTo>
                  <a:pt x="108979" y="142875"/>
                </a:moveTo>
                <a:cubicBezTo>
                  <a:pt x="111696" y="134578"/>
                  <a:pt x="117128" y="127062"/>
                  <a:pt x="123267" y="120588"/>
                </a:cubicBezTo>
                <a:cubicBezTo>
                  <a:pt x="135434" y="107789"/>
                  <a:pt x="142875" y="90488"/>
                  <a:pt x="142875" y="71438"/>
                </a:cubicBezTo>
                <a:cubicBezTo>
                  <a:pt x="142875" y="31998"/>
                  <a:pt x="110877" y="0"/>
                  <a:pt x="71437" y="0"/>
                </a:cubicBezTo>
                <a:cubicBezTo>
                  <a:pt x="31998" y="0"/>
                  <a:pt x="0" y="31998"/>
                  <a:pt x="0" y="71438"/>
                </a:cubicBezTo>
                <a:cubicBezTo>
                  <a:pt x="0" y="90488"/>
                  <a:pt x="7441" y="107789"/>
                  <a:pt x="19608" y="120588"/>
                </a:cubicBezTo>
                <a:cubicBezTo>
                  <a:pt x="25747" y="127062"/>
                  <a:pt x="31217" y="134578"/>
                  <a:pt x="33896" y="142875"/>
                </a:cubicBezTo>
                <a:lnTo>
                  <a:pt x="108942" y="142875"/>
                </a:lnTo>
                <a:close/>
                <a:moveTo>
                  <a:pt x="107156" y="160734"/>
                </a:moveTo>
                <a:lnTo>
                  <a:pt x="35719" y="160734"/>
                </a:lnTo>
                <a:lnTo>
                  <a:pt x="35719" y="166688"/>
                </a:lnTo>
                <a:cubicBezTo>
                  <a:pt x="35719" y="183133"/>
                  <a:pt x="49039" y="196453"/>
                  <a:pt x="65484" y="196453"/>
                </a:cubicBezTo>
                <a:lnTo>
                  <a:pt x="77391" y="196453"/>
                </a:lnTo>
                <a:cubicBezTo>
                  <a:pt x="93836" y="196453"/>
                  <a:pt x="107156" y="183133"/>
                  <a:pt x="107156" y="166688"/>
                </a:cubicBezTo>
                <a:lnTo>
                  <a:pt x="107156" y="160734"/>
                </a:lnTo>
                <a:close/>
                <a:moveTo>
                  <a:pt x="68461" y="41672"/>
                </a:moveTo>
                <a:cubicBezTo>
                  <a:pt x="53653" y="41672"/>
                  <a:pt x="41672" y="53653"/>
                  <a:pt x="41672" y="68461"/>
                </a:cubicBezTo>
                <a:cubicBezTo>
                  <a:pt x="41672" y="73409"/>
                  <a:pt x="37691" y="77391"/>
                  <a:pt x="32742" y="77391"/>
                </a:cubicBezTo>
                <a:cubicBezTo>
                  <a:pt x="27794" y="77391"/>
                  <a:pt x="23812" y="73409"/>
                  <a:pt x="23812" y="68461"/>
                </a:cubicBezTo>
                <a:cubicBezTo>
                  <a:pt x="23812" y="43793"/>
                  <a:pt x="43793" y="23812"/>
                  <a:pt x="68461" y="23812"/>
                </a:cubicBezTo>
                <a:cubicBezTo>
                  <a:pt x="73409" y="23812"/>
                  <a:pt x="77391" y="27794"/>
                  <a:pt x="77391" y="32742"/>
                </a:cubicBezTo>
                <a:cubicBezTo>
                  <a:pt x="77391" y="37691"/>
                  <a:pt x="73409" y="41672"/>
                  <a:pt x="68461" y="41672"/>
                </a:cubicBezTo>
                <a:close/>
              </a:path>
            </a:pathLst>
          </a:custGeom>
          <a:solidFill>
            <a:srgbClr val="D4A373"/>
          </a:solidFill>
          <a:ln/>
        </p:spPr>
      </p:sp>
      <p:sp>
        <p:nvSpPr>
          <p:cNvPr id="31" name="Text 29"/>
          <p:cNvSpPr/>
          <p:nvPr/>
        </p:nvSpPr>
        <p:spPr>
          <a:xfrm>
            <a:off x="6692265" y="2910846"/>
            <a:ext cx="50101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F0F2F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Mitigation Strategies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6416040" y="3368046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149602" y="82927"/>
                </a:moveTo>
                <a:cubicBezTo>
                  <a:pt x="153323" y="79206"/>
                  <a:pt x="153323" y="73164"/>
                  <a:pt x="149602" y="69443"/>
                </a:cubicBezTo>
                <a:lnTo>
                  <a:pt x="101977" y="21818"/>
                </a:lnTo>
                <a:cubicBezTo>
                  <a:pt x="98256" y="18098"/>
                  <a:pt x="92214" y="18098"/>
                  <a:pt x="88493" y="21818"/>
                </a:cubicBezTo>
                <a:cubicBezTo>
                  <a:pt x="84773" y="25539"/>
                  <a:pt x="84773" y="31581"/>
                  <a:pt x="88493" y="35302"/>
                </a:cubicBezTo>
                <a:lnTo>
                  <a:pt x="119866" y="66675"/>
                </a:lnTo>
                <a:lnTo>
                  <a:pt x="9525" y="66675"/>
                </a:lnTo>
                <a:cubicBezTo>
                  <a:pt x="4256" y="66675"/>
                  <a:pt x="0" y="70931"/>
                  <a:pt x="0" y="76200"/>
                </a:cubicBezTo>
                <a:cubicBezTo>
                  <a:pt x="0" y="81469"/>
                  <a:pt x="4256" y="85725"/>
                  <a:pt x="9525" y="85725"/>
                </a:cubicBezTo>
                <a:lnTo>
                  <a:pt x="119866" y="85725"/>
                </a:lnTo>
                <a:lnTo>
                  <a:pt x="88493" y="117098"/>
                </a:lnTo>
                <a:cubicBezTo>
                  <a:pt x="84772" y="120819"/>
                  <a:pt x="84772" y="126861"/>
                  <a:pt x="88493" y="130582"/>
                </a:cubicBezTo>
                <a:cubicBezTo>
                  <a:pt x="92214" y="134303"/>
                  <a:pt x="98256" y="134303"/>
                  <a:pt x="101977" y="130582"/>
                </a:cubicBezTo>
                <a:lnTo>
                  <a:pt x="149602" y="82957"/>
                </a:lnTo>
                <a:close/>
              </a:path>
            </a:pathLst>
          </a:custGeom>
          <a:solidFill>
            <a:srgbClr val="D4A373"/>
          </a:solidFill>
          <a:ln/>
        </p:spPr>
      </p:sp>
      <p:sp>
        <p:nvSpPr>
          <p:cNvPr id="33" name="Text 31"/>
          <p:cNvSpPr/>
          <p:nvPr/>
        </p:nvSpPr>
        <p:spPr>
          <a:xfrm>
            <a:off x="6701790" y="3329946"/>
            <a:ext cx="25050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0F2F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Audio Enhancement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6701790" y="3558546"/>
            <a:ext cx="24955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9A959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Implement noise reduction preprocessing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6416040" y="3901446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149602" y="82927"/>
                </a:moveTo>
                <a:cubicBezTo>
                  <a:pt x="153323" y="79206"/>
                  <a:pt x="153323" y="73164"/>
                  <a:pt x="149602" y="69443"/>
                </a:cubicBezTo>
                <a:lnTo>
                  <a:pt x="101977" y="21818"/>
                </a:lnTo>
                <a:cubicBezTo>
                  <a:pt x="98256" y="18098"/>
                  <a:pt x="92214" y="18098"/>
                  <a:pt x="88493" y="21818"/>
                </a:cubicBezTo>
                <a:cubicBezTo>
                  <a:pt x="84773" y="25539"/>
                  <a:pt x="84773" y="31581"/>
                  <a:pt x="88493" y="35302"/>
                </a:cubicBezTo>
                <a:lnTo>
                  <a:pt x="119866" y="66675"/>
                </a:lnTo>
                <a:lnTo>
                  <a:pt x="9525" y="66675"/>
                </a:lnTo>
                <a:cubicBezTo>
                  <a:pt x="4256" y="66675"/>
                  <a:pt x="0" y="70931"/>
                  <a:pt x="0" y="76200"/>
                </a:cubicBezTo>
                <a:cubicBezTo>
                  <a:pt x="0" y="81469"/>
                  <a:pt x="4256" y="85725"/>
                  <a:pt x="9525" y="85725"/>
                </a:cubicBezTo>
                <a:lnTo>
                  <a:pt x="119866" y="85725"/>
                </a:lnTo>
                <a:lnTo>
                  <a:pt x="88493" y="117098"/>
                </a:lnTo>
                <a:cubicBezTo>
                  <a:pt x="84772" y="120819"/>
                  <a:pt x="84772" y="126861"/>
                  <a:pt x="88493" y="130582"/>
                </a:cubicBezTo>
                <a:cubicBezTo>
                  <a:pt x="92214" y="134303"/>
                  <a:pt x="98256" y="134303"/>
                  <a:pt x="101977" y="130582"/>
                </a:cubicBezTo>
                <a:lnTo>
                  <a:pt x="149602" y="82957"/>
                </a:lnTo>
                <a:close/>
              </a:path>
            </a:pathLst>
          </a:custGeom>
          <a:solidFill>
            <a:srgbClr val="D4A373"/>
          </a:solidFill>
          <a:ln/>
        </p:spPr>
      </p:sp>
      <p:sp>
        <p:nvSpPr>
          <p:cNvPr id="36" name="Text 34"/>
          <p:cNvSpPr/>
          <p:nvPr/>
        </p:nvSpPr>
        <p:spPr>
          <a:xfrm>
            <a:off x="6701790" y="3863346"/>
            <a:ext cx="24003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0F2F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Multi-Angle Training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6701790" y="4091946"/>
            <a:ext cx="23907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9A959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Train FER on occluded and angled faces</a:t>
            </a:r>
            <a:endParaRPr lang="en-US" sz="1600" dirty="0"/>
          </a:p>
        </p:txBody>
      </p:sp>
      <p:sp>
        <p:nvSpPr>
          <p:cNvPr id="38" name="Shape 36"/>
          <p:cNvSpPr/>
          <p:nvPr/>
        </p:nvSpPr>
        <p:spPr>
          <a:xfrm>
            <a:off x="6416040" y="4434846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149602" y="82927"/>
                </a:moveTo>
                <a:cubicBezTo>
                  <a:pt x="153323" y="79206"/>
                  <a:pt x="153323" y="73164"/>
                  <a:pt x="149602" y="69443"/>
                </a:cubicBezTo>
                <a:lnTo>
                  <a:pt x="101977" y="21818"/>
                </a:lnTo>
                <a:cubicBezTo>
                  <a:pt x="98256" y="18098"/>
                  <a:pt x="92214" y="18098"/>
                  <a:pt x="88493" y="21818"/>
                </a:cubicBezTo>
                <a:cubicBezTo>
                  <a:pt x="84773" y="25539"/>
                  <a:pt x="84773" y="31581"/>
                  <a:pt x="88493" y="35302"/>
                </a:cubicBezTo>
                <a:lnTo>
                  <a:pt x="119866" y="66675"/>
                </a:lnTo>
                <a:lnTo>
                  <a:pt x="9525" y="66675"/>
                </a:lnTo>
                <a:cubicBezTo>
                  <a:pt x="4256" y="66675"/>
                  <a:pt x="0" y="70931"/>
                  <a:pt x="0" y="76200"/>
                </a:cubicBezTo>
                <a:cubicBezTo>
                  <a:pt x="0" y="81469"/>
                  <a:pt x="4256" y="85725"/>
                  <a:pt x="9525" y="85725"/>
                </a:cubicBezTo>
                <a:lnTo>
                  <a:pt x="119866" y="85725"/>
                </a:lnTo>
                <a:lnTo>
                  <a:pt x="88493" y="117098"/>
                </a:lnTo>
                <a:cubicBezTo>
                  <a:pt x="84772" y="120819"/>
                  <a:pt x="84772" y="126861"/>
                  <a:pt x="88493" y="130582"/>
                </a:cubicBezTo>
                <a:cubicBezTo>
                  <a:pt x="92214" y="134303"/>
                  <a:pt x="98256" y="134303"/>
                  <a:pt x="101977" y="130582"/>
                </a:cubicBezTo>
                <a:lnTo>
                  <a:pt x="149602" y="82957"/>
                </a:lnTo>
                <a:close/>
              </a:path>
            </a:pathLst>
          </a:custGeom>
          <a:solidFill>
            <a:srgbClr val="D4A373"/>
          </a:solidFill>
          <a:ln/>
        </p:spPr>
      </p:sp>
      <p:sp>
        <p:nvSpPr>
          <p:cNvPr id="39" name="Text 37"/>
          <p:cNvSpPr/>
          <p:nvPr/>
        </p:nvSpPr>
        <p:spPr>
          <a:xfrm>
            <a:off x="6701790" y="4396746"/>
            <a:ext cx="27146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0F2F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Contextual Analysis</a:t>
            </a:r>
            <a:endParaRPr lang="en-US" sz="1600" dirty="0"/>
          </a:p>
        </p:txBody>
      </p:sp>
      <p:sp>
        <p:nvSpPr>
          <p:cNvPr id="40" name="Text 38"/>
          <p:cNvSpPr/>
          <p:nvPr/>
        </p:nvSpPr>
        <p:spPr>
          <a:xfrm>
            <a:off x="6701790" y="4625346"/>
            <a:ext cx="27051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9A959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Add contextual cues to reduce false positives</a:t>
            </a:r>
            <a:endParaRPr lang="en-US" sz="1600" dirty="0"/>
          </a:p>
        </p:txBody>
      </p:sp>
      <p:sp>
        <p:nvSpPr>
          <p:cNvPr id="41" name="Shape 39"/>
          <p:cNvSpPr/>
          <p:nvPr/>
        </p:nvSpPr>
        <p:spPr>
          <a:xfrm>
            <a:off x="6416040" y="4968246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149602" y="82927"/>
                </a:moveTo>
                <a:cubicBezTo>
                  <a:pt x="153323" y="79206"/>
                  <a:pt x="153323" y="73164"/>
                  <a:pt x="149602" y="69443"/>
                </a:cubicBezTo>
                <a:lnTo>
                  <a:pt x="101977" y="21818"/>
                </a:lnTo>
                <a:cubicBezTo>
                  <a:pt x="98256" y="18098"/>
                  <a:pt x="92214" y="18098"/>
                  <a:pt x="88493" y="21818"/>
                </a:cubicBezTo>
                <a:cubicBezTo>
                  <a:pt x="84773" y="25539"/>
                  <a:pt x="84773" y="31581"/>
                  <a:pt x="88493" y="35302"/>
                </a:cubicBezTo>
                <a:lnTo>
                  <a:pt x="119866" y="66675"/>
                </a:lnTo>
                <a:lnTo>
                  <a:pt x="9525" y="66675"/>
                </a:lnTo>
                <a:cubicBezTo>
                  <a:pt x="4256" y="66675"/>
                  <a:pt x="0" y="70931"/>
                  <a:pt x="0" y="76200"/>
                </a:cubicBezTo>
                <a:cubicBezTo>
                  <a:pt x="0" y="81469"/>
                  <a:pt x="4256" y="85725"/>
                  <a:pt x="9525" y="85725"/>
                </a:cubicBezTo>
                <a:lnTo>
                  <a:pt x="119866" y="85725"/>
                </a:lnTo>
                <a:lnTo>
                  <a:pt x="88493" y="117098"/>
                </a:lnTo>
                <a:cubicBezTo>
                  <a:pt x="84772" y="120819"/>
                  <a:pt x="84772" y="126861"/>
                  <a:pt x="88493" y="130582"/>
                </a:cubicBezTo>
                <a:cubicBezTo>
                  <a:pt x="92214" y="134303"/>
                  <a:pt x="98256" y="134303"/>
                  <a:pt x="101977" y="130582"/>
                </a:cubicBezTo>
                <a:lnTo>
                  <a:pt x="149602" y="82957"/>
                </a:lnTo>
                <a:close/>
              </a:path>
            </a:pathLst>
          </a:custGeom>
          <a:solidFill>
            <a:srgbClr val="D4A373"/>
          </a:solidFill>
          <a:ln/>
        </p:spPr>
      </p:sp>
      <p:sp>
        <p:nvSpPr>
          <p:cNvPr id="42" name="Text 40"/>
          <p:cNvSpPr/>
          <p:nvPr/>
        </p:nvSpPr>
        <p:spPr>
          <a:xfrm>
            <a:off x="6701790" y="4930146"/>
            <a:ext cx="24765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0F2F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Hardware Optimization</a:t>
            </a:r>
            <a:endParaRPr lang="en-US" sz="1600" dirty="0"/>
          </a:p>
        </p:txBody>
      </p:sp>
      <p:sp>
        <p:nvSpPr>
          <p:cNvPr id="43" name="Text 41"/>
          <p:cNvSpPr/>
          <p:nvPr/>
        </p:nvSpPr>
        <p:spPr>
          <a:xfrm>
            <a:off x="6701790" y="5158746"/>
            <a:ext cx="24669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9A959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GPU acceleration and model quantization</a:t>
            </a:r>
            <a:endParaRPr lang="en-US" sz="1600" dirty="0"/>
          </a:p>
        </p:txBody>
      </p:sp>
      <p:sp>
        <p:nvSpPr>
          <p:cNvPr id="44" name="Shape 42"/>
          <p:cNvSpPr/>
          <p:nvPr/>
        </p:nvSpPr>
        <p:spPr>
          <a:xfrm>
            <a:off x="400050" y="6019800"/>
            <a:ext cx="11410950" cy="457200"/>
          </a:xfrm>
          <a:custGeom>
            <a:avLst/>
            <a:gdLst/>
            <a:ahLst/>
            <a:cxnLst/>
            <a:rect l="l" t="t" r="r" b="b"/>
            <a:pathLst>
              <a:path w="11410950" h="457200">
                <a:moveTo>
                  <a:pt x="38100" y="0"/>
                </a:moveTo>
                <a:lnTo>
                  <a:pt x="11334750" y="0"/>
                </a:lnTo>
                <a:cubicBezTo>
                  <a:pt x="11376806" y="0"/>
                  <a:pt x="11410950" y="34144"/>
                  <a:pt x="11410950" y="76200"/>
                </a:cubicBezTo>
                <a:lnTo>
                  <a:pt x="11410950" y="381000"/>
                </a:lnTo>
                <a:cubicBezTo>
                  <a:pt x="11410950" y="423056"/>
                  <a:pt x="11376806" y="457200"/>
                  <a:pt x="11334750" y="457200"/>
                </a:cubicBezTo>
                <a:lnTo>
                  <a:pt x="38100" y="457200"/>
                </a:lnTo>
                <a:cubicBezTo>
                  <a:pt x="17072" y="457200"/>
                  <a:pt x="0" y="440128"/>
                  <a:pt x="0" y="4191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5F737C">
              <a:alpha val="20000"/>
            </a:srgbClr>
          </a:solidFill>
          <a:ln/>
        </p:spPr>
      </p:sp>
      <p:sp>
        <p:nvSpPr>
          <p:cNvPr id="45" name="Shape 43"/>
          <p:cNvSpPr/>
          <p:nvPr/>
        </p:nvSpPr>
        <p:spPr>
          <a:xfrm>
            <a:off x="400050" y="6019800"/>
            <a:ext cx="38100" cy="457200"/>
          </a:xfrm>
          <a:custGeom>
            <a:avLst/>
            <a:gdLst/>
            <a:ahLst/>
            <a:cxnLst/>
            <a:rect l="l" t="t" r="r" b="b"/>
            <a:pathLst>
              <a:path w="38100" h="457200">
                <a:moveTo>
                  <a:pt x="38100" y="0"/>
                </a:moveTo>
                <a:lnTo>
                  <a:pt x="38100" y="0"/>
                </a:lnTo>
                <a:lnTo>
                  <a:pt x="38100" y="457200"/>
                </a:lnTo>
                <a:lnTo>
                  <a:pt x="38100" y="457200"/>
                </a:lnTo>
                <a:cubicBezTo>
                  <a:pt x="17072" y="457200"/>
                  <a:pt x="0" y="440128"/>
                  <a:pt x="0" y="4191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D4A373"/>
          </a:solidFill>
          <a:ln/>
        </p:spPr>
      </p:sp>
      <p:sp>
        <p:nvSpPr>
          <p:cNvPr id="46" name="Shape 44"/>
          <p:cNvSpPr/>
          <p:nvPr/>
        </p:nvSpPr>
        <p:spPr>
          <a:xfrm>
            <a:off x="552450" y="6164582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152400"/>
                </a:moveTo>
                <a:cubicBezTo>
                  <a:pt x="118256" y="152400"/>
                  <a:pt x="152400" y="118256"/>
                  <a:pt x="152400" y="76200"/>
                </a:cubicBezTo>
                <a:cubicBezTo>
                  <a:pt x="152400" y="34144"/>
                  <a:pt x="118256" y="0"/>
                  <a:pt x="76200" y="0"/>
                </a:cubicBezTo>
                <a:cubicBezTo>
                  <a:pt x="34144" y="0"/>
                  <a:pt x="0" y="34144"/>
                  <a:pt x="0" y="76200"/>
                </a:cubicBezTo>
                <a:cubicBezTo>
                  <a:pt x="0" y="118256"/>
                  <a:pt x="34144" y="152400"/>
                  <a:pt x="76200" y="152400"/>
                </a:cubicBezTo>
                <a:close/>
                <a:moveTo>
                  <a:pt x="66675" y="47625"/>
                </a:moveTo>
                <a:cubicBezTo>
                  <a:pt x="66675" y="42368"/>
                  <a:pt x="70943" y="38100"/>
                  <a:pt x="76200" y="38100"/>
                </a:cubicBezTo>
                <a:cubicBezTo>
                  <a:pt x="81457" y="38100"/>
                  <a:pt x="85725" y="42368"/>
                  <a:pt x="85725" y="47625"/>
                </a:cubicBezTo>
                <a:cubicBezTo>
                  <a:pt x="85725" y="52882"/>
                  <a:pt x="81457" y="57150"/>
                  <a:pt x="76200" y="57150"/>
                </a:cubicBezTo>
                <a:cubicBezTo>
                  <a:pt x="70943" y="57150"/>
                  <a:pt x="66675" y="52882"/>
                  <a:pt x="66675" y="47625"/>
                </a:cubicBezTo>
                <a:close/>
                <a:moveTo>
                  <a:pt x="64294" y="66675"/>
                </a:moveTo>
                <a:lnTo>
                  <a:pt x="78581" y="66675"/>
                </a:lnTo>
                <a:cubicBezTo>
                  <a:pt x="82540" y="66675"/>
                  <a:pt x="85725" y="69860"/>
                  <a:pt x="85725" y="73819"/>
                </a:cubicBezTo>
                <a:lnTo>
                  <a:pt x="85725" y="100013"/>
                </a:lnTo>
                <a:lnTo>
                  <a:pt x="88106" y="100013"/>
                </a:lnTo>
                <a:cubicBezTo>
                  <a:pt x="92065" y="100013"/>
                  <a:pt x="95250" y="103197"/>
                  <a:pt x="95250" y="107156"/>
                </a:cubicBezTo>
                <a:cubicBezTo>
                  <a:pt x="95250" y="111115"/>
                  <a:pt x="92065" y="114300"/>
                  <a:pt x="88106" y="114300"/>
                </a:cubicBezTo>
                <a:lnTo>
                  <a:pt x="64294" y="114300"/>
                </a:lnTo>
                <a:cubicBezTo>
                  <a:pt x="60335" y="114300"/>
                  <a:pt x="57150" y="111115"/>
                  <a:pt x="57150" y="107156"/>
                </a:cubicBezTo>
                <a:cubicBezTo>
                  <a:pt x="57150" y="103197"/>
                  <a:pt x="60335" y="100013"/>
                  <a:pt x="64294" y="100013"/>
                </a:cubicBezTo>
                <a:lnTo>
                  <a:pt x="71438" y="100013"/>
                </a:lnTo>
                <a:lnTo>
                  <a:pt x="71438" y="80962"/>
                </a:lnTo>
                <a:lnTo>
                  <a:pt x="64294" y="80962"/>
                </a:lnTo>
                <a:cubicBezTo>
                  <a:pt x="60335" y="80962"/>
                  <a:pt x="57150" y="77778"/>
                  <a:pt x="57150" y="73819"/>
                </a:cubicBezTo>
                <a:cubicBezTo>
                  <a:pt x="57150" y="69860"/>
                  <a:pt x="60335" y="66675"/>
                  <a:pt x="64294" y="66675"/>
                </a:cubicBezTo>
                <a:close/>
              </a:path>
            </a:pathLst>
          </a:custGeom>
          <a:solidFill>
            <a:srgbClr val="D4A373"/>
          </a:solidFill>
          <a:ln/>
        </p:spPr>
      </p:sp>
      <p:sp>
        <p:nvSpPr>
          <p:cNvPr id="47" name="Text 45"/>
          <p:cNvSpPr/>
          <p:nvPr/>
        </p:nvSpPr>
        <p:spPr>
          <a:xfrm>
            <a:off x="781050" y="6134100"/>
            <a:ext cx="109918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0F2F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Research Insight:</a:t>
            </a:r>
            <a:pPr>
              <a:lnSpc>
                <a:spcPct val="130000"/>
              </a:lnSpc>
            </a:pPr>
            <a:r>
              <a:rPr lang="en-US" sz="1200" dirty="0">
                <a:solidFill>
                  <a:srgbClr val="F0F2F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These limitations represent active research areas in the deepfake detection community, providing clear directions for future development.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A1D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statics.moonshot.cn/kimi-ppt/html-gen/static/image-error.png">    </p:cNvPr>
          <p:cNvPicPr>
            <a:picLocks noChangeAspect="1"/>
          </p:cNvPicPr>
          <p:nvPr/>
        </p:nvPicPr>
        <p:blipFill>
          <a:blip r:embed="rId1">
            <a:alphaModFix amt="30000"/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gradFill rotWithShape="1" flip="none">
            <a:gsLst>
              <a:gs pos="0">
                <a:srgbClr val="1A1D21">
                  <a:alpha val="95000"/>
                </a:srgbClr>
              </a:gs>
              <a:gs pos="50000">
                <a:srgbClr val="1A1D21">
                  <a:alpha val="90000"/>
                </a:srgbClr>
              </a:gs>
              <a:gs pos="100000">
                <a:srgbClr val="5F737C">
                  <a:alpha val="70000"/>
                </a:srgbClr>
              </a:gs>
            </a:gsLst>
            <a:lin ang="2700000" scaled="1"/>
          </a:gradFill>
          <a:ln/>
        </p:spPr>
      </p:sp>
      <p:sp>
        <p:nvSpPr>
          <p:cNvPr id="4" name="Shape 1"/>
          <p:cNvSpPr/>
          <p:nvPr/>
        </p:nvSpPr>
        <p:spPr>
          <a:xfrm>
            <a:off x="381000" y="381000"/>
            <a:ext cx="76200" cy="457200"/>
          </a:xfrm>
          <a:prstGeom prst="roundRect">
            <a:avLst>
              <a:gd name="adj" fmla="val 0"/>
            </a:avLst>
          </a:prstGeom>
          <a:solidFill>
            <a:srgbClr val="D4A373"/>
          </a:solidFill>
          <a:ln/>
        </p:spPr>
      </p:sp>
      <p:sp>
        <p:nvSpPr>
          <p:cNvPr id="5" name="Text 2"/>
          <p:cNvSpPr/>
          <p:nvPr/>
        </p:nvSpPr>
        <p:spPr>
          <a:xfrm>
            <a:off x="571500" y="381000"/>
            <a:ext cx="551497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600" b="1" dirty="0">
                <a:solidFill>
                  <a:srgbClr val="F0F2F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Conclusion &amp; Future Work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571500" y="914400"/>
            <a:ext cx="113347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dirty="0">
                <a:solidFill>
                  <a:srgbClr val="9A959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Project Summary and Research Directions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388620" y="1341120"/>
            <a:ext cx="5606415" cy="2872740"/>
          </a:xfrm>
          <a:prstGeom prst="roundRect">
            <a:avLst>
              <a:gd name="adj" fmla="val 2653"/>
            </a:avLst>
          </a:prstGeom>
          <a:gradFill rotWithShape="1" flip="none">
            <a:gsLst>
              <a:gs pos="0">
                <a:srgbClr val="D4A373">
                  <a:alpha val="30000"/>
                </a:srgbClr>
              </a:gs>
              <a:gs pos="100000">
                <a:srgbClr val="5F737C">
                  <a:alpha val="20000"/>
                </a:srgbClr>
              </a:gs>
            </a:gsLst>
            <a:lin ang="2700000" scaled="1"/>
          </a:gradFill>
          <a:ln w="20320">
            <a:solidFill>
              <a:srgbClr val="D4A373">
                <a:alpha val="60000"/>
              </a:srgbClr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624840" y="1548650"/>
            <a:ext cx="285750" cy="285750"/>
          </a:xfrm>
          <a:custGeom>
            <a:avLst/>
            <a:gdLst/>
            <a:ahLst/>
            <a:cxnLst/>
            <a:rect l="l" t="t" r="r" b="b"/>
            <a:pathLst>
              <a:path w="285750" h="285750">
                <a:moveTo>
                  <a:pt x="142875" y="285750"/>
                </a:moveTo>
                <a:cubicBezTo>
                  <a:pt x="221730" y="285750"/>
                  <a:pt x="285750" y="221730"/>
                  <a:pt x="285750" y="142875"/>
                </a:cubicBezTo>
                <a:cubicBezTo>
                  <a:pt x="285750" y="64020"/>
                  <a:pt x="221730" y="0"/>
                  <a:pt x="142875" y="0"/>
                </a:cubicBezTo>
                <a:cubicBezTo>
                  <a:pt x="64020" y="0"/>
                  <a:pt x="0" y="64020"/>
                  <a:pt x="0" y="142875"/>
                </a:cubicBezTo>
                <a:cubicBezTo>
                  <a:pt x="0" y="221730"/>
                  <a:pt x="64020" y="285750"/>
                  <a:pt x="142875" y="285750"/>
                </a:cubicBezTo>
                <a:close/>
                <a:moveTo>
                  <a:pt x="189979" y="118709"/>
                </a:moveTo>
                <a:lnTo>
                  <a:pt x="145331" y="190147"/>
                </a:lnTo>
                <a:cubicBezTo>
                  <a:pt x="142987" y="193886"/>
                  <a:pt x="138968" y="196230"/>
                  <a:pt x="134559" y="196453"/>
                </a:cubicBezTo>
                <a:cubicBezTo>
                  <a:pt x="130150" y="196676"/>
                  <a:pt x="125909" y="194667"/>
                  <a:pt x="123285" y="191095"/>
                </a:cubicBezTo>
                <a:lnTo>
                  <a:pt x="96496" y="155377"/>
                </a:lnTo>
                <a:cubicBezTo>
                  <a:pt x="92032" y="149461"/>
                  <a:pt x="93259" y="141089"/>
                  <a:pt x="99175" y="136624"/>
                </a:cubicBezTo>
                <a:cubicBezTo>
                  <a:pt x="105091" y="132159"/>
                  <a:pt x="113463" y="133387"/>
                  <a:pt x="117928" y="139303"/>
                </a:cubicBezTo>
                <a:lnTo>
                  <a:pt x="132997" y="159395"/>
                </a:lnTo>
                <a:lnTo>
                  <a:pt x="167264" y="104533"/>
                </a:lnTo>
                <a:cubicBezTo>
                  <a:pt x="171171" y="98282"/>
                  <a:pt x="179431" y="96329"/>
                  <a:pt x="185738" y="100292"/>
                </a:cubicBezTo>
                <a:cubicBezTo>
                  <a:pt x="192044" y="104254"/>
                  <a:pt x="193942" y="112458"/>
                  <a:pt x="189979" y="118765"/>
                </a:cubicBezTo>
                <a:close/>
              </a:path>
            </a:pathLst>
          </a:custGeom>
          <a:solidFill>
            <a:srgbClr val="D4A373"/>
          </a:solidFill>
          <a:ln/>
        </p:spPr>
      </p:sp>
      <p:sp>
        <p:nvSpPr>
          <p:cNvPr id="9" name="Text 6"/>
          <p:cNvSpPr/>
          <p:nvPr/>
        </p:nvSpPr>
        <p:spPr>
          <a:xfrm>
            <a:off x="1058227" y="1539246"/>
            <a:ext cx="19812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F0F2F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Key Achievements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586740" y="1996325"/>
            <a:ext cx="381000" cy="381000"/>
          </a:xfrm>
          <a:prstGeom prst="roundRect">
            <a:avLst>
              <a:gd name="adj" fmla="val 50000"/>
            </a:avLst>
          </a:prstGeom>
          <a:solidFill>
            <a:srgbClr val="D4A373"/>
          </a:solidFill>
          <a:ln/>
        </p:spPr>
      </p:sp>
      <p:sp>
        <p:nvSpPr>
          <p:cNvPr id="11" name="Shape 8"/>
          <p:cNvSpPr/>
          <p:nvPr/>
        </p:nvSpPr>
        <p:spPr>
          <a:xfrm>
            <a:off x="693896" y="2101100"/>
            <a:ext cx="171450" cy="171450"/>
          </a:xfrm>
          <a:custGeom>
            <a:avLst/>
            <a:gdLst/>
            <a:ahLst/>
            <a:cxnLst/>
            <a:rect l="l" t="t" r="r" b="b"/>
            <a:pathLst>
              <a:path w="171450" h="171450">
                <a:moveTo>
                  <a:pt x="48321" y="0"/>
                </a:moveTo>
                <a:lnTo>
                  <a:pt x="123330" y="0"/>
                </a:lnTo>
                <a:cubicBezTo>
                  <a:pt x="132204" y="0"/>
                  <a:pt x="139437" y="7300"/>
                  <a:pt x="139102" y="16140"/>
                </a:cubicBezTo>
                <a:cubicBezTo>
                  <a:pt x="139035" y="17915"/>
                  <a:pt x="138968" y="19690"/>
                  <a:pt x="138868" y="21431"/>
                </a:cubicBezTo>
                <a:lnTo>
                  <a:pt x="155477" y="21431"/>
                </a:lnTo>
                <a:cubicBezTo>
                  <a:pt x="164217" y="21431"/>
                  <a:pt x="171919" y="28664"/>
                  <a:pt x="171249" y="38107"/>
                </a:cubicBezTo>
                <a:cubicBezTo>
                  <a:pt x="168738" y="72833"/>
                  <a:pt x="150990" y="91920"/>
                  <a:pt x="131735" y="101899"/>
                </a:cubicBezTo>
                <a:cubicBezTo>
                  <a:pt x="126444" y="104645"/>
                  <a:pt x="121053" y="106687"/>
                  <a:pt x="115930" y="108194"/>
                </a:cubicBezTo>
                <a:cubicBezTo>
                  <a:pt x="109165" y="117771"/>
                  <a:pt x="102133" y="122828"/>
                  <a:pt x="96541" y="125540"/>
                </a:cubicBezTo>
                <a:lnTo>
                  <a:pt x="96541" y="150019"/>
                </a:lnTo>
                <a:lnTo>
                  <a:pt x="117972" y="150019"/>
                </a:lnTo>
                <a:cubicBezTo>
                  <a:pt x="123899" y="150019"/>
                  <a:pt x="128688" y="154807"/>
                  <a:pt x="128688" y="160734"/>
                </a:cubicBezTo>
                <a:cubicBezTo>
                  <a:pt x="128688" y="166661"/>
                  <a:pt x="123899" y="171450"/>
                  <a:pt x="117972" y="171450"/>
                </a:cubicBezTo>
                <a:lnTo>
                  <a:pt x="53679" y="171450"/>
                </a:lnTo>
                <a:cubicBezTo>
                  <a:pt x="47752" y="171450"/>
                  <a:pt x="42963" y="166661"/>
                  <a:pt x="42963" y="160734"/>
                </a:cubicBezTo>
                <a:cubicBezTo>
                  <a:pt x="42963" y="154807"/>
                  <a:pt x="47752" y="150019"/>
                  <a:pt x="53679" y="150019"/>
                </a:cubicBezTo>
                <a:lnTo>
                  <a:pt x="75110" y="150019"/>
                </a:lnTo>
                <a:lnTo>
                  <a:pt x="75110" y="125540"/>
                </a:lnTo>
                <a:cubicBezTo>
                  <a:pt x="69752" y="122962"/>
                  <a:pt x="63088" y="118173"/>
                  <a:pt x="56592" y="109366"/>
                </a:cubicBezTo>
                <a:cubicBezTo>
                  <a:pt x="50430" y="107759"/>
                  <a:pt x="43733" y="105315"/>
                  <a:pt x="37203" y="101631"/>
                </a:cubicBezTo>
                <a:cubicBezTo>
                  <a:pt x="19087" y="91485"/>
                  <a:pt x="2746" y="72364"/>
                  <a:pt x="402" y="38040"/>
                </a:cubicBezTo>
                <a:cubicBezTo>
                  <a:pt x="-234" y="28631"/>
                  <a:pt x="7434" y="21398"/>
                  <a:pt x="16174" y="21398"/>
                </a:cubicBezTo>
                <a:lnTo>
                  <a:pt x="32783" y="21398"/>
                </a:lnTo>
                <a:cubicBezTo>
                  <a:pt x="32683" y="19656"/>
                  <a:pt x="32616" y="17915"/>
                  <a:pt x="32549" y="16107"/>
                </a:cubicBezTo>
                <a:cubicBezTo>
                  <a:pt x="32214" y="7233"/>
                  <a:pt x="39447" y="-33"/>
                  <a:pt x="48321" y="-33"/>
                </a:cubicBezTo>
                <a:close/>
                <a:moveTo>
                  <a:pt x="33989" y="37505"/>
                </a:moveTo>
                <a:lnTo>
                  <a:pt x="16442" y="37505"/>
                </a:lnTo>
                <a:cubicBezTo>
                  <a:pt x="18518" y="65868"/>
                  <a:pt x="31544" y="80066"/>
                  <a:pt x="44972" y="87600"/>
                </a:cubicBezTo>
                <a:cubicBezTo>
                  <a:pt x="40150" y="75110"/>
                  <a:pt x="36165" y="58802"/>
                  <a:pt x="33989" y="37505"/>
                </a:cubicBezTo>
                <a:close/>
                <a:moveTo>
                  <a:pt x="127248" y="85993"/>
                </a:moveTo>
                <a:cubicBezTo>
                  <a:pt x="140810" y="78023"/>
                  <a:pt x="153066" y="63858"/>
                  <a:pt x="155142" y="37505"/>
                </a:cubicBezTo>
                <a:lnTo>
                  <a:pt x="137629" y="37505"/>
                </a:lnTo>
                <a:cubicBezTo>
                  <a:pt x="135553" y="57898"/>
                  <a:pt x="131802" y="73737"/>
                  <a:pt x="127248" y="85993"/>
                </a:cubicBezTo>
                <a:close/>
              </a:path>
            </a:pathLst>
          </a:custGeom>
          <a:solidFill>
            <a:srgbClr val="1A1D21"/>
          </a:solidFill>
          <a:ln/>
        </p:spPr>
      </p:sp>
      <p:sp>
        <p:nvSpPr>
          <p:cNvPr id="12" name="Text 9"/>
          <p:cNvSpPr/>
          <p:nvPr/>
        </p:nvSpPr>
        <p:spPr>
          <a:xfrm>
            <a:off x="1082040" y="1996325"/>
            <a:ext cx="41624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0F2F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Multi-Algorithm System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1082040" y="2224925"/>
            <a:ext cx="41529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9A959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Successfully developed a comprehensive DeepFake detection system</a:t>
            </a:r>
            <a:endParaRPr lang="en-US" sz="1600" dirty="0"/>
          </a:p>
        </p:txBody>
      </p:sp>
      <p:sp>
        <p:nvSpPr>
          <p:cNvPr id="14" name="Shape 11"/>
          <p:cNvSpPr/>
          <p:nvPr/>
        </p:nvSpPr>
        <p:spPr>
          <a:xfrm>
            <a:off x="586740" y="2529725"/>
            <a:ext cx="381000" cy="381000"/>
          </a:xfrm>
          <a:prstGeom prst="roundRect">
            <a:avLst>
              <a:gd name="adj" fmla="val 50000"/>
            </a:avLst>
          </a:prstGeom>
          <a:solidFill>
            <a:srgbClr val="D4A373"/>
          </a:solidFill>
          <a:ln/>
        </p:spPr>
      </p:sp>
      <p:sp>
        <p:nvSpPr>
          <p:cNvPr id="15" name="Shape 12"/>
          <p:cNvSpPr/>
          <p:nvPr/>
        </p:nvSpPr>
        <p:spPr>
          <a:xfrm>
            <a:off x="683181" y="2634500"/>
            <a:ext cx="192881" cy="171450"/>
          </a:xfrm>
          <a:custGeom>
            <a:avLst/>
            <a:gdLst/>
            <a:ahLst/>
            <a:cxnLst/>
            <a:rect l="l" t="t" r="r" b="b"/>
            <a:pathLst>
              <a:path w="192881" h="171450">
                <a:moveTo>
                  <a:pt x="103640" y="-6329"/>
                </a:moveTo>
                <a:cubicBezTo>
                  <a:pt x="102267" y="-9008"/>
                  <a:pt x="99488" y="-10716"/>
                  <a:pt x="96474" y="-10716"/>
                </a:cubicBezTo>
                <a:cubicBezTo>
                  <a:pt x="93460" y="-10716"/>
                  <a:pt x="90681" y="-9008"/>
                  <a:pt x="89308" y="-6329"/>
                </a:cubicBezTo>
                <a:lnTo>
                  <a:pt x="64662" y="41958"/>
                </a:lnTo>
                <a:lnTo>
                  <a:pt x="11117" y="50464"/>
                </a:lnTo>
                <a:cubicBezTo>
                  <a:pt x="8137" y="50933"/>
                  <a:pt x="5659" y="53042"/>
                  <a:pt x="4722" y="55922"/>
                </a:cubicBezTo>
                <a:cubicBezTo>
                  <a:pt x="3784" y="58802"/>
                  <a:pt x="4554" y="61950"/>
                  <a:pt x="6664" y="64093"/>
                </a:cubicBezTo>
                <a:lnTo>
                  <a:pt x="44972" y="102435"/>
                </a:lnTo>
                <a:lnTo>
                  <a:pt x="36534" y="155979"/>
                </a:lnTo>
                <a:cubicBezTo>
                  <a:pt x="36065" y="158960"/>
                  <a:pt x="37304" y="161973"/>
                  <a:pt x="39748" y="163748"/>
                </a:cubicBezTo>
                <a:cubicBezTo>
                  <a:pt x="42193" y="165523"/>
                  <a:pt x="45407" y="165791"/>
                  <a:pt x="48120" y="164418"/>
                </a:cubicBezTo>
                <a:lnTo>
                  <a:pt x="96474" y="139839"/>
                </a:lnTo>
                <a:lnTo>
                  <a:pt x="144795" y="164418"/>
                </a:lnTo>
                <a:cubicBezTo>
                  <a:pt x="147474" y="165791"/>
                  <a:pt x="150722" y="165523"/>
                  <a:pt x="153166" y="163748"/>
                </a:cubicBezTo>
                <a:cubicBezTo>
                  <a:pt x="155611" y="161973"/>
                  <a:pt x="156850" y="158993"/>
                  <a:pt x="156381" y="155979"/>
                </a:cubicBezTo>
                <a:lnTo>
                  <a:pt x="147909" y="102435"/>
                </a:lnTo>
                <a:lnTo>
                  <a:pt x="186217" y="64093"/>
                </a:lnTo>
                <a:cubicBezTo>
                  <a:pt x="188361" y="61950"/>
                  <a:pt x="189097" y="58802"/>
                  <a:pt x="188160" y="55922"/>
                </a:cubicBezTo>
                <a:cubicBezTo>
                  <a:pt x="187222" y="53042"/>
                  <a:pt x="184778" y="50933"/>
                  <a:pt x="181764" y="50464"/>
                </a:cubicBezTo>
                <a:lnTo>
                  <a:pt x="128253" y="41958"/>
                </a:lnTo>
                <a:lnTo>
                  <a:pt x="103640" y="-6329"/>
                </a:lnTo>
                <a:close/>
              </a:path>
            </a:pathLst>
          </a:custGeom>
          <a:solidFill>
            <a:srgbClr val="1A1D21"/>
          </a:solidFill>
          <a:ln/>
        </p:spPr>
      </p:sp>
      <p:sp>
        <p:nvSpPr>
          <p:cNvPr id="16" name="Text 13"/>
          <p:cNvSpPr/>
          <p:nvPr/>
        </p:nvSpPr>
        <p:spPr>
          <a:xfrm>
            <a:off x="1082040" y="2529725"/>
            <a:ext cx="40195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0F2F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Novel ECF Module</a:t>
            </a:r>
            <a:endParaRPr lang="en-US" sz="1600" dirty="0"/>
          </a:p>
        </p:txBody>
      </p:sp>
      <p:sp>
        <p:nvSpPr>
          <p:cNvPr id="17" name="Text 14"/>
          <p:cNvSpPr/>
          <p:nvPr/>
        </p:nvSpPr>
        <p:spPr>
          <a:xfrm>
            <a:off x="1082040" y="2758325"/>
            <a:ext cx="40100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9A959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Introduced behavioral forensics dimension for cross-modal analysis</a:t>
            </a:r>
            <a:endParaRPr lang="en-US" sz="1600" dirty="0"/>
          </a:p>
        </p:txBody>
      </p:sp>
      <p:sp>
        <p:nvSpPr>
          <p:cNvPr id="18" name="Shape 15"/>
          <p:cNvSpPr/>
          <p:nvPr/>
        </p:nvSpPr>
        <p:spPr>
          <a:xfrm>
            <a:off x="586740" y="3063125"/>
            <a:ext cx="381000" cy="381000"/>
          </a:xfrm>
          <a:prstGeom prst="roundRect">
            <a:avLst>
              <a:gd name="adj" fmla="val 50000"/>
            </a:avLst>
          </a:prstGeom>
          <a:solidFill>
            <a:srgbClr val="D4A373"/>
          </a:solidFill>
          <a:ln/>
        </p:spPr>
      </p:sp>
      <p:sp>
        <p:nvSpPr>
          <p:cNvPr id="19" name="Shape 16"/>
          <p:cNvSpPr/>
          <p:nvPr/>
        </p:nvSpPr>
        <p:spPr>
          <a:xfrm>
            <a:off x="693896" y="3167900"/>
            <a:ext cx="171450" cy="171450"/>
          </a:xfrm>
          <a:custGeom>
            <a:avLst/>
            <a:gdLst/>
            <a:ahLst/>
            <a:cxnLst/>
            <a:rect l="l" t="t" r="r" b="b"/>
            <a:pathLst>
              <a:path w="171450" h="171450">
                <a:moveTo>
                  <a:pt x="40184" y="18752"/>
                </a:moveTo>
                <a:cubicBezTo>
                  <a:pt x="40184" y="8405"/>
                  <a:pt x="48589" y="0"/>
                  <a:pt x="58936" y="0"/>
                </a:cubicBezTo>
                <a:lnTo>
                  <a:pt x="66973" y="0"/>
                </a:lnTo>
                <a:cubicBezTo>
                  <a:pt x="72900" y="0"/>
                  <a:pt x="77688" y="4789"/>
                  <a:pt x="77688" y="10716"/>
                </a:cubicBezTo>
                <a:lnTo>
                  <a:pt x="77688" y="160734"/>
                </a:lnTo>
                <a:cubicBezTo>
                  <a:pt x="77688" y="166661"/>
                  <a:pt x="72900" y="171450"/>
                  <a:pt x="66973" y="171450"/>
                </a:cubicBezTo>
                <a:lnTo>
                  <a:pt x="56257" y="171450"/>
                </a:lnTo>
                <a:cubicBezTo>
                  <a:pt x="46278" y="171450"/>
                  <a:pt x="37873" y="164619"/>
                  <a:pt x="35496" y="155377"/>
                </a:cubicBezTo>
                <a:cubicBezTo>
                  <a:pt x="35261" y="155377"/>
                  <a:pt x="35060" y="155377"/>
                  <a:pt x="34826" y="155377"/>
                </a:cubicBezTo>
                <a:cubicBezTo>
                  <a:pt x="20025" y="155377"/>
                  <a:pt x="8037" y="143388"/>
                  <a:pt x="8037" y="128588"/>
                </a:cubicBezTo>
                <a:cubicBezTo>
                  <a:pt x="8037" y="122560"/>
                  <a:pt x="10046" y="117001"/>
                  <a:pt x="13395" y="112514"/>
                </a:cubicBezTo>
                <a:cubicBezTo>
                  <a:pt x="6898" y="107625"/>
                  <a:pt x="2679" y="99856"/>
                  <a:pt x="2679" y="91083"/>
                </a:cubicBezTo>
                <a:cubicBezTo>
                  <a:pt x="2679" y="80736"/>
                  <a:pt x="8573" y="71728"/>
                  <a:pt x="17145" y="67274"/>
                </a:cubicBezTo>
                <a:cubicBezTo>
                  <a:pt x="14767" y="63256"/>
                  <a:pt x="13395" y="58568"/>
                  <a:pt x="13395" y="53578"/>
                </a:cubicBezTo>
                <a:cubicBezTo>
                  <a:pt x="13395" y="38777"/>
                  <a:pt x="25383" y="26789"/>
                  <a:pt x="40184" y="26789"/>
                </a:cubicBezTo>
                <a:lnTo>
                  <a:pt x="40184" y="18752"/>
                </a:lnTo>
                <a:close/>
                <a:moveTo>
                  <a:pt x="131266" y="18752"/>
                </a:moveTo>
                <a:lnTo>
                  <a:pt x="131266" y="26789"/>
                </a:lnTo>
                <a:cubicBezTo>
                  <a:pt x="146067" y="26789"/>
                  <a:pt x="158055" y="38777"/>
                  <a:pt x="158055" y="53578"/>
                </a:cubicBezTo>
                <a:cubicBezTo>
                  <a:pt x="158055" y="58601"/>
                  <a:pt x="156683" y="63289"/>
                  <a:pt x="154305" y="67274"/>
                </a:cubicBezTo>
                <a:cubicBezTo>
                  <a:pt x="162911" y="71728"/>
                  <a:pt x="168771" y="80702"/>
                  <a:pt x="168771" y="91083"/>
                </a:cubicBezTo>
                <a:cubicBezTo>
                  <a:pt x="168771" y="99856"/>
                  <a:pt x="164552" y="107625"/>
                  <a:pt x="158055" y="112514"/>
                </a:cubicBezTo>
                <a:cubicBezTo>
                  <a:pt x="161404" y="117001"/>
                  <a:pt x="163413" y="122560"/>
                  <a:pt x="163413" y="128588"/>
                </a:cubicBezTo>
                <a:cubicBezTo>
                  <a:pt x="163413" y="143388"/>
                  <a:pt x="151425" y="155377"/>
                  <a:pt x="136624" y="155377"/>
                </a:cubicBezTo>
                <a:cubicBezTo>
                  <a:pt x="136390" y="155377"/>
                  <a:pt x="136189" y="155377"/>
                  <a:pt x="135954" y="155377"/>
                </a:cubicBezTo>
                <a:cubicBezTo>
                  <a:pt x="133577" y="164619"/>
                  <a:pt x="125172" y="171450"/>
                  <a:pt x="115193" y="171450"/>
                </a:cubicBezTo>
                <a:lnTo>
                  <a:pt x="104477" y="171450"/>
                </a:lnTo>
                <a:cubicBezTo>
                  <a:pt x="98550" y="171450"/>
                  <a:pt x="93762" y="166661"/>
                  <a:pt x="93762" y="160734"/>
                </a:cubicBezTo>
                <a:lnTo>
                  <a:pt x="93762" y="10716"/>
                </a:lnTo>
                <a:cubicBezTo>
                  <a:pt x="93762" y="4789"/>
                  <a:pt x="98550" y="0"/>
                  <a:pt x="104477" y="0"/>
                </a:cubicBezTo>
                <a:lnTo>
                  <a:pt x="112514" y="0"/>
                </a:lnTo>
                <a:cubicBezTo>
                  <a:pt x="122861" y="0"/>
                  <a:pt x="131266" y="8405"/>
                  <a:pt x="131266" y="18752"/>
                </a:cubicBezTo>
                <a:close/>
              </a:path>
            </a:pathLst>
          </a:custGeom>
          <a:solidFill>
            <a:srgbClr val="1A1D21"/>
          </a:solidFill>
          <a:ln/>
        </p:spPr>
      </p:sp>
      <p:sp>
        <p:nvSpPr>
          <p:cNvPr id="20" name="Text 17"/>
          <p:cNvSpPr/>
          <p:nvPr/>
        </p:nvSpPr>
        <p:spPr>
          <a:xfrm>
            <a:off x="1082040" y="3063125"/>
            <a:ext cx="259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0F2F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High Accuracy</a:t>
            </a:r>
            <a:endParaRPr lang="en-US" sz="1600" dirty="0"/>
          </a:p>
        </p:txBody>
      </p:sp>
      <p:sp>
        <p:nvSpPr>
          <p:cNvPr id="21" name="Text 18"/>
          <p:cNvSpPr/>
          <p:nvPr/>
        </p:nvSpPr>
        <p:spPr>
          <a:xfrm>
            <a:off x="1082040" y="3291725"/>
            <a:ext cx="25812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9A959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Achieved ~80%+ accuracy on test datasets</a:t>
            </a:r>
            <a:endParaRPr lang="en-US" sz="1600" dirty="0"/>
          </a:p>
        </p:txBody>
      </p:sp>
      <p:sp>
        <p:nvSpPr>
          <p:cNvPr id="22" name="Shape 19"/>
          <p:cNvSpPr/>
          <p:nvPr/>
        </p:nvSpPr>
        <p:spPr>
          <a:xfrm>
            <a:off x="586740" y="3596525"/>
            <a:ext cx="381000" cy="381000"/>
          </a:xfrm>
          <a:prstGeom prst="roundRect">
            <a:avLst>
              <a:gd name="adj" fmla="val 50000"/>
            </a:avLst>
          </a:prstGeom>
          <a:solidFill>
            <a:srgbClr val="D4A373"/>
          </a:solidFill>
          <a:ln/>
        </p:spPr>
      </p:sp>
      <p:sp>
        <p:nvSpPr>
          <p:cNvPr id="23" name="Shape 20"/>
          <p:cNvSpPr/>
          <p:nvPr/>
        </p:nvSpPr>
        <p:spPr>
          <a:xfrm>
            <a:off x="693896" y="3701300"/>
            <a:ext cx="171450" cy="171450"/>
          </a:xfrm>
          <a:custGeom>
            <a:avLst/>
            <a:gdLst/>
            <a:ahLst/>
            <a:cxnLst/>
            <a:rect l="l" t="t" r="r" b="b"/>
            <a:pathLst>
              <a:path w="171450" h="171450">
                <a:moveTo>
                  <a:pt x="21431" y="10716"/>
                </a:moveTo>
                <a:cubicBezTo>
                  <a:pt x="9611" y="10716"/>
                  <a:pt x="0" y="20326"/>
                  <a:pt x="0" y="32147"/>
                </a:cubicBezTo>
                <a:lnTo>
                  <a:pt x="0" y="117872"/>
                </a:lnTo>
                <a:cubicBezTo>
                  <a:pt x="0" y="129693"/>
                  <a:pt x="9611" y="139303"/>
                  <a:pt x="21431" y="139303"/>
                </a:cubicBezTo>
                <a:lnTo>
                  <a:pt x="69652" y="139303"/>
                </a:lnTo>
                <a:lnTo>
                  <a:pt x="64294" y="155377"/>
                </a:lnTo>
                <a:lnTo>
                  <a:pt x="40184" y="155377"/>
                </a:lnTo>
                <a:cubicBezTo>
                  <a:pt x="35730" y="155377"/>
                  <a:pt x="32147" y="158960"/>
                  <a:pt x="32147" y="163413"/>
                </a:cubicBezTo>
                <a:cubicBezTo>
                  <a:pt x="32147" y="167867"/>
                  <a:pt x="35730" y="171450"/>
                  <a:pt x="40184" y="171450"/>
                </a:cubicBezTo>
                <a:lnTo>
                  <a:pt x="131266" y="171450"/>
                </a:lnTo>
                <a:cubicBezTo>
                  <a:pt x="135720" y="171450"/>
                  <a:pt x="139303" y="167867"/>
                  <a:pt x="139303" y="163413"/>
                </a:cubicBezTo>
                <a:cubicBezTo>
                  <a:pt x="139303" y="158960"/>
                  <a:pt x="135720" y="155377"/>
                  <a:pt x="131266" y="155377"/>
                </a:cubicBezTo>
                <a:lnTo>
                  <a:pt x="107156" y="155377"/>
                </a:lnTo>
                <a:lnTo>
                  <a:pt x="101798" y="139303"/>
                </a:lnTo>
                <a:lnTo>
                  <a:pt x="150019" y="139303"/>
                </a:lnTo>
                <a:cubicBezTo>
                  <a:pt x="161839" y="139303"/>
                  <a:pt x="171450" y="129693"/>
                  <a:pt x="171450" y="117872"/>
                </a:cubicBezTo>
                <a:lnTo>
                  <a:pt x="171450" y="32147"/>
                </a:lnTo>
                <a:cubicBezTo>
                  <a:pt x="171450" y="20326"/>
                  <a:pt x="161839" y="10716"/>
                  <a:pt x="150019" y="10716"/>
                </a:cubicBezTo>
                <a:lnTo>
                  <a:pt x="21431" y="10716"/>
                </a:lnTo>
                <a:close/>
                <a:moveTo>
                  <a:pt x="32147" y="32147"/>
                </a:moveTo>
                <a:lnTo>
                  <a:pt x="139303" y="32147"/>
                </a:lnTo>
                <a:cubicBezTo>
                  <a:pt x="145230" y="32147"/>
                  <a:pt x="150019" y="36935"/>
                  <a:pt x="150019" y="42863"/>
                </a:cubicBezTo>
                <a:lnTo>
                  <a:pt x="150019" y="96441"/>
                </a:lnTo>
                <a:cubicBezTo>
                  <a:pt x="150019" y="102368"/>
                  <a:pt x="145230" y="107156"/>
                  <a:pt x="139303" y="107156"/>
                </a:cubicBezTo>
                <a:lnTo>
                  <a:pt x="32147" y="107156"/>
                </a:lnTo>
                <a:cubicBezTo>
                  <a:pt x="26220" y="107156"/>
                  <a:pt x="21431" y="102368"/>
                  <a:pt x="21431" y="96441"/>
                </a:cubicBezTo>
                <a:lnTo>
                  <a:pt x="21431" y="42863"/>
                </a:lnTo>
                <a:cubicBezTo>
                  <a:pt x="21431" y="36935"/>
                  <a:pt x="26220" y="32147"/>
                  <a:pt x="32147" y="32147"/>
                </a:cubicBezTo>
                <a:close/>
              </a:path>
            </a:pathLst>
          </a:custGeom>
          <a:solidFill>
            <a:srgbClr val="1A1D21"/>
          </a:solidFill>
          <a:ln/>
        </p:spPr>
      </p:sp>
      <p:sp>
        <p:nvSpPr>
          <p:cNvPr id="24" name="Text 21"/>
          <p:cNvSpPr/>
          <p:nvPr/>
        </p:nvSpPr>
        <p:spPr>
          <a:xfrm>
            <a:off x="1082040" y="3596525"/>
            <a:ext cx="29337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0F2F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Interactive Interface</a:t>
            </a:r>
            <a:endParaRPr lang="en-US" sz="1600" dirty="0"/>
          </a:p>
        </p:txBody>
      </p:sp>
      <p:sp>
        <p:nvSpPr>
          <p:cNvPr id="25" name="Text 22"/>
          <p:cNvSpPr/>
          <p:nvPr/>
        </p:nvSpPr>
        <p:spPr>
          <a:xfrm>
            <a:off x="1082040" y="3825125"/>
            <a:ext cx="29241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9A959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Deployed user-friendly Streamlit web application</a:t>
            </a:r>
            <a:endParaRPr lang="en-US" sz="1600" dirty="0"/>
          </a:p>
        </p:txBody>
      </p:sp>
      <p:sp>
        <p:nvSpPr>
          <p:cNvPr id="26" name="Shape 23"/>
          <p:cNvSpPr/>
          <p:nvPr/>
        </p:nvSpPr>
        <p:spPr>
          <a:xfrm>
            <a:off x="400050" y="4373761"/>
            <a:ext cx="5600700" cy="1504950"/>
          </a:xfrm>
          <a:custGeom>
            <a:avLst/>
            <a:gdLst/>
            <a:ahLst/>
            <a:cxnLst/>
            <a:rect l="l" t="t" r="r" b="b"/>
            <a:pathLst>
              <a:path w="5600700" h="1504950">
                <a:moveTo>
                  <a:pt x="38100" y="0"/>
                </a:moveTo>
                <a:lnTo>
                  <a:pt x="5524500" y="0"/>
                </a:lnTo>
                <a:cubicBezTo>
                  <a:pt x="5566556" y="0"/>
                  <a:pt x="5600700" y="34144"/>
                  <a:pt x="5600700" y="76200"/>
                </a:cubicBezTo>
                <a:lnTo>
                  <a:pt x="5600700" y="1428750"/>
                </a:lnTo>
                <a:cubicBezTo>
                  <a:pt x="5600700" y="1470806"/>
                  <a:pt x="5566556" y="1504950"/>
                  <a:pt x="5524500" y="1504950"/>
                </a:cubicBezTo>
                <a:lnTo>
                  <a:pt x="38100" y="1504950"/>
                </a:lnTo>
                <a:cubicBezTo>
                  <a:pt x="17072" y="1504950"/>
                  <a:pt x="0" y="1487878"/>
                  <a:pt x="0" y="146685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gradFill rotWithShape="1" flip="none">
            <a:gsLst>
              <a:gs pos="0">
                <a:srgbClr val="5F737C">
                  <a:alpha val="30000"/>
                </a:srgbClr>
              </a:gs>
              <a:gs pos="100000">
                <a:srgbClr val="4A5C6A">
                  <a:alpha val="20000"/>
                </a:srgbClr>
              </a:gs>
            </a:gsLst>
            <a:lin ang="2700000" scaled="1"/>
          </a:gradFill>
          <a:ln/>
        </p:spPr>
      </p:sp>
      <p:sp>
        <p:nvSpPr>
          <p:cNvPr id="27" name="Shape 24"/>
          <p:cNvSpPr/>
          <p:nvPr/>
        </p:nvSpPr>
        <p:spPr>
          <a:xfrm>
            <a:off x="400050" y="4373761"/>
            <a:ext cx="38100" cy="1504950"/>
          </a:xfrm>
          <a:custGeom>
            <a:avLst/>
            <a:gdLst/>
            <a:ahLst/>
            <a:cxnLst/>
            <a:rect l="l" t="t" r="r" b="b"/>
            <a:pathLst>
              <a:path w="38100" h="1504950">
                <a:moveTo>
                  <a:pt x="38100" y="0"/>
                </a:moveTo>
                <a:lnTo>
                  <a:pt x="38100" y="0"/>
                </a:lnTo>
                <a:lnTo>
                  <a:pt x="38100" y="1504950"/>
                </a:lnTo>
                <a:lnTo>
                  <a:pt x="38100" y="1504950"/>
                </a:lnTo>
                <a:cubicBezTo>
                  <a:pt x="17072" y="1504950"/>
                  <a:pt x="0" y="1487878"/>
                  <a:pt x="0" y="146685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D4A373"/>
          </a:solidFill>
          <a:ln/>
        </p:spPr>
      </p:sp>
      <p:sp>
        <p:nvSpPr>
          <p:cNvPr id="28" name="Shape 25"/>
          <p:cNvSpPr/>
          <p:nvPr/>
        </p:nvSpPr>
        <p:spPr>
          <a:xfrm>
            <a:off x="657225" y="4594743"/>
            <a:ext cx="142875" cy="190500"/>
          </a:xfrm>
          <a:custGeom>
            <a:avLst/>
            <a:gdLst/>
            <a:ahLst/>
            <a:cxnLst/>
            <a:rect l="l" t="t" r="r" b="b"/>
            <a:pathLst>
              <a:path w="142875" h="190500">
                <a:moveTo>
                  <a:pt x="108979" y="142875"/>
                </a:moveTo>
                <a:cubicBezTo>
                  <a:pt x="111696" y="134578"/>
                  <a:pt x="117128" y="127062"/>
                  <a:pt x="123267" y="120588"/>
                </a:cubicBezTo>
                <a:cubicBezTo>
                  <a:pt x="135434" y="107789"/>
                  <a:pt x="142875" y="90488"/>
                  <a:pt x="142875" y="71438"/>
                </a:cubicBezTo>
                <a:cubicBezTo>
                  <a:pt x="142875" y="31998"/>
                  <a:pt x="110877" y="0"/>
                  <a:pt x="71437" y="0"/>
                </a:cubicBezTo>
                <a:cubicBezTo>
                  <a:pt x="31998" y="0"/>
                  <a:pt x="0" y="31998"/>
                  <a:pt x="0" y="71438"/>
                </a:cubicBezTo>
                <a:cubicBezTo>
                  <a:pt x="0" y="90488"/>
                  <a:pt x="7441" y="107789"/>
                  <a:pt x="19608" y="120588"/>
                </a:cubicBezTo>
                <a:cubicBezTo>
                  <a:pt x="25747" y="127062"/>
                  <a:pt x="31217" y="134578"/>
                  <a:pt x="33896" y="142875"/>
                </a:cubicBezTo>
                <a:lnTo>
                  <a:pt x="108942" y="142875"/>
                </a:lnTo>
                <a:close/>
                <a:moveTo>
                  <a:pt x="107156" y="160734"/>
                </a:moveTo>
                <a:lnTo>
                  <a:pt x="35719" y="160734"/>
                </a:lnTo>
                <a:lnTo>
                  <a:pt x="35719" y="166688"/>
                </a:lnTo>
                <a:cubicBezTo>
                  <a:pt x="35719" y="183133"/>
                  <a:pt x="49039" y="196453"/>
                  <a:pt x="65484" y="196453"/>
                </a:cubicBezTo>
                <a:lnTo>
                  <a:pt x="77391" y="196453"/>
                </a:lnTo>
                <a:cubicBezTo>
                  <a:pt x="93836" y="196453"/>
                  <a:pt x="107156" y="183133"/>
                  <a:pt x="107156" y="166688"/>
                </a:cubicBezTo>
                <a:lnTo>
                  <a:pt x="107156" y="160734"/>
                </a:lnTo>
                <a:close/>
                <a:moveTo>
                  <a:pt x="68461" y="41672"/>
                </a:moveTo>
                <a:cubicBezTo>
                  <a:pt x="53653" y="41672"/>
                  <a:pt x="41672" y="53653"/>
                  <a:pt x="41672" y="68461"/>
                </a:cubicBezTo>
                <a:cubicBezTo>
                  <a:pt x="41672" y="73409"/>
                  <a:pt x="37691" y="77391"/>
                  <a:pt x="32742" y="77391"/>
                </a:cubicBezTo>
                <a:cubicBezTo>
                  <a:pt x="27794" y="77391"/>
                  <a:pt x="23812" y="73409"/>
                  <a:pt x="23812" y="68461"/>
                </a:cubicBezTo>
                <a:cubicBezTo>
                  <a:pt x="23812" y="43793"/>
                  <a:pt x="43793" y="23812"/>
                  <a:pt x="68461" y="23812"/>
                </a:cubicBezTo>
                <a:cubicBezTo>
                  <a:pt x="73409" y="23812"/>
                  <a:pt x="77391" y="27794"/>
                  <a:pt x="77391" y="32742"/>
                </a:cubicBezTo>
                <a:cubicBezTo>
                  <a:pt x="77391" y="37691"/>
                  <a:pt x="73409" y="41672"/>
                  <a:pt x="68461" y="41672"/>
                </a:cubicBezTo>
                <a:close/>
              </a:path>
            </a:pathLst>
          </a:custGeom>
          <a:solidFill>
            <a:srgbClr val="D4A373"/>
          </a:solidFill>
          <a:ln/>
        </p:spPr>
      </p:sp>
      <p:sp>
        <p:nvSpPr>
          <p:cNvPr id="29" name="Text 26"/>
          <p:cNvSpPr/>
          <p:nvPr/>
        </p:nvSpPr>
        <p:spPr>
          <a:xfrm>
            <a:off x="904875" y="4564261"/>
            <a:ext cx="50006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F0F2F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Research Impact</a:t>
            </a:r>
            <a:endParaRPr lang="en-US" sz="1600" dirty="0"/>
          </a:p>
        </p:txBody>
      </p:sp>
      <p:sp>
        <p:nvSpPr>
          <p:cNvPr id="30" name="Text 27"/>
          <p:cNvSpPr/>
          <p:nvPr/>
        </p:nvSpPr>
        <p:spPr>
          <a:xfrm>
            <a:off x="609600" y="4945261"/>
            <a:ext cx="5276850" cy="742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F0F2F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This project demonstrates the </a:t>
            </a:r>
            <a:pPr>
              <a:lnSpc>
                <a:spcPct val="140000"/>
              </a:lnSpc>
            </a:pPr>
            <a:r>
              <a:rPr lang="en-US" sz="1200" b="1" dirty="0">
                <a:solidFill>
                  <a:srgbClr val="F0F2F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feasibility of multi-modal deepfake detection</a:t>
            </a:r>
            <a:pPr>
              <a:lnSpc>
                <a:spcPct val="140000"/>
              </a:lnSpc>
            </a:pPr>
            <a:r>
              <a:rPr lang="en-US" sz="1200" dirty="0">
                <a:solidFill>
                  <a:srgbClr val="F0F2F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and opens new research directions in behavioral forensics for multimedia authenticity.</a:t>
            </a:r>
            <a:endParaRPr lang="en-US" sz="1600" dirty="0"/>
          </a:p>
        </p:txBody>
      </p:sp>
      <p:sp>
        <p:nvSpPr>
          <p:cNvPr id="31" name="Shape 28"/>
          <p:cNvSpPr/>
          <p:nvPr/>
        </p:nvSpPr>
        <p:spPr>
          <a:xfrm>
            <a:off x="6210300" y="1333500"/>
            <a:ext cx="5600700" cy="2857500"/>
          </a:xfrm>
          <a:custGeom>
            <a:avLst/>
            <a:gdLst/>
            <a:ahLst/>
            <a:cxnLst/>
            <a:rect l="l" t="t" r="r" b="b"/>
            <a:pathLst>
              <a:path w="5600700" h="2857500">
                <a:moveTo>
                  <a:pt x="38100" y="0"/>
                </a:moveTo>
                <a:lnTo>
                  <a:pt x="5524500" y="0"/>
                </a:lnTo>
                <a:cubicBezTo>
                  <a:pt x="5566556" y="0"/>
                  <a:pt x="5600700" y="34144"/>
                  <a:pt x="5600700" y="76200"/>
                </a:cubicBezTo>
                <a:lnTo>
                  <a:pt x="5600700" y="2781300"/>
                </a:lnTo>
                <a:cubicBezTo>
                  <a:pt x="5600700" y="2823356"/>
                  <a:pt x="5566556" y="2857500"/>
                  <a:pt x="5524500" y="2857500"/>
                </a:cubicBezTo>
                <a:lnTo>
                  <a:pt x="38100" y="2857500"/>
                </a:lnTo>
                <a:cubicBezTo>
                  <a:pt x="17072" y="2857500"/>
                  <a:pt x="0" y="2840428"/>
                  <a:pt x="0" y="28194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gradFill rotWithShape="1" flip="none">
            <a:gsLst>
              <a:gs pos="0">
                <a:srgbClr val="5F737C">
                  <a:alpha val="30000"/>
                </a:srgbClr>
              </a:gs>
              <a:gs pos="100000">
                <a:srgbClr val="4A5C6A">
                  <a:alpha val="20000"/>
                </a:srgbClr>
              </a:gs>
            </a:gsLst>
            <a:lin ang="2700000" scaled="1"/>
          </a:gradFill>
          <a:ln/>
        </p:spPr>
      </p:sp>
      <p:sp>
        <p:nvSpPr>
          <p:cNvPr id="32" name="Shape 29"/>
          <p:cNvSpPr/>
          <p:nvPr/>
        </p:nvSpPr>
        <p:spPr>
          <a:xfrm>
            <a:off x="6210300" y="1333500"/>
            <a:ext cx="38100" cy="2857500"/>
          </a:xfrm>
          <a:custGeom>
            <a:avLst/>
            <a:gdLst/>
            <a:ahLst/>
            <a:cxnLst/>
            <a:rect l="l" t="t" r="r" b="b"/>
            <a:pathLst>
              <a:path w="38100" h="2857500">
                <a:moveTo>
                  <a:pt x="38100" y="0"/>
                </a:moveTo>
                <a:lnTo>
                  <a:pt x="38100" y="0"/>
                </a:lnTo>
                <a:lnTo>
                  <a:pt x="38100" y="2857500"/>
                </a:lnTo>
                <a:lnTo>
                  <a:pt x="38100" y="2857500"/>
                </a:lnTo>
                <a:cubicBezTo>
                  <a:pt x="17072" y="2857500"/>
                  <a:pt x="0" y="2840428"/>
                  <a:pt x="0" y="28194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D4A373"/>
          </a:solidFill>
          <a:ln/>
        </p:spPr>
      </p:sp>
      <p:sp>
        <p:nvSpPr>
          <p:cNvPr id="33" name="Shape 30"/>
          <p:cNvSpPr/>
          <p:nvPr/>
        </p:nvSpPr>
        <p:spPr>
          <a:xfrm>
            <a:off x="6457950" y="1533404"/>
            <a:ext cx="285750" cy="285750"/>
          </a:xfrm>
          <a:custGeom>
            <a:avLst/>
            <a:gdLst/>
            <a:ahLst/>
            <a:cxnLst/>
            <a:rect l="l" t="t" r="r" b="b"/>
            <a:pathLst>
              <a:path w="285750" h="285750">
                <a:moveTo>
                  <a:pt x="71438" y="178594"/>
                </a:moveTo>
                <a:lnTo>
                  <a:pt x="13674" y="178594"/>
                </a:lnTo>
                <a:cubicBezTo>
                  <a:pt x="-223" y="178594"/>
                  <a:pt x="-8762" y="163469"/>
                  <a:pt x="-1619" y="151526"/>
                </a:cubicBezTo>
                <a:lnTo>
                  <a:pt x="27905" y="102301"/>
                </a:lnTo>
                <a:cubicBezTo>
                  <a:pt x="32761" y="94208"/>
                  <a:pt x="41467" y="89297"/>
                  <a:pt x="50899" y="89297"/>
                </a:cubicBezTo>
                <a:lnTo>
                  <a:pt x="103919" y="89297"/>
                </a:lnTo>
                <a:cubicBezTo>
                  <a:pt x="146391" y="17357"/>
                  <a:pt x="209736" y="13729"/>
                  <a:pt x="252096" y="19924"/>
                </a:cubicBezTo>
                <a:cubicBezTo>
                  <a:pt x="259240" y="20985"/>
                  <a:pt x="264821" y="26566"/>
                  <a:pt x="265826" y="33654"/>
                </a:cubicBezTo>
                <a:cubicBezTo>
                  <a:pt x="272021" y="76014"/>
                  <a:pt x="268393" y="139359"/>
                  <a:pt x="196453" y="181831"/>
                </a:cubicBezTo>
                <a:lnTo>
                  <a:pt x="196453" y="234851"/>
                </a:lnTo>
                <a:cubicBezTo>
                  <a:pt x="196453" y="244283"/>
                  <a:pt x="191542" y="252989"/>
                  <a:pt x="183449" y="257845"/>
                </a:cubicBezTo>
                <a:lnTo>
                  <a:pt x="134224" y="287369"/>
                </a:lnTo>
                <a:cubicBezTo>
                  <a:pt x="122337" y="294512"/>
                  <a:pt x="107156" y="285917"/>
                  <a:pt x="107156" y="272076"/>
                </a:cubicBezTo>
                <a:lnTo>
                  <a:pt x="107156" y="214313"/>
                </a:lnTo>
                <a:cubicBezTo>
                  <a:pt x="107156" y="194611"/>
                  <a:pt x="91139" y="178594"/>
                  <a:pt x="71438" y="178594"/>
                </a:cubicBezTo>
                <a:lnTo>
                  <a:pt x="71382" y="178594"/>
                </a:lnTo>
                <a:close/>
                <a:moveTo>
                  <a:pt x="223242" y="89297"/>
                </a:moveTo>
                <a:cubicBezTo>
                  <a:pt x="223242" y="74512"/>
                  <a:pt x="211238" y="62508"/>
                  <a:pt x="196453" y="62508"/>
                </a:cubicBezTo>
                <a:cubicBezTo>
                  <a:pt x="181668" y="62508"/>
                  <a:pt x="169664" y="74512"/>
                  <a:pt x="169664" y="89297"/>
                </a:cubicBezTo>
                <a:cubicBezTo>
                  <a:pt x="169664" y="104082"/>
                  <a:pt x="181668" y="116086"/>
                  <a:pt x="196453" y="116086"/>
                </a:cubicBezTo>
                <a:cubicBezTo>
                  <a:pt x="211238" y="116086"/>
                  <a:pt x="223242" y="104082"/>
                  <a:pt x="223242" y="89297"/>
                </a:cubicBezTo>
                <a:close/>
              </a:path>
            </a:pathLst>
          </a:custGeom>
          <a:solidFill>
            <a:srgbClr val="D4A373"/>
          </a:solidFill>
          <a:ln/>
        </p:spPr>
      </p:sp>
      <p:sp>
        <p:nvSpPr>
          <p:cNvPr id="34" name="Text 31"/>
          <p:cNvSpPr/>
          <p:nvPr/>
        </p:nvSpPr>
        <p:spPr>
          <a:xfrm>
            <a:off x="6891338" y="1524000"/>
            <a:ext cx="136207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F0F2F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Future Work</a:t>
            </a:r>
            <a:endParaRPr lang="en-US" sz="1600" dirty="0"/>
          </a:p>
        </p:txBody>
      </p:sp>
      <p:sp>
        <p:nvSpPr>
          <p:cNvPr id="35" name="Shape 32"/>
          <p:cNvSpPr/>
          <p:nvPr/>
        </p:nvSpPr>
        <p:spPr>
          <a:xfrm>
            <a:off x="6419850" y="1981079"/>
            <a:ext cx="381000" cy="381000"/>
          </a:xfrm>
          <a:prstGeom prst="roundRect">
            <a:avLst>
              <a:gd name="adj" fmla="val 50000"/>
            </a:avLst>
          </a:prstGeom>
          <a:solidFill>
            <a:srgbClr val="5F737C"/>
          </a:solidFill>
          <a:ln/>
        </p:spPr>
      </p:sp>
      <p:sp>
        <p:nvSpPr>
          <p:cNvPr id="36" name="Text 33"/>
          <p:cNvSpPr/>
          <p:nvPr/>
        </p:nvSpPr>
        <p:spPr>
          <a:xfrm>
            <a:off x="6576060" y="2038229"/>
            <a:ext cx="1524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F0F2F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</a:t>
            </a:r>
            <a:endParaRPr lang="en-US" sz="1600" dirty="0"/>
          </a:p>
        </p:txBody>
      </p:sp>
      <p:sp>
        <p:nvSpPr>
          <p:cNvPr id="37" name="Text 34"/>
          <p:cNvSpPr/>
          <p:nvPr/>
        </p:nvSpPr>
        <p:spPr>
          <a:xfrm>
            <a:off x="6915150" y="1981079"/>
            <a:ext cx="304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0F2F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Larger Datasets</a:t>
            </a:r>
            <a:endParaRPr lang="en-US" sz="1600" dirty="0"/>
          </a:p>
        </p:txBody>
      </p:sp>
      <p:sp>
        <p:nvSpPr>
          <p:cNvPr id="38" name="Text 35"/>
          <p:cNvSpPr/>
          <p:nvPr/>
        </p:nvSpPr>
        <p:spPr>
          <a:xfrm>
            <a:off x="6915150" y="2209679"/>
            <a:ext cx="30384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9A959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Train on more diverse and comprehensive datasets</a:t>
            </a:r>
            <a:endParaRPr lang="en-US" sz="1600" dirty="0"/>
          </a:p>
        </p:txBody>
      </p:sp>
      <p:sp>
        <p:nvSpPr>
          <p:cNvPr id="39" name="Shape 36"/>
          <p:cNvSpPr/>
          <p:nvPr/>
        </p:nvSpPr>
        <p:spPr>
          <a:xfrm>
            <a:off x="6419850" y="2514479"/>
            <a:ext cx="381000" cy="381000"/>
          </a:xfrm>
          <a:prstGeom prst="roundRect">
            <a:avLst>
              <a:gd name="adj" fmla="val 50000"/>
            </a:avLst>
          </a:prstGeom>
          <a:solidFill>
            <a:srgbClr val="5F737C"/>
          </a:solidFill>
          <a:ln/>
        </p:spPr>
      </p:sp>
      <p:sp>
        <p:nvSpPr>
          <p:cNvPr id="40" name="Text 37"/>
          <p:cNvSpPr/>
          <p:nvPr/>
        </p:nvSpPr>
        <p:spPr>
          <a:xfrm>
            <a:off x="6560463" y="2571629"/>
            <a:ext cx="1809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F0F2F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</a:t>
            </a:r>
            <a:endParaRPr lang="en-US" sz="1600" dirty="0"/>
          </a:p>
        </p:txBody>
      </p:sp>
      <p:sp>
        <p:nvSpPr>
          <p:cNvPr id="41" name="Text 38"/>
          <p:cNvSpPr/>
          <p:nvPr/>
        </p:nvSpPr>
        <p:spPr>
          <a:xfrm>
            <a:off x="6915150" y="2514479"/>
            <a:ext cx="27146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0F2F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Real-Time Webcam</a:t>
            </a:r>
            <a:endParaRPr lang="en-US" sz="1600" dirty="0"/>
          </a:p>
        </p:txBody>
      </p:sp>
      <p:sp>
        <p:nvSpPr>
          <p:cNvPr id="42" name="Text 39"/>
          <p:cNvSpPr/>
          <p:nvPr/>
        </p:nvSpPr>
        <p:spPr>
          <a:xfrm>
            <a:off x="6915150" y="2743079"/>
            <a:ext cx="27051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9A959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Support real-time detection via webcam feed</a:t>
            </a:r>
            <a:endParaRPr lang="en-US" sz="1600" dirty="0"/>
          </a:p>
        </p:txBody>
      </p:sp>
      <p:sp>
        <p:nvSpPr>
          <p:cNvPr id="43" name="Shape 40"/>
          <p:cNvSpPr/>
          <p:nvPr/>
        </p:nvSpPr>
        <p:spPr>
          <a:xfrm>
            <a:off x="6419850" y="3047879"/>
            <a:ext cx="381000" cy="381000"/>
          </a:xfrm>
          <a:prstGeom prst="roundRect">
            <a:avLst>
              <a:gd name="adj" fmla="val 50000"/>
            </a:avLst>
          </a:prstGeom>
          <a:solidFill>
            <a:srgbClr val="5F737C"/>
          </a:solidFill>
          <a:ln/>
        </p:spPr>
      </p:sp>
      <p:sp>
        <p:nvSpPr>
          <p:cNvPr id="44" name="Text 41"/>
          <p:cNvSpPr/>
          <p:nvPr/>
        </p:nvSpPr>
        <p:spPr>
          <a:xfrm>
            <a:off x="6559748" y="3105029"/>
            <a:ext cx="1905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F0F2F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3</a:t>
            </a:r>
            <a:endParaRPr lang="en-US" sz="1600" dirty="0"/>
          </a:p>
        </p:txBody>
      </p:sp>
      <p:sp>
        <p:nvSpPr>
          <p:cNvPr id="45" name="Text 42"/>
          <p:cNvSpPr/>
          <p:nvPr/>
        </p:nvSpPr>
        <p:spPr>
          <a:xfrm>
            <a:off x="6915150" y="3047879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0F2F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Advanced Audio Detection</a:t>
            </a:r>
            <a:endParaRPr lang="en-US" sz="1600" dirty="0"/>
          </a:p>
        </p:txBody>
      </p:sp>
      <p:sp>
        <p:nvSpPr>
          <p:cNvPr id="46" name="Text 43"/>
          <p:cNvSpPr/>
          <p:nvPr/>
        </p:nvSpPr>
        <p:spPr>
          <a:xfrm>
            <a:off x="6915150" y="3276479"/>
            <a:ext cx="27336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9A959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Integrate dedicated audio deepfake detectors</a:t>
            </a:r>
            <a:endParaRPr lang="en-US" sz="1600" dirty="0"/>
          </a:p>
        </p:txBody>
      </p:sp>
      <p:sp>
        <p:nvSpPr>
          <p:cNvPr id="47" name="Shape 44"/>
          <p:cNvSpPr/>
          <p:nvPr/>
        </p:nvSpPr>
        <p:spPr>
          <a:xfrm>
            <a:off x="6419850" y="3581279"/>
            <a:ext cx="381000" cy="381000"/>
          </a:xfrm>
          <a:prstGeom prst="roundRect">
            <a:avLst>
              <a:gd name="adj" fmla="val 50000"/>
            </a:avLst>
          </a:prstGeom>
          <a:solidFill>
            <a:srgbClr val="5F737C"/>
          </a:solidFill>
          <a:ln/>
        </p:spPr>
      </p:sp>
      <p:sp>
        <p:nvSpPr>
          <p:cNvPr id="48" name="Text 45"/>
          <p:cNvSpPr/>
          <p:nvPr/>
        </p:nvSpPr>
        <p:spPr>
          <a:xfrm>
            <a:off x="6559748" y="3638429"/>
            <a:ext cx="1905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F0F2F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4</a:t>
            </a:r>
            <a:endParaRPr lang="en-US" sz="1600" dirty="0"/>
          </a:p>
        </p:txBody>
      </p:sp>
      <p:sp>
        <p:nvSpPr>
          <p:cNvPr id="49" name="Text 46"/>
          <p:cNvSpPr/>
          <p:nvPr/>
        </p:nvSpPr>
        <p:spPr>
          <a:xfrm>
            <a:off x="6915150" y="3581279"/>
            <a:ext cx="31718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0F2F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Model Optimization</a:t>
            </a:r>
            <a:endParaRPr lang="en-US" sz="1600" dirty="0"/>
          </a:p>
        </p:txBody>
      </p:sp>
      <p:sp>
        <p:nvSpPr>
          <p:cNvPr id="50" name="Text 47"/>
          <p:cNvSpPr/>
          <p:nvPr/>
        </p:nvSpPr>
        <p:spPr>
          <a:xfrm>
            <a:off x="6915150" y="3809879"/>
            <a:ext cx="31623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9A959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Improve processing speed and reduce false positives</a:t>
            </a:r>
            <a:endParaRPr lang="en-US" sz="1600" dirty="0"/>
          </a:p>
        </p:txBody>
      </p:sp>
      <p:sp>
        <p:nvSpPr>
          <p:cNvPr id="51" name="Shape 48"/>
          <p:cNvSpPr/>
          <p:nvPr/>
        </p:nvSpPr>
        <p:spPr>
          <a:xfrm>
            <a:off x="6198870" y="4350899"/>
            <a:ext cx="5606415" cy="1996440"/>
          </a:xfrm>
          <a:prstGeom prst="roundRect">
            <a:avLst>
              <a:gd name="adj" fmla="val 3817"/>
            </a:avLst>
          </a:prstGeom>
          <a:gradFill rotWithShape="1" flip="none">
            <a:gsLst>
              <a:gs pos="0">
                <a:srgbClr val="D4A373">
                  <a:alpha val="20000"/>
                </a:srgbClr>
              </a:gs>
              <a:gs pos="100000">
                <a:srgbClr val="5F737C">
                  <a:alpha val="10000"/>
                </a:srgbClr>
              </a:gs>
            </a:gsLst>
            <a:lin ang="2700000" scaled="1"/>
          </a:gradFill>
          <a:ln w="20320">
            <a:solidFill>
              <a:srgbClr val="D4A373">
                <a:alpha val="50196"/>
              </a:srgbClr>
            </a:solidFill>
            <a:prstDash val="solid"/>
          </a:ln>
        </p:spPr>
      </p:sp>
      <p:sp>
        <p:nvSpPr>
          <p:cNvPr id="52" name="Shape 49"/>
          <p:cNvSpPr/>
          <p:nvPr/>
        </p:nvSpPr>
        <p:spPr>
          <a:xfrm>
            <a:off x="8743950" y="4549025"/>
            <a:ext cx="514350" cy="457200"/>
          </a:xfrm>
          <a:custGeom>
            <a:avLst/>
            <a:gdLst/>
            <a:ahLst/>
            <a:cxnLst/>
            <a:rect l="l" t="t" r="r" b="b"/>
            <a:pathLst>
              <a:path w="514350" h="457200">
                <a:moveTo>
                  <a:pt x="42863" y="174843"/>
                </a:moveTo>
                <a:lnTo>
                  <a:pt x="229672" y="251728"/>
                </a:lnTo>
                <a:cubicBezTo>
                  <a:pt x="238423" y="255300"/>
                  <a:pt x="247710" y="257175"/>
                  <a:pt x="257175" y="257175"/>
                </a:cubicBezTo>
                <a:cubicBezTo>
                  <a:pt x="266640" y="257175"/>
                  <a:pt x="275927" y="255300"/>
                  <a:pt x="284678" y="251728"/>
                </a:cubicBezTo>
                <a:lnTo>
                  <a:pt x="501134" y="162610"/>
                </a:lnTo>
                <a:cubicBezTo>
                  <a:pt x="509171" y="159306"/>
                  <a:pt x="514350" y="151537"/>
                  <a:pt x="514350" y="142875"/>
                </a:cubicBezTo>
                <a:cubicBezTo>
                  <a:pt x="514350" y="134213"/>
                  <a:pt x="509171" y="126444"/>
                  <a:pt x="501134" y="123140"/>
                </a:cubicBezTo>
                <a:lnTo>
                  <a:pt x="284678" y="34022"/>
                </a:lnTo>
                <a:cubicBezTo>
                  <a:pt x="275927" y="30450"/>
                  <a:pt x="266640" y="28575"/>
                  <a:pt x="257175" y="28575"/>
                </a:cubicBezTo>
                <a:cubicBezTo>
                  <a:pt x="247710" y="28575"/>
                  <a:pt x="238423" y="30450"/>
                  <a:pt x="229672" y="34022"/>
                </a:cubicBezTo>
                <a:lnTo>
                  <a:pt x="13216" y="123140"/>
                </a:lnTo>
                <a:cubicBezTo>
                  <a:pt x="5179" y="126444"/>
                  <a:pt x="0" y="134213"/>
                  <a:pt x="0" y="142875"/>
                </a:cubicBezTo>
                <a:lnTo>
                  <a:pt x="0" y="407194"/>
                </a:lnTo>
                <a:cubicBezTo>
                  <a:pt x="0" y="419070"/>
                  <a:pt x="9555" y="428625"/>
                  <a:pt x="21431" y="428625"/>
                </a:cubicBezTo>
                <a:cubicBezTo>
                  <a:pt x="33308" y="428625"/>
                  <a:pt x="42863" y="419070"/>
                  <a:pt x="42863" y="407194"/>
                </a:cubicBezTo>
                <a:lnTo>
                  <a:pt x="42863" y="174843"/>
                </a:lnTo>
                <a:close/>
                <a:moveTo>
                  <a:pt x="85725" y="238869"/>
                </a:moveTo>
                <a:lnTo>
                  <a:pt x="85725" y="342900"/>
                </a:lnTo>
                <a:cubicBezTo>
                  <a:pt x="85725" y="390227"/>
                  <a:pt x="162520" y="428625"/>
                  <a:pt x="257175" y="428625"/>
                </a:cubicBezTo>
                <a:cubicBezTo>
                  <a:pt x="351830" y="428625"/>
                  <a:pt x="428625" y="390227"/>
                  <a:pt x="428625" y="342900"/>
                </a:cubicBezTo>
                <a:lnTo>
                  <a:pt x="428625" y="238780"/>
                </a:lnTo>
                <a:lnTo>
                  <a:pt x="301020" y="291376"/>
                </a:lnTo>
                <a:cubicBezTo>
                  <a:pt x="287089" y="297091"/>
                  <a:pt x="272266" y="300037"/>
                  <a:pt x="257175" y="300037"/>
                </a:cubicBezTo>
                <a:cubicBezTo>
                  <a:pt x="242084" y="300037"/>
                  <a:pt x="227261" y="297091"/>
                  <a:pt x="213330" y="291376"/>
                </a:cubicBezTo>
                <a:lnTo>
                  <a:pt x="85725" y="238780"/>
                </a:lnTo>
                <a:close/>
              </a:path>
            </a:pathLst>
          </a:custGeom>
          <a:solidFill>
            <a:srgbClr val="D4A373"/>
          </a:solidFill>
          <a:ln/>
        </p:spPr>
      </p:sp>
      <p:sp>
        <p:nvSpPr>
          <p:cNvPr id="53" name="Text 50"/>
          <p:cNvSpPr/>
          <p:nvPr/>
        </p:nvSpPr>
        <p:spPr>
          <a:xfrm>
            <a:off x="8413790" y="5158625"/>
            <a:ext cx="117157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800" b="1" dirty="0">
                <a:solidFill>
                  <a:srgbClr val="F0F2F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Thank You</a:t>
            </a:r>
            <a:endParaRPr lang="en-US" sz="1600" dirty="0"/>
          </a:p>
        </p:txBody>
      </p:sp>
      <p:sp>
        <p:nvSpPr>
          <p:cNvPr id="54" name="Text 51"/>
          <p:cNvSpPr/>
          <p:nvPr/>
        </p:nvSpPr>
        <p:spPr>
          <a:xfrm>
            <a:off x="8063270" y="5577604"/>
            <a:ext cx="18764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50" dirty="0">
                <a:solidFill>
                  <a:srgbClr val="F0F2F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Questions &amp; Discussion</a:t>
            </a:r>
            <a:endParaRPr lang="en-US" sz="1600" dirty="0"/>
          </a:p>
        </p:txBody>
      </p:sp>
      <p:sp>
        <p:nvSpPr>
          <p:cNvPr id="55" name="Text 52"/>
          <p:cNvSpPr/>
          <p:nvPr/>
        </p:nvSpPr>
        <p:spPr>
          <a:xfrm>
            <a:off x="7497366" y="5920504"/>
            <a:ext cx="30099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dirty="0">
                <a:solidFill>
                  <a:srgbClr val="9A959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BS IT 6th A (Morning) • University of Layyah</a:t>
            </a:r>
            <a:endParaRPr lang="en-US" sz="1600" dirty="0"/>
          </a:p>
        </p:txBody>
      </p:sp>
      <p:sp>
        <p:nvSpPr>
          <p:cNvPr id="56" name="Shape 53"/>
          <p:cNvSpPr/>
          <p:nvPr/>
        </p:nvSpPr>
        <p:spPr>
          <a:xfrm>
            <a:off x="400050" y="648819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14288" y="19050"/>
                </a:moveTo>
                <a:cubicBezTo>
                  <a:pt x="6400" y="19050"/>
                  <a:pt x="0" y="25450"/>
                  <a:pt x="0" y="33338"/>
                </a:cubicBezTo>
                <a:cubicBezTo>
                  <a:pt x="0" y="37832"/>
                  <a:pt x="2113" y="42059"/>
                  <a:pt x="5715" y="44768"/>
                </a:cubicBezTo>
                <a:lnTo>
                  <a:pt x="67628" y="91202"/>
                </a:lnTo>
                <a:cubicBezTo>
                  <a:pt x="72717" y="95012"/>
                  <a:pt x="79683" y="95012"/>
                  <a:pt x="84773" y="91202"/>
                </a:cubicBezTo>
                <a:lnTo>
                  <a:pt x="146685" y="44767"/>
                </a:lnTo>
                <a:cubicBezTo>
                  <a:pt x="150287" y="42059"/>
                  <a:pt x="152400" y="37832"/>
                  <a:pt x="152400" y="33337"/>
                </a:cubicBezTo>
                <a:cubicBezTo>
                  <a:pt x="152400" y="25450"/>
                  <a:pt x="146000" y="19050"/>
                  <a:pt x="138113" y="19050"/>
                </a:cubicBezTo>
                <a:lnTo>
                  <a:pt x="14288" y="19050"/>
                </a:lnTo>
                <a:close/>
                <a:moveTo>
                  <a:pt x="0" y="58341"/>
                </a:moveTo>
                <a:lnTo>
                  <a:pt x="0" y="114300"/>
                </a:lnTo>
                <a:cubicBezTo>
                  <a:pt x="0" y="124807"/>
                  <a:pt x="8543" y="133350"/>
                  <a:pt x="19050" y="133350"/>
                </a:cubicBezTo>
                <a:lnTo>
                  <a:pt x="133350" y="133350"/>
                </a:lnTo>
                <a:cubicBezTo>
                  <a:pt x="143857" y="133350"/>
                  <a:pt x="152400" y="124807"/>
                  <a:pt x="152400" y="114300"/>
                </a:cubicBezTo>
                <a:lnTo>
                  <a:pt x="152400" y="58341"/>
                </a:lnTo>
                <a:lnTo>
                  <a:pt x="93345" y="102632"/>
                </a:lnTo>
                <a:cubicBezTo>
                  <a:pt x="83195" y="110252"/>
                  <a:pt x="69205" y="110252"/>
                  <a:pt x="59055" y="102632"/>
                </a:cubicBezTo>
                <a:lnTo>
                  <a:pt x="0" y="58341"/>
                </a:lnTo>
                <a:close/>
              </a:path>
            </a:pathLst>
          </a:custGeom>
          <a:solidFill>
            <a:srgbClr val="D4A373"/>
          </a:solidFill>
          <a:ln/>
        </p:spPr>
      </p:sp>
      <p:sp>
        <p:nvSpPr>
          <p:cNvPr id="57" name="Text 54"/>
          <p:cNvSpPr/>
          <p:nvPr/>
        </p:nvSpPr>
        <p:spPr>
          <a:xfrm>
            <a:off x="647700" y="6469140"/>
            <a:ext cx="1524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9A959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Contact for collaboration</a:t>
            </a:r>
            <a:endParaRPr lang="en-US" sz="1600" dirty="0"/>
          </a:p>
        </p:txBody>
      </p:sp>
      <p:sp>
        <p:nvSpPr>
          <p:cNvPr id="58" name="Shape 55"/>
          <p:cNvSpPr/>
          <p:nvPr/>
        </p:nvSpPr>
        <p:spPr>
          <a:xfrm>
            <a:off x="2274332" y="648819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51762" y="118289"/>
                </a:moveTo>
                <a:cubicBezTo>
                  <a:pt x="51762" y="118884"/>
                  <a:pt x="51078" y="119360"/>
                  <a:pt x="50215" y="119360"/>
                </a:cubicBezTo>
                <a:cubicBezTo>
                  <a:pt x="49232" y="119449"/>
                  <a:pt x="48548" y="118973"/>
                  <a:pt x="48548" y="118289"/>
                </a:cubicBezTo>
                <a:cubicBezTo>
                  <a:pt x="48548" y="117693"/>
                  <a:pt x="49232" y="117217"/>
                  <a:pt x="50096" y="117217"/>
                </a:cubicBezTo>
                <a:cubicBezTo>
                  <a:pt x="50989" y="117128"/>
                  <a:pt x="51762" y="117604"/>
                  <a:pt x="51762" y="118289"/>
                </a:cubicBezTo>
                <a:close/>
                <a:moveTo>
                  <a:pt x="42505" y="116949"/>
                </a:moveTo>
                <a:cubicBezTo>
                  <a:pt x="42297" y="117544"/>
                  <a:pt x="42892" y="118229"/>
                  <a:pt x="43785" y="118408"/>
                </a:cubicBezTo>
                <a:cubicBezTo>
                  <a:pt x="44559" y="118705"/>
                  <a:pt x="45452" y="118408"/>
                  <a:pt x="45631" y="117812"/>
                </a:cubicBezTo>
                <a:cubicBezTo>
                  <a:pt x="45809" y="117217"/>
                  <a:pt x="45244" y="116532"/>
                  <a:pt x="44351" y="116265"/>
                </a:cubicBezTo>
                <a:cubicBezTo>
                  <a:pt x="43577" y="116056"/>
                  <a:pt x="42714" y="116354"/>
                  <a:pt x="42505" y="116949"/>
                </a:cubicBezTo>
                <a:close/>
                <a:moveTo>
                  <a:pt x="55662" y="116443"/>
                </a:moveTo>
                <a:cubicBezTo>
                  <a:pt x="54799" y="116651"/>
                  <a:pt x="54203" y="117217"/>
                  <a:pt x="54293" y="117902"/>
                </a:cubicBezTo>
                <a:cubicBezTo>
                  <a:pt x="54382" y="118497"/>
                  <a:pt x="55156" y="118884"/>
                  <a:pt x="56049" y="118676"/>
                </a:cubicBezTo>
                <a:cubicBezTo>
                  <a:pt x="56912" y="118467"/>
                  <a:pt x="57507" y="117902"/>
                  <a:pt x="57418" y="117306"/>
                </a:cubicBezTo>
                <a:cubicBezTo>
                  <a:pt x="57329" y="116741"/>
                  <a:pt x="56525" y="116354"/>
                  <a:pt x="55662" y="116443"/>
                </a:cubicBezTo>
                <a:close/>
                <a:moveTo>
                  <a:pt x="75248" y="2381"/>
                </a:moveTo>
                <a:cubicBezTo>
                  <a:pt x="33963" y="2381"/>
                  <a:pt x="2381" y="33724"/>
                  <a:pt x="2381" y="75009"/>
                </a:cubicBezTo>
                <a:cubicBezTo>
                  <a:pt x="2381" y="108019"/>
                  <a:pt x="23158" y="136267"/>
                  <a:pt x="52834" y="146209"/>
                </a:cubicBezTo>
                <a:cubicBezTo>
                  <a:pt x="56644" y="146893"/>
                  <a:pt x="57983" y="144542"/>
                  <a:pt x="57983" y="142607"/>
                </a:cubicBezTo>
                <a:cubicBezTo>
                  <a:pt x="57983" y="140762"/>
                  <a:pt x="57894" y="130582"/>
                  <a:pt x="57894" y="124331"/>
                </a:cubicBezTo>
                <a:cubicBezTo>
                  <a:pt x="57894" y="124331"/>
                  <a:pt x="37058" y="128796"/>
                  <a:pt x="32683" y="115461"/>
                </a:cubicBezTo>
                <a:cubicBezTo>
                  <a:pt x="32683" y="115461"/>
                  <a:pt x="29289" y="106799"/>
                  <a:pt x="24408" y="104567"/>
                </a:cubicBezTo>
                <a:cubicBezTo>
                  <a:pt x="24408" y="104567"/>
                  <a:pt x="17591" y="99893"/>
                  <a:pt x="24884" y="99983"/>
                </a:cubicBezTo>
                <a:cubicBezTo>
                  <a:pt x="24884" y="99983"/>
                  <a:pt x="32296" y="100578"/>
                  <a:pt x="36374" y="107662"/>
                </a:cubicBezTo>
                <a:cubicBezTo>
                  <a:pt x="42892" y="119152"/>
                  <a:pt x="53816" y="115848"/>
                  <a:pt x="58073" y="113883"/>
                </a:cubicBezTo>
                <a:cubicBezTo>
                  <a:pt x="58757" y="109121"/>
                  <a:pt x="60692" y="105817"/>
                  <a:pt x="62835" y="103852"/>
                </a:cubicBezTo>
                <a:cubicBezTo>
                  <a:pt x="46196" y="102007"/>
                  <a:pt x="29408" y="99596"/>
                  <a:pt x="29408" y="70961"/>
                </a:cubicBezTo>
                <a:cubicBezTo>
                  <a:pt x="29408" y="62776"/>
                  <a:pt x="31671" y="58668"/>
                  <a:pt x="36433" y="53429"/>
                </a:cubicBezTo>
                <a:cubicBezTo>
                  <a:pt x="35659" y="51495"/>
                  <a:pt x="33129" y="43517"/>
                  <a:pt x="37207" y="33218"/>
                </a:cubicBezTo>
                <a:cubicBezTo>
                  <a:pt x="43428" y="31284"/>
                  <a:pt x="57745" y="41255"/>
                  <a:pt x="57745" y="41255"/>
                </a:cubicBezTo>
                <a:cubicBezTo>
                  <a:pt x="63698" y="39588"/>
                  <a:pt x="70098" y="38725"/>
                  <a:pt x="76438" y="38725"/>
                </a:cubicBezTo>
                <a:cubicBezTo>
                  <a:pt x="82778" y="38725"/>
                  <a:pt x="89178" y="39588"/>
                  <a:pt x="95131" y="41255"/>
                </a:cubicBezTo>
                <a:cubicBezTo>
                  <a:pt x="95131" y="41255"/>
                  <a:pt x="109448" y="31254"/>
                  <a:pt x="115669" y="33218"/>
                </a:cubicBezTo>
                <a:cubicBezTo>
                  <a:pt x="119747" y="43547"/>
                  <a:pt x="117217" y="51495"/>
                  <a:pt x="116443" y="53429"/>
                </a:cubicBezTo>
                <a:cubicBezTo>
                  <a:pt x="121206" y="58698"/>
                  <a:pt x="124123" y="62805"/>
                  <a:pt x="124123" y="70961"/>
                </a:cubicBezTo>
                <a:cubicBezTo>
                  <a:pt x="124123" y="99685"/>
                  <a:pt x="106591" y="101977"/>
                  <a:pt x="89952" y="103852"/>
                </a:cubicBezTo>
                <a:cubicBezTo>
                  <a:pt x="92690" y="106204"/>
                  <a:pt x="95012" y="110669"/>
                  <a:pt x="95012" y="117664"/>
                </a:cubicBezTo>
                <a:cubicBezTo>
                  <a:pt x="95012" y="127695"/>
                  <a:pt x="94923" y="140107"/>
                  <a:pt x="94923" y="142548"/>
                </a:cubicBezTo>
                <a:cubicBezTo>
                  <a:pt x="94923" y="144482"/>
                  <a:pt x="96292" y="146834"/>
                  <a:pt x="100072" y="146149"/>
                </a:cubicBezTo>
                <a:cubicBezTo>
                  <a:pt x="129838" y="136267"/>
                  <a:pt x="150019" y="108019"/>
                  <a:pt x="150019" y="75009"/>
                </a:cubicBezTo>
                <a:cubicBezTo>
                  <a:pt x="150019" y="33724"/>
                  <a:pt x="116532" y="2381"/>
                  <a:pt x="75248" y="2381"/>
                </a:cubicBezTo>
                <a:close/>
                <a:moveTo>
                  <a:pt x="31313" y="105043"/>
                </a:moveTo>
                <a:cubicBezTo>
                  <a:pt x="30926" y="105341"/>
                  <a:pt x="31016" y="106025"/>
                  <a:pt x="31522" y="106591"/>
                </a:cubicBezTo>
                <a:cubicBezTo>
                  <a:pt x="31998" y="107067"/>
                  <a:pt x="32683" y="107275"/>
                  <a:pt x="33070" y="106888"/>
                </a:cubicBezTo>
                <a:cubicBezTo>
                  <a:pt x="33457" y="106591"/>
                  <a:pt x="33367" y="105906"/>
                  <a:pt x="32861" y="105341"/>
                </a:cubicBezTo>
                <a:cubicBezTo>
                  <a:pt x="32385" y="104864"/>
                  <a:pt x="31700" y="104656"/>
                  <a:pt x="31313" y="105043"/>
                </a:cubicBezTo>
                <a:close/>
                <a:moveTo>
                  <a:pt x="28099" y="102632"/>
                </a:moveTo>
                <a:cubicBezTo>
                  <a:pt x="27890" y="103019"/>
                  <a:pt x="28188" y="103495"/>
                  <a:pt x="28783" y="103793"/>
                </a:cubicBezTo>
                <a:cubicBezTo>
                  <a:pt x="29260" y="104090"/>
                  <a:pt x="29855" y="104001"/>
                  <a:pt x="30063" y="103584"/>
                </a:cubicBezTo>
                <a:cubicBezTo>
                  <a:pt x="30272" y="103197"/>
                  <a:pt x="29974" y="102721"/>
                  <a:pt x="29379" y="102424"/>
                </a:cubicBezTo>
                <a:cubicBezTo>
                  <a:pt x="28783" y="102245"/>
                  <a:pt x="28307" y="102334"/>
                  <a:pt x="28099" y="102632"/>
                </a:cubicBezTo>
                <a:close/>
                <a:moveTo>
                  <a:pt x="37743" y="113228"/>
                </a:moveTo>
                <a:cubicBezTo>
                  <a:pt x="37267" y="113615"/>
                  <a:pt x="37445" y="114508"/>
                  <a:pt x="38130" y="115074"/>
                </a:cubicBezTo>
                <a:cubicBezTo>
                  <a:pt x="38814" y="115759"/>
                  <a:pt x="39678" y="115848"/>
                  <a:pt x="40065" y="115372"/>
                </a:cubicBezTo>
                <a:cubicBezTo>
                  <a:pt x="40451" y="114985"/>
                  <a:pt x="40273" y="114092"/>
                  <a:pt x="39678" y="113526"/>
                </a:cubicBezTo>
                <a:cubicBezTo>
                  <a:pt x="39023" y="112841"/>
                  <a:pt x="38130" y="112752"/>
                  <a:pt x="37743" y="113228"/>
                </a:cubicBezTo>
                <a:close/>
                <a:moveTo>
                  <a:pt x="34350" y="108853"/>
                </a:moveTo>
                <a:cubicBezTo>
                  <a:pt x="33873" y="109151"/>
                  <a:pt x="33873" y="109924"/>
                  <a:pt x="34350" y="110609"/>
                </a:cubicBezTo>
                <a:cubicBezTo>
                  <a:pt x="34826" y="111294"/>
                  <a:pt x="35629" y="111591"/>
                  <a:pt x="36016" y="111294"/>
                </a:cubicBezTo>
                <a:cubicBezTo>
                  <a:pt x="36493" y="110907"/>
                  <a:pt x="36493" y="110133"/>
                  <a:pt x="36016" y="109448"/>
                </a:cubicBezTo>
                <a:cubicBezTo>
                  <a:pt x="35600" y="108764"/>
                  <a:pt x="34826" y="108466"/>
                  <a:pt x="34350" y="108853"/>
                </a:cubicBezTo>
                <a:close/>
              </a:path>
            </a:pathLst>
          </a:custGeom>
          <a:solidFill>
            <a:srgbClr val="D4A373"/>
          </a:solidFill>
          <a:ln/>
        </p:spPr>
      </p:sp>
      <p:sp>
        <p:nvSpPr>
          <p:cNvPr id="59" name="Text 56"/>
          <p:cNvSpPr/>
          <p:nvPr/>
        </p:nvSpPr>
        <p:spPr>
          <a:xfrm>
            <a:off x="2521982" y="6469140"/>
            <a:ext cx="16478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9A959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Project repository available</a:t>
            </a:r>
            <a:endParaRPr lang="en-US" sz="1600" dirty="0"/>
          </a:p>
        </p:txBody>
      </p:sp>
      <p:sp>
        <p:nvSpPr>
          <p:cNvPr id="60" name="Text 57"/>
          <p:cNvSpPr/>
          <p:nvPr/>
        </p:nvSpPr>
        <p:spPr>
          <a:xfrm>
            <a:off x="9454277" y="6469140"/>
            <a:ext cx="24193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9A959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May 2026 • Artificial Intelligence Course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theme/theme1.xml><?xml version="1.0" encoding="utf-8"?>
<a:theme xmlns:a="http://schemas.openxmlformats.org/drawingml/2006/main" name="Custom Theme">
  <a:themeElements>
    <a:clrScheme name="Custom">
      <a:dk1>
        <a:srgbClr val="000000"/>
      </a:dk1>
      <a:lt1>
        <a:srgbClr val="ffffff"/>
      </a:lt1>
      <a:dk2>
        <a:srgbClr val="333333"/>
      </a:dk2>
      <a:lt2>
        <a:srgbClr val="eeeeee"/>
      </a:lt2>
      <a:accent1>
        <a:srgbClr val="8daac2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Moonshot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DeepFake Detector: AI-Powered Multimedia Authenticity Analysis</dc:title>
  <dc:subject>DeepFake Detector: AI-Powered Multimedia Authenticity Analysis</dc:subject>
  <dc:creator>Kimi</dc:creator>
  <cp:lastModifiedBy>Kimi</cp:lastModifiedBy>
  <cp:revision>1</cp:revision>
  <dcterms:created xsi:type="dcterms:W3CDTF">2026-06-04T16:02:35Z</dcterms:created>
  <dcterms:modified xsi:type="dcterms:W3CDTF">2026-06-04T16:02:35Z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4" name="AIGC">
    <vt:lpwstr>{"Label":"DeepFake Detector: AI-Powered Multimedia Authenticity Analysis","ContentProducer":"001191110108MACG2KBH8F10000","ProduceID":"19e93573-f762-8a9e-8000-0000ee3f8626","ReservedCode1":"","ContentPropagator":"001191110108MACG2KBH8F20000","PropagateID":"19e93573-f762-8a9e-8000-0000ee3f8626","ReservedCode2":""}</vt:lpwstr>
  </property>
</Properties>
</file>